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705" r:id="rId6"/>
    <p:sldMasterId id="2147483693" r:id="rId7"/>
  </p:sldMasterIdLst>
  <p:notesMasterIdLst>
    <p:notesMasterId r:id="rId60"/>
  </p:notesMasterIdLst>
  <p:sldIdLst>
    <p:sldId id="278" r:id="rId8"/>
    <p:sldId id="260" r:id="rId9"/>
    <p:sldId id="265" r:id="rId10"/>
    <p:sldId id="4608" r:id="rId11"/>
    <p:sldId id="4861" r:id="rId12"/>
    <p:sldId id="1295" r:id="rId13"/>
    <p:sldId id="264" r:id="rId14"/>
    <p:sldId id="4624" r:id="rId15"/>
    <p:sldId id="4836" r:id="rId16"/>
    <p:sldId id="4616" r:id="rId17"/>
    <p:sldId id="1390" r:id="rId18"/>
    <p:sldId id="4828" r:id="rId19"/>
    <p:sldId id="4834" r:id="rId20"/>
    <p:sldId id="4829" r:id="rId21"/>
    <p:sldId id="4830" r:id="rId22"/>
    <p:sldId id="4838" r:id="rId23"/>
    <p:sldId id="4837" r:id="rId24"/>
    <p:sldId id="4617" r:id="rId25"/>
    <p:sldId id="1298" r:id="rId26"/>
    <p:sldId id="1377" r:id="rId27"/>
    <p:sldId id="1386" r:id="rId28"/>
    <p:sldId id="4833" r:id="rId29"/>
    <p:sldId id="4835" r:id="rId30"/>
    <p:sldId id="1387" r:id="rId31"/>
    <p:sldId id="1395" r:id="rId32"/>
    <p:sldId id="4618" r:id="rId33"/>
    <p:sldId id="1305" r:id="rId34"/>
    <p:sldId id="4620" r:id="rId35"/>
    <p:sldId id="1307" r:id="rId36"/>
    <p:sldId id="4621" r:id="rId37"/>
    <p:sldId id="4857" r:id="rId38"/>
    <p:sldId id="4856" r:id="rId39"/>
    <p:sldId id="4860" r:id="rId40"/>
    <p:sldId id="4847" r:id="rId41"/>
    <p:sldId id="4848" r:id="rId42"/>
    <p:sldId id="4839" r:id="rId43"/>
    <p:sldId id="4840" r:id="rId44"/>
    <p:sldId id="4843" r:id="rId45"/>
    <p:sldId id="4858" r:id="rId46"/>
    <p:sldId id="4842" r:id="rId47"/>
    <p:sldId id="4844" r:id="rId48"/>
    <p:sldId id="4845" r:id="rId49"/>
    <p:sldId id="4859" r:id="rId50"/>
    <p:sldId id="4846" r:id="rId51"/>
    <p:sldId id="4849" r:id="rId52"/>
    <p:sldId id="4850" r:id="rId53"/>
    <p:sldId id="4851" r:id="rId54"/>
    <p:sldId id="4852" r:id="rId55"/>
    <p:sldId id="4853" r:id="rId56"/>
    <p:sldId id="4854" r:id="rId57"/>
    <p:sldId id="4855" r:id="rId58"/>
    <p:sldId id="275" r:id="rId59"/>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FE1D28A-F6E6-09D5-BC19-0CC373DD63ED}" name="ELIA CALSIA" initials="EC" userId="S::U063546@bca.co.id::53ab7ddc-d3d4-4479-87c2-0c5337900daf" providerId="AD"/>
  <p188:author id="{AFEF61D3-C2F7-DE75-A13B-F300AB3DA195}" name="Vera Lisnan" initials="VL" userId="S::vera_lisnan@bcalife.co.id::1b9fdbc4-1a5a-4e0a-8f46-bad8e27c0751" providerId="AD"/>
  <p188:author id="{1C617ADE-CD96-83A2-42FE-D0FA5BBE26DC}" name="Lydia Priscilla Doky" initials="LP" userId="S::lydia_doky@bcalife.co.id::361e67da-1bbf-4d5e-a230-6998e098f1c1" providerId="AD"/>
  <p188:author id="{FF9627EF-CD09-407D-9ED2-65B6A54EC1A7}" name="Elza Ardia Delavita" initials="EA" userId="S::elza_delavita@bcalife.co.id::1ce9ce9e-eb74-4f04-9ed5-5a6564b707e1" providerId="AD"/>
  <p188:author id="{97E53BF8-2268-D834-7A99-AC3AA0133C35}" name="ELIA CALSIA" initials="EC" userId="S::u063546@bca.co.id::53ab7ddc-d3d4-4479-87c2-0c5337900da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LIA CALSIA"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6B6"/>
    <a:srgbClr val="ACE9EE"/>
    <a:srgbClr val="FF5D5D"/>
    <a:srgbClr val="12CCC8"/>
    <a:srgbClr val="FFB9B9"/>
    <a:srgbClr val="EB9191"/>
    <a:srgbClr val="FF7D7D"/>
    <a:srgbClr val="A3F7F5"/>
    <a:srgbClr val="10B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7" autoAdjust="0"/>
    <p:restoredTop sz="94660"/>
  </p:normalViewPr>
  <p:slideViewPr>
    <p:cSldViewPr snapToGrid="0">
      <p:cViewPr varScale="1">
        <p:scale>
          <a:sx n="84" d="100"/>
          <a:sy n="84" d="100"/>
        </p:scale>
        <p:origin x="44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viewProps" Target="viewProp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microsoft.com/office/2018/10/relationships/authors" Target="authors.xml"/><Relationship Id="rId5" Type="http://schemas.openxmlformats.org/officeDocument/2006/relationships/slideMaster" Target="slideMasters/slideMaster1.xml"/><Relationship Id="rId61" Type="http://schemas.openxmlformats.org/officeDocument/2006/relationships/commentAuthors" Target="commentAuthor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389A70-8059-43B4-9CF3-720B631EAEB7}"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A1560-631D-4E38-BA7D-582B1ABF6DCE}" type="slidenum">
              <a:rPr lang="en-US" smtClean="0"/>
              <a:t>‹#›</a:t>
            </a:fld>
            <a:endParaRPr lang="en-US"/>
          </a:p>
        </p:txBody>
      </p:sp>
    </p:spTree>
    <p:extLst>
      <p:ext uri="{BB962C8B-B14F-4D97-AF65-F5344CB8AC3E}">
        <p14:creationId xmlns:p14="http://schemas.microsoft.com/office/powerpoint/2010/main" val="1088030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1D8D-1331-1E96-8D44-412BD6F89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DB7C2-5411-A09C-A215-13B74307F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B701C-157C-8BBD-DB8C-62F4ADE5EB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0ECA20-C414-0267-F297-7CAA7182153E}"/>
              </a:ext>
            </a:extLst>
          </p:cNvPr>
          <p:cNvSpPr>
            <a:spLocks noGrp="1"/>
          </p:cNvSpPr>
          <p:nvPr>
            <p:ph type="sldNum" sz="quarter" idx="5"/>
          </p:nvPr>
        </p:nvSpPr>
        <p:spPr/>
        <p:txBody>
          <a:bodyPr/>
          <a:lstStyle/>
          <a:p>
            <a:fld id="{D2D9A4AF-2990-421B-B68A-2400716A5DB9}" type="slidenum">
              <a:rPr lang="en-US" smtClean="0"/>
              <a:t>4</a:t>
            </a:fld>
            <a:endParaRPr lang="en-US"/>
          </a:p>
        </p:txBody>
      </p:sp>
    </p:spTree>
    <p:extLst>
      <p:ext uri="{BB962C8B-B14F-4D97-AF65-F5344CB8AC3E}">
        <p14:creationId xmlns:p14="http://schemas.microsoft.com/office/powerpoint/2010/main" val="2558844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713FD-2AA7-18C7-06C3-6A0634D94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36D6E-74BA-7F1E-C081-E5B167548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81413-AF1C-6A76-4B86-D7B641614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194742-3126-8E13-4752-588D2AE29268}"/>
              </a:ext>
            </a:extLst>
          </p:cNvPr>
          <p:cNvSpPr>
            <a:spLocks noGrp="1"/>
          </p:cNvSpPr>
          <p:nvPr>
            <p:ph type="sldNum" sz="quarter" idx="5"/>
          </p:nvPr>
        </p:nvSpPr>
        <p:spPr/>
        <p:txBody>
          <a:bodyPr/>
          <a:lstStyle/>
          <a:p>
            <a:fld id="{D2D9A4AF-2990-421B-B68A-2400716A5DB9}" type="slidenum">
              <a:rPr lang="en-US" smtClean="0"/>
              <a:t>5</a:t>
            </a:fld>
            <a:endParaRPr lang="en-US"/>
          </a:p>
        </p:txBody>
      </p:sp>
    </p:spTree>
    <p:extLst>
      <p:ext uri="{BB962C8B-B14F-4D97-AF65-F5344CB8AC3E}">
        <p14:creationId xmlns:p14="http://schemas.microsoft.com/office/powerpoint/2010/main" val="3325519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D9A4AF-2990-421B-B68A-2400716A5DB9}" type="slidenum">
              <a:rPr lang="en-US" smtClean="0"/>
              <a:t>7</a:t>
            </a:fld>
            <a:endParaRPr lang="en-US"/>
          </a:p>
        </p:txBody>
      </p:sp>
    </p:spTree>
    <p:extLst>
      <p:ext uri="{BB962C8B-B14F-4D97-AF65-F5344CB8AC3E}">
        <p14:creationId xmlns:p14="http://schemas.microsoft.com/office/powerpoint/2010/main" val="1928865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D710-5396-FEC3-D4DA-4E45F320A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BD9E2-9D2B-38C7-949A-3D18E0B04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88219-BF40-313A-ABC8-6632D1CF0F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EEDD0E-071B-37E1-755F-D3E8DD531C54}"/>
              </a:ext>
            </a:extLst>
          </p:cNvPr>
          <p:cNvSpPr>
            <a:spLocks noGrp="1"/>
          </p:cNvSpPr>
          <p:nvPr>
            <p:ph type="sldNum" sz="quarter" idx="5"/>
          </p:nvPr>
        </p:nvSpPr>
        <p:spPr/>
        <p:txBody>
          <a:bodyPr/>
          <a:lstStyle/>
          <a:p>
            <a:fld id="{D2D9A4AF-2990-421B-B68A-2400716A5DB9}" type="slidenum">
              <a:rPr lang="en-US" smtClean="0"/>
              <a:t>8</a:t>
            </a:fld>
            <a:endParaRPr lang="en-US"/>
          </a:p>
        </p:txBody>
      </p:sp>
    </p:spTree>
    <p:extLst>
      <p:ext uri="{BB962C8B-B14F-4D97-AF65-F5344CB8AC3E}">
        <p14:creationId xmlns:p14="http://schemas.microsoft.com/office/powerpoint/2010/main" val="1633799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89AF-07D0-8A59-651D-B5FB93A51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8560F-ABAA-66E9-9AF8-83B21770B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5E97E-404E-4722-CFF2-D10E6090DB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83E0406-7966-AC8F-58B9-CFD46BC626B0}"/>
              </a:ext>
            </a:extLst>
          </p:cNvPr>
          <p:cNvSpPr>
            <a:spLocks noGrp="1"/>
          </p:cNvSpPr>
          <p:nvPr>
            <p:ph type="sldNum" sz="quarter" idx="5"/>
          </p:nvPr>
        </p:nvSpPr>
        <p:spPr/>
        <p:txBody>
          <a:bodyPr/>
          <a:lstStyle/>
          <a:p>
            <a:fld id="{D2D9A4AF-2990-421B-B68A-2400716A5DB9}" type="slidenum">
              <a:rPr lang="en-US" smtClean="0"/>
              <a:t>9</a:t>
            </a:fld>
            <a:endParaRPr lang="en-US"/>
          </a:p>
        </p:txBody>
      </p:sp>
    </p:spTree>
    <p:extLst>
      <p:ext uri="{BB962C8B-B14F-4D97-AF65-F5344CB8AC3E}">
        <p14:creationId xmlns:p14="http://schemas.microsoft.com/office/powerpoint/2010/main" val="3539544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D38D9-8578-4DDF-E322-BC7E000F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18D01-24F2-FA83-59BA-81A17A7A7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89786-0FD9-EA48-BE47-AEF122EEFC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4B2FDE-42B7-97F7-AC2B-D8D86C3C6AEC}"/>
              </a:ext>
            </a:extLst>
          </p:cNvPr>
          <p:cNvSpPr>
            <a:spLocks noGrp="1"/>
          </p:cNvSpPr>
          <p:nvPr>
            <p:ph type="sldNum" sz="quarter" idx="10"/>
          </p:nvPr>
        </p:nvSpPr>
        <p:spPr/>
        <p:txBody>
          <a:bodyPr/>
          <a:lstStyle/>
          <a:p>
            <a:fld id="{D2D9A4AF-2990-421B-B68A-2400716A5DB9}" type="slidenum">
              <a:rPr lang="en-US" smtClean="0"/>
              <a:t>11</a:t>
            </a:fld>
            <a:endParaRPr lang="en-US"/>
          </a:p>
        </p:txBody>
      </p:sp>
    </p:spTree>
    <p:extLst>
      <p:ext uri="{BB962C8B-B14F-4D97-AF65-F5344CB8AC3E}">
        <p14:creationId xmlns:p14="http://schemas.microsoft.com/office/powerpoint/2010/main" val="1595899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57D09-DDD5-8F91-61A8-1C6940B04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4CD26-AFAB-6A85-F0C4-486881B68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D81ECA-FCD3-22B3-3398-A6A142DBCF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ADF2F-37A7-EFEA-D94F-E2197F6AB43B}"/>
              </a:ext>
            </a:extLst>
          </p:cNvPr>
          <p:cNvSpPr>
            <a:spLocks noGrp="1"/>
          </p:cNvSpPr>
          <p:nvPr>
            <p:ph type="sldNum" sz="quarter" idx="10"/>
          </p:nvPr>
        </p:nvSpPr>
        <p:spPr/>
        <p:txBody>
          <a:bodyPr/>
          <a:lstStyle/>
          <a:p>
            <a:fld id="{D2D9A4AF-2990-421B-B68A-2400716A5DB9}" type="slidenum">
              <a:rPr lang="en-US" smtClean="0"/>
              <a:t>12</a:t>
            </a:fld>
            <a:endParaRPr lang="en-US"/>
          </a:p>
        </p:txBody>
      </p:sp>
    </p:spTree>
    <p:extLst>
      <p:ext uri="{BB962C8B-B14F-4D97-AF65-F5344CB8AC3E}">
        <p14:creationId xmlns:p14="http://schemas.microsoft.com/office/powerpoint/2010/main" val="2041893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EDEA5-AC0C-9C11-9D80-251926606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F8C2A-7D73-090D-F0D5-E03F250B0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44F59-267B-BC0E-E885-EF9CD62664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29D5F0-BBD4-D43D-12DB-4449F601591B}"/>
              </a:ext>
            </a:extLst>
          </p:cNvPr>
          <p:cNvSpPr>
            <a:spLocks noGrp="1"/>
          </p:cNvSpPr>
          <p:nvPr>
            <p:ph type="sldNum" sz="quarter" idx="10"/>
          </p:nvPr>
        </p:nvSpPr>
        <p:spPr/>
        <p:txBody>
          <a:bodyPr/>
          <a:lstStyle/>
          <a:p>
            <a:fld id="{D2D9A4AF-2990-421B-B68A-2400716A5DB9}" type="slidenum">
              <a:rPr lang="en-US" smtClean="0"/>
              <a:t>13</a:t>
            </a:fld>
            <a:endParaRPr lang="en-US"/>
          </a:p>
        </p:txBody>
      </p:sp>
    </p:spTree>
    <p:extLst>
      <p:ext uri="{BB962C8B-B14F-4D97-AF65-F5344CB8AC3E}">
        <p14:creationId xmlns:p14="http://schemas.microsoft.com/office/powerpoint/2010/main" val="2433861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5A9E1-299F-3DDC-79D1-392C56BE3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23C56-E2F6-BD5D-9DF2-B7471D574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FBC71-F4CB-C2CA-2B99-737216405F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430BC1-BFA1-F62C-81A3-B86D27E96A8B}"/>
              </a:ext>
            </a:extLst>
          </p:cNvPr>
          <p:cNvSpPr>
            <a:spLocks noGrp="1"/>
          </p:cNvSpPr>
          <p:nvPr>
            <p:ph type="sldNum" sz="quarter" idx="10"/>
          </p:nvPr>
        </p:nvSpPr>
        <p:spPr/>
        <p:txBody>
          <a:bodyPr/>
          <a:lstStyle/>
          <a:p>
            <a:fld id="{D2D9A4AF-2990-421B-B68A-2400716A5DB9}" type="slidenum">
              <a:rPr lang="en-US" smtClean="0"/>
              <a:t>14</a:t>
            </a:fld>
            <a:endParaRPr lang="en-US"/>
          </a:p>
        </p:txBody>
      </p:sp>
    </p:spTree>
    <p:extLst>
      <p:ext uri="{BB962C8B-B14F-4D97-AF65-F5344CB8AC3E}">
        <p14:creationId xmlns:p14="http://schemas.microsoft.com/office/powerpoint/2010/main" val="2726633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268B-F140-52F7-822B-C9F8AE30D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134EC-E295-5E4C-244C-243E8417E7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73AAA-31D7-360A-6208-0AD919CF0E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820E2F-107A-20EA-A2C8-B5494B9F5A72}"/>
              </a:ext>
            </a:extLst>
          </p:cNvPr>
          <p:cNvSpPr>
            <a:spLocks noGrp="1"/>
          </p:cNvSpPr>
          <p:nvPr>
            <p:ph type="sldNum" sz="quarter" idx="10"/>
          </p:nvPr>
        </p:nvSpPr>
        <p:spPr/>
        <p:txBody>
          <a:bodyPr/>
          <a:lstStyle/>
          <a:p>
            <a:fld id="{D2D9A4AF-2990-421B-B68A-2400716A5DB9}" type="slidenum">
              <a:rPr lang="en-US" smtClean="0"/>
              <a:t>15</a:t>
            </a:fld>
            <a:endParaRPr lang="en-US"/>
          </a:p>
        </p:txBody>
      </p:sp>
    </p:spTree>
    <p:extLst>
      <p:ext uri="{BB962C8B-B14F-4D97-AF65-F5344CB8AC3E}">
        <p14:creationId xmlns:p14="http://schemas.microsoft.com/office/powerpoint/2010/main" val="756502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0A1560-631D-4E38-BA7D-582B1ABF6DCE}" type="slidenum">
              <a:rPr lang="en-US" smtClean="0"/>
              <a:t>16</a:t>
            </a:fld>
            <a:endParaRPr lang="en-US"/>
          </a:p>
        </p:txBody>
      </p:sp>
    </p:spTree>
    <p:extLst>
      <p:ext uri="{BB962C8B-B14F-4D97-AF65-F5344CB8AC3E}">
        <p14:creationId xmlns:p14="http://schemas.microsoft.com/office/powerpoint/2010/main" val="889942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D9A4AF-2990-421B-B68A-2400716A5DB9}" type="slidenum">
              <a:rPr lang="en-US" smtClean="0"/>
              <a:t>19</a:t>
            </a:fld>
            <a:endParaRPr lang="en-US"/>
          </a:p>
        </p:txBody>
      </p:sp>
    </p:spTree>
    <p:extLst>
      <p:ext uri="{BB962C8B-B14F-4D97-AF65-F5344CB8AC3E}">
        <p14:creationId xmlns:p14="http://schemas.microsoft.com/office/powerpoint/2010/main" val="3642392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F4288-E614-4894-8D14-F70352FFD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A3266-4DC1-8E47-5120-FC094E41B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13921-494B-9F7D-ABE4-61DD1E76662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8E2E70-E707-C06A-FA7D-B3CE2689B4BC}"/>
              </a:ext>
            </a:extLst>
          </p:cNvPr>
          <p:cNvSpPr>
            <a:spLocks noGrp="1"/>
          </p:cNvSpPr>
          <p:nvPr>
            <p:ph type="sldNum" sz="quarter" idx="10"/>
          </p:nvPr>
        </p:nvSpPr>
        <p:spPr/>
        <p:txBody>
          <a:bodyPr/>
          <a:lstStyle/>
          <a:p>
            <a:fld id="{D2D9A4AF-2990-421B-B68A-2400716A5DB9}" type="slidenum">
              <a:rPr lang="en-US" smtClean="0"/>
              <a:t>20</a:t>
            </a:fld>
            <a:endParaRPr lang="en-US"/>
          </a:p>
        </p:txBody>
      </p:sp>
    </p:spTree>
    <p:extLst>
      <p:ext uri="{BB962C8B-B14F-4D97-AF65-F5344CB8AC3E}">
        <p14:creationId xmlns:p14="http://schemas.microsoft.com/office/powerpoint/2010/main" val="3816370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4D18-472F-0B8E-2C54-D5A81E965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5DE47-EAF8-94C4-831F-4583F48D3C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63972-05E4-BEE5-C9D4-713327A6F5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6A51C9-9FD9-C4B7-A164-9E1708775C6F}"/>
              </a:ext>
            </a:extLst>
          </p:cNvPr>
          <p:cNvSpPr>
            <a:spLocks noGrp="1"/>
          </p:cNvSpPr>
          <p:nvPr>
            <p:ph type="sldNum" sz="quarter" idx="10"/>
          </p:nvPr>
        </p:nvSpPr>
        <p:spPr/>
        <p:txBody>
          <a:bodyPr/>
          <a:lstStyle/>
          <a:p>
            <a:fld id="{D2D9A4AF-2990-421B-B68A-2400716A5DB9}" type="slidenum">
              <a:rPr lang="en-US" smtClean="0"/>
              <a:t>21</a:t>
            </a:fld>
            <a:endParaRPr lang="en-US"/>
          </a:p>
        </p:txBody>
      </p:sp>
    </p:spTree>
    <p:extLst>
      <p:ext uri="{BB962C8B-B14F-4D97-AF65-F5344CB8AC3E}">
        <p14:creationId xmlns:p14="http://schemas.microsoft.com/office/powerpoint/2010/main" val="2519212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31773-AFB8-E2AF-190B-5FA64C8E6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A73F2-B4D1-AFEF-F27C-A74B3B50C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09FA4D-4284-B633-6CBA-073CD5B4A2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8ECE96-A011-9706-5E09-A25EA9AB493A}"/>
              </a:ext>
            </a:extLst>
          </p:cNvPr>
          <p:cNvSpPr>
            <a:spLocks noGrp="1"/>
          </p:cNvSpPr>
          <p:nvPr>
            <p:ph type="sldNum" sz="quarter" idx="10"/>
          </p:nvPr>
        </p:nvSpPr>
        <p:spPr/>
        <p:txBody>
          <a:bodyPr/>
          <a:lstStyle/>
          <a:p>
            <a:fld id="{D2D9A4AF-2990-421B-B68A-2400716A5DB9}" type="slidenum">
              <a:rPr lang="en-US" smtClean="0"/>
              <a:t>22</a:t>
            </a:fld>
            <a:endParaRPr lang="en-US"/>
          </a:p>
        </p:txBody>
      </p:sp>
    </p:spTree>
    <p:extLst>
      <p:ext uri="{BB962C8B-B14F-4D97-AF65-F5344CB8AC3E}">
        <p14:creationId xmlns:p14="http://schemas.microsoft.com/office/powerpoint/2010/main" val="956527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1BEC7-BB70-66D2-6DF7-2FA28727C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270AC-3C06-3561-AE0E-17C13A252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E72A2-F60E-9BCE-40EC-7FBA53F1A7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08B260-14F6-FF5C-332B-CC5461F6020E}"/>
              </a:ext>
            </a:extLst>
          </p:cNvPr>
          <p:cNvSpPr>
            <a:spLocks noGrp="1"/>
          </p:cNvSpPr>
          <p:nvPr>
            <p:ph type="sldNum" sz="quarter" idx="10"/>
          </p:nvPr>
        </p:nvSpPr>
        <p:spPr/>
        <p:txBody>
          <a:bodyPr/>
          <a:lstStyle/>
          <a:p>
            <a:fld id="{D2D9A4AF-2990-421B-B68A-2400716A5DB9}" type="slidenum">
              <a:rPr lang="en-US" smtClean="0"/>
              <a:t>23</a:t>
            </a:fld>
            <a:endParaRPr lang="en-US"/>
          </a:p>
        </p:txBody>
      </p:sp>
    </p:spTree>
    <p:extLst>
      <p:ext uri="{BB962C8B-B14F-4D97-AF65-F5344CB8AC3E}">
        <p14:creationId xmlns:p14="http://schemas.microsoft.com/office/powerpoint/2010/main" val="336601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23E8A-87A6-A33E-6809-661E2112B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03857-2C16-87A9-19D7-3AA0332EF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40F32-DEFA-53E7-F8EB-E7960383F5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FDA270-04A6-D0A4-5BA1-794889577FEC}"/>
              </a:ext>
            </a:extLst>
          </p:cNvPr>
          <p:cNvSpPr>
            <a:spLocks noGrp="1"/>
          </p:cNvSpPr>
          <p:nvPr>
            <p:ph type="sldNum" sz="quarter" idx="10"/>
          </p:nvPr>
        </p:nvSpPr>
        <p:spPr/>
        <p:txBody>
          <a:bodyPr/>
          <a:lstStyle/>
          <a:p>
            <a:fld id="{D2D9A4AF-2990-421B-B68A-2400716A5DB9}" type="slidenum">
              <a:rPr lang="en-US" smtClean="0"/>
              <a:t>24</a:t>
            </a:fld>
            <a:endParaRPr lang="en-US"/>
          </a:p>
        </p:txBody>
      </p:sp>
    </p:spTree>
    <p:extLst>
      <p:ext uri="{BB962C8B-B14F-4D97-AF65-F5344CB8AC3E}">
        <p14:creationId xmlns:p14="http://schemas.microsoft.com/office/powerpoint/2010/main" val="3197026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66A37-586A-8332-B7B2-8794FEA8F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981C4-D3C9-656B-F5FD-821053B30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CB6C1-285B-F9F5-C1C6-66E4D54D8A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B4E07F-3414-DFFF-ECAA-976459E1D12C}"/>
              </a:ext>
            </a:extLst>
          </p:cNvPr>
          <p:cNvSpPr>
            <a:spLocks noGrp="1"/>
          </p:cNvSpPr>
          <p:nvPr>
            <p:ph type="sldNum" sz="quarter" idx="10"/>
          </p:nvPr>
        </p:nvSpPr>
        <p:spPr/>
        <p:txBody>
          <a:bodyPr/>
          <a:lstStyle/>
          <a:p>
            <a:fld id="{D2D9A4AF-2990-421B-B68A-2400716A5DB9}" type="slidenum">
              <a:rPr lang="en-US" smtClean="0"/>
              <a:t>25</a:t>
            </a:fld>
            <a:endParaRPr lang="en-US"/>
          </a:p>
        </p:txBody>
      </p:sp>
    </p:spTree>
    <p:extLst>
      <p:ext uri="{BB962C8B-B14F-4D97-AF65-F5344CB8AC3E}">
        <p14:creationId xmlns:p14="http://schemas.microsoft.com/office/powerpoint/2010/main" val="3181067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6B5EC-0133-7568-3C10-65B668F8E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D8FBA-357C-30BF-7067-C3B886C6F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AF3768-D5DB-E4D8-A738-680E6E55E8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D21D46-65E8-E466-85A7-B775C7A0ADEE}"/>
              </a:ext>
            </a:extLst>
          </p:cNvPr>
          <p:cNvSpPr>
            <a:spLocks noGrp="1"/>
          </p:cNvSpPr>
          <p:nvPr>
            <p:ph type="sldNum" sz="quarter" idx="5"/>
          </p:nvPr>
        </p:nvSpPr>
        <p:spPr/>
        <p:txBody>
          <a:bodyPr/>
          <a:lstStyle/>
          <a:p>
            <a:fld id="{D2D9A4AF-2990-421B-B68A-2400716A5DB9}" type="slidenum">
              <a:rPr lang="en-US" smtClean="0"/>
              <a:t>30</a:t>
            </a:fld>
            <a:endParaRPr lang="en-US"/>
          </a:p>
        </p:txBody>
      </p:sp>
    </p:spTree>
    <p:extLst>
      <p:ext uri="{BB962C8B-B14F-4D97-AF65-F5344CB8AC3E}">
        <p14:creationId xmlns:p14="http://schemas.microsoft.com/office/powerpoint/2010/main" val="36893464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E6212-6B12-4306-7BA9-D409CA308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CF619-89F3-E1C7-4C02-540B7D2AC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17961-8621-3D53-C7AF-10A29CF23B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D76E4B-4E69-F6D3-BA4B-51C49DE29910}"/>
              </a:ext>
            </a:extLst>
          </p:cNvPr>
          <p:cNvSpPr>
            <a:spLocks noGrp="1"/>
          </p:cNvSpPr>
          <p:nvPr>
            <p:ph type="sldNum" sz="quarter" idx="10"/>
          </p:nvPr>
        </p:nvSpPr>
        <p:spPr/>
        <p:txBody>
          <a:bodyPr/>
          <a:lstStyle/>
          <a:p>
            <a:fld id="{D2D9A4AF-2990-421B-B68A-2400716A5DB9}" type="slidenum">
              <a:rPr lang="en-US" smtClean="0"/>
              <a:t>32</a:t>
            </a:fld>
            <a:endParaRPr lang="en-US"/>
          </a:p>
        </p:txBody>
      </p:sp>
    </p:spTree>
    <p:extLst>
      <p:ext uri="{BB962C8B-B14F-4D97-AF65-F5344CB8AC3E}">
        <p14:creationId xmlns:p14="http://schemas.microsoft.com/office/powerpoint/2010/main" val="975193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2AA85-0070-2F13-3F07-B29356153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BB7C6-AAF9-7D1E-21DB-07806150F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C1B82-C1C3-BD41-8181-84F9044376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2C9181-C978-5428-7573-7E056A69C3DA}"/>
              </a:ext>
            </a:extLst>
          </p:cNvPr>
          <p:cNvSpPr>
            <a:spLocks noGrp="1"/>
          </p:cNvSpPr>
          <p:nvPr>
            <p:ph type="sldNum" sz="quarter" idx="5"/>
          </p:nvPr>
        </p:nvSpPr>
        <p:spPr/>
        <p:txBody>
          <a:bodyPr/>
          <a:lstStyle/>
          <a:p>
            <a:fld id="{5D0A1560-631D-4E38-BA7D-582B1ABF6DCE}" type="slidenum">
              <a:rPr lang="en-US" smtClean="0"/>
              <a:t>34</a:t>
            </a:fld>
            <a:endParaRPr lang="en-US"/>
          </a:p>
        </p:txBody>
      </p:sp>
    </p:spTree>
    <p:extLst>
      <p:ext uri="{BB962C8B-B14F-4D97-AF65-F5344CB8AC3E}">
        <p14:creationId xmlns:p14="http://schemas.microsoft.com/office/powerpoint/2010/main" val="1825467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B4FCC-4B34-6600-1456-DC816C4C6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E7107-D13E-D16D-2E9D-B1EA86E42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8C0F6-3590-14F9-BD24-8B1C46BAE1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E1E082-03F1-E332-DB45-79D8A3367523}"/>
              </a:ext>
            </a:extLst>
          </p:cNvPr>
          <p:cNvSpPr>
            <a:spLocks noGrp="1"/>
          </p:cNvSpPr>
          <p:nvPr>
            <p:ph type="sldNum" sz="quarter" idx="5"/>
          </p:nvPr>
        </p:nvSpPr>
        <p:spPr/>
        <p:txBody>
          <a:bodyPr/>
          <a:lstStyle/>
          <a:p>
            <a:fld id="{5D0A1560-631D-4E38-BA7D-582B1ABF6DCE}" type="slidenum">
              <a:rPr lang="en-US" smtClean="0"/>
              <a:t>35</a:t>
            </a:fld>
            <a:endParaRPr lang="en-US"/>
          </a:p>
        </p:txBody>
      </p:sp>
    </p:spTree>
    <p:extLst>
      <p:ext uri="{BB962C8B-B14F-4D97-AF65-F5344CB8AC3E}">
        <p14:creationId xmlns:p14="http://schemas.microsoft.com/office/powerpoint/2010/main" val="42601912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0A1560-631D-4E38-BA7D-582B1ABF6DCE}" type="slidenum">
              <a:rPr lang="en-US" smtClean="0"/>
              <a:t>37</a:t>
            </a:fld>
            <a:endParaRPr lang="en-US"/>
          </a:p>
        </p:txBody>
      </p:sp>
    </p:spTree>
    <p:extLst>
      <p:ext uri="{BB962C8B-B14F-4D97-AF65-F5344CB8AC3E}">
        <p14:creationId xmlns:p14="http://schemas.microsoft.com/office/powerpoint/2010/main" val="10266556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470C7-1490-3272-E7B0-3AB1EE046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7B428-27E4-B96F-F3F5-BF3D0E90E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C0820-7713-49F8-5FCE-F56D769BA2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D3161B-EA70-60B8-46C9-E61C305921A3}"/>
              </a:ext>
            </a:extLst>
          </p:cNvPr>
          <p:cNvSpPr>
            <a:spLocks noGrp="1"/>
          </p:cNvSpPr>
          <p:nvPr>
            <p:ph type="sldNum" sz="quarter" idx="5"/>
          </p:nvPr>
        </p:nvSpPr>
        <p:spPr/>
        <p:txBody>
          <a:bodyPr/>
          <a:lstStyle/>
          <a:p>
            <a:fld id="{5D0A1560-631D-4E38-BA7D-582B1ABF6DCE}" type="slidenum">
              <a:rPr lang="en-US" smtClean="0"/>
              <a:t>38</a:t>
            </a:fld>
            <a:endParaRPr lang="en-US"/>
          </a:p>
        </p:txBody>
      </p:sp>
    </p:spTree>
    <p:extLst>
      <p:ext uri="{BB962C8B-B14F-4D97-AF65-F5344CB8AC3E}">
        <p14:creationId xmlns:p14="http://schemas.microsoft.com/office/powerpoint/2010/main" val="3351585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D9DD-B07B-5874-E376-D63056889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6034A-7003-F413-D713-E368FEEC1B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FF2E5-79F3-73C5-D71C-2C6A73AA0B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DE91B1-097F-0F85-960E-850DC1DD6E26}"/>
              </a:ext>
            </a:extLst>
          </p:cNvPr>
          <p:cNvSpPr>
            <a:spLocks noGrp="1"/>
          </p:cNvSpPr>
          <p:nvPr>
            <p:ph type="sldNum" sz="quarter" idx="5"/>
          </p:nvPr>
        </p:nvSpPr>
        <p:spPr/>
        <p:txBody>
          <a:bodyPr/>
          <a:lstStyle/>
          <a:p>
            <a:fld id="{5D0A1560-631D-4E38-BA7D-582B1ABF6DCE}" type="slidenum">
              <a:rPr lang="en-US" smtClean="0"/>
              <a:t>39</a:t>
            </a:fld>
            <a:endParaRPr lang="en-US"/>
          </a:p>
        </p:txBody>
      </p:sp>
    </p:spTree>
    <p:extLst>
      <p:ext uri="{BB962C8B-B14F-4D97-AF65-F5344CB8AC3E}">
        <p14:creationId xmlns:p14="http://schemas.microsoft.com/office/powerpoint/2010/main" val="36855946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50550-7EB1-45BB-C919-51CB4FEDC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38A97-779A-BDB3-8112-F42930B5E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C7FF9-4E8C-DC90-6B39-82B22EA27E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5756E6-4A2B-07AF-A332-510CF1B43D4F}"/>
              </a:ext>
            </a:extLst>
          </p:cNvPr>
          <p:cNvSpPr>
            <a:spLocks noGrp="1"/>
          </p:cNvSpPr>
          <p:nvPr>
            <p:ph type="sldNum" sz="quarter" idx="5"/>
          </p:nvPr>
        </p:nvSpPr>
        <p:spPr/>
        <p:txBody>
          <a:bodyPr/>
          <a:lstStyle/>
          <a:p>
            <a:fld id="{5D0A1560-631D-4E38-BA7D-582B1ABF6DCE}" type="slidenum">
              <a:rPr lang="en-US" smtClean="0"/>
              <a:t>40</a:t>
            </a:fld>
            <a:endParaRPr lang="en-US"/>
          </a:p>
        </p:txBody>
      </p:sp>
    </p:spTree>
    <p:extLst>
      <p:ext uri="{BB962C8B-B14F-4D97-AF65-F5344CB8AC3E}">
        <p14:creationId xmlns:p14="http://schemas.microsoft.com/office/powerpoint/2010/main" val="25900826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3615A-E742-CF39-81F6-0CA8B5DBD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83E90-93CB-1585-7384-E752D48E1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90FE0-904B-7132-7683-4F2460F820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35446B-6E0D-5428-D1AC-028D7F504410}"/>
              </a:ext>
            </a:extLst>
          </p:cNvPr>
          <p:cNvSpPr>
            <a:spLocks noGrp="1"/>
          </p:cNvSpPr>
          <p:nvPr>
            <p:ph type="sldNum" sz="quarter" idx="5"/>
          </p:nvPr>
        </p:nvSpPr>
        <p:spPr/>
        <p:txBody>
          <a:bodyPr/>
          <a:lstStyle/>
          <a:p>
            <a:fld id="{5D0A1560-631D-4E38-BA7D-582B1ABF6DCE}" type="slidenum">
              <a:rPr lang="en-US" smtClean="0"/>
              <a:t>41</a:t>
            </a:fld>
            <a:endParaRPr lang="en-US"/>
          </a:p>
        </p:txBody>
      </p:sp>
    </p:spTree>
    <p:extLst>
      <p:ext uri="{BB962C8B-B14F-4D97-AF65-F5344CB8AC3E}">
        <p14:creationId xmlns:p14="http://schemas.microsoft.com/office/powerpoint/2010/main" val="3884249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1210-A80F-B76D-D4F9-8062F11A5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3C306-9602-F5D4-4917-689FBA1D8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B24B2-57F3-084D-7D2F-C2F19DC1F6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2D488F-B9DF-65C3-44F5-1A1A96CB0DBA}"/>
              </a:ext>
            </a:extLst>
          </p:cNvPr>
          <p:cNvSpPr>
            <a:spLocks noGrp="1"/>
          </p:cNvSpPr>
          <p:nvPr>
            <p:ph type="sldNum" sz="quarter" idx="5"/>
          </p:nvPr>
        </p:nvSpPr>
        <p:spPr/>
        <p:txBody>
          <a:bodyPr/>
          <a:lstStyle/>
          <a:p>
            <a:fld id="{5D0A1560-631D-4E38-BA7D-582B1ABF6DCE}" type="slidenum">
              <a:rPr lang="en-US" smtClean="0"/>
              <a:t>42</a:t>
            </a:fld>
            <a:endParaRPr lang="en-US"/>
          </a:p>
        </p:txBody>
      </p:sp>
    </p:spTree>
    <p:extLst>
      <p:ext uri="{BB962C8B-B14F-4D97-AF65-F5344CB8AC3E}">
        <p14:creationId xmlns:p14="http://schemas.microsoft.com/office/powerpoint/2010/main" val="33021875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15EA1-B3BB-BB50-8578-14396E1FE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836C8-BE61-18F0-A12F-63A516E1D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9334B-53DB-71F5-156F-780F69A6F9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D75C2E-75EC-A6EA-A13D-90DF4CC999FA}"/>
              </a:ext>
            </a:extLst>
          </p:cNvPr>
          <p:cNvSpPr>
            <a:spLocks noGrp="1"/>
          </p:cNvSpPr>
          <p:nvPr>
            <p:ph type="sldNum" sz="quarter" idx="5"/>
          </p:nvPr>
        </p:nvSpPr>
        <p:spPr/>
        <p:txBody>
          <a:bodyPr/>
          <a:lstStyle/>
          <a:p>
            <a:fld id="{5D0A1560-631D-4E38-BA7D-582B1ABF6DCE}" type="slidenum">
              <a:rPr lang="en-US" smtClean="0"/>
              <a:t>43</a:t>
            </a:fld>
            <a:endParaRPr lang="en-US"/>
          </a:p>
        </p:txBody>
      </p:sp>
    </p:spTree>
    <p:extLst>
      <p:ext uri="{BB962C8B-B14F-4D97-AF65-F5344CB8AC3E}">
        <p14:creationId xmlns:p14="http://schemas.microsoft.com/office/powerpoint/2010/main" val="3979810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4E0F1-3F56-3C55-3B93-4678F9464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6F373-BBDA-E13D-92FF-736642F81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17FC6-8E05-B957-9933-5ED3D8099E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086C01-77E4-3153-FAFB-C88A53B6C27B}"/>
              </a:ext>
            </a:extLst>
          </p:cNvPr>
          <p:cNvSpPr>
            <a:spLocks noGrp="1"/>
          </p:cNvSpPr>
          <p:nvPr>
            <p:ph type="sldNum" sz="quarter" idx="5"/>
          </p:nvPr>
        </p:nvSpPr>
        <p:spPr/>
        <p:txBody>
          <a:bodyPr/>
          <a:lstStyle/>
          <a:p>
            <a:fld id="{5D0A1560-631D-4E38-BA7D-582B1ABF6DCE}" type="slidenum">
              <a:rPr lang="en-US" smtClean="0"/>
              <a:t>44</a:t>
            </a:fld>
            <a:endParaRPr lang="en-US"/>
          </a:p>
        </p:txBody>
      </p:sp>
    </p:spTree>
    <p:extLst>
      <p:ext uri="{BB962C8B-B14F-4D97-AF65-F5344CB8AC3E}">
        <p14:creationId xmlns:p14="http://schemas.microsoft.com/office/powerpoint/2010/main" val="4910533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2AAAD-ACE6-4156-17A8-96C453919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81130-53E1-DD09-3CFF-E8ADCEF470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41205-38D8-64A4-A620-4A533AC443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200492-637E-9061-7228-D80E009BD29F}"/>
              </a:ext>
            </a:extLst>
          </p:cNvPr>
          <p:cNvSpPr>
            <a:spLocks noGrp="1"/>
          </p:cNvSpPr>
          <p:nvPr>
            <p:ph type="sldNum" sz="quarter" idx="5"/>
          </p:nvPr>
        </p:nvSpPr>
        <p:spPr/>
        <p:txBody>
          <a:bodyPr/>
          <a:lstStyle/>
          <a:p>
            <a:fld id="{5D0A1560-631D-4E38-BA7D-582B1ABF6DCE}" type="slidenum">
              <a:rPr lang="en-US" smtClean="0"/>
              <a:t>45</a:t>
            </a:fld>
            <a:endParaRPr lang="en-US"/>
          </a:p>
        </p:txBody>
      </p:sp>
    </p:spTree>
    <p:extLst>
      <p:ext uri="{BB962C8B-B14F-4D97-AF65-F5344CB8AC3E}">
        <p14:creationId xmlns:p14="http://schemas.microsoft.com/office/powerpoint/2010/main" val="8922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A89D7-7DBB-C76B-0D9E-EFAAD72F4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839AD-E5D1-053F-608B-F729F9C85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AC5C0-E6F7-1757-55AC-5A39C1EF85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124507-8569-5ADF-5362-D831DDDA8B1A}"/>
              </a:ext>
            </a:extLst>
          </p:cNvPr>
          <p:cNvSpPr>
            <a:spLocks noGrp="1"/>
          </p:cNvSpPr>
          <p:nvPr>
            <p:ph type="sldNum" sz="quarter" idx="5"/>
          </p:nvPr>
        </p:nvSpPr>
        <p:spPr/>
        <p:txBody>
          <a:bodyPr/>
          <a:lstStyle/>
          <a:p>
            <a:fld id="{5D0A1560-631D-4E38-BA7D-582B1ABF6DCE}" type="slidenum">
              <a:rPr lang="en-US" smtClean="0"/>
              <a:t>46</a:t>
            </a:fld>
            <a:endParaRPr lang="en-US"/>
          </a:p>
        </p:txBody>
      </p:sp>
    </p:spTree>
    <p:extLst>
      <p:ext uri="{BB962C8B-B14F-4D97-AF65-F5344CB8AC3E}">
        <p14:creationId xmlns:p14="http://schemas.microsoft.com/office/powerpoint/2010/main" val="14797434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61347-D287-7B2B-70E0-E79E29D18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32FEE-0124-9D9B-0889-AC2B2700E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6DE31-3F05-9767-161E-BDF94EDF32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B903D6-6FFC-5C4B-5E04-FD3F41105FC1}"/>
              </a:ext>
            </a:extLst>
          </p:cNvPr>
          <p:cNvSpPr>
            <a:spLocks noGrp="1"/>
          </p:cNvSpPr>
          <p:nvPr>
            <p:ph type="sldNum" sz="quarter" idx="5"/>
          </p:nvPr>
        </p:nvSpPr>
        <p:spPr/>
        <p:txBody>
          <a:bodyPr/>
          <a:lstStyle/>
          <a:p>
            <a:fld id="{5D0A1560-631D-4E38-BA7D-582B1ABF6DCE}" type="slidenum">
              <a:rPr lang="en-US" smtClean="0"/>
              <a:t>47</a:t>
            </a:fld>
            <a:endParaRPr lang="en-US"/>
          </a:p>
        </p:txBody>
      </p:sp>
    </p:spTree>
    <p:extLst>
      <p:ext uri="{BB962C8B-B14F-4D97-AF65-F5344CB8AC3E}">
        <p14:creationId xmlns:p14="http://schemas.microsoft.com/office/powerpoint/2010/main" val="224502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7B94-3069-BD57-66C7-B224A58FD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F4F83-0177-7681-2CB2-4C7543CE3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56A58-79E4-F300-713E-17A3C02DF5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9EF7C1-1315-BE47-A45C-C9C99618A0E8}"/>
              </a:ext>
            </a:extLst>
          </p:cNvPr>
          <p:cNvSpPr>
            <a:spLocks noGrp="1"/>
          </p:cNvSpPr>
          <p:nvPr>
            <p:ph type="sldNum" sz="quarter" idx="5"/>
          </p:nvPr>
        </p:nvSpPr>
        <p:spPr/>
        <p:txBody>
          <a:bodyPr/>
          <a:lstStyle/>
          <a:p>
            <a:fld id="{5D0A1560-631D-4E38-BA7D-582B1ABF6DCE}" type="slidenum">
              <a:rPr lang="en-US" smtClean="0"/>
              <a:t>48</a:t>
            </a:fld>
            <a:endParaRPr lang="en-US"/>
          </a:p>
        </p:txBody>
      </p:sp>
    </p:spTree>
    <p:extLst>
      <p:ext uri="{BB962C8B-B14F-4D97-AF65-F5344CB8AC3E}">
        <p14:creationId xmlns:p14="http://schemas.microsoft.com/office/powerpoint/2010/main" val="19635707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307B2-99D3-C20E-625D-13374DA11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211F9-22E1-0C97-7DCC-DF2F2B27D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599C2-69CE-DB9F-C530-3B9962862E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BBFF80-8A55-37D3-9DE9-706457B16CC7}"/>
              </a:ext>
            </a:extLst>
          </p:cNvPr>
          <p:cNvSpPr>
            <a:spLocks noGrp="1"/>
          </p:cNvSpPr>
          <p:nvPr>
            <p:ph type="sldNum" sz="quarter" idx="5"/>
          </p:nvPr>
        </p:nvSpPr>
        <p:spPr/>
        <p:txBody>
          <a:bodyPr/>
          <a:lstStyle/>
          <a:p>
            <a:fld id="{5D0A1560-631D-4E38-BA7D-582B1ABF6DCE}" type="slidenum">
              <a:rPr lang="en-US" smtClean="0"/>
              <a:t>49</a:t>
            </a:fld>
            <a:endParaRPr lang="en-US"/>
          </a:p>
        </p:txBody>
      </p:sp>
    </p:spTree>
    <p:extLst>
      <p:ext uri="{BB962C8B-B14F-4D97-AF65-F5344CB8AC3E}">
        <p14:creationId xmlns:p14="http://schemas.microsoft.com/office/powerpoint/2010/main" val="6282150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16E0-7981-28C3-01DD-8F91A69B9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56847-F063-CCB3-F9E2-7DA216FA5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1BF4E-53B6-564A-F8E9-2F1C08E886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82A13F-FA03-62B9-CECF-E540D88E073F}"/>
              </a:ext>
            </a:extLst>
          </p:cNvPr>
          <p:cNvSpPr>
            <a:spLocks noGrp="1"/>
          </p:cNvSpPr>
          <p:nvPr>
            <p:ph type="sldNum" sz="quarter" idx="5"/>
          </p:nvPr>
        </p:nvSpPr>
        <p:spPr/>
        <p:txBody>
          <a:bodyPr/>
          <a:lstStyle/>
          <a:p>
            <a:fld id="{5D0A1560-631D-4E38-BA7D-582B1ABF6DCE}" type="slidenum">
              <a:rPr lang="en-US" smtClean="0"/>
              <a:t>50</a:t>
            </a:fld>
            <a:endParaRPr lang="en-US"/>
          </a:p>
        </p:txBody>
      </p:sp>
    </p:spTree>
    <p:extLst>
      <p:ext uri="{BB962C8B-B14F-4D97-AF65-F5344CB8AC3E}">
        <p14:creationId xmlns:p14="http://schemas.microsoft.com/office/powerpoint/2010/main" val="21084198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C7664-C4E7-572E-362F-7F6A43287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EF1CE-1D97-1B7D-9A45-73DE2DA85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CA5B80-12BC-C6D1-0051-913B9092E0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BA680C-5D5B-4B8F-E667-9D6F83BAAF27}"/>
              </a:ext>
            </a:extLst>
          </p:cNvPr>
          <p:cNvSpPr>
            <a:spLocks noGrp="1"/>
          </p:cNvSpPr>
          <p:nvPr>
            <p:ph type="sldNum" sz="quarter" idx="5"/>
          </p:nvPr>
        </p:nvSpPr>
        <p:spPr/>
        <p:txBody>
          <a:bodyPr/>
          <a:lstStyle/>
          <a:p>
            <a:fld id="{5D0A1560-631D-4E38-BA7D-582B1ABF6DCE}" type="slidenum">
              <a:rPr lang="en-US" smtClean="0"/>
              <a:t>51</a:t>
            </a:fld>
            <a:endParaRPr lang="en-US"/>
          </a:p>
        </p:txBody>
      </p:sp>
    </p:spTree>
    <p:extLst>
      <p:ext uri="{BB962C8B-B14F-4D97-AF65-F5344CB8AC3E}">
        <p14:creationId xmlns:p14="http://schemas.microsoft.com/office/powerpoint/2010/main" val="20514995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descr="A blue and white background with a logo&#10;&#10;AI-generated content may be incorrect.">
            <a:extLst>
              <a:ext uri="{FF2B5EF4-FFF2-40B4-BE49-F238E27FC236}">
                <a16:creationId xmlns:a16="http://schemas.microsoft.com/office/drawing/2014/main" id="{6AA831E7-A2F9-47D0-5F4B-412F38DD8A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717732" y="1568972"/>
            <a:ext cx="5800634" cy="1427163"/>
          </a:xfrm>
        </p:spPr>
        <p:txBody>
          <a:bodyPr anchor="b">
            <a:normAutofit/>
          </a:bodyPr>
          <a:lstStyle>
            <a:lvl1pPr algn="r">
              <a:defRPr sz="4800">
                <a:latin typeface="+mj-lt"/>
              </a:defRPr>
            </a:lvl1pPr>
          </a:lstStyle>
          <a:p>
            <a:r>
              <a:rPr lang="en-US"/>
              <a:t>Click to edit Master title style</a:t>
            </a:r>
            <a:endParaRPr lang="id-ID"/>
          </a:p>
        </p:txBody>
      </p:sp>
      <p:sp>
        <p:nvSpPr>
          <p:cNvPr id="3" name="Subtitle 2"/>
          <p:cNvSpPr>
            <a:spLocks noGrp="1"/>
          </p:cNvSpPr>
          <p:nvPr>
            <p:ph type="subTitle" idx="1"/>
          </p:nvPr>
        </p:nvSpPr>
        <p:spPr>
          <a:xfrm>
            <a:off x="717732" y="3191671"/>
            <a:ext cx="5800634" cy="989714"/>
          </a:xfrm>
        </p:spPr>
        <p:txBody>
          <a:bodyPr/>
          <a:lstStyle>
            <a:lvl1pPr marL="0" indent="0" algn="r">
              <a:buNone/>
              <a:defRPr sz="2400">
                <a:solidFill>
                  <a:schemeClr val="accent1">
                    <a:lumMod val="50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p:cNvSpPr>
            <a:spLocks noGrp="1"/>
          </p:cNvSpPr>
          <p:nvPr>
            <p:ph type="dt" sz="half" idx="10"/>
          </p:nvPr>
        </p:nvSpPr>
        <p:spPr/>
        <p:txBody>
          <a:bodyPr/>
          <a:lstStyle/>
          <a:p>
            <a:fld id="{A6F18096-B920-4F36-8663-AA118018427C}" type="datetimeFigureOut">
              <a:rPr lang="id-ID" smtClean="0"/>
              <a:t>08/06/2026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72559E05-EF4A-4B59-BE50-006ACF096495}" type="slidenum">
              <a:rPr lang="id-ID" smtClean="0"/>
              <a:t>‹#›</a:t>
            </a:fld>
            <a:endParaRPr lang="id-ID"/>
          </a:p>
        </p:txBody>
      </p:sp>
    </p:spTree>
    <p:extLst>
      <p:ext uri="{BB962C8B-B14F-4D97-AF65-F5344CB8AC3E}">
        <p14:creationId xmlns:p14="http://schemas.microsoft.com/office/powerpoint/2010/main" val="3549605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descr="A white background with black and white clouds&#10;&#10;AI-generated content may be incorrect.">
            <a:extLst>
              <a:ext uri="{FF2B5EF4-FFF2-40B4-BE49-F238E27FC236}">
                <a16:creationId xmlns:a16="http://schemas.microsoft.com/office/drawing/2014/main" id="{010580BF-A44A-C628-7B62-D311EA37CA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3777196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 blue square with white dots&#10;&#10;AI-generated content may be incorrect.">
            <a:extLst>
              <a:ext uri="{FF2B5EF4-FFF2-40B4-BE49-F238E27FC236}">
                <a16:creationId xmlns:a16="http://schemas.microsoft.com/office/drawing/2014/main" id="{41FF6F36-E9AB-9BD2-D167-8CEED18595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342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A6F18096-B920-4F36-8663-AA118018427C}" type="datetimeFigureOut">
              <a:rPr lang="id-ID" smtClean="0"/>
              <a:t>08/06/2026</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72559E05-EF4A-4B59-BE50-006ACF096495}" type="slidenum">
              <a:rPr lang="id-ID" smtClean="0"/>
              <a:t>‹#›</a:t>
            </a:fld>
            <a:endParaRPr lang="id-ID"/>
          </a:p>
        </p:txBody>
      </p:sp>
      <p:pic>
        <p:nvPicPr>
          <p:cNvPr id="12" name="Picture 11" descr="A blue square with white lines&#10;&#10;AI-generated content may be incorrect.">
            <a:extLst>
              <a:ext uri="{FF2B5EF4-FFF2-40B4-BE49-F238E27FC236}">
                <a16:creationId xmlns:a16="http://schemas.microsoft.com/office/drawing/2014/main" id="{89B2661E-2FFD-1105-FAD0-D7B0EFD4E7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76766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A6F18096-B920-4F36-8663-AA118018427C}" type="datetimeFigureOut">
              <a:rPr lang="id-ID" smtClean="0"/>
              <a:t>08/06/2026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72559E05-EF4A-4B59-BE50-006ACF096495}" type="slidenum">
              <a:rPr lang="id-ID" smtClean="0"/>
              <a:t>‹#›</a:t>
            </a:fld>
            <a:endParaRPr lang="id-ID"/>
          </a:p>
        </p:txBody>
      </p:sp>
      <p:pic>
        <p:nvPicPr>
          <p:cNvPr id="10" name="Picture 9" descr="A pink square with white dots&#10;&#10;AI-generated content may be incorrect.">
            <a:extLst>
              <a:ext uri="{FF2B5EF4-FFF2-40B4-BE49-F238E27FC236}">
                <a16:creationId xmlns:a16="http://schemas.microsoft.com/office/drawing/2014/main" id="{AC399E21-F756-F78E-647E-66D58CA7B7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94675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F18096-B920-4F36-8663-AA118018427C}" type="datetimeFigureOut">
              <a:rPr lang="id-ID" smtClean="0"/>
              <a:t>08/06/2026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72559E05-EF4A-4B59-BE50-006ACF096495}" type="slidenum">
              <a:rPr lang="id-ID" smtClean="0"/>
              <a:t>‹#›</a:t>
            </a:fld>
            <a:endParaRPr lang="id-ID"/>
          </a:p>
        </p:txBody>
      </p:sp>
      <p:pic>
        <p:nvPicPr>
          <p:cNvPr id="8" name="Picture 7" descr="A purple square with white dots&#10;&#10;AI-generated content may be incorrect.">
            <a:extLst>
              <a:ext uri="{FF2B5EF4-FFF2-40B4-BE49-F238E27FC236}">
                <a16:creationId xmlns:a16="http://schemas.microsoft.com/office/drawing/2014/main" id="{7B86028E-76FE-53DC-D9EE-882F63E9CF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58724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pic>
        <p:nvPicPr>
          <p:cNvPr id="3078" name="Picture 6">
            <a:extLst>
              <a:ext uri="{FF2B5EF4-FFF2-40B4-BE49-F238E27FC236}">
                <a16:creationId xmlns:a16="http://schemas.microsoft.com/office/drawing/2014/main" id="{6D249EB4-C9EE-3D2D-C98C-08551349727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9980448-D6AA-BF5A-03A1-47A1008B40BF}"/>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2EA4355-2406-97E1-383C-123A186C71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80A7032F-BCC6-3F16-EFBB-CEAE27A69CFC}"/>
              </a:ext>
            </a:extLst>
          </p:cNvPr>
          <p:cNvSpPr>
            <a:spLocks noGrp="1"/>
          </p:cNvSpPr>
          <p:nvPr>
            <p:ph type="dt" sz="half" idx="10"/>
          </p:nvPr>
        </p:nvSpPr>
        <p:spPr/>
        <p:txBody>
          <a:bodyPr/>
          <a:lstStyle/>
          <a:p>
            <a:fld id="{00F152FE-D922-46BA-9E6D-64CD998A4DC9}" type="datetimeFigureOut">
              <a:rPr lang="en-ID" smtClean="0"/>
              <a:t>08/06/2026</a:t>
            </a:fld>
            <a:endParaRPr lang="en-ID"/>
          </a:p>
        </p:txBody>
      </p:sp>
      <p:sp>
        <p:nvSpPr>
          <p:cNvPr id="5" name="Footer Placeholder 4">
            <a:extLst>
              <a:ext uri="{FF2B5EF4-FFF2-40B4-BE49-F238E27FC236}">
                <a16:creationId xmlns:a16="http://schemas.microsoft.com/office/drawing/2014/main" id="{094F4AF8-ED15-A08F-1472-DC614CCCB713}"/>
              </a:ext>
            </a:extLst>
          </p:cNvPr>
          <p:cNvSpPr>
            <a:spLocks noGrp="1"/>
          </p:cNvSpPr>
          <p:nvPr>
            <p:ph type="ftr" sz="quarter" idx="11"/>
          </p:nvPr>
        </p:nvSpPr>
        <p:spPr/>
        <p:txBody>
          <a:bodyPr/>
          <a:lstStyle/>
          <a:p>
            <a:endParaRPr lang="en-ID"/>
          </a:p>
        </p:txBody>
      </p:sp>
      <p:pic>
        <p:nvPicPr>
          <p:cNvPr id="9" name="Picture 8" descr="A blue square with white dots&#10;&#10;AI-generated content may be incorrect.">
            <a:extLst>
              <a:ext uri="{FF2B5EF4-FFF2-40B4-BE49-F238E27FC236}">
                <a16:creationId xmlns:a16="http://schemas.microsoft.com/office/drawing/2014/main" id="{EC3F03DC-780A-01EB-2F89-1683B59E84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94419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F18096-B920-4F36-8663-AA118018427C}" type="datetimeFigureOut">
              <a:rPr lang="id-ID" smtClean="0"/>
              <a:t>08/06/2026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72559E05-EF4A-4B59-BE50-006ACF096495}" type="slidenum">
              <a:rPr lang="id-ID" smtClean="0"/>
              <a:t>‹#›</a:t>
            </a:fld>
            <a:endParaRPr lang="id-ID"/>
          </a:p>
        </p:txBody>
      </p:sp>
      <p:pic>
        <p:nvPicPr>
          <p:cNvPr id="9" name="Picture 8" descr="A yellow rectangular object with a black center&#10;&#10;AI-generated content may be incorrect.">
            <a:extLst>
              <a:ext uri="{FF2B5EF4-FFF2-40B4-BE49-F238E27FC236}">
                <a16:creationId xmlns:a16="http://schemas.microsoft.com/office/drawing/2014/main" id="{D9CABB63-E9E2-A820-85F0-C3CCA46A07D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58417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3B5D-0669-A3B2-508A-78367FF3CB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10F9B6-0604-A525-2569-061DB26A38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48C5FA-B812-FC5A-25A9-54A14164CE2C}"/>
              </a:ext>
            </a:extLst>
          </p:cNvPr>
          <p:cNvSpPr>
            <a:spLocks noGrp="1"/>
          </p:cNvSpPr>
          <p:nvPr>
            <p:ph type="dt" sz="half" idx="10"/>
          </p:nvPr>
        </p:nvSpPr>
        <p:spPr/>
        <p:txBody>
          <a:bodyPr/>
          <a:lstStyle/>
          <a:p>
            <a:fld id="{D14686AB-DE56-8642-A4F8-B09394B7FCF9}" type="datetimeFigureOut">
              <a:rPr lang="en-US" smtClean="0"/>
              <a:t>6/8/2026</a:t>
            </a:fld>
            <a:endParaRPr lang="en-US"/>
          </a:p>
        </p:txBody>
      </p:sp>
      <p:sp>
        <p:nvSpPr>
          <p:cNvPr id="5" name="Footer Placeholder 4">
            <a:extLst>
              <a:ext uri="{FF2B5EF4-FFF2-40B4-BE49-F238E27FC236}">
                <a16:creationId xmlns:a16="http://schemas.microsoft.com/office/drawing/2014/main" id="{70EE440C-30AE-A3A2-89D9-A53157D95C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51C751-8076-50C6-C1D5-7B7B96F920E6}"/>
              </a:ext>
            </a:extLst>
          </p:cNvPr>
          <p:cNvSpPr>
            <a:spLocks noGrp="1"/>
          </p:cNvSpPr>
          <p:nvPr>
            <p:ph type="sldNum" sz="quarter" idx="12"/>
          </p:nvPr>
        </p:nvSpPr>
        <p:spPr/>
        <p:txBody>
          <a:bodyPr/>
          <a:lstStyle/>
          <a:p>
            <a:fld id="{CA3AC9B8-0E7C-E745-82B8-0F27B65BA3C8}" type="slidenum">
              <a:rPr lang="en-US" smtClean="0"/>
              <a:t>‹#›</a:t>
            </a:fld>
            <a:endParaRPr lang="en-US"/>
          </a:p>
        </p:txBody>
      </p:sp>
    </p:spTree>
    <p:extLst>
      <p:ext uri="{BB962C8B-B14F-4D97-AF65-F5344CB8AC3E}">
        <p14:creationId xmlns:p14="http://schemas.microsoft.com/office/powerpoint/2010/main" val="3508390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CB43-E2F4-BC36-C859-E0E94C3986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67AD33-F4BC-EDAA-1F46-60CAF12783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C6EF9-46FA-18B0-3A1F-206235C98650}"/>
              </a:ext>
            </a:extLst>
          </p:cNvPr>
          <p:cNvSpPr>
            <a:spLocks noGrp="1"/>
          </p:cNvSpPr>
          <p:nvPr>
            <p:ph type="dt" sz="half" idx="10"/>
          </p:nvPr>
        </p:nvSpPr>
        <p:spPr/>
        <p:txBody>
          <a:bodyPr/>
          <a:lstStyle/>
          <a:p>
            <a:fld id="{54341E1C-5A55-6B4E-81CF-EDE1DAEC2DBC}" type="datetimeFigureOut">
              <a:rPr lang="en-US" smtClean="0"/>
              <a:t>6/8/2026</a:t>
            </a:fld>
            <a:endParaRPr lang="en-US"/>
          </a:p>
        </p:txBody>
      </p:sp>
      <p:sp>
        <p:nvSpPr>
          <p:cNvPr id="5" name="Footer Placeholder 4">
            <a:extLst>
              <a:ext uri="{FF2B5EF4-FFF2-40B4-BE49-F238E27FC236}">
                <a16:creationId xmlns:a16="http://schemas.microsoft.com/office/drawing/2014/main" id="{04CA004A-ADF8-616B-257B-2252233BC0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EA687A-0D6B-AC44-C6A0-94B57168C0D0}"/>
              </a:ext>
            </a:extLst>
          </p:cNvPr>
          <p:cNvSpPr>
            <a:spLocks noGrp="1"/>
          </p:cNvSpPr>
          <p:nvPr>
            <p:ph type="sldNum" sz="quarter" idx="12"/>
          </p:nvPr>
        </p:nvSpPr>
        <p:spPr/>
        <p:txBody>
          <a:bodyPr/>
          <a:lstStyle/>
          <a:p>
            <a:fld id="{664AA998-6D62-1A4C-B1A2-496C81AA221C}" type="slidenum">
              <a:rPr lang="en-US" smtClean="0"/>
              <a:t>‹#›</a:t>
            </a:fld>
            <a:endParaRPr lang="en-US"/>
          </a:p>
        </p:txBody>
      </p:sp>
    </p:spTree>
    <p:extLst>
      <p:ext uri="{BB962C8B-B14F-4D97-AF65-F5344CB8AC3E}">
        <p14:creationId xmlns:p14="http://schemas.microsoft.com/office/powerpoint/2010/main" val="12466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F18096-B920-4F36-8663-AA118018427C}" type="datetimeFigureOut">
              <a:rPr lang="id-ID" smtClean="0"/>
              <a:t>08/06/2026</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59E05-EF4A-4B59-BE50-006ACF096495}" type="slidenum">
              <a:rPr lang="id-ID" smtClean="0"/>
              <a:t>‹#›</a:t>
            </a:fld>
            <a:endParaRPr lang="id-ID"/>
          </a:p>
        </p:txBody>
      </p:sp>
      <p:sp>
        <p:nvSpPr>
          <p:cNvPr id="8" name="TextBox 7">
            <a:extLst>
              <a:ext uri="{FF2B5EF4-FFF2-40B4-BE49-F238E27FC236}">
                <a16:creationId xmlns:a16="http://schemas.microsoft.com/office/drawing/2014/main" id="{0DB48541-1E4A-CF9A-3563-48300A9A31E8}"/>
              </a:ext>
            </a:extLst>
          </p:cNvPr>
          <p:cNvSpPr txBox="1"/>
          <p:nvPr userDrawn="1">
            <p:extLst>
              <p:ext uri="{1162E1C5-73C7-4A58-AE30-91384D911F3F}">
                <p184:classification xmlns:p184="http://schemas.microsoft.com/office/powerpoint/2018/4/main" val="ftr"/>
              </p:ext>
            </p:extLst>
          </p:nvPr>
        </p:nvSpPr>
        <p:spPr>
          <a:xfrm>
            <a:off x="5838000" y="6642100"/>
            <a:ext cx="544512" cy="152400"/>
          </a:xfrm>
          <a:prstGeom prst="rect">
            <a:avLst/>
          </a:prstGeom>
        </p:spPr>
        <p:txBody>
          <a:bodyPr horzOverflow="overflow" lIns="0" tIns="0" rIns="0" bIns="0">
            <a:spAutoFit/>
          </a:bodyPr>
          <a:lstStyle/>
          <a:p>
            <a:pPr algn="l"/>
            <a:r>
              <a:rPr lang="en-US" sz="1000">
                <a:solidFill>
                  <a:srgbClr val="008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569992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88" r:id="rId3"/>
    <p:sldLayoutId id="2147483653" r:id="rId4"/>
    <p:sldLayoutId id="2147483652" r:id="rId5"/>
    <p:sldLayoutId id="2147483655" r:id="rId6"/>
    <p:sldLayoutId id="2147483690" r:id="rId7"/>
    <p:sldLayoutId id="2147483651"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03F3FD-7D5B-5324-DD59-6B724D71E2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0739C5-C97E-3E8E-1D97-13C3F541AE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67129-F8DD-12E3-59D1-5E1ECAF170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4686AB-DE56-8642-A4F8-B09394B7FCF9}" type="datetimeFigureOut">
              <a:rPr lang="en-US" smtClean="0"/>
              <a:t>6/8/2026</a:t>
            </a:fld>
            <a:endParaRPr lang="en-US"/>
          </a:p>
        </p:txBody>
      </p:sp>
      <p:sp>
        <p:nvSpPr>
          <p:cNvPr id="5" name="Footer Placeholder 4">
            <a:extLst>
              <a:ext uri="{FF2B5EF4-FFF2-40B4-BE49-F238E27FC236}">
                <a16:creationId xmlns:a16="http://schemas.microsoft.com/office/drawing/2014/main" id="{0A645A5C-E8FE-4C32-016E-7FAFC60511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B1BE2E-1893-AFBE-1685-950EC94399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3AC9B8-0E7C-E745-82B8-0F27B65BA3C8}" type="slidenum">
              <a:rPr lang="en-US" smtClean="0"/>
              <a:t>‹#›</a:t>
            </a:fld>
            <a:endParaRPr lang="en-US"/>
          </a:p>
        </p:txBody>
      </p:sp>
      <p:pic>
        <p:nvPicPr>
          <p:cNvPr id="8" name="Picture 7" descr="A blue square with white lines&#10;&#10;AI-generated content may be incorrect.">
            <a:extLst>
              <a:ext uri="{FF2B5EF4-FFF2-40B4-BE49-F238E27FC236}">
                <a16:creationId xmlns:a16="http://schemas.microsoft.com/office/drawing/2014/main" id="{59100CA2-3DBD-8003-D3F8-625AA1C3E3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51360488"/>
      </p:ext>
    </p:extLst>
  </p:cSld>
  <p:clrMap bg1="lt1" tx1="dk1" bg2="lt2" tx2="dk2" accent1="accent1" accent2="accent2" accent3="accent3" accent4="accent4" accent5="accent5" accent6="accent6" hlink="hlink" folHlink="folHlink"/>
  <p:sldLayoutIdLst>
    <p:sldLayoutId id="21474837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C9ADF6-BAD2-AAA1-48C9-ABAF13DB1E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764AB4-A5C5-B633-9E17-CB0DCF7E6C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2AEEC3-F3FF-4CC7-E7A0-8199958ADF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341E1C-5A55-6B4E-81CF-EDE1DAEC2DBC}" type="datetimeFigureOut">
              <a:rPr lang="en-US" smtClean="0"/>
              <a:t>6/8/2026</a:t>
            </a:fld>
            <a:endParaRPr lang="en-US"/>
          </a:p>
        </p:txBody>
      </p:sp>
      <p:sp>
        <p:nvSpPr>
          <p:cNvPr id="5" name="Footer Placeholder 4">
            <a:extLst>
              <a:ext uri="{FF2B5EF4-FFF2-40B4-BE49-F238E27FC236}">
                <a16:creationId xmlns:a16="http://schemas.microsoft.com/office/drawing/2014/main" id="{E84FFC4F-E949-17C4-F189-B1CB32B20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F793CA-270D-D5AA-4360-18734AB4B8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4AA998-6D62-1A4C-B1A2-496C81AA221C}" type="slidenum">
              <a:rPr lang="en-US" smtClean="0"/>
              <a:t>‹#›</a:t>
            </a:fld>
            <a:endParaRPr lang="en-US"/>
          </a:p>
        </p:txBody>
      </p:sp>
      <p:pic>
        <p:nvPicPr>
          <p:cNvPr id="8" name="Picture 7" descr="A close-up of people giving each other a high five&#10;&#10;AI-generated content may be incorrect.">
            <a:extLst>
              <a:ext uri="{FF2B5EF4-FFF2-40B4-BE49-F238E27FC236}">
                <a16:creationId xmlns:a16="http://schemas.microsoft.com/office/drawing/2014/main" id="{A79D0FBB-D2BF-F042-3C9A-728CB24FC57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2088202"/>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png"/><Relationship Id="rId12" Type="http://schemas.microsoft.com/office/2007/relationships/hdphoto" Target="../media/hdphoto3.wdp"/><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microsoft.com/office/2007/relationships/hdphoto" Target="../media/hdphoto1.wdp"/><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4E28F-AB8B-83B5-882E-FB01558F7715}"/>
              </a:ext>
            </a:extLst>
          </p:cNvPr>
          <p:cNvSpPr>
            <a:spLocks noGrp="1"/>
          </p:cNvSpPr>
          <p:nvPr>
            <p:ph type="ctrTitle"/>
          </p:nvPr>
        </p:nvSpPr>
        <p:spPr>
          <a:xfrm>
            <a:off x="91255" y="2217578"/>
            <a:ext cx="7290117" cy="1427163"/>
          </a:xfrm>
        </p:spPr>
        <p:txBody>
          <a:bodyPr>
            <a:noAutofit/>
          </a:bodyPr>
          <a:lstStyle/>
          <a:p>
            <a:pPr algn="l"/>
            <a:r>
              <a:rPr lang="en-US" sz="3200">
                <a:latin typeface="Aptos" panose="020B0004020202020204" pitchFamily="34" charset="0"/>
                <a:ea typeface="Calibri" panose="020F0502020204030204" pitchFamily="34" charset="0"/>
                <a:cs typeface="Calibri" panose="020F0502020204030204" pitchFamily="34" charset="0"/>
              </a:rPr>
              <a:t>MATERI TRAINING PRODUK</a:t>
            </a:r>
            <a:br>
              <a:rPr lang="en-US" sz="3600">
                <a:latin typeface="Aptos" panose="020B0004020202020204" pitchFamily="34" charset="0"/>
                <a:ea typeface="Calibri" panose="020F0502020204030204" pitchFamily="34" charset="0"/>
                <a:cs typeface="Calibri" panose="020F0502020204030204" pitchFamily="34" charset="0"/>
              </a:rPr>
            </a:br>
            <a:r>
              <a:rPr lang="en-US" sz="3600" b="1">
                <a:latin typeface="Aptos" panose="020B0004020202020204" pitchFamily="34" charset="0"/>
                <a:ea typeface="Calibri" panose="020F0502020204030204" pitchFamily="34" charset="0"/>
                <a:cs typeface="Calibri" panose="020F0502020204030204" pitchFamily="34" charset="0"/>
              </a:rPr>
              <a:t>Value Income Assurance (VALUE+)</a:t>
            </a:r>
            <a:endParaRPr lang="id-ID" sz="3600" b="1">
              <a:latin typeface="Aptos" panose="020B0004020202020204" pitchFamily="34" charset="0"/>
              <a:ea typeface="Calibri" panose="020F0502020204030204" pitchFamily="34" charset="0"/>
              <a:cs typeface="Calibri" panose="020F0502020204030204" pitchFamily="34" charset="0"/>
            </a:endParaRPr>
          </a:p>
        </p:txBody>
      </p:sp>
      <p:cxnSp>
        <p:nvCxnSpPr>
          <p:cNvPr id="6" name="Straight Connector 5">
            <a:extLst>
              <a:ext uri="{FF2B5EF4-FFF2-40B4-BE49-F238E27FC236}">
                <a16:creationId xmlns:a16="http://schemas.microsoft.com/office/drawing/2014/main" id="{37F73ED3-3069-7768-FC89-F59FE1F0A0FB}"/>
              </a:ext>
            </a:extLst>
          </p:cNvPr>
          <p:cNvCxnSpPr>
            <a:cxnSpLocks/>
          </p:cNvCxnSpPr>
          <p:nvPr/>
        </p:nvCxnSpPr>
        <p:spPr>
          <a:xfrm>
            <a:off x="180476" y="3674635"/>
            <a:ext cx="3862886"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B1FC5E32-3193-403C-3A31-B09AEAE25B45}"/>
              </a:ext>
            </a:extLst>
          </p:cNvPr>
          <p:cNvSpPr txBox="1">
            <a:spLocks/>
          </p:cNvSpPr>
          <p:nvPr/>
        </p:nvSpPr>
        <p:spPr>
          <a:xfrm>
            <a:off x="91255" y="3721309"/>
            <a:ext cx="3230616" cy="40111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r>
              <a:rPr lang="en-US" sz="2000" dirty="0">
                <a:latin typeface="Calibri" panose="020F0502020204030204" pitchFamily="34" charset="0"/>
                <a:ea typeface="Calibri" panose="020F0502020204030204" pitchFamily="34" charset="0"/>
                <a:cs typeface="Calibri" panose="020F0502020204030204" pitchFamily="34" charset="0"/>
              </a:rPr>
              <a:t>JUNI 2026</a:t>
            </a:r>
            <a:endParaRPr lang="id-ID"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0858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71612" y="143668"/>
            <a:ext cx="10515600" cy="1325563"/>
          </a:xfrm>
        </p:spPr>
        <p:txBody>
          <a:bodyPr>
            <a:normAutofit/>
          </a:bodyPr>
          <a:lstStyle/>
          <a:p>
            <a:pPr algn="r"/>
            <a:r>
              <a:rPr lang="en-US" sz="3600" b="1">
                <a:solidFill>
                  <a:schemeClr val="bg1"/>
                </a:solidFill>
                <a:latin typeface="Aptos" panose="020B0004020202020204" pitchFamily="34" charset="0"/>
                <a:ea typeface="Calibri" panose="020F0502020204030204" pitchFamily="34" charset="0"/>
                <a:cs typeface="Calibri" panose="020F0502020204030204" pitchFamily="34" charset="0"/>
              </a:rPr>
              <a:t>AGENDA</a:t>
            </a:r>
            <a:endParaRPr lang="id-ID" sz="3600" b="1">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EC045DA-E1BC-6539-4D01-E88BBCFE2548}"/>
              </a:ext>
            </a:extLst>
          </p:cNvPr>
          <p:cNvSpPr txBox="1"/>
          <p:nvPr/>
        </p:nvSpPr>
        <p:spPr>
          <a:xfrm>
            <a:off x="4988685" y="1778540"/>
            <a:ext cx="5376817" cy="3549498"/>
          </a:xfrm>
          <a:prstGeom prst="rect">
            <a:avLst/>
          </a:prstGeom>
          <a:noFill/>
        </p:spPr>
        <p:txBody>
          <a:bodyPr wrap="square">
            <a:spAutoFit/>
          </a:bodyPr>
          <a:lstStyle/>
          <a:p>
            <a:pPr marL="114300" marR="0" lvl="0" indent="-457200">
              <a:lnSpc>
                <a:spcPct val="140000"/>
              </a:lnSpc>
              <a:spcBef>
                <a:spcPts val="0"/>
              </a:spcBef>
              <a:spcAft>
                <a:spcPts val="0"/>
              </a:spcAft>
              <a:buFont typeface="+mj-lt"/>
              <a:buAutoNum type="arabicPeriod"/>
            </a:pP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Deskripsi</a:t>
            </a: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 </a:t>
            </a: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Produk</a:t>
            </a:r>
            <a:endParaRPr lang="en-US" b="1" dirty="0">
              <a:solidFill>
                <a:schemeClr val="bg1"/>
              </a:solidFill>
              <a:latin typeface="Aptos" panose="020B0004020202020204" pitchFamily="34" charset="0"/>
              <a:ea typeface="Calibri" panose="020F0502020204030204" pitchFamily="34" charset="0"/>
              <a:cs typeface="Calibri" panose="020F0502020204030204" pitchFamily="34" charset="0"/>
            </a:endParaRPr>
          </a:p>
          <a:p>
            <a:pPr marL="114300" marR="0" lvl="0" indent="-457200">
              <a:lnSpc>
                <a:spcPct val="140000"/>
              </a:lnSpc>
              <a:spcBef>
                <a:spcPts val="0"/>
              </a:spcBef>
              <a:spcAft>
                <a:spcPts val="0"/>
              </a:spcAft>
              <a:buFont typeface="+mj-lt"/>
              <a:buAutoNum type="arabicPeriod"/>
            </a:pP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Unique Selling Point</a:t>
            </a:r>
          </a:p>
          <a:p>
            <a:pPr marL="114300" marR="0" lvl="0" indent="-457200">
              <a:lnSpc>
                <a:spcPct val="140000"/>
              </a:lnSpc>
              <a:spcBef>
                <a:spcPts val="0"/>
              </a:spcBef>
              <a:spcAft>
                <a:spcPts val="0"/>
              </a:spcAft>
              <a:buFont typeface="+mj-lt"/>
              <a:buAutoNum type="arabicPeriod"/>
            </a:pP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Manfaat Asuransi</a:t>
            </a:r>
          </a:p>
          <a:p>
            <a:pPr marL="114300" marR="0" lvl="0" indent="-457200">
              <a:lnSpc>
                <a:spcPct val="140000"/>
              </a:lnSpc>
              <a:spcBef>
                <a:spcPts val="0"/>
              </a:spcBef>
              <a:spcAft>
                <a:spcPts val="0"/>
              </a:spcAft>
              <a:buFont typeface="+mj-lt"/>
              <a:buAutoNum type="arabicPeriod"/>
            </a:pP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Ilustrasi</a:t>
            </a: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 Manfaat</a:t>
            </a:r>
          </a:p>
          <a:p>
            <a:pPr marL="457200" marR="0" lvl="0" indent="-457200">
              <a:lnSpc>
                <a:spcPct val="140000"/>
              </a:lnSpc>
              <a:spcBef>
                <a:spcPts val="0"/>
              </a:spcBef>
              <a:spcAft>
                <a:spcPts val="0"/>
              </a:spcAft>
              <a:buFont typeface="+mj-lt"/>
              <a:buAutoNum type="arabicPeriod"/>
            </a:pP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Fitur </a:t>
            </a: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Produk</a:t>
            </a:r>
            <a:endParaRPr lang="en-US" b="1" dirty="0">
              <a:solidFill>
                <a:schemeClr val="bg1"/>
              </a:solidFill>
              <a:latin typeface="Aptos" panose="020B0004020202020204" pitchFamily="34" charset="0"/>
              <a:ea typeface="Calibri" panose="020F0502020204030204" pitchFamily="34" charset="0"/>
              <a:cs typeface="Calibri" panose="020F0502020204030204" pitchFamily="34" charset="0"/>
            </a:endParaRPr>
          </a:p>
          <a:p>
            <a:pPr marL="457200" marR="0" lvl="0" indent="-457200">
              <a:lnSpc>
                <a:spcPct val="140000"/>
              </a:lnSpc>
              <a:spcBef>
                <a:spcPts val="0"/>
              </a:spcBef>
              <a:spcAft>
                <a:spcPts val="0"/>
              </a:spcAft>
              <a:buFont typeface="+mj-lt"/>
              <a:buAutoNum type="arabicPeriod"/>
            </a:pP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Pengecualian</a:t>
            </a: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 </a:t>
            </a: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Produk</a:t>
            </a:r>
            <a:endParaRPr lang="en-US" b="1" dirty="0">
              <a:solidFill>
                <a:schemeClr val="bg1"/>
              </a:solidFill>
              <a:latin typeface="Aptos" panose="020B0004020202020204" pitchFamily="34" charset="0"/>
              <a:ea typeface="Calibri" panose="020F0502020204030204" pitchFamily="34" charset="0"/>
              <a:cs typeface="Calibri" panose="020F0502020204030204" pitchFamily="34" charset="0"/>
            </a:endParaRPr>
          </a:p>
          <a:p>
            <a:pPr marL="457200" marR="0" lvl="0" indent="-457200">
              <a:lnSpc>
                <a:spcPct val="140000"/>
              </a:lnSpc>
              <a:spcBef>
                <a:spcPts val="0"/>
              </a:spcBef>
              <a:spcAft>
                <a:spcPts val="0"/>
              </a:spcAft>
              <a:buFont typeface="+mj-lt"/>
              <a:buAutoNum type="arabicPeriod"/>
            </a:pP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Ketentuan</a:t>
            </a: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 </a:t>
            </a: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Klaim</a:t>
            </a:r>
            <a:endParaRPr lang="en-US" b="1" dirty="0">
              <a:solidFill>
                <a:schemeClr val="bg1"/>
              </a:solidFill>
              <a:latin typeface="Aptos" panose="020B0004020202020204" pitchFamily="34" charset="0"/>
              <a:ea typeface="Calibri" panose="020F0502020204030204" pitchFamily="34" charset="0"/>
              <a:cs typeface="Calibri" panose="020F0502020204030204" pitchFamily="34" charset="0"/>
            </a:endParaRPr>
          </a:p>
          <a:p>
            <a:pPr marL="457200" indent="-457200">
              <a:lnSpc>
                <a:spcPct val="140000"/>
              </a:lnSpc>
              <a:buFont typeface="+mj-lt"/>
              <a:buAutoNum type="arabicPeriod"/>
            </a:pP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Asuransi Tambahan Term Life</a:t>
            </a:r>
          </a:p>
          <a:p>
            <a:pPr marL="457200" marR="0" lvl="0" indent="-457200">
              <a:lnSpc>
                <a:spcPct val="140000"/>
              </a:lnSpc>
              <a:spcBef>
                <a:spcPts val="0"/>
              </a:spcBef>
              <a:spcAft>
                <a:spcPts val="0"/>
              </a:spcAft>
              <a:buFont typeface="+mj-lt"/>
              <a:buAutoNum type="arabicPeriod"/>
            </a:pPr>
            <a:r>
              <a:rPr lang="en-US" b="1" dirty="0">
                <a:solidFill>
                  <a:schemeClr val="bg1"/>
                </a:solidFill>
                <a:latin typeface="Aptos" panose="020B0004020202020204" pitchFamily="34" charset="0"/>
                <a:ea typeface="Calibri" panose="020F0502020204030204" pitchFamily="34" charset="0"/>
                <a:cs typeface="Calibri" panose="020F0502020204030204" pitchFamily="34" charset="0"/>
              </a:rPr>
              <a:t>Tambahan </a:t>
            </a:r>
            <a:r>
              <a:rPr lang="en-US" b="1" dirty="0" err="1">
                <a:solidFill>
                  <a:schemeClr val="bg1"/>
                </a:solidFill>
                <a:latin typeface="Aptos" panose="020B0004020202020204" pitchFamily="34" charset="0"/>
                <a:ea typeface="Calibri" panose="020F0502020204030204" pitchFamily="34" charset="0"/>
                <a:cs typeface="Calibri" panose="020F0502020204030204" pitchFamily="34" charset="0"/>
              </a:rPr>
              <a:t>Informasi</a:t>
            </a:r>
            <a:endParaRPr lang="en-US" b="1"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245A7BA-F41E-89B1-4D7C-AB648C1AE47D}"/>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895149" y="2189909"/>
            <a:ext cx="3730191" cy="2553785"/>
          </a:xfrm>
          <a:prstGeom prst="rect">
            <a:avLst/>
          </a:prstGeom>
          <a:ln>
            <a:noFill/>
          </a:ln>
          <a:effectLst>
            <a:softEdge rad="112500"/>
          </a:effectLst>
        </p:spPr>
      </p:pic>
    </p:spTree>
    <p:extLst>
      <p:ext uri="{BB962C8B-B14F-4D97-AF65-F5344CB8AC3E}">
        <p14:creationId xmlns:p14="http://schemas.microsoft.com/office/powerpoint/2010/main" val="1896105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3718EBD0-6575-7E23-F36A-9A5DCBBBF0C0}"/>
              </a:ext>
            </a:extLst>
          </p:cNvPr>
          <p:cNvSpPr>
            <a:spLocks noGrp="1"/>
          </p:cNvSpPr>
          <p:nvPr>
            <p:ph idx="4294967295"/>
          </p:nvPr>
        </p:nvSpPr>
        <p:spPr>
          <a:xfrm>
            <a:off x="250031" y="1678848"/>
            <a:ext cx="10515600" cy="638175"/>
          </a:xfrm>
        </p:spPr>
        <p:txBody>
          <a:bodyPr anchor="ctr">
            <a:noAutofit/>
          </a:bodyPr>
          <a:lstStyle/>
          <a:p>
            <a:pPr marL="0" indent="0">
              <a:buNone/>
            </a:pPr>
            <a:r>
              <a:rPr lang="en-US" sz="3200" b="1">
                <a:solidFill>
                  <a:schemeClr val="bg1"/>
                </a:solidFill>
                <a:latin typeface="Aptos" panose="020B0004020202020204" pitchFamily="34" charset="0"/>
                <a:ea typeface="Calibri" panose="020F0502020204030204" pitchFamily="34" charset="0"/>
                <a:cs typeface="Calibri" panose="020F0502020204030204" pitchFamily="34" charset="0"/>
              </a:rPr>
              <a:t>DESKRIPSI PRODUK</a:t>
            </a:r>
          </a:p>
        </p:txBody>
      </p:sp>
      <p:cxnSp>
        <p:nvCxnSpPr>
          <p:cNvPr id="11" name="Straight Connector 10">
            <a:extLst>
              <a:ext uri="{FF2B5EF4-FFF2-40B4-BE49-F238E27FC236}">
                <a16:creationId xmlns:a16="http://schemas.microsoft.com/office/drawing/2014/main" id="{66D09D03-573A-4DB5-452B-2DFF8ED9085B}"/>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FD64DBF-56CD-7505-A5D2-07A8AB6C3790}"/>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F69B2E-1889-D397-C242-284FD684B3F3}"/>
              </a:ext>
            </a:extLst>
          </p:cNvPr>
          <p:cNvSpPr txBox="1"/>
          <p:nvPr/>
        </p:nvSpPr>
        <p:spPr>
          <a:xfrm>
            <a:off x="179049" y="2675146"/>
            <a:ext cx="11833901" cy="646331"/>
          </a:xfrm>
          <a:prstGeom prst="rect">
            <a:avLst/>
          </a:prstGeom>
          <a:solidFill>
            <a:schemeClr val="bg1"/>
          </a:solidFill>
        </p:spPr>
        <p:txBody>
          <a:bodyPr wrap="square" rtlCol="0">
            <a:spAutoFit/>
          </a:bodyPr>
          <a:lstStyle/>
          <a:p>
            <a:pPr algn="ctr"/>
            <a:r>
              <a:rPr lang="en-US">
                <a:latin typeface="Aptos" panose="020B0004020202020204" pitchFamily="34" charset="0"/>
                <a:ea typeface="Calibri" panose="020F0502020204030204" pitchFamily="34" charset="0"/>
                <a:cs typeface="Calibri" panose="020F0502020204030204" pitchFamily="34" charset="0"/>
              </a:rPr>
              <a:t>Value Income Assurance (VALUE+) </a:t>
            </a:r>
            <a:r>
              <a:rPr lang="en-US" err="1">
                <a:latin typeface="Aptos" panose="020B0004020202020204" pitchFamily="34" charset="0"/>
                <a:ea typeface="Calibri" panose="020F0502020204030204" pitchFamily="34" charset="0"/>
                <a:cs typeface="Calibri" panose="020F0502020204030204" pitchFamily="34" charset="0"/>
              </a:rPr>
              <a:t>merupakan</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produk</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asuransi</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jiwa</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dwiguna</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kombinasi</a:t>
            </a:r>
            <a:r>
              <a:rPr lang="en-US">
                <a:latin typeface="Aptos" panose="020B0004020202020204" pitchFamily="34" charset="0"/>
                <a:ea typeface="Calibri" panose="020F0502020204030204" pitchFamily="34" charset="0"/>
                <a:cs typeface="Calibri" panose="020F0502020204030204" pitchFamily="34" charset="0"/>
              </a:rPr>
              <a:t> yang </a:t>
            </a:r>
            <a:r>
              <a:rPr lang="en-US" err="1">
                <a:latin typeface="Aptos" panose="020B0004020202020204" pitchFamily="34" charset="0"/>
                <a:ea typeface="Calibri" panose="020F0502020204030204" pitchFamily="34" charset="0"/>
                <a:cs typeface="Calibri" panose="020F0502020204030204" pitchFamily="34" charset="0"/>
              </a:rPr>
              <a:t>memberikan</a:t>
            </a:r>
            <a:r>
              <a:rPr lang="en-US">
                <a:latin typeface="Aptos" panose="020B0004020202020204" pitchFamily="34" charset="0"/>
                <a:ea typeface="Calibri" panose="020F0502020204030204" pitchFamily="34" charset="0"/>
                <a:cs typeface="Calibri" panose="020F0502020204030204" pitchFamily="34" charset="0"/>
              </a:rPr>
              <a:t> Manfaat </a:t>
            </a:r>
            <a:r>
              <a:rPr lang="en-US" err="1">
                <a:latin typeface="Aptos" panose="020B0004020202020204" pitchFamily="34" charset="0"/>
                <a:ea typeface="Calibri" panose="020F0502020204030204" pitchFamily="34" charset="0"/>
                <a:cs typeface="Calibri" panose="020F0502020204030204" pitchFamily="34" charset="0"/>
              </a:rPr>
              <a:t>Meninggal</a:t>
            </a:r>
            <a:r>
              <a:rPr lang="en-US">
                <a:latin typeface="Aptos" panose="020B0004020202020204" pitchFamily="34" charset="0"/>
                <a:ea typeface="Calibri" panose="020F0502020204030204" pitchFamily="34" charset="0"/>
                <a:cs typeface="Calibri" panose="020F0502020204030204" pitchFamily="34" charset="0"/>
              </a:rPr>
              <a:t> Dunia, </a:t>
            </a:r>
            <a:r>
              <a:rPr lang="en-US" err="1">
                <a:latin typeface="Aptos" panose="020B0004020202020204" pitchFamily="34" charset="0"/>
                <a:ea typeface="Calibri" panose="020F0502020204030204" pitchFamily="34" charset="0"/>
                <a:cs typeface="Calibri" panose="020F0502020204030204" pitchFamily="34" charset="0"/>
              </a:rPr>
              <a:t>Manfaat</a:t>
            </a:r>
            <a:r>
              <a:rPr lang="en-US">
                <a:latin typeface="Aptos" panose="020B0004020202020204" pitchFamily="34" charset="0"/>
                <a:ea typeface="Calibri" panose="020F0502020204030204" pitchFamily="34" charset="0"/>
                <a:cs typeface="Calibri" panose="020F0502020204030204" pitchFamily="34" charset="0"/>
              </a:rPr>
              <a:t> Akhir Masa </a:t>
            </a:r>
            <a:r>
              <a:rPr lang="en-US" err="1">
                <a:latin typeface="Aptos" panose="020B0004020202020204" pitchFamily="34" charset="0"/>
                <a:ea typeface="Calibri" panose="020F0502020204030204" pitchFamily="34" charset="0"/>
                <a:cs typeface="Calibri" panose="020F0502020204030204" pitchFamily="34" charset="0"/>
              </a:rPr>
              <a:t>Pertanggungan</a:t>
            </a:r>
            <a:r>
              <a:rPr lang="en-US">
                <a:latin typeface="Aptos" panose="020B0004020202020204" pitchFamily="34" charset="0"/>
                <a:ea typeface="Calibri" panose="020F0502020204030204" pitchFamily="34" charset="0"/>
                <a:cs typeface="Calibri" panose="020F0502020204030204" pitchFamily="34" charset="0"/>
              </a:rPr>
              <a:t>, dan </a:t>
            </a:r>
            <a:r>
              <a:rPr lang="en-US" err="1">
                <a:latin typeface="Aptos" panose="020B0004020202020204" pitchFamily="34" charset="0"/>
                <a:ea typeface="Calibri" panose="020F0502020204030204" pitchFamily="34" charset="0"/>
                <a:cs typeface="Calibri" panose="020F0502020204030204" pitchFamily="34" charset="0"/>
              </a:rPr>
              <a:t>pilihan</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Manfaat</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Tunai</a:t>
            </a:r>
            <a:r>
              <a:rPr lang="en-US">
                <a:latin typeface="Aptos" panose="020B0004020202020204" pitchFamily="34" charset="0"/>
                <a:ea typeface="Calibri" panose="020F0502020204030204" pitchFamily="34" charset="0"/>
                <a:cs typeface="Calibri" panose="020F0502020204030204" pitchFamily="34" charset="0"/>
              </a:rPr>
              <a:t> </a:t>
            </a:r>
            <a:r>
              <a:rPr lang="en-US" err="1">
                <a:latin typeface="Aptos" panose="020B0004020202020204" pitchFamily="34" charset="0"/>
                <a:ea typeface="Calibri" panose="020F0502020204030204" pitchFamily="34" charset="0"/>
                <a:cs typeface="Calibri" panose="020F0502020204030204" pitchFamily="34" charset="0"/>
              </a:rPr>
              <a:t>Tahunan</a:t>
            </a:r>
            <a:r>
              <a:rPr lang="en-US">
                <a:latin typeface="Aptos" panose="020B0004020202020204" pitchFamily="34" charset="0"/>
                <a:ea typeface="Calibri" panose="020F0502020204030204" pitchFamily="34" charset="0"/>
                <a:cs typeface="Calibri" panose="020F0502020204030204" pitchFamily="34" charset="0"/>
              </a:rPr>
              <a:t>.</a:t>
            </a:r>
            <a:endParaRPr lang="en-ID">
              <a:highlight>
                <a:srgbClr val="FF00FF"/>
              </a:highlight>
              <a:latin typeface="Aptos" panose="020B0004020202020204" pitchFamily="34" charset="0"/>
              <a:ea typeface="Calibri" panose="020F0502020204030204" pitchFamily="34" charset="0"/>
              <a:cs typeface="Calibri" panose="020F0502020204030204" pitchFamily="34" charset="0"/>
            </a:endParaRPr>
          </a:p>
        </p:txBody>
      </p:sp>
      <p:sp>
        <p:nvSpPr>
          <p:cNvPr id="5" name="AutoShape 2" descr="Is a Certificate of Insurance the Same as an Insurance Policy">
            <a:extLst>
              <a:ext uri="{FF2B5EF4-FFF2-40B4-BE49-F238E27FC236}">
                <a16:creationId xmlns:a16="http://schemas.microsoft.com/office/drawing/2014/main" id="{290EEBF8-A676-3294-9252-58B8170C4EA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s a Certificate of Insurance the Same as an Insurance Policy">
            <a:extLst>
              <a:ext uri="{FF2B5EF4-FFF2-40B4-BE49-F238E27FC236}">
                <a16:creationId xmlns:a16="http://schemas.microsoft.com/office/drawing/2014/main" id="{E2EA20CB-4705-630F-812E-32142B97993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ADCC39FC-7D63-C5B8-A2D3-284DDEA161A6}"/>
              </a:ext>
            </a:extLst>
          </p:cNvPr>
          <p:cNvPicPr>
            <a:picLocks noChangeAspect="1"/>
          </p:cNvPicPr>
          <p:nvPr/>
        </p:nvPicPr>
        <p:blipFill>
          <a:blip r:embed="rId2"/>
          <a:stretch>
            <a:fillRect/>
          </a:stretch>
        </p:blipFill>
        <p:spPr>
          <a:xfrm>
            <a:off x="3932572" y="3581400"/>
            <a:ext cx="4296375" cy="26006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09029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DC917-7A0E-4B42-3AE7-120E7D845411}"/>
            </a:ext>
          </a:extLst>
        </p:cNvPr>
        <p:cNvGrpSpPr/>
        <p:nvPr/>
      </p:nvGrpSpPr>
      <p:grpSpPr>
        <a:xfrm>
          <a:off x="0" y="0"/>
          <a:ext cx="0" cy="0"/>
          <a:chOff x="0" y="0"/>
          <a:chExt cx="0" cy="0"/>
        </a:xfrm>
      </p:grpSpPr>
      <p:pic>
        <p:nvPicPr>
          <p:cNvPr id="26" name="Picture 2" descr="24,400+ Hand Giving Money Stock Illustrations, Royalty-Free Vector Graphics  &amp; Clip Art - iStock | Hand giving money icon">
            <a:extLst>
              <a:ext uri="{FF2B5EF4-FFF2-40B4-BE49-F238E27FC236}">
                <a16:creationId xmlns:a16="http://schemas.microsoft.com/office/drawing/2014/main" id="{4158D9EE-4803-8AC5-8A76-4BB0BC80D4D6}"/>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foregroundMark x1="45425" y1="49837" x2="45425" y2="49837"/>
                        <a14:foregroundMark x1="51634" y1="41340" x2="51634" y2="41340"/>
                      </a14:backgroundRemoval>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82534" y="1625256"/>
            <a:ext cx="867835" cy="8678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7E1FB5-C696-D919-E6CB-5846B8671D0C}"/>
              </a:ext>
            </a:extLst>
          </p:cNvPr>
          <p:cNvSpPr txBox="1"/>
          <p:nvPr/>
        </p:nvSpPr>
        <p:spPr>
          <a:xfrm>
            <a:off x="7290315" y="422703"/>
            <a:ext cx="4380905" cy="461665"/>
          </a:xfrm>
          <a:prstGeom prst="rect">
            <a:avLst/>
          </a:prstGeom>
          <a:noFill/>
        </p:spPr>
        <p:txBody>
          <a:bodyPr wrap="square">
            <a:spAutoFit/>
          </a:bodyPr>
          <a:lstStyle/>
          <a:p>
            <a:pPr algn="r"/>
            <a:r>
              <a:rPr lang="en-US" sz="2400" b="1">
                <a:solidFill>
                  <a:srgbClr val="002060"/>
                </a:solidFill>
                <a:latin typeface="Aptos" panose="020B0004020202020204" pitchFamily="34" charset="0"/>
              </a:rPr>
              <a:t>Unique Selling Point</a:t>
            </a:r>
          </a:p>
        </p:txBody>
      </p:sp>
      <p:sp>
        <p:nvSpPr>
          <p:cNvPr id="36" name="TextBox 35">
            <a:extLst>
              <a:ext uri="{FF2B5EF4-FFF2-40B4-BE49-F238E27FC236}">
                <a16:creationId xmlns:a16="http://schemas.microsoft.com/office/drawing/2014/main" id="{42490C71-E651-3A32-BE2F-09A3A3DA9327}"/>
              </a:ext>
            </a:extLst>
          </p:cNvPr>
          <p:cNvSpPr txBox="1"/>
          <p:nvPr/>
        </p:nvSpPr>
        <p:spPr>
          <a:xfrm>
            <a:off x="8008399" y="2870351"/>
            <a:ext cx="4011896" cy="369332"/>
          </a:xfrm>
          <a:prstGeom prst="rect">
            <a:avLst/>
          </a:prstGeom>
          <a:noFill/>
        </p:spPr>
        <p:txBody>
          <a:bodyPr wrap="square" lIns="0" r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1" u="none" strike="noStrike" kern="1200" cap="none" spc="0" normalizeH="0" baseline="0" noProof="0">
                <a:ln>
                  <a:noFill/>
                </a:ln>
                <a:solidFill>
                  <a:srgbClr val="181F22"/>
                </a:solidFill>
                <a:effectLst/>
                <a:uLnTx/>
                <a:uFillTx/>
                <a:latin typeface="Aptos" panose="020B0004020202020204" pitchFamily="34" charset="0"/>
                <a:cs typeface="Arial" panose="020B0604020202020204" pitchFamily="34" charset="0"/>
              </a:rPr>
              <a:t>Target Segment</a:t>
            </a:r>
          </a:p>
        </p:txBody>
      </p:sp>
      <p:grpSp>
        <p:nvGrpSpPr>
          <p:cNvPr id="38" name="Group 37">
            <a:extLst>
              <a:ext uri="{FF2B5EF4-FFF2-40B4-BE49-F238E27FC236}">
                <a16:creationId xmlns:a16="http://schemas.microsoft.com/office/drawing/2014/main" id="{8A89F3EA-3EEC-EEDC-3699-16B67BA98A24}"/>
              </a:ext>
            </a:extLst>
          </p:cNvPr>
          <p:cNvGrpSpPr/>
          <p:nvPr/>
        </p:nvGrpSpPr>
        <p:grpSpPr>
          <a:xfrm>
            <a:off x="8071556" y="3376463"/>
            <a:ext cx="3948739" cy="755944"/>
            <a:chOff x="8168914" y="3918772"/>
            <a:chExt cx="1002718" cy="614215"/>
          </a:xfrm>
        </p:grpSpPr>
        <p:sp>
          <p:nvSpPr>
            <p:cNvPr id="39" name="Rectangle: Rounded Corners 38">
              <a:extLst>
                <a:ext uri="{FF2B5EF4-FFF2-40B4-BE49-F238E27FC236}">
                  <a16:creationId xmlns:a16="http://schemas.microsoft.com/office/drawing/2014/main" id="{980D3E79-95B2-FACF-53B3-72C904106900}"/>
                </a:ext>
              </a:extLst>
            </p:cNvPr>
            <p:cNvSpPr/>
            <p:nvPr/>
          </p:nvSpPr>
          <p:spPr>
            <a:xfrm>
              <a:off x="8168914" y="3918772"/>
              <a:ext cx="961556" cy="525406"/>
            </a:xfrm>
            <a:prstGeom prst="roundRect">
              <a:avLst/>
            </a:prstGeom>
            <a:solidFill>
              <a:srgbClr val="4E342E"/>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40" name="Rectangle: Rounded Corners 39">
              <a:extLst>
                <a:ext uri="{FF2B5EF4-FFF2-40B4-BE49-F238E27FC236}">
                  <a16:creationId xmlns:a16="http://schemas.microsoft.com/office/drawing/2014/main" id="{AC73847A-1B4D-525D-F74C-D49B0F5266E4}"/>
                </a:ext>
              </a:extLst>
            </p:cNvPr>
            <p:cNvSpPr/>
            <p:nvPr/>
          </p:nvSpPr>
          <p:spPr>
            <a:xfrm>
              <a:off x="8197297" y="3971757"/>
              <a:ext cx="974335" cy="561230"/>
            </a:xfrm>
            <a:prstGeom prst="roundRect">
              <a:avLst/>
            </a:prstGeom>
            <a:solidFill>
              <a:srgbClr val="F8F5F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panose="020B0004020202020204" pitchFamily="34" charset="0"/>
              </a:endParaRPr>
            </a:p>
          </p:txBody>
        </p:sp>
      </p:grpSp>
      <p:sp>
        <p:nvSpPr>
          <p:cNvPr id="41" name="TextBox 40">
            <a:extLst>
              <a:ext uri="{FF2B5EF4-FFF2-40B4-BE49-F238E27FC236}">
                <a16:creationId xmlns:a16="http://schemas.microsoft.com/office/drawing/2014/main" id="{535125CA-B1F6-8766-EEFF-6B417DD97440}"/>
              </a:ext>
            </a:extLst>
          </p:cNvPr>
          <p:cNvSpPr txBox="1"/>
          <p:nvPr/>
        </p:nvSpPr>
        <p:spPr>
          <a:xfrm>
            <a:off x="7888863" y="3472234"/>
            <a:ext cx="4425897"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0B0004020202020204" pitchFamily="34" charset="0"/>
              </a:rPr>
              <a:t>Nasabah</a:t>
            </a:r>
            <a:r>
              <a:rPr kumimoji="0" lang="en-US" sz="1200" b="0" i="0" u="none" strike="noStrike" kern="1200" cap="none" spc="0" normalizeH="0" baseline="0" noProof="0">
                <a:ln>
                  <a:noFill/>
                </a:ln>
                <a:solidFill>
                  <a:prstClr val="black"/>
                </a:solidFill>
                <a:effectLst/>
                <a:uLnTx/>
                <a:uFillTx/>
                <a:latin typeface="Aptos" panose="020B0004020202020204" pitchFamily="34" charset="0"/>
              </a:rPr>
              <a:t> segment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black"/>
                </a:solidFill>
                <a:effectLst/>
                <a:uLnTx/>
                <a:uFillTx/>
                <a:latin typeface="Aptos" panose="020B0004020202020204" pitchFamily="34" charset="0"/>
              </a:rPr>
              <a:t>Affluent &amp; Upper Mass</a:t>
            </a:r>
          </a:p>
        </p:txBody>
      </p:sp>
      <p:cxnSp>
        <p:nvCxnSpPr>
          <p:cNvPr id="4" name="Straight Connector 3">
            <a:extLst>
              <a:ext uri="{FF2B5EF4-FFF2-40B4-BE49-F238E27FC236}">
                <a16:creationId xmlns:a16="http://schemas.microsoft.com/office/drawing/2014/main" id="{C39D4B62-2CA6-9201-DA39-BA9EB16D9487}"/>
              </a:ext>
            </a:extLst>
          </p:cNvPr>
          <p:cNvCxnSpPr>
            <a:cxnSpLocks/>
          </p:cNvCxnSpPr>
          <p:nvPr/>
        </p:nvCxnSpPr>
        <p:spPr>
          <a:xfrm>
            <a:off x="8581596" y="884368"/>
            <a:ext cx="3179399"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Arrow: Chevron 9">
            <a:extLst>
              <a:ext uri="{FF2B5EF4-FFF2-40B4-BE49-F238E27FC236}">
                <a16:creationId xmlns:a16="http://schemas.microsoft.com/office/drawing/2014/main" id="{F0D0C9DE-DBF8-6292-926F-B3A90B67C6B6}"/>
              </a:ext>
            </a:extLst>
          </p:cNvPr>
          <p:cNvSpPr/>
          <p:nvPr/>
        </p:nvSpPr>
        <p:spPr>
          <a:xfrm>
            <a:off x="1218349" y="1063202"/>
            <a:ext cx="6575340" cy="588936"/>
          </a:xfrm>
          <a:prstGeom prst="chevron">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Aptos" panose="020B0004020202020204" pitchFamily="34" charset="0"/>
              </a:rPr>
              <a:t>Dana </a:t>
            </a:r>
            <a:r>
              <a:rPr lang="en-US" sz="1400" b="1" err="1">
                <a:solidFill>
                  <a:schemeClr val="bg1"/>
                </a:solidFill>
                <a:latin typeface="Aptos" panose="020B0004020202020204" pitchFamily="34" charset="0"/>
              </a:rPr>
              <a:t>multiguna</a:t>
            </a:r>
            <a:r>
              <a:rPr lang="en-US" sz="1400" b="1">
                <a:solidFill>
                  <a:schemeClr val="bg1"/>
                </a:solidFill>
                <a:latin typeface="Aptos" panose="020B0004020202020204" pitchFamily="34" charset="0"/>
              </a:rPr>
              <a:t> </a:t>
            </a:r>
            <a:r>
              <a:rPr lang="en-US" sz="1400" err="1">
                <a:solidFill>
                  <a:schemeClr val="bg1"/>
                </a:solidFill>
                <a:latin typeface="Aptos" panose="020B0004020202020204" pitchFamily="34" charset="0"/>
              </a:rPr>
              <a:t>untuk</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kebutuhan</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finansial</a:t>
            </a:r>
            <a:r>
              <a:rPr lang="en-US" sz="1400">
                <a:solidFill>
                  <a:schemeClr val="bg1"/>
                </a:solidFill>
                <a:latin typeface="Aptos" panose="020B0004020202020204" pitchFamily="34" charset="0"/>
              </a:rPr>
              <a:t> masa </a:t>
            </a:r>
            <a:r>
              <a:rPr lang="en-US" sz="1400" err="1">
                <a:solidFill>
                  <a:schemeClr val="bg1"/>
                </a:solidFill>
                <a:latin typeface="Aptos" panose="020B0004020202020204" pitchFamily="34" charset="0"/>
              </a:rPr>
              <a:t>depan</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keluarga</a:t>
            </a:r>
            <a:r>
              <a:rPr lang="en-US" sz="1400">
                <a:solidFill>
                  <a:schemeClr val="bg1"/>
                </a:solidFill>
                <a:latin typeface="Aptos" panose="020B0004020202020204" pitchFamily="34" charset="0"/>
              </a:rPr>
              <a:t> Anda</a:t>
            </a:r>
          </a:p>
        </p:txBody>
      </p:sp>
      <p:sp>
        <p:nvSpPr>
          <p:cNvPr id="11" name="Arrow: Chevron 10">
            <a:extLst>
              <a:ext uri="{FF2B5EF4-FFF2-40B4-BE49-F238E27FC236}">
                <a16:creationId xmlns:a16="http://schemas.microsoft.com/office/drawing/2014/main" id="{AA5731AD-6D9B-547E-6F07-AA023725D396}"/>
              </a:ext>
            </a:extLst>
          </p:cNvPr>
          <p:cNvSpPr/>
          <p:nvPr/>
        </p:nvSpPr>
        <p:spPr>
          <a:xfrm>
            <a:off x="1218349" y="1778503"/>
            <a:ext cx="6575340" cy="588936"/>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Aptos" panose="020B0004020202020204" pitchFamily="34" charset="0"/>
              </a:rPr>
              <a:t>Fleksibel Premi </a:t>
            </a:r>
            <a:r>
              <a:rPr lang="en-US" sz="1400">
                <a:solidFill>
                  <a:schemeClr val="bg1"/>
                </a:solidFill>
                <a:latin typeface="Aptos" panose="020B0004020202020204" pitchFamily="34" charset="0"/>
              </a:rPr>
              <a:t>yang </a:t>
            </a:r>
            <a:r>
              <a:rPr lang="en-US" sz="1400" err="1">
                <a:solidFill>
                  <a:schemeClr val="bg1"/>
                </a:solidFill>
                <a:latin typeface="Aptos" panose="020B0004020202020204" pitchFamily="34" charset="0"/>
              </a:rPr>
              <a:t>dapat</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disesuaikan</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dengan</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kebutuhan</a:t>
            </a:r>
            <a:r>
              <a:rPr lang="en-US" sz="1400">
                <a:solidFill>
                  <a:schemeClr val="bg1"/>
                </a:solidFill>
                <a:latin typeface="Aptos" panose="020B0004020202020204" pitchFamily="34" charset="0"/>
              </a:rPr>
              <a:t> Anda</a:t>
            </a:r>
          </a:p>
        </p:txBody>
      </p:sp>
      <p:sp>
        <p:nvSpPr>
          <p:cNvPr id="13" name="Arrow: Chevron 12">
            <a:extLst>
              <a:ext uri="{FF2B5EF4-FFF2-40B4-BE49-F238E27FC236}">
                <a16:creationId xmlns:a16="http://schemas.microsoft.com/office/drawing/2014/main" id="{69C18B0D-36A5-0B0E-6A6D-E4703BD2D178}"/>
              </a:ext>
            </a:extLst>
          </p:cNvPr>
          <p:cNvSpPr/>
          <p:nvPr/>
        </p:nvSpPr>
        <p:spPr>
          <a:xfrm>
            <a:off x="1210920" y="2507856"/>
            <a:ext cx="6578140" cy="588936"/>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err="1">
                <a:solidFill>
                  <a:schemeClr val="tx1"/>
                </a:solidFill>
                <a:latin typeface="Aptos" panose="020B0004020202020204" pitchFamily="34" charset="0"/>
              </a:rPr>
              <a:t>Perlindungan</a:t>
            </a:r>
            <a:r>
              <a:rPr lang="en-US" sz="1400" b="1">
                <a:solidFill>
                  <a:schemeClr val="tx1"/>
                </a:solidFill>
                <a:latin typeface="Aptos" panose="020B0004020202020204" pitchFamily="34" charset="0"/>
              </a:rPr>
              <a:t> </a:t>
            </a:r>
            <a:r>
              <a:rPr lang="en-US" sz="1400" b="1" err="1">
                <a:solidFill>
                  <a:schemeClr val="tx1"/>
                </a:solidFill>
                <a:latin typeface="Aptos" panose="020B0004020202020204" pitchFamily="34" charset="0"/>
              </a:rPr>
              <a:t>hingga</a:t>
            </a:r>
            <a:r>
              <a:rPr lang="en-US" sz="1400" b="1">
                <a:solidFill>
                  <a:schemeClr val="tx1"/>
                </a:solidFill>
                <a:latin typeface="Aptos" panose="020B0004020202020204" pitchFamily="34" charset="0"/>
              </a:rPr>
              <a:t> 20 </a:t>
            </a:r>
            <a:r>
              <a:rPr lang="en-US" sz="1400" b="1" err="1">
                <a:solidFill>
                  <a:schemeClr val="tx1"/>
                </a:solidFill>
                <a:latin typeface="Aptos" panose="020B0004020202020204" pitchFamily="34" charset="0"/>
              </a:rPr>
              <a:t>tahun</a:t>
            </a:r>
            <a:r>
              <a:rPr lang="en-US" sz="1400" b="1">
                <a:solidFill>
                  <a:schemeClr val="tx1"/>
                </a:solidFill>
                <a:latin typeface="Aptos" panose="020B0004020202020204" pitchFamily="34" charset="0"/>
              </a:rPr>
              <a:t> </a:t>
            </a:r>
            <a:r>
              <a:rPr lang="en-US" sz="1400" err="1">
                <a:solidFill>
                  <a:schemeClr val="tx1"/>
                </a:solidFill>
                <a:latin typeface="Aptos" panose="020B0004020202020204" pitchFamily="34" charset="0"/>
              </a:rPr>
              <a:t>dengan</a:t>
            </a:r>
            <a:r>
              <a:rPr lang="en-US" sz="1400">
                <a:solidFill>
                  <a:schemeClr val="tx1"/>
                </a:solidFill>
                <a:latin typeface="Aptos" panose="020B0004020202020204" pitchFamily="34" charset="0"/>
              </a:rPr>
              <a:t> </a:t>
            </a:r>
            <a:r>
              <a:rPr lang="en-US" sz="1400" err="1">
                <a:solidFill>
                  <a:schemeClr val="tx1"/>
                </a:solidFill>
                <a:latin typeface="Aptos" panose="020B0004020202020204" pitchFamily="34" charset="0"/>
              </a:rPr>
              <a:t>pilihan</a:t>
            </a:r>
            <a:r>
              <a:rPr lang="en-US" sz="1400">
                <a:solidFill>
                  <a:schemeClr val="tx1"/>
                </a:solidFill>
                <a:latin typeface="Aptos" panose="020B0004020202020204" pitchFamily="34" charset="0"/>
              </a:rPr>
              <a:t> masa </a:t>
            </a:r>
            <a:r>
              <a:rPr lang="en-US" sz="1400" err="1">
                <a:solidFill>
                  <a:schemeClr val="tx1"/>
                </a:solidFill>
                <a:latin typeface="Aptos" panose="020B0004020202020204" pitchFamily="34" charset="0"/>
              </a:rPr>
              <a:t>bayar</a:t>
            </a:r>
            <a:r>
              <a:rPr lang="en-US" sz="1400">
                <a:solidFill>
                  <a:schemeClr val="tx1"/>
                </a:solidFill>
                <a:latin typeface="Aptos" panose="020B0004020202020204" pitchFamily="34" charset="0"/>
              </a:rPr>
              <a:t> 5 / 10 </a:t>
            </a:r>
            <a:r>
              <a:rPr lang="en-US" sz="1400" err="1">
                <a:solidFill>
                  <a:schemeClr val="tx1"/>
                </a:solidFill>
                <a:latin typeface="Aptos" panose="020B0004020202020204" pitchFamily="34" charset="0"/>
              </a:rPr>
              <a:t>tahun</a:t>
            </a:r>
            <a:endParaRPr lang="en-US" sz="1400" b="1">
              <a:solidFill>
                <a:schemeClr val="tx1"/>
              </a:solidFill>
              <a:latin typeface="Aptos" panose="020B0004020202020204" pitchFamily="34" charset="0"/>
            </a:endParaRPr>
          </a:p>
        </p:txBody>
      </p:sp>
      <p:sp>
        <p:nvSpPr>
          <p:cNvPr id="14" name="Arrow: Chevron 13">
            <a:extLst>
              <a:ext uri="{FF2B5EF4-FFF2-40B4-BE49-F238E27FC236}">
                <a16:creationId xmlns:a16="http://schemas.microsoft.com/office/drawing/2014/main" id="{7E53FB85-2548-7DC1-B7F4-65CE3B23D221}"/>
              </a:ext>
            </a:extLst>
          </p:cNvPr>
          <p:cNvSpPr/>
          <p:nvPr/>
        </p:nvSpPr>
        <p:spPr>
          <a:xfrm>
            <a:off x="1218349" y="3276322"/>
            <a:ext cx="6575338" cy="588936"/>
          </a:xfrm>
          <a:prstGeom prst="chevron">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Aptos" panose="020B0004020202020204" pitchFamily="34" charset="0"/>
              </a:rPr>
              <a:t>Manfaat Akhir Masa Pertanggungan </a:t>
            </a:r>
            <a:r>
              <a:rPr lang="en-US" sz="1400" err="1">
                <a:solidFill>
                  <a:schemeClr val="bg1"/>
                </a:solidFill>
                <a:latin typeface="Aptos" panose="020B0004020202020204" pitchFamily="34" charset="0"/>
              </a:rPr>
              <a:t>hingga</a:t>
            </a:r>
            <a:r>
              <a:rPr lang="en-US" sz="1400" b="1">
                <a:solidFill>
                  <a:schemeClr val="bg1"/>
                </a:solidFill>
                <a:latin typeface="Aptos" panose="020B0004020202020204" pitchFamily="34" charset="0"/>
              </a:rPr>
              <a:t> </a:t>
            </a:r>
            <a:r>
              <a:rPr lang="en-US" sz="1400" err="1">
                <a:solidFill>
                  <a:schemeClr val="bg1"/>
                </a:solidFill>
                <a:latin typeface="Aptos" panose="020B0004020202020204" pitchFamily="34" charset="0"/>
              </a:rPr>
              <a:t>sebesar</a:t>
            </a:r>
            <a:r>
              <a:rPr lang="en-US" sz="1400">
                <a:solidFill>
                  <a:schemeClr val="bg1"/>
                </a:solidFill>
                <a:latin typeface="Aptos" panose="020B0004020202020204" pitchFamily="34" charset="0"/>
              </a:rPr>
              <a:t> </a:t>
            </a:r>
            <a:r>
              <a:rPr lang="en-US" sz="1400" b="1">
                <a:solidFill>
                  <a:schemeClr val="bg1"/>
                </a:solidFill>
                <a:latin typeface="Aptos" panose="020B0004020202020204" pitchFamily="34" charset="0"/>
              </a:rPr>
              <a:t>1.790% </a:t>
            </a:r>
            <a:r>
              <a:rPr lang="en-US" sz="1400" b="1" err="1">
                <a:solidFill>
                  <a:schemeClr val="bg1"/>
                </a:solidFill>
                <a:latin typeface="Aptos" panose="020B0004020202020204" pitchFamily="34" charset="0"/>
              </a:rPr>
              <a:t>dari</a:t>
            </a:r>
            <a:r>
              <a:rPr lang="en-US" sz="1400" b="1">
                <a:solidFill>
                  <a:schemeClr val="bg1"/>
                </a:solidFill>
                <a:latin typeface="Aptos" panose="020B0004020202020204" pitchFamily="34" charset="0"/>
              </a:rPr>
              <a:t> Premi Asuransi Dasar </a:t>
            </a:r>
            <a:r>
              <a:rPr lang="en-US" sz="1400" err="1">
                <a:solidFill>
                  <a:schemeClr val="bg1"/>
                </a:solidFill>
                <a:latin typeface="Aptos" panose="020B0004020202020204" pitchFamily="34" charset="0"/>
              </a:rPr>
              <a:t>disetahunkan</a:t>
            </a:r>
            <a:r>
              <a:rPr lang="en-US" sz="1400" b="1">
                <a:solidFill>
                  <a:schemeClr val="bg1"/>
                </a:solidFill>
                <a:latin typeface="Aptos" panose="020B0004020202020204" pitchFamily="34" charset="0"/>
              </a:rPr>
              <a:t> </a:t>
            </a:r>
            <a:r>
              <a:rPr lang="en-US" sz="1400">
                <a:solidFill>
                  <a:schemeClr val="bg1"/>
                </a:solidFill>
                <a:latin typeface="Aptos" panose="020B0004020202020204" pitchFamily="34" charset="0"/>
              </a:rPr>
              <a:t>yang </a:t>
            </a:r>
            <a:r>
              <a:rPr lang="en-US" sz="1400" err="1">
                <a:solidFill>
                  <a:schemeClr val="bg1"/>
                </a:solidFill>
                <a:latin typeface="Aptos" panose="020B0004020202020204" pitchFamily="34" charset="0"/>
              </a:rPr>
              <a:t>sudah</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dibayarkan</a:t>
            </a:r>
            <a:endParaRPr lang="en-US" sz="1400">
              <a:solidFill>
                <a:schemeClr val="bg1"/>
              </a:solidFill>
              <a:latin typeface="Aptos" panose="020B0004020202020204" pitchFamily="34" charset="0"/>
            </a:endParaRPr>
          </a:p>
        </p:txBody>
      </p:sp>
      <p:sp>
        <p:nvSpPr>
          <p:cNvPr id="15" name="Arrow: Chevron 14">
            <a:extLst>
              <a:ext uri="{FF2B5EF4-FFF2-40B4-BE49-F238E27FC236}">
                <a16:creationId xmlns:a16="http://schemas.microsoft.com/office/drawing/2014/main" id="{479F4A40-0DEA-78C0-48BC-4BA75F4F3924}"/>
              </a:ext>
            </a:extLst>
          </p:cNvPr>
          <p:cNvSpPr/>
          <p:nvPr/>
        </p:nvSpPr>
        <p:spPr>
          <a:xfrm>
            <a:off x="1212321" y="4031805"/>
            <a:ext cx="6575338" cy="588936"/>
          </a:xfrm>
          <a:prstGeom prst="chevr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err="1">
                <a:solidFill>
                  <a:schemeClr val="tx1"/>
                </a:solidFill>
                <a:latin typeface="Aptos" panose="020B0004020202020204" pitchFamily="34" charset="0"/>
              </a:rPr>
              <a:t>Opsi</a:t>
            </a:r>
            <a:r>
              <a:rPr lang="en-US" sz="1400" b="1">
                <a:solidFill>
                  <a:schemeClr val="tx1"/>
                </a:solidFill>
                <a:latin typeface="Aptos" panose="020B0004020202020204" pitchFamily="34" charset="0"/>
              </a:rPr>
              <a:t> Manfaat </a:t>
            </a:r>
            <a:r>
              <a:rPr lang="en-US" sz="1400" b="1" err="1">
                <a:solidFill>
                  <a:schemeClr val="tx1"/>
                </a:solidFill>
                <a:latin typeface="Aptos" panose="020B0004020202020204" pitchFamily="34" charset="0"/>
              </a:rPr>
              <a:t>Tunai</a:t>
            </a:r>
            <a:r>
              <a:rPr lang="en-US" sz="1400" b="1">
                <a:solidFill>
                  <a:schemeClr val="tx1"/>
                </a:solidFill>
                <a:latin typeface="Aptos" panose="020B0004020202020204" pitchFamily="34" charset="0"/>
              </a:rPr>
              <a:t> </a:t>
            </a:r>
            <a:r>
              <a:rPr lang="en-US" sz="1400" b="1" err="1">
                <a:solidFill>
                  <a:schemeClr val="tx1"/>
                </a:solidFill>
                <a:latin typeface="Aptos" panose="020B0004020202020204" pitchFamily="34" charset="0"/>
              </a:rPr>
              <a:t>Tahunan</a:t>
            </a:r>
            <a:r>
              <a:rPr lang="en-US" sz="1400" b="1">
                <a:solidFill>
                  <a:schemeClr val="tx1"/>
                </a:solidFill>
                <a:latin typeface="Aptos" panose="020B0004020202020204" pitchFamily="34" charset="0"/>
              </a:rPr>
              <a:t> </a:t>
            </a:r>
            <a:r>
              <a:rPr lang="en-US" sz="1400" err="1">
                <a:solidFill>
                  <a:schemeClr val="tx1"/>
                </a:solidFill>
                <a:latin typeface="Aptos" panose="020B0004020202020204" pitchFamily="34" charset="0"/>
              </a:rPr>
              <a:t>hingga</a:t>
            </a:r>
            <a:r>
              <a:rPr lang="en-US" sz="1400" b="1">
                <a:solidFill>
                  <a:schemeClr val="tx1"/>
                </a:solidFill>
                <a:latin typeface="Aptos" panose="020B0004020202020204" pitchFamily="34" charset="0"/>
              </a:rPr>
              <a:t> 25% Premi Asuransi Dasar </a:t>
            </a:r>
            <a:r>
              <a:rPr lang="en-US" sz="1400" err="1">
                <a:solidFill>
                  <a:schemeClr val="tx1"/>
                </a:solidFill>
                <a:latin typeface="Aptos" panose="020B0004020202020204" pitchFamily="34" charset="0"/>
              </a:rPr>
              <a:t>disetahunkan</a:t>
            </a:r>
            <a:r>
              <a:rPr lang="en-US" sz="1400">
                <a:solidFill>
                  <a:schemeClr val="tx1"/>
                </a:solidFill>
                <a:latin typeface="Aptos" panose="020B0004020202020204" pitchFamily="34" charset="0"/>
              </a:rPr>
              <a:t> </a:t>
            </a:r>
            <a:r>
              <a:rPr lang="en-US" sz="1400" err="1">
                <a:solidFill>
                  <a:schemeClr val="tx1"/>
                </a:solidFill>
                <a:latin typeface="Aptos" panose="020B0004020202020204" pitchFamily="34" charset="0"/>
              </a:rPr>
              <a:t>setelah</a:t>
            </a:r>
            <a:r>
              <a:rPr lang="en-US" sz="1400">
                <a:solidFill>
                  <a:schemeClr val="tx1"/>
                </a:solidFill>
                <a:latin typeface="Aptos" panose="020B0004020202020204" pitchFamily="34" charset="0"/>
              </a:rPr>
              <a:t> Masa Pembayaran Premi </a:t>
            </a:r>
            <a:r>
              <a:rPr lang="en-US" sz="1400" err="1">
                <a:solidFill>
                  <a:schemeClr val="tx1"/>
                </a:solidFill>
                <a:latin typeface="Aptos" panose="020B0004020202020204" pitchFamily="34" charset="0"/>
              </a:rPr>
              <a:t>selesai</a:t>
            </a:r>
            <a:r>
              <a:rPr lang="en-US" sz="1400">
                <a:solidFill>
                  <a:schemeClr val="tx1"/>
                </a:solidFill>
                <a:latin typeface="Aptos" panose="020B0004020202020204" pitchFamily="34" charset="0"/>
              </a:rPr>
              <a:t> </a:t>
            </a:r>
            <a:r>
              <a:rPr lang="en-US" sz="1400" err="1">
                <a:solidFill>
                  <a:schemeClr val="tx1"/>
                </a:solidFill>
                <a:latin typeface="Aptos" panose="020B0004020202020204" pitchFamily="34" charset="0"/>
              </a:rPr>
              <a:t>sampai</a:t>
            </a:r>
            <a:r>
              <a:rPr lang="en-US" sz="1400">
                <a:solidFill>
                  <a:schemeClr val="tx1"/>
                </a:solidFill>
                <a:latin typeface="Aptos" panose="020B0004020202020204" pitchFamily="34" charset="0"/>
              </a:rPr>
              <a:t> Masa </a:t>
            </a:r>
            <a:r>
              <a:rPr lang="en-US" sz="1400" err="1">
                <a:solidFill>
                  <a:schemeClr val="tx1"/>
                </a:solidFill>
                <a:latin typeface="Aptos" panose="020B0004020202020204" pitchFamily="34" charset="0"/>
              </a:rPr>
              <a:t>Pertanggungan</a:t>
            </a:r>
            <a:r>
              <a:rPr lang="en-US" sz="1400">
                <a:solidFill>
                  <a:schemeClr val="tx1"/>
                </a:solidFill>
                <a:latin typeface="Aptos" panose="020B0004020202020204" pitchFamily="34" charset="0"/>
              </a:rPr>
              <a:t> </a:t>
            </a:r>
            <a:r>
              <a:rPr lang="en-US" sz="1400" err="1">
                <a:solidFill>
                  <a:schemeClr val="tx1"/>
                </a:solidFill>
                <a:latin typeface="Aptos" panose="020B0004020202020204" pitchFamily="34" charset="0"/>
              </a:rPr>
              <a:t>berakhir</a:t>
            </a:r>
            <a:endParaRPr lang="en-US" sz="1400" b="1">
              <a:solidFill>
                <a:schemeClr val="tx1"/>
              </a:solidFill>
              <a:latin typeface="Aptos" panose="020B0004020202020204" pitchFamily="34" charset="0"/>
            </a:endParaRPr>
          </a:p>
        </p:txBody>
      </p:sp>
      <p:pic>
        <p:nvPicPr>
          <p:cNvPr id="16" name="Picture 15">
            <a:extLst>
              <a:ext uri="{FF2B5EF4-FFF2-40B4-BE49-F238E27FC236}">
                <a16:creationId xmlns:a16="http://schemas.microsoft.com/office/drawing/2014/main" id="{A7632961-CF35-4499-6E0E-25DF0F1DA6E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22500" b="68929" l="18462" r="79231">
                        <a14:foregroundMark x1="70000" y1="24286" x2="70000" y2="24286"/>
                        <a14:foregroundMark x1="79231" y1="39643" x2="79231" y2="39643"/>
                        <a14:foregroundMark x1="71923" y1="35714" x2="71923" y2="35714"/>
                        <a14:foregroundMark x1="53077" y1="30000" x2="53077" y2="30000"/>
                        <a14:foregroundMark x1="36538" y1="31429" x2="36538" y2="31429"/>
                        <a14:foregroundMark x1="27692" y1="38929" x2="27692" y2="38929"/>
                        <a14:foregroundMark x1="18846" y1="39286" x2="18846" y2="39286"/>
                        <a14:foregroundMark x1="23462" y1="47857" x2="23462" y2="47857"/>
                        <a14:foregroundMark x1="30385" y1="47500" x2="30385" y2="47500"/>
                        <a14:foregroundMark x1="50385" y1="43571" x2="50385" y2="43571"/>
                        <a14:foregroundMark x1="47308" y1="66429" x2="47308" y2="66429"/>
                        <a14:foregroundMark x1="34615" y1="67143" x2="34615" y2="67143"/>
                        <a14:foregroundMark x1="30769" y1="68929" x2="30769" y2="68929"/>
                      </a14:backgroundRemoval>
                    </a14:imgEffect>
                  </a14:imgLayer>
                </a14:imgProps>
              </a:ext>
            </a:extLst>
          </a:blip>
          <a:srcRect l="15672" t="18489" r="14486" b="27530"/>
          <a:stretch/>
        </p:blipFill>
        <p:spPr>
          <a:xfrm>
            <a:off x="567419" y="1075327"/>
            <a:ext cx="650929" cy="541796"/>
          </a:xfrm>
          <a:prstGeom prst="rect">
            <a:avLst/>
          </a:prstGeom>
        </p:spPr>
      </p:pic>
      <p:sp>
        <p:nvSpPr>
          <p:cNvPr id="17" name="Arrow: Chevron 16">
            <a:extLst>
              <a:ext uri="{FF2B5EF4-FFF2-40B4-BE49-F238E27FC236}">
                <a16:creationId xmlns:a16="http://schemas.microsoft.com/office/drawing/2014/main" id="{9A7E632E-4D12-AA4E-AE70-B8F874D0E9EF}"/>
              </a:ext>
            </a:extLst>
          </p:cNvPr>
          <p:cNvSpPr/>
          <p:nvPr/>
        </p:nvSpPr>
        <p:spPr>
          <a:xfrm>
            <a:off x="1218347" y="4770116"/>
            <a:ext cx="6575340" cy="588936"/>
          </a:xfrm>
          <a:prstGeom prst="chevron">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bg1"/>
                </a:solidFill>
                <a:latin typeface="Aptos" panose="020B0004020202020204" pitchFamily="34" charset="0"/>
              </a:rPr>
              <a:t>Manfaat </a:t>
            </a:r>
            <a:r>
              <a:rPr lang="en-US" sz="1400" b="1" err="1">
                <a:solidFill>
                  <a:schemeClr val="bg1"/>
                </a:solidFill>
                <a:latin typeface="Aptos" panose="020B0004020202020204" pitchFamily="34" charset="0"/>
              </a:rPr>
              <a:t>Meninggal</a:t>
            </a:r>
            <a:r>
              <a:rPr lang="en-US" sz="1400" b="1">
                <a:solidFill>
                  <a:schemeClr val="bg1"/>
                </a:solidFill>
                <a:latin typeface="Aptos" panose="020B0004020202020204" pitchFamily="34" charset="0"/>
              </a:rPr>
              <a:t> Dunia </a:t>
            </a:r>
            <a:r>
              <a:rPr lang="en-US" sz="1400" err="1">
                <a:solidFill>
                  <a:schemeClr val="bg1"/>
                </a:solidFill>
                <a:latin typeface="Aptos" panose="020B0004020202020204" pitchFamily="34" charset="0"/>
              </a:rPr>
              <a:t>hingga</a:t>
            </a:r>
            <a:r>
              <a:rPr lang="en-US" sz="1400">
                <a:solidFill>
                  <a:schemeClr val="bg1"/>
                </a:solidFill>
                <a:latin typeface="Aptos" panose="020B0004020202020204" pitchFamily="34" charset="0"/>
              </a:rPr>
              <a:t> </a:t>
            </a:r>
            <a:r>
              <a:rPr lang="en-US" sz="1400" b="1">
                <a:solidFill>
                  <a:schemeClr val="bg1"/>
                </a:solidFill>
                <a:latin typeface="Aptos" panose="020B0004020202020204" pitchFamily="34" charset="0"/>
              </a:rPr>
              <a:t>150% </a:t>
            </a:r>
            <a:r>
              <a:rPr lang="en-US" sz="1400" b="1" err="1">
                <a:solidFill>
                  <a:schemeClr val="bg1"/>
                </a:solidFill>
                <a:latin typeface="Aptos" panose="020B0004020202020204" pitchFamily="34" charset="0"/>
              </a:rPr>
              <a:t>dari</a:t>
            </a:r>
            <a:r>
              <a:rPr lang="en-US" sz="1400" b="1">
                <a:solidFill>
                  <a:schemeClr val="bg1"/>
                </a:solidFill>
                <a:latin typeface="Aptos" panose="020B0004020202020204" pitchFamily="34" charset="0"/>
              </a:rPr>
              <a:t> total Premi Asuransi Dasar </a:t>
            </a:r>
            <a:r>
              <a:rPr lang="en-US" sz="1400">
                <a:solidFill>
                  <a:schemeClr val="bg1"/>
                </a:solidFill>
                <a:latin typeface="Aptos" panose="020B0004020202020204" pitchFamily="34" charset="0"/>
              </a:rPr>
              <a:t>yang </a:t>
            </a:r>
            <a:r>
              <a:rPr lang="en-US" sz="1400" err="1">
                <a:solidFill>
                  <a:schemeClr val="bg1"/>
                </a:solidFill>
                <a:latin typeface="Aptos" panose="020B0004020202020204" pitchFamily="34" charset="0"/>
              </a:rPr>
              <a:t>telah</a:t>
            </a:r>
            <a:r>
              <a:rPr lang="en-US" sz="1400">
                <a:solidFill>
                  <a:schemeClr val="bg1"/>
                </a:solidFill>
                <a:latin typeface="Aptos" panose="020B0004020202020204" pitchFamily="34" charset="0"/>
              </a:rPr>
              <a:t> </a:t>
            </a:r>
            <a:r>
              <a:rPr lang="en-US" sz="1400" err="1">
                <a:solidFill>
                  <a:schemeClr val="bg1"/>
                </a:solidFill>
                <a:latin typeface="Aptos" panose="020B0004020202020204" pitchFamily="34" charset="0"/>
              </a:rPr>
              <a:t>dibayarkan</a:t>
            </a:r>
            <a:endParaRPr lang="en-US" sz="1400">
              <a:solidFill>
                <a:schemeClr val="bg1"/>
              </a:solidFill>
              <a:latin typeface="Aptos" panose="020B0004020202020204" pitchFamily="34" charset="0"/>
            </a:endParaRPr>
          </a:p>
        </p:txBody>
      </p:sp>
      <p:pic>
        <p:nvPicPr>
          <p:cNvPr id="20" name="Picture 19">
            <a:extLst>
              <a:ext uri="{FF2B5EF4-FFF2-40B4-BE49-F238E27FC236}">
                <a16:creationId xmlns:a16="http://schemas.microsoft.com/office/drawing/2014/main" id="{F6B05DCA-53F9-A07C-A001-25D523C7F7A4}"/>
              </a:ext>
            </a:extLst>
          </p:cNvPr>
          <p:cNvPicPr>
            <a:picLocks noChangeAspect="1"/>
          </p:cNvPicPr>
          <p:nvPr/>
        </p:nvPicPr>
        <p:blipFill>
          <a:blip r:embed="rId7"/>
          <a:stretch>
            <a:fillRect/>
          </a:stretch>
        </p:blipFill>
        <p:spPr>
          <a:xfrm>
            <a:off x="621984" y="4023219"/>
            <a:ext cx="541797" cy="541797"/>
          </a:xfrm>
          <a:prstGeom prst="rect">
            <a:avLst/>
          </a:prstGeom>
        </p:spPr>
      </p:pic>
      <p:pic>
        <p:nvPicPr>
          <p:cNvPr id="23" name="Picture 22">
            <a:extLst>
              <a:ext uri="{FF2B5EF4-FFF2-40B4-BE49-F238E27FC236}">
                <a16:creationId xmlns:a16="http://schemas.microsoft.com/office/drawing/2014/main" id="{43548CB9-B379-39A0-991C-C8DA345A32FA}"/>
              </a:ext>
            </a:extLst>
          </p:cNvPr>
          <p:cNvPicPr>
            <a:picLocks noChangeAspect="1"/>
          </p:cNvPicPr>
          <p:nvPr/>
        </p:nvPicPr>
        <p:blipFill>
          <a:blip r:embed="rId8"/>
          <a:stretch>
            <a:fillRect/>
          </a:stretch>
        </p:blipFill>
        <p:spPr>
          <a:xfrm>
            <a:off x="621983" y="2515551"/>
            <a:ext cx="541797" cy="541797"/>
          </a:xfrm>
          <a:prstGeom prst="rect">
            <a:avLst/>
          </a:prstGeom>
        </p:spPr>
      </p:pic>
      <p:pic>
        <p:nvPicPr>
          <p:cNvPr id="24" name="Picture 23">
            <a:extLst>
              <a:ext uri="{FF2B5EF4-FFF2-40B4-BE49-F238E27FC236}">
                <a16:creationId xmlns:a16="http://schemas.microsoft.com/office/drawing/2014/main" id="{5D556E36-2226-3D60-EE43-A593EA48E149}"/>
              </a:ext>
            </a:extLst>
          </p:cNvPr>
          <p:cNvPicPr>
            <a:picLocks noChangeAspect="1"/>
          </p:cNvPicPr>
          <p:nvPr/>
        </p:nvPicPr>
        <p:blipFill>
          <a:blip r:embed="rId9"/>
          <a:stretch>
            <a:fillRect/>
          </a:stretch>
        </p:blipFill>
        <p:spPr>
          <a:xfrm>
            <a:off x="621984" y="3262448"/>
            <a:ext cx="588936" cy="588936"/>
          </a:xfrm>
          <a:prstGeom prst="rect">
            <a:avLst/>
          </a:prstGeom>
        </p:spPr>
      </p:pic>
      <p:pic>
        <p:nvPicPr>
          <p:cNvPr id="25" name="Picture 24">
            <a:extLst>
              <a:ext uri="{FF2B5EF4-FFF2-40B4-BE49-F238E27FC236}">
                <a16:creationId xmlns:a16="http://schemas.microsoft.com/office/drawing/2014/main" id="{EF7DD8AD-7753-2DB3-56DF-876C66B3C18A}"/>
              </a:ext>
            </a:extLst>
          </p:cNvPr>
          <p:cNvPicPr>
            <a:picLocks noChangeAspect="1"/>
          </p:cNvPicPr>
          <p:nvPr/>
        </p:nvPicPr>
        <p:blipFill>
          <a:blip r:embed="rId10"/>
          <a:stretch>
            <a:fillRect/>
          </a:stretch>
        </p:blipFill>
        <p:spPr>
          <a:xfrm>
            <a:off x="676551" y="5581086"/>
            <a:ext cx="541796" cy="541796"/>
          </a:xfrm>
          <a:prstGeom prst="rect">
            <a:avLst/>
          </a:prstGeom>
        </p:spPr>
      </p:pic>
      <p:sp>
        <p:nvSpPr>
          <p:cNvPr id="2" name="Arrow: Chevron 1">
            <a:extLst>
              <a:ext uri="{FF2B5EF4-FFF2-40B4-BE49-F238E27FC236}">
                <a16:creationId xmlns:a16="http://schemas.microsoft.com/office/drawing/2014/main" id="{AF426984-48C5-8BE7-57AF-4A91193E4D41}"/>
              </a:ext>
            </a:extLst>
          </p:cNvPr>
          <p:cNvSpPr/>
          <p:nvPr/>
        </p:nvSpPr>
        <p:spPr>
          <a:xfrm>
            <a:off x="1218348" y="5587722"/>
            <a:ext cx="6578140" cy="588936"/>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400">
                <a:solidFill>
                  <a:schemeClr val="tx1"/>
                </a:solidFill>
                <a:latin typeface="Aptos" panose="020B0004020202020204" pitchFamily="34" charset="0"/>
              </a:rPr>
              <a:t>Pengajuan Polis dapat dilakukan </a:t>
            </a:r>
            <a:r>
              <a:rPr lang="fi-FI" sz="1400" b="1">
                <a:solidFill>
                  <a:schemeClr val="tx1"/>
                </a:solidFill>
                <a:latin typeface="Aptos" panose="020B0004020202020204" pitchFamily="34" charset="0"/>
              </a:rPr>
              <a:t>tanpa pemeriksaan kesehatan</a:t>
            </a:r>
          </a:p>
        </p:txBody>
      </p:sp>
      <p:pic>
        <p:nvPicPr>
          <p:cNvPr id="1026" name="Picture 2" descr="Black Ribbon Funeral PNG Transparent Background">
            <a:extLst>
              <a:ext uri="{FF2B5EF4-FFF2-40B4-BE49-F238E27FC236}">
                <a16:creationId xmlns:a16="http://schemas.microsoft.com/office/drawing/2014/main" id="{29395702-3620-9214-D0D1-472DB8818F23}"/>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backgroundRemoval t="1397" b="98254" l="5476" r="92857">
                        <a14:foregroundMark x1="44643" y1="8615" x2="47976" y2="6170"/>
                        <a14:foregroundMark x1="43929" y1="3027" x2="57143" y2="1397"/>
                        <a14:foregroundMark x1="11310" y1="93015" x2="21071" y2="94645"/>
                        <a14:foregroundMark x1="5714" y1="93597" x2="7143" y2="93248"/>
                        <a14:foregroundMark x1="23571" y1="98370" x2="23571" y2="98370"/>
                        <a14:foregroundMark x1="92857" y1="83935" x2="92857" y2="83935"/>
                      </a14:backgroundRemoval>
                    </a14:imgEffect>
                  </a14:imgLayer>
                </a14:imgProps>
              </a:ext>
              <a:ext uri="{28A0092B-C50C-407E-A947-70E740481C1C}">
                <a14:useLocalDpi xmlns:a14="http://schemas.microsoft.com/office/drawing/2010/main" val="0"/>
              </a:ext>
            </a:extLst>
          </a:blip>
          <a:srcRect/>
          <a:stretch>
            <a:fillRect/>
          </a:stretch>
        </p:blipFill>
        <p:spPr bwMode="auto">
          <a:xfrm>
            <a:off x="652457" y="4818696"/>
            <a:ext cx="480848" cy="491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939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64C2C-8A6B-F5FD-BF9C-71FE6050513D}"/>
            </a:ext>
          </a:extLst>
        </p:cNvPr>
        <p:cNvGrpSpPr/>
        <p:nvPr/>
      </p:nvGrpSpPr>
      <p:grpSpPr>
        <a:xfrm>
          <a:off x="0" y="0"/>
          <a:ext cx="0" cy="0"/>
          <a:chOff x="0" y="0"/>
          <a:chExt cx="0" cy="0"/>
        </a:xfrm>
      </p:grpSpPr>
      <p:sp>
        <p:nvSpPr>
          <p:cNvPr id="1030" name="Rectangle 1029">
            <a:extLst>
              <a:ext uri="{FF2B5EF4-FFF2-40B4-BE49-F238E27FC236}">
                <a16:creationId xmlns:a16="http://schemas.microsoft.com/office/drawing/2014/main" id="{57D4781A-1372-0EB4-A1C3-7D547E8346FC}"/>
              </a:ext>
            </a:extLst>
          </p:cNvPr>
          <p:cNvSpPr/>
          <p:nvPr/>
        </p:nvSpPr>
        <p:spPr>
          <a:xfrm>
            <a:off x="4795628" y="1124691"/>
            <a:ext cx="5864247" cy="266244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91F9150F-4AD0-09A6-3454-F1815301C582}"/>
              </a:ext>
            </a:extLst>
          </p:cNvPr>
          <p:cNvSpPr/>
          <p:nvPr/>
        </p:nvSpPr>
        <p:spPr>
          <a:xfrm>
            <a:off x="504801" y="1322811"/>
            <a:ext cx="3722164" cy="51694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9F6DD00-3B0E-976C-BB79-EE7E3824B9B3}"/>
              </a:ext>
            </a:extLst>
          </p:cNvPr>
          <p:cNvSpPr txBox="1"/>
          <p:nvPr/>
        </p:nvSpPr>
        <p:spPr>
          <a:xfrm>
            <a:off x="7290315" y="422703"/>
            <a:ext cx="4380905" cy="461665"/>
          </a:xfrm>
          <a:prstGeom prst="rect">
            <a:avLst/>
          </a:prstGeom>
          <a:noFill/>
        </p:spPr>
        <p:txBody>
          <a:bodyPr wrap="square">
            <a:spAutoFit/>
          </a:bodyPr>
          <a:lstStyle/>
          <a:p>
            <a:pPr algn="r"/>
            <a:r>
              <a:rPr lang="en-US" sz="2400" b="1" dirty="0">
                <a:solidFill>
                  <a:srgbClr val="002060"/>
                </a:solidFill>
                <a:latin typeface="Aptos" panose="020B0004020202020204" pitchFamily="34" charset="0"/>
              </a:rPr>
              <a:t>VALUE+ Feature</a:t>
            </a:r>
          </a:p>
        </p:txBody>
      </p:sp>
      <p:cxnSp>
        <p:nvCxnSpPr>
          <p:cNvPr id="4" name="Straight Connector 3">
            <a:extLst>
              <a:ext uri="{FF2B5EF4-FFF2-40B4-BE49-F238E27FC236}">
                <a16:creationId xmlns:a16="http://schemas.microsoft.com/office/drawing/2014/main" id="{7150DF2F-B86F-DCF7-B8A1-6A67458DE8B6}"/>
              </a:ext>
            </a:extLst>
          </p:cNvPr>
          <p:cNvCxnSpPr>
            <a:cxnSpLocks/>
          </p:cNvCxnSpPr>
          <p:nvPr/>
        </p:nvCxnSpPr>
        <p:spPr>
          <a:xfrm>
            <a:off x="8581596" y="884368"/>
            <a:ext cx="3179399"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Arrow: Chevron 2">
            <a:extLst>
              <a:ext uri="{FF2B5EF4-FFF2-40B4-BE49-F238E27FC236}">
                <a16:creationId xmlns:a16="http://schemas.microsoft.com/office/drawing/2014/main" id="{767B7C8C-3DCC-7A4F-1DC1-D10CFDFE1FFD}"/>
              </a:ext>
            </a:extLst>
          </p:cNvPr>
          <p:cNvSpPr/>
          <p:nvPr/>
        </p:nvSpPr>
        <p:spPr>
          <a:xfrm>
            <a:off x="504629" y="1058245"/>
            <a:ext cx="2363032" cy="588936"/>
          </a:xfrm>
          <a:custGeom>
            <a:avLst/>
            <a:gdLst>
              <a:gd name="csX0" fmla="*/ 0 w 2362860"/>
              <a:gd name="csY0" fmla="*/ 0 h 588936"/>
              <a:gd name="csX1" fmla="*/ 2068392 w 2362860"/>
              <a:gd name="csY1" fmla="*/ 0 h 588936"/>
              <a:gd name="csX2" fmla="*/ 2362860 w 2362860"/>
              <a:gd name="csY2" fmla="*/ 294468 h 588936"/>
              <a:gd name="csX3" fmla="*/ 2068392 w 2362860"/>
              <a:gd name="csY3" fmla="*/ 588936 h 588936"/>
              <a:gd name="csX4" fmla="*/ 0 w 2362860"/>
              <a:gd name="csY4" fmla="*/ 588936 h 588936"/>
              <a:gd name="csX5" fmla="*/ 294468 w 2362860"/>
              <a:gd name="csY5" fmla="*/ 294468 h 588936"/>
              <a:gd name="csX6" fmla="*/ 0 w 2362860"/>
              <a:gd name="csY6" fmla="*/ 0 h 588936"/>
              <a:gd name="csX0" fmla="*/ 172 w 2363032"/>
              <a:gd name="csY0" fmla="*/ 0 h 588936"/>
              <a:gd name="csX1" fmla="*/ 2068564 w 2363032"/>
              <a:gd name="csY1" fmla="*/ 0 h 588936"/>
              <a:gd name="csX2" fmla="*/ 2363032 w 2363032"/>
              <a:gd name="csY2" fmla="*/ 294468 h 588936"/>
              <a:gd name="csX3" fmla="*/ 2068564 w 2363032"/>
              <a:gd name="csY3" fmla="*/ 588936 h 588936"/>
              <a:gd name="csX4" fmla="*/ 172 w 2363032"/>
              <a:gd name="csY4" fmla="*/ 588936 h 588936"/>
              <a:gd name="csX5" fmla="*/ 0 w 2363032"/>
              <a:gd name="csY5" fmla="*/ 309708 h 588936"/>
              <a:gd name="csX6" fmla="*/ 172 w 2363032"/>
              <a:gd name="csY6" fmla="*/ 0 h 5889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63032" h="588936">
                <a:moveTo>
                  <a:pt x="172" y="0"/>
                </a:moveTo>
                <a:lnTo>
                  <a:pt x="2068564" y="0"/>
                </a:lnTo>
                <a:lnTo>
                  <a:pt x="2363032" y="294468"/>
                </a:lnTo>
                <a:lnTo>
                  <a:pt x="2068564" y="588936"/>
                </a:lnTo>
                <a:lnTo>
                  <a:pt x="172" y="588936"/>
                </a:lnTo>
                <a:cubicBezTo>
                  <a:pt x="115" y="495860"/>
                  <a:pt x="57" y="402784"/>
                  <a:pt x="0" y="309708"/>
                </a:cubicBezTo>
                <a:cubicBezTo>
                  <a:pt x="57" y="206472"/>
                  <a:pt x="115" y="103236"/>
                  <a:pt x="172" y="0"/>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latin typeface="Aptos" panose="020B0004020202020204" pitchFamily="34" charset="0"/>
              </a:rPr>
              <a:t>Product Feature</a:t>
            </a:r>
          </a:p>
        </p:txBody>
      </p:sp>
      <p:sp>
        <p:nvSpPr>
          <p:cNvPr id="6" name="Rectangle: Rounded Corners 5">
            <a:extLst>
              <a:ext uri="{FF2B5EF4-FFF2-40B4-BE49-F238E27FC236}">
                <a16:creationId xmlns:a16="http://schemas.microsoft.com/office/drawing/2014/main" id="{CF89F429-3A75-EE65-6809-549BA53EC64F}"/>
              </a:ext>
            </a:extLst>
          </p:cNvPr>
          <p:cNvSpPr/>
          <p:nvPr/>
        </p:nvSpPr>
        <p:spPr>
          <a:xfrm>
            <a:off x="653215" y="1905000"/>
            <a:ext cx="3398521" cy="4472940"/>
          </a:xfrm>
          <a:prstGeom prst="roundRect">
            <a:avLst>
              <a:gd name="adj" fmla="val 515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6CA79BF-805C-55FD-98BD-395CDCF528CD}"/>
              </a:ext>
            </a:extLst>
          </p:cNvPr>
          <p:cNvSpPr txBox="1"/>
          <p:nvPr/>
        </p:nvSpPr>
        <p:spPr>
          <a:xfrm>
            <a:off x="1544188" y="1961764"/>
            <a:ext cx="1662414" cy="307777"/>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rPr>
              <a:t>Masa Asuransi</a:t>
            </a:r>
          </a:p>
        </p:txBody>
      </p:sp>
      <p:sp>
        <p:nvSpPr>
          <p:cNvPr id="9" name="TextBox 8">
            <a:extLst>
              <a:ext uri="{FF2B5EF4-FFF2-40B4-BE49-F238E27FC236}">
                <a16:creationId xmlns:a16="http://schemas.microsoft.com/office/drawing/2014/main" id="{6189DA2C-645D-815C-984D-082BC49DD241}"/>
              </a:ext>
            </a:extLst>
          </p:cNvPr>
          <p:cNvSpPr txBox="1"/>
          <p:nvPr/>
        </p:nvSpPr>
        <p:spPr>
          <a:xfrm>
            <a:off x="1419246" y="2252368"/>
            <a:ext cx="1912298" cy="276999"/>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rPr>
              <a:t>20 tahun</a:t>
            </a:r>
          </a:p>
        </p:txBody>
      </p:sp>
      <p:cxnSp>
        <p:nvCxnSpPr>
          <p:cNvPr id="12" name="Straight Connector 11">
            <a:extLst>
              <a:ext uri="{FF2B5EF4-FFF2-40B4-BE49-F238E27FC236}">
                <a16:creationId xmlns:a16="http://schemas.microsoft.com/office/drawing/2014/main" id="{86C3F175-7CDB-7B4B-A277-5C866BA86782}"/>
              </a:ext>
            </a:extLst>
          </p:cNvPr>
          <p:cNvCxnSpPr>
            <a:cxnSpLocks/>
          </p:cNvCxnSpPr>
          <p:nvPr/>
        </p:nvCxnSpPr>
        <p:spPr>
          <a:xfrm>
            <a:off x="773931" y="2625331"/>
            <a:ext cx="3157091" cy="0"/>
          </a:xfrm>
          <a:prstGeom prst="line">
            <a:avLst/>
          </a:prstGeom>
          <a:noFill/>
          <a:ln w="12700" cap="flat" cmpd="sng" algn="ctr">
            <a:solidFill>
              <a:schemeClr val="tx1"/>
            </a:solidFill>
            <a:prstDash val="solid"/>
            <a:miter lim="800000"/>
          </a:ln>
          <a:effectLst/>
        </p:spPr>
      </p:cxnSp>
      <p:sp>
        <p:nvSpPr>
          <p:cNvPr id="19" name="TextBox 18">
            <a:extLst>
              <a:ext uri="{FF2B5EF4-FFF2-40B4-BE49-F238E27FC236}">
                <a16:creationId xmlns:a16="http://schemas.microsoft.com/office/drawing/2014/main" id="{ACA2860C-B263-615B-DE21-768047A3576C}"/>
              </a:ext>
            </a:extLst>
          </p:cNvPr>
          <p:cNvSpPr txBox="1"/>
          <p:nvPr/>
        </p:nvSpPr>
        <p:spPr>
          <a:xfrm>
            <a:off x="1544188" y="2679659"/>
            <a:ext cx="1662414" cy="307777"/>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rPr>
              <a:t>Usia Masuk</a:t>
            </a:r>
          </a:p>
        </p:txBody>
      </p:sp>
      <p:sp>
        <p:nvSpPr>
          <p:cNvPr id="21" name="TextBox 20">
            <a:extLst>
              <a:ext uri="{FF2B5EF4-FFF2-40B4-BE49-F238E27FC236}">
                <a16:creationId xmlns:a16="http://schemas.microsoft.com/office/drawing/2014/main" id="{84722E9C-ED81-D1A0-4658-1C4B424F7C6B}"/>
              </a:ext>
            </a:extLst>
          </p:cNvPr>
          <p:cNvSpPr txBox="1"/>
          <p:nvPr/>
        </p:nvSpPr>
        <p:spPr>
          <a:xfrm>
            <a:off x="1007448" y="2972196"/>
            <a:ext cx="2735894" cy="461665"/>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rPr>
              <a:t>Pemegang Polis: minimum 21 tahun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rPr>
              <a:t>Tertanggung: 18 – 65 tahun</a:t>
            </a:r>
          </a:p>
        </p:txBody>
      </p:sp>
      <p:cxnSp>
        <p:nvCxnSpPr>
          <p:cNvPr id="27" name="Straight Connector 26">
            <a:extLst>
              <a:ext uri="{FF2B5EF4-FFF2-40B4-BE49-F238E27FC236}">
                <a16:creationId xmlns:a16="http://schemas.microsoft.com/office/drawing/2014/main" id="{77CB4085-7026-6172-6F3B-73CBF2AF9A56}"/>
              </a:ext>
            </a:extLst>
          </p:cNvPr>
          <p:cNvCxnSpPr>
            <a:cxnSpLocks/>
          </p:cNvCxnSpPr>
          <p:nvPr/>
        </p:nvCxnSpPr>
        <p:spPr>
          <a:xfrm>
            <a:off x="773931" y="3509251"/>
            <a:ext cx="3157091" cy="0"/>
          </a:xfrm>
          <a:prstGeom prst="line">
            <a:avLst/>
          </a:prstGeom>
          <a:noFill/>
          <a:ln w="12700" cap="flat" cmpd="sng" algn="ctr">
            <a:solidFill>
              <a:schemeClr val="tx1"/>
            </a:solidFill>
            <a:prstDash val="solid"/>
            <a:miter lim="800000"/>
          </a:ln>
          <a:effectLst/>
        </p:spPr>
      </p:cxnSp>
      <p:sp>
        <p:nvSpPr>
          <p:cNvPr id="28" name="TextBox 27">
            <a:extLst>
              <a:ext uri="{FF2B5EF4-FFF2-40B4-BE49-F238E27FC236}">
                <a16:creationId xmlns:a16="http://schemas.microsoft.com/office/drawing/2014/main" id="{D84CAE17-5E8C-01CC-25C9-FA7FAB200464}"/>
              </a:ext>
            </a:extLst>
          </p:cNvPr>
          <p:cNvSpPr txBox="1"/>
          <p:nvPr/>
        </p:nvSpPr>
        <p:spPr>
          <a:xfrm>
            <a:off x="1544188" y="3563578"/>
            <a:ext cx="1662414" cy="307777"/>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rPr>
              <a:t>Underwriting</a:t>
            </a:r>
          </a:p>
        </p:txBody>
      </p:sp>
      <p:sp>
        <p:nvSpPr>
          <p:cNvPr id="29" name="TextBox 28">
            <a:extLst>
              <a:ext uri="{FF2B5EF4-FFF2-40B4-BE49-F238E27FC236}">
                <a16:creationId xmlns:a16="http://schemas.microsoft.com/office/drawing/2014/main" id="{5809024E-3D54-1C0D-CC91-97304B0B43ED}"/>
              </a:ext>
            </a:extLst>
          </p:cNvPr>
          <p:cNvSpPr txBox="1"/>
          <p:nvPr/>
        </p:nvSpPr>
        <p:spPr>
          <a:xfrm>
            <a:off x="1007448" y="3856115"/>
            <a:ext cx="2735894" cy="276999"/>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1" kern="0" noProof="1">
                <a:solidFill>
                  <a:srgbClr val="000000">
                    <a:lumMod val="65000"/>
                    <a:lumOff val="35000"/>
                  </a:srgbClr>
                </a:solidFill>
                <a:latin typeface="Aptos" panose="02110004020202020204"/>
              </a:rPr>
              <a:t>Guaranteed Acceptance</a:t>
            </a:r>
            <a:endParaRPr kumimoji="0" lang="en-US" sz="1200" b="1" i="1"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endParaRPr>
          </a:p>
        </p:txBody>
      </p:sp>
      <p:cxnSp>
        <p:nvCxnSpPr>
          <p:cNvPr id="30" name="Straight Connector 29">
            <a:extLst>
              <a:ext uri="{FF2B5EF4-FFF2-40B4-BE49-F238E27FC236}">
                <a16:creationId xmlns:a16="http://schemas.microsoft.com/office/drawing/2014/main" id="{BBB3F0A6-5162-4256-CFE0-5B0C6CD4BCD6}"/>
              </a:ext>
            </a:extLst>
          </p:cNvPr>
          <p:cNvCxnSpPr>
            <a:cxnSpLocks/>
          </p:cNvCxnSpPr>
          <p:nvPr/>
        </p:nvCxnSpPr>
        <p:spPr>
          <a:xfrm>
            <a:off x="773931" y="4210290"/>
            <a:ext cx="3157091" cy="0"/>
          </a:xfrm>
          <a:prstGeom prst="line">
            <a:avLst/>
          </a:prstGeom>
          <a:noFill/>
          <a:ln w="12700" cap="flat" cmpd="sng" algn="ctr">
            <a:solidFill>
              <a:schemeClr val="tx1"/>
            </a:solidFill>
            <a:prstDash val="solid"/>
            <a:miter lim="800000"/>
          </a:ln>
          <a:effectLst/>
        </p:spPr>
      </p:cxnSp>
      <p:sp>
        <p:nvSpPr>
          <p:cNvPr id="31" name="TextBox 30">
            <a:extLst>
              <a:ext uri="{FF2B5EF4-FFF2-40B4-BE49-F238E27FC236}">
                <a16:creationId xmlns:a16="http://schemas.microsoft.com/office/drawing/2014/main" id="{A31E2FA4-BA3B-7878-BDD0-9268CB02A034}"/>
              </a:ext>
            </a:extLst>
          </p:cNvPr>
          <p:cNvSpPr txBox="1"/>
          <p:nvPr/>
        </p:nvSpPr>
        <p:spPr>
          <a:xfrm>
            <a:off x="1544188" y="4264616"/>
            <a:ext cx="1662414" cy="307777"/>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0" noProof="1">
                <a:solidFill>
                  <a:srgbClr val="000000">
                    <a:lumMod val="65000"/>
                    <a:lumOff val="35000"/>
                  </a:srgbClr>
                </a:solidFill>
                <a:latin typeface="Aptos" panose="02110004020202020204"/>
              </a:rPr>
              <a:t>Mata Uang</a:t>
            </a:r>
            <a:endParaRPr kumimoji="0" lang="en-US" sz="1400" b="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endParaRPr>
          </a:p>
        </p:txBody>
      </p:sp>
      <p:sp>
        <p:nvSpPr>
          <p:cNvPr id="32" name="TextBox 31">
            <a:extLst>
              <a:ext uri="{FF2B5EF4-FFF2-40B4-BE49-F238E27FC236}">
                <a16:creationId xmlns:a16="http://schemas.microsoft.com/office/drawing/2014/main" id="{4428D1D0-DB80-4E1B-D7EA-E4ED53DD530C}"/>
              </a:ext>
            </a:extLst>
          </p:cNvPr>
          <p:cNvSpPr txBox="1"/>
          <p:nvPr/>
        </p:nvSpPr>
        <p:spPr>
          <a:xfrm>
            <a:off x="1007448" y="4557153"/>
            <a:ext cx="2735894" cy="276999"/>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noProof="1">
                <a:solidFill>
                  <a:srgbClr val="000000">
                    <a:lumMod val="65000"/>
                    <a:lumOff val="35000"/>
                  </a:srgbClr>
                </a:solidFill>
                <a:latin typeface="Aptos" panose="02110004020202020204"/>
              </a:rPr>
              <a:t>IDR &amp; USD</a:t>
            </a:r>
            <a:endParaRPr kumimoji="0" lang="en-US" sz="1200" b="1"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endParaRPr>
          </a:p>
        </p:txBody>
      </p:sp>
      <p:cxnSp>
        <p:nvCxnSpPr>
          <p:cNvPr id="33" name="Straight Connector 32">
            <a:extLst>
              <a:ext uri="{FF2B5EF4-FFF2-40B4-BE49-F238E27FC236}">
                <a16:creationId xmlns:a16="http://schemas.microsoft.com/office/drawing/2014/main" id="{3D4085E7-1E0B-7CEE-38B3-8266A7D6FF0B}"/>
              </a:ext>
            </a:extLst>
          </p:cNvPr>
          <p:cNvCxnSpPr>
            <a:cxnSpLocks/>
          </p:cNvCxnSpPr>
          <p:nvPr/>
        </p:nvCxnSpPr>
        <p:spPr>
          <a:xfrm>
            <a:off x="773931" y="4911328"/>
            <a:ext cx="3157091" cy="0"/>
          </a:xfrm>
          <a:prstGeom prst="line">
            <a:avLst/>
          </a:prstGeom>
          <a:noFill/>
          <a:ln w="12700" cap="flat" cmpd="sng" algn="ctr">
            <a:solidFill>
              <a:schemeClr val="tx1"/>
            </a:solidFill>
            <a:prstDash val="solid"/>
            <a:miter lim="800000"/>
          </a:ln>
          <a:effectLst/>
        </p:spPr>
      </p:cxnSp>
      <p:sp>
        <p:nvSpPr>
          <p:cNvPr id="34" name="TextBox 33">
            <a:extLst>
              <a:ext uri="{FF2B5EF4-FFF2-40B4-BE49-F238E27FC236}">
                <a16:creationId xmlns:a16="http://schemas.microsoft.com/office/drawing/2014/main" id="{276EA473-E98A-64BB-8E13-F86A5FAF35D4}"/>
              </a:ext>
            </a:extLst>
          </p:cNvPr>
          <p:cNvSpPr txBox="1"/>
          <p:nvPr/>
        </p:nvSpPr>
        <p:spPr>
          <a:xfrm>
            <a:off x="1069919" y="4965652"/>
            <a:ext cx="2610952" cy="307777"/>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0" noProof="1">
                <a:solidFill>
                  <a:srgbClr val="000000">
                    <a:lumMod val="65000"/>
                    <a:lumOff val="35000"/>
                  </a:srgbClr>
                </a:solidFill>
                <a:latin typeface="Aptos" panose="02110004020202020204"/>
              </a:rPr>
              <a:t>Masa Pembayaran Premi</a:t>
            </a:r>
            <a:endParaRPr kumimoji="0" lang="en-US" sz="1400" b="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endParaRPr>
          </a:p>
        </p:txBody>
      </p:sp>
      <p:sp>
        <p:nvSpPr>
          <p:cNvPr id="35" name="TextBox 34">
            <a:extLst>
              <a:ext uri="{FF2B5EF4-FFF2-40B4-BE49-F238E27FC236}">
                <a16:creationId xmlns:a16="http://schemas.microsoft.com/office/drawing/2014/main" id="{F0A39943-6885-C35A-EFDC-1415A47B87CF}"/>
              </a:ext>
            </a:extLst>
          </p:cNvPr>
          <p:cNvSpPr txBox="1"/>
          <p:nvPr/>
        </p:nvSpPr>
        <p:spPr>
          <a:xfrm>
            <a:off x="1007448" y="5258190"/>
            <a:ext cx="2735894" cy="276999"/>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noProof="1">
                <a:solidFill>
                  <a:srgbClr val="000000">
                    <a:lumMod val="65000"/>
                    <a:lumOff val="35000"/>
                  </a:srgbClr>
                </a:solidFill>
                <a:latin typeface="Aptos" panose="02110004020202020204"/>
              </a:rPr>
              <a:t>5 &amp; 10 tahun</a:t>
            </a:r>
            <a:endParaRPr kumimoji="0" lang="en-US" sz="1200" b="1"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endParaRPr>
          </a:p>
        </p:txBody>
      </p:sp>
      <p:cxnSp>
        <p:nvCxnSpPr>
          <p:cNvPr id="37" name="Straight Connector 36">
            <a:extLst>
              <a:ext uri="{FF2B5EF4-FFF2-40B4-BE49-F238E27FC236}">
                <a16:creationId xmlns:a16="http://schemas.microsoft.com/office/drawing/2014/main" id="{F4DE6139-CA4C-DD73-9A9F-D3488E1B7B72}"/>
              </a:ext>
            </a:extLst>
          </p:cNvPr>
          <p:cNvCxnSpPr>
            <a:cxnSpLocks/>
          </p:cNvCxnSpPr>
          <p:nvPr/>
        </p:nvCxnSpPr>
        <p:spPr>
          <a:xfrm>
            <a:off x="773931" y="5612365"/>
            <a:ext cx="3157091" cy="0"/>
          </a:xfrm>
          <a:prstGeom prst="line">
            <a:avLst/>
          </a:prstGeom>
          <a:noFill/>
          <a:ln w="12700" cap="flat" cmpd="sng" algn="ctr">
            <a:solidFill>
              <a:schemeClr val="tx1"/>
            </a:solidFill>
            <a:prstDash val="solid"/>
            <a:miter lim="800000"/>
          </a:ln>
          <a:effectLst/>
        </p:spPr>
      </p:cxnSp>
      <p:sp>
        <p:nvSpPr>
          <p:cNvPr id="42" name="TextBox 41">
            <a:extLst>
              <a:ext uri="{FF2B5EF4-FFF2-40B4-BE49-F238E27FC236}">
                <a16:creationId xmlns:a16="http://schemas.microsoft.com/office/drawing/2014/main" id="{8572CC61-40BA-4872-AAED-8DA7610998CA}"/>
              </a:ext>
            </a:extLst>
          </p:cNvPr>
          <p:cNvSpPr txBox="1"/>
          <p:nvPr/>
        </p:nvSpPr>
        <p:spPr>
          <a:xfrm>
            <a:off x="1069919" y="5692835"/>
            <a:ext cx="2610952" cy="307777"/>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0" noProof="1">
                <a:solidFill>
                  <a:srgbClr val="000000">
                    <a:lumMod val="65000"/>
                    <a:lumOff val="35000"/>
                  </a:srgbClr>
                </a:solidFill>
                <a:latin typeface="Aptos" panose="02110004020202020204"/>
              </a:rPr>
              <a:t>Frekuensi Pembayaran Premi</a:t>
            </a:r>
            <a:endParaRPr kumimoji="0" lang="en-US" sz="1400" b="0"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endParaRPr>
          </a:p>
        </p:txBody>
      </p:sp>
      <p:sp>
        <p:nvSpPr>
          <p:cNvPr id="43" name="TextBox 42">
            <a:extLst>
              <a:ext uri="{FF2B5EF4-FFF2-40B4-BE49-F238E27FC236}">
                <a16:creationId xmlns:a16="http://schemas.microsoft.com/office/drawing/2014/main" id="{5452B5FE-DF12-3A2D-4FA3-A12403834325}"/>
              </a:ext>
            </a:extLst>
          </p:cNvPr>
          <p:cNvSpPr txBox="1"/>
          <p:nvPr/>
        </p:nvSpPr>
        <p:spPr>
          <a:xfrm>
            <a:off x="832029" y="5985372"/>
            <a:ext cx="3086732" cy="276999"/>
          </a:xfrm>
          <a:prstGeom prst="rect">
            <a:avLst/>
          </a:prstGeom>
          <a:noFill/>
        </p:spPr>
        <p:txBody>
          <a:bodyPr wrap="square" lIns="0" r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1">
                <a:ln>
                  <a:noFill/>
                </a:ln>
                <a:solidFill>
                  <a:srgbClr val="000000">
                    <a:lumMod val="65000"/>
                    <a:lumOff val="35000"/>
                  </a:srgbClr>
                </a:solidFill>
                <a:effectLst/>
                <a:uLnTx/>
                <a:uFillTx/>
                <a:latin typeface="Aptos" panose="02110004020202020204"/>
                <a:ea typeface="+mn-ea"/>
                <a:cs typeface="+mn-cs"/>
              </a:rPr>
              <a:t>Tahunan/Semesteran/Kuartalan/Bulanan</a:t>
            </a:r>
          </a:p>
        </p:txBody>
      </p:sp>
      <p:sp>
        <p:nvSpPr>
          <p:cNvPr id="1028" name="Arrow: Chevron 1027">
            <a:extLst>
              <a:ext uri="{FF2B5EF4-FFF2-40B4-BE49-F238E27FC236}">
                <a16:creationId xmlns:a16="http://schemas.microsoft.com/office/drawing/2014/main" id="{862A7A81-4B67-AC8A-B78A-7AB8583AE2DF}"/>
              </a:ext>
            </a:extLst>
          </p:cNvPr>
          <p:cNvSpPr/>
          <p:nvPr/>
        </p:nvSpPr>
        <p:spPr>
          <a:xfrm>
            <a:off x="4802481" y="860125"/>
            <a:ext cx="2362860" cy="588936"/>
          </a:xfrm>
          <a:custGeom>
            <a:avLst/>
            <a:gdLst>
              <a:gd name="csX0" fmla="*/ 0 w 2362860"/>
              <a:gd name="csY0" fmla="*/ 0 h 588936"/>
              <a:gd name="csX1" fmla="*/ 2068392 w 2362860"/>
              <a:gd name="csY1" fmla="*/ 0 h 588936"/>
              <a:gd name="csX2" fmla="*/ 2362860 w 2362860"/>
              <a:gd name="csY2" fmla="*/ 294468 h 588936"/>
              <a:gd name="csX3" fmla="*/ 2068392 w 2362860"/>
              <a:gd name="csY3" fmla="*/ 588936 h 588936"/>
              <a:gd name="csX4" fmla="*/ 0 w 2362860"/>
              <a:gd name="csY4" fmla="*/ 588936 h 588936"/>
              <a:gd name="csX5" fmla="*/ 294468 w 2362860"/>
              <a:gd name="csY5" fmla="*/ 294468 h 588936"/>
              <a:gd name="csX6" fmla="*/ 0 w 2362860"/>
              <a:gd name="csY6" fmla="*/ 0 h 588936"/>
              <a:gd name="csX0" fmla="*/ 0 w 2362860"/>
              <a:gd name="csY0" fmla="*/ 0 h 588936"/>
              <a:gd name="csX1" fmla="*/ 2068392 w 2362860"/>
              <a:gd name="csY1" fmla="*/ 0 h 588936"/>
              <a:gd name="csX2" fmla="*/ 2362860 w 2362860"/>
              <a:gd name="csY2" fmla="*/ 294468 h 588936"/>
              <a:gd name="csX3" fmla="*/ 2068392 w 2362860"/>
              <a:gd name="csY3" fmla="*/ 588936 h 588936"/>
              <a:gd name="csX4" fmla="*/ 0 w 2362860"/>
              <a:gd name="csY4" fmla="*/ 588936 h 588936"/>
              <a:gd name="csX5" fmla="*/ 4908 w 2362860"/>
              <a:gd name="csY5" fmla="*/ 294468 h 588936"/>
              <a:gd name="csX6" fmla="*/ 0 w 2362860"/>
              <a:gd name="csY6" fmla="*/ 0 h 588936"/>
              <a:gd name="csX0" fmla="*/ 9909 w 2372769"/>
              <a:gd name="csY0" fmla="*/ 0 h 588936"/>
              <a:gd name="csX1" fmla="*/ 2078301 w 2372769"/>
              <a:gd name="csY1" fmla="*/ 0 h 588936"/>
              <a:gd name="csX2" fmla="*/ 2372769 w 2372769"/>
              <a:gd name="csY2" fmla="*/ 294468 h 588936"/>
              <a:gd name="csX3" fmla="*/ 2078301 w 2372769"/>
              <a:gd name="csY3" fmla="*/ 588936 h 588936"/>
              <a:gd name="csX4" fmla="*/ 9909 w 2372769"/>
              <a:gd name="csY4" fmla="*/ 588936 h 588936"/>
              <a:gd name="csX5" fmla="*/ 0 w 2372769"/>
              <a:gd name="csY5" fmla="*/ 296585 h 588936"/>
              <a:gd name="csX6" fmla="*/ 9909 w 2372769"/>
              <a:gd name="csY6" fmla="*/ 0 h 588936"/>
              <a:gd name="csX0" fmla="*/ 0 w 2362860"/>
              <a:gd name="csY0" fmla="*/ 0 h 588936"/>
              <a:gd name="csX1" fmla="*/ 2068392 w 2362860"/>
              <a:gd name="csY1" fmla="*/ 0 h 588936"/>
              <a:gd name="csX2" fmla="*/ 2362860 w 2362860"/>
              <a:gd name="csY2" fmla="*/ 294468 h 588936"/>
              <a:gd name="csX3" fmla="*/ 2068392 w 2362860"/>
              <a:gd name="csY3" fmla="*/ 588936 h 588936"/>
              <a:gd name="csX4" fmla="*/ 0 w 2362860"/>
              <a:gd name="csY4" fmla="*/ 588936 h 588936"/>
              <a:gd name="csX5" fmla="*/ 675 w 2362860"/>
              <a:gd name="csY5" fmla="*/ 296585 h 588936"/>
              <a:gd name="csX6" fmla="*/ 0 w 2362860"/>
              <a:gd name="csY6" fmla="*/ 0 h 5889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62860" h="588936">
                <a:moveTo>
                  <a:pt x="0" y="0"/>
                </a:moveTo>
                <a:lnTo>
                  <a:pt x="2068392" y="0"/>
                </a:lnTo>
                <a:lnTo>
                  <a:pt x="2362860" y="294468"/>
                </a:lnTo>
                <a:lnTo>
                  <a:pt x="2068392" y="588936"/>
                </a:lnTo>
                <a:lnTo>
                  <a:pt x="0" y="588936"/>
                </a:lnTo>
                <a:lnTo>
                  <a:pt x="675" y="296585"/>
                </a:lnTo>
                <a:lnTo>
                  <a:pt x="0" y="0"/>
                </a:ln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latin typeface="Aptos" panose="020B0004020202020204" pitchFamily="34" charset="0"/>
              </a:rPr>
              <a:t>Minimum Premi</a:t>
            </a:r>
          </a:p>
        </p:txBody>
      </p:sp>
      <p:sp>
        <p:nvSpPr>
          <p:cNvPr id="1031" name="Rectangle: Rounded Corners 1030">
            <a:extLst>
              <a:ext uri="{FF2B5EF4-FFF2-40B4-BE49-F238E27FC236}">
                <a16:creationId xmlns:a16="http://schemas.microsoft.com/office/drawing/2014/main" id="{7873FD7E-6B90-FB29-6764-C7B64ABB3FD5}"/>
              </a:ext>
            </a:extLst>
          </p:cNvPr>
          <p:cNvSpPr/>
          <p:nvPr/>
        </p:nvSpPr>
        <p:spPr>
          <a:xfrm>
            <a:off x="4954931" y="1706880"/>
            <a:ext cx="5499232" cy="1966355"/>
          </a:xfrm>
          <a:prstGeom prst="roundRect">
            <a:avLst>
              <a:gd name="adj" fmla="val 515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29" name="Table 1028">
            <a:extLst>
              <a:ext uri="{FF2B5EF4-FFF2-40B4-BE49-F238E27FC236}">
                <a16:creationId xmlns:a16="http://schemas.microsoft.com/office/drawing/2014/main" id="{802F1A1A-8F5D-3BA9-18F0-FAEEBCEA1623}"/>
              </a:ext>
            </a:extLst>
          </p:cNvPr>
          <p:cNvGraphicFramePr>
            <a:graphicFrameLocks noGrp="1"/>
          </p:cNvGraphicFramePr>
          <p:nvPr>
            <p:extLst>
              <p:ext uri="{D42A27DB-BD31-4B8C-83A1-F6EECF244321}">
                <p14:modId xmlns:p14="http://schemas.microsoft.com/office/powerpoint/2010/main" val="1450787016"/>
              </p:ext>
            </p:extLst>
          </p:nvPr>
        </p:nvGraphicFramePr>
        <p:xfrm>
          <a:off x="5064930" y="1867097"/>
          <a:ext cx="5279233" cy="1645920"/>
        </p:xfrm>
        <a:graphic>
          <a:graphicData uri="http://schemas.openxmlformats.org/drawingml/2006/table">
            <a:tbl>
              <a:tblPr firstRow="1" bandRow="1">
                <a:tableStyleId>{5940675A-B579-460E-94D1-54222C63F5DA}</a:tableStyleId>
              </a:tblPr>
              <a:tblGrid>
                <a:gridCol w="1521619">
                  <a:extLst>
                    <a:ext uri="{9D8B030D-6E8A-4147-A177-3AD203B41FA5}">
                      <a16:colId xmlns:a16="http://schemas.microsoft.com/office/drawing/2014/main" val="2220352691"/>
                    </a:ext>
                  </a:extLst>
                </a:gridCol>
                <a:gridCol w="1878807">
                  <a:extLst>
                    <a:ext uri="{9D8B030D-6E8A-4147-A177-3AD203B41FA5}">
                      <a16:colId xmlns:a16="http://schemas.microsoft.com/office/drawing/2014/main" val="1784567634"/>
                    </a:ext>
                  </a:extLst>
                </a:gridCol>
                <a:gridCol w="1878807">
                  <a:extLst>
                    <a:ext uri="{9D8B030D-6E8A-4147-A177-3AD203B41FA5}">
                      <a16:colId xmlns:a16="http://schemas.microsoft.com/office/drawing/2014/main" val="3647926281"/>
                    </a:ext>
                  </a:extLst>
                </a:gridCol>
              </a:tblGrid>
              <a:tr h="213307">
                <a:tc rowSpan="2">
                  <a:txBody>
                    <a:bodyPr/>
                    <a:lstStyle/>
                    <a:p>
                      <a:pPr algn="ctr"/>
                      <a:r>
                        <a:rPr lang="en-US" sz="1200" err="1">
                          <a:latin typeface="Aptos" panose="020B0004020202020204" pitchFamily="34" charset="0"/>
                        </a:rPr>
                        <a:t>Frekuensi</a:t>
                      </a:r>
                      <a:r>
                        <a:rPr lang="en-US" sz="1200">
                          <a:latin typeface="Aptos" panose="020B0004020202020204" pitchFamily="34" charset="0"/>
                        </a:rPr>
                        <a:t> </a:t>
                      </a:r>
                      <a:r>
                        <a:rPr lang="en-US" sz="1200" err="1">
                          <a:latin typeface="Aptos" panose="020B0004020202020204" pitchFamily="34" charset="0"/>
                        </a:rPr>
                        <a:t>Pembayaran</a:t>
                      </a:r>
                      <a:r>
                        <a:rPr lang="en-US" sz="1200">
                          <a:latin typeface="Aptos" panose="020B0004020202020204" pitchFamily="34" charset="0"/>
                        </a:rPr>
                        <a:t> Premi</a:t>
                      </a:r>
                    </a:p>
                  </a:txBody>
                  <a:tcPr anchor="ctr"/>
                </a:tc>
                <a:tc gridSpan="2">
                  <a:txBody>
                    <a:bodyPr/>
                    <a:lstStyle/>
                    <a:p>
                      <a:pPr algn="ctr"/>
                      <a:r>
                        <a:rPr lang="en-US" sz="1200">
                          <a:latin typeface="Aptos" panose="020B0004020202020204" pitchFamily="34" charset="0"/>
                        </a:rPr>
                        <a:t>Masa </a:t>
                      </a:r>
                      <a:r>
                        <a:rPr lang="en-US" sz="1200" err="1">
                          <a:latin typeface="Aptos" panose="020B0004020202020204" pitchFamily="34" charset="0"/>
                        </a:rPr>
                        <a:t>Pembayaran</a:t>
                      </a:r>
                      <a:r>
                        <a:rPr lang="en-US" sz="1200">
                          <a:latin typeface="Aptos" panose="020B0004020202020204" pitchFamily="34" charset="0"/>
                        </a:rPr>
                        <a:t> Premi</a:t>
                      </a:r>
                    </a:p>
                  </a:txBody>
                  <a:tcPr anchor="ctr"/>
                </a:tc>
                <a:tc hMerge="1">
                  <a:txBody>
                    <a:bodyPr/>
                    <a:lstStyle/>
                    <a:p>
                      <a:endParaRPr lang="en-US" sz="1200">
                        <a:latin typeface="Aptos" panose="020B0004020202020204" pitchFamily="34" charset="0"/>
                      </a:endParaRPr>
                    </a:p>
                  </a:txBody>
                  <a:tcPr/>
                </a:tc>
                <a:extLst>
                  <a:ext uri="{0D108BD9-81ED-4DB2-BD59-A6C34878D82A}">
                    <a16:rowId xmlns:a16="http://schemas.microsoft.com/office/drawing/2014/main" val="162919497"/>
                  </a:ext>
                </a:extLst>
              </a:tr>
              <a:tr h="213307">
                <a:tc vMerge="1">
                  <a:txBody>
                    <a:bodyPr/>
                    <a:lstStyle/>
                    <a:p>
                      <a:endParaRPr lang="en-US" sz="1200">
                        <a:latin typeface="Aptos" panose="020B0004020202020204" pitchFamily="34" charset="0"/>
                      </a:endParaRPr>
                    </a:p>
                  </a:txBody>
                  <a:tcPr/>
                </a:tc>
                <a:tc>
                  <a:txBody>
                    <a:bodyPr/>
                    <a:lstStyle/>
                    <a:p>
                      <a:pPr algn="ctr"/>
                      <a:r>
                        <a:rPr lang="en-US" sz="1200" dirty="0">
                          <a:latin typeface="Aptos" panose="020B0004020202020204" pitchFamily="34" charset="0"/>
                        </a:rPr>
                        <a:t>5 </a:t>
                      </a:r>
                      <a:r>
                        <a:rPr lang="en-US" sz="1200" dirty="0" err="1">
                          <a:latin typeface="Aptos" panose="020B0004020202020204" pitchFamily="34" charset="0"/>
                        </a:rPr>
                        <a:t>tahun</a:t>
                      </a:r>
                      <a:endParaRPr lang="en-US" sz="1200" dirty="0">
                        <a:latin typeface="Aptos" panose="020B0004020202020204" pitchFamily="34" charset="0"/>
                      </a:endParaRPr>
                    </a:p>
                  </a:txBody>
                  <a:tcPr/>
                </a:tc>
                <a:tc>
                  <a:txBody>
                    <a:bodyPr/>
                    <a:lstStyle/>
                    <a:p>
                      <a:pPr algn="ctr"/>
                      <a:r>
                        <a:rPr lang="en-US" sz="1200">
                          <a:latin typeface="Aptos" panose="020B0004020202020204" pitchFamily="34" charset="0"/>
                        </a:rPr>
                        <a:t>10 </a:t>
                      </a:r>
                      <a:r>
                        <a:rPr lang="en-US" sz="1200" err="1">
                          <a:latin typeface="Aptos" panose="020B0004020202020204" pitchFamily="34" charset="0"/>
                        </a:rPr>
                        <a:t>tahun</a:t>
                      </a:r>
                      <a:endParaRPr lang="en-US" sz="1200">
                        <a:latin typeface="Aptos" panose="020B0004020202020204" pitchFamily="34" charset="0"/>
                      </a:endParaRPr>
                    </a:p>
                  </a:txBody>
                  <a:tcPr/>
                </a:tc>
                <a:extLst>
                  <a:ext uri="{0D108BD9-81ED-4DB2-BD59-A6C34878D82A}">
                    <a16:rowId xmlns:a16="http://schemas.microsoft.com/office/drawing/2014/main" val="3440979518"/>
                  </a:ext>
                </a:extLst>
              </a:tr>
              <a:tr h="213307">
                <a:tc>
                  <a:txBody>
                    <a:bodyPr/>
                    <a:lstStyle/>
                    <a:p>
                      <a:pPr algn="ctr"/>
                      <a:r>
                        <a:rPr lang="en-US" sz="1200" err="1">
                          <a:latin typeface="Aptos" panose="020B0004020202020204" pitchFamily="34" charset="0"/>
                        </a:rPr>
                        <a:t>Tahunan</a:t>
                      </a:r>
                      <a:endParaRPr lang="en-US" sz="1200">
                        <a:latin typeface="Aptos" panose="020B0004020202020204" pitchFamily="34" charset="0"/>
                      </a:endParaRPr>
                    </a:p>
                  </a:txBody>
                  <a:tcPr/>
                </a:tc>
                <a:tc>
                  <a:txBody>
                    <a:bodyPr/>
                    <a:lstStyle/>
                    <a:p>
                      <a:pPr marL="0" marR="48895" algn="ctr">
                        <a:lnSpc>
                          <a:spcPct val="115000"/>
                        </a:lnSpc>
                        <a:spcAft>
                          <a:spcPts val="800"/>
                        </a:spcAft>
                        <a:buNone/>
                      </a:pPr>
                      <a:r>
                        <a:rPr lang="id-ID" sz="1100" kern="0" dirty="0">
                          <a:effectLst/>
                          <a:latin typeface="Aptos" panose="020B0004020202020204" pitchFamily="34" charset="0"/>
                          <a:ea typeface="Aptos" panose="020B0004020202020204" pitchFamily="34" charset="0"/>
                          <a:cs typeface="Arial" panose="020B0604020202020204" pitchFamily="34" charset="0"/>
                        </a:rPr>
                        <a:t>Rp50.000.000/US$5.000</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Rp25.000.000/US$2.500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44740887"/>
                  </a:ext>
                </a:extLst>
              </a:tr>
              <a:tr h="213307">
                <a:tc>
                  <a:txBody>
                    <a:bodyPr/>
                    <a:lstStyle/>
                    <a:p>
                      <a:pPr algn="ctr"/>
                      <a:r>
                        <a:rPr lang="en-US" sz="1200">
                          <a:latin typeface="Aptos" panose="020B0004020202020204" pitchFamily="34" charset="0"/>
                        </a:rPr>
                        <a:t>Semesteran</a:t>
                      </a:r>
                    </a:p>
                  </a:txBody>
                  <a:tcP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Rp25.000.000/US$2.500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Rp12.500.000/US$1.250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10286831"/>
                  </a:ext>
                </a:extLst>
              </a:tr>
              <a:tr h="213307">
                <a:tc>
                  <a:txBody>
                    <a:bodyPr/>
                    <a:lstStyle/>
                    <a:p>
                      <a:pPr algn="ctr"/>
                      <a:r>
                        <a:rPr lang="en-US" sz="1200" err="1">
                          <a:latin typeface="Aptos" panose="020B0004020202020204" pitchFamily="34" charset="0"/>
                        </a:rPr>
                        <a:t>Kuartalan</a:t>
                      </a:r>
                      <a:endParaRPr lang="en-US" sz="1200">
                        <a:latin typeface="Aptos" panose="020B0004020202020204" pitchFamily="34" charset="0"/>
                      </a:endParaRPr>
                    </a:p>
                  </a:txBody>
                  <a:tcP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Rp12.500.000/US$1.250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Rp6.250.000/US$625</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85005302"/>
                  </a:ext>
                </a:extLst>
              </a:tr>
              <a:tr h="213307">
                <a:tc>
                  <a:txBody>
                    <a:bodyPr/>
                    <a:lstStyle/>
                    <a:p>
                      <a:pPr algn="ctr"/>
                      <a:r>
                        <a:rPr lang="en-US" sz="1200" dirty="0" err="1">
                          <a:latin typeface="Aptos" panose="020B0004020202020204" pitchFamily="34" charset="0"/>
                        </a:rPr>
                        <a:t>Bulanan</a:t>
                      </a:r>
                      <a:endParaRPr lang="en-US" sz="1200" dirty="0">
                        <a:latin typeface="Aptos" panose="020B0004020202020204" pitchFamily="34" charset="0"/>
                      </a:endParaRPr>
                    </a:p>
                  </a:txBody>
                  <a:tcPr/>
                </a:tc>
                <a:tc>
                  <a:txBody>
                    <a:bodyPr/>
                    <a:lstStyle/>
                    <a:p>
                      <a:pPr marL="0" marR="48895" algn="ctr">
                        <a:lnSpc>
                          <a:spcPct val="115000"/>
                        </a:lnSpc>
                        <a:spcAft>
                          <a:spcPts val="800"/>
                        </a:spcAft>
                        <a:buNone/>
                      </a:pPr>
                      <a:r>
                        <a:rPr lang="id-ID" sz="1100" kern="0" dirty="0">
                          <a:effectLst/>
                          <a:latin typeface="Aptos" panose="020B0004020202020204" pitchFamily="34" charset="0"/>
                          <a:ea typeface="Aptos" panose="020B0004020202020204" pitchFamily="34" charset="0"/>
                          <a:cs typeface="Arial" panose="020B0604020202020204" pitchFamily="34" charset="0"/>
                        </a:rPr>
                        <a:t>Rp4.500.000/US$450</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dirty="0">
                          <a:effectLst/>
                          <a:latin typeface="Aptos" panose="020B0004020202020204" pitchFamily="34" charset="0"/>
                          <a:ea typeface="Aptos" panose="020B0004020202020204" pitchFamily="34" charset="0"/>
                          <a:cs typeface="Arial" panose="020B0604020202020204" pitchFamily="34" charset="0"/>
                        </a:rPr>
                        <a:t>Rp2.500.000/US$250</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94086095"/>
                  </a:ext>
                </a:extLst>
              </a:tr>
            </a:tbl>
          </a:graphicData>
        </a:graphic>
      </p:graphicFrame>
      <p:sp>
        <p:nvSpPr>
          <p:cNvPr id="1035" name="Rectangle 1034">
            <a:extLst>
              <a:ext uri="{FF2B5EF4-FFF2-40B4-BE49-F238E27FC236}">
                <a16:creationId xmlns:a16="http://schemas.microsoft.com/office/drawing/2014/main" id="{93C79882-0D8F-FE50-694B-46BB2D228961}"/>
              </a:ext>
            </a:extLst>
          </p:cNvPr>
          <p:cNvSpPr/>
          <p:nvPr/>
        </p:nvSpPr>
        <p:spPr>
          <a:xfrm>
            <a:off x="4795628" y="4209451"/>
            <a:ext cx="6802012" cy="247328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6" name="Arrow: Chevron 1027">
            <a:extLst>
              <a:ext uri="{FF2B5EF4-FFF2-40B4-BE49-F238E27FC236}">
                <a16:creationId xmlns:a16="http://schemas.microsoft.com/office/drawing/2014/main" id="{FB200419-FDC6-5678-6E54-19615476B65D}"/>
              </a:ext>
            </a:extLst>
          </p:cNvPr>
          <p:cNvSpPr/>
          <p:nvPr/>
        </p:nvSpPr>
        <p:spPr>
          <a:xfrm>
            <a:off x="4802481" y="3944885"/>
            <a:ext cx="2362860" cy="588936"/>
          </a:xfrm>
          <a:custGeom>
            <a:avLst/>
            <a:gdLst>
              <a:gd name="csX0" fmla="*/ 0 w 2362860"/>
              <a:gd name="csY0" fmla="*/ 0 h 588936"/>
              <a:gd name="csX1" fmla="*/ 2068392 w 2362860"/>
              <a:gd name="csY1" fmla="*/ 0 h 588936"/>
              <a:gd name="csX2" fmla="*/ 2362860 w 2362860"/>
              <a:gd name="csY2" fmla="*/ 294468 h 588936"/>
              <a:gd name="csX3" fmla="*/ 2068392 w 2362860"/>
              <a:gd name="csY3" fmla="*/ 588936 h 588936"/>
              <a:gd name="csX4" fmla="*/ 0 w 2362860"/>
              <a:gd name="csY4" fmla="*/ 588936 h 588936"/>
              <a:gd name="csX5" fmla="*/ 294468 w 2362860"/>
              <a:gd name="csY5" fmla="*/ 294468 h 588936"/>
              <a:gd name="csX6" fmla="*/ 0 w 2362860"/>
              <a:gd name="csY6" fmla="*/ 0 h 588936"/>
              <a:gd name="csX0" fmla="*/ 0 w 2362860"/>
              <a:gd name="csY0" fmla="*/ 0 h 588936"/>
              <a:gd name="csX1" fmla="*/ 2068392 w 2362860"/>
              <a:gd name="csY1" fmla="*/ 0 h 588936"/>
              <a:gd name="csX2" fmla="*/ 2362860 w 2362860"/>
              <a:gd name="csY2" fmla="*/ 294468 h 588936"/>
              <a:gd name="csX3" fmla="*/ 2068392 w 2362860"/>
              <a:gd name="csY3" fmla="*/ 588936 h 588936"/>
              <a:gd name="csX4" fmla="*/ 0 w 2362860"/>
              <a:gd name="csY4" fmla="*/ 588936 h 588936"/>
              <a:gd name="csX5" fmla="*/ 4908 w 2362860"/>
              <a:gd name="csY5" fmla="*/ 294468 h 588936"/>
              <a:gd name="csX6" fmla="*/ 0 w 2362860"/>
              <a:gd name="csY6" fmla="*/ 0 h 588936"/>
              <a:gd name="csX0" fmla="*/ 9909 w 2372769"/>
              <a:gd name="csY0" fmla="*/ 0 h 588936"/>
              <a:gd name="csX1" fmla="*/ 2078301 w 2372769"/>
              <a:gd name="csY1" fmla="*/ 0 h 588936"/>
              <a:gd name="csX2" fmla="*/ 2372769 w 2372769"/>
              <a:gd name="csY2" fmla="*/ 294468 h 588936"/>
              <a:gd name="csX3" fmla="*/ 2078301 w 2372769"/>
              <a:gd name="csY3" fmla="*/ 588936 h 588936"/>
              <a:gd name="csX4" fmla="*/ 9909 w 2372769"/>
              <a:gd name="csY4" fmla="*/ 588936 h 588936"/>
              <a:gd name="csX5" fmla="*/ 0 w 2372769"/>
              <a:gd name="csY5" fmla="*/ 296585 h 588936"/>
              <a:gd name="csX6" fmla="*/ 9909 w 2372769"/>
              <a:gd name="csY6" fmla="*/ 0 h 588936"/>
              <a:gd name="csX0" fmla="*/ 0 w 2362860"/>
              <a:gd name="csY0" fmla="*/ 0 h 588936"/>
              <a:gd name="csX1" fmla="*/ 2068392 w 2362860"/>
              <a:gd name="csY1" fmla="*/ 0 h 588936"/>
              <a:gd name="csX2" fmla="*/ 2362860 w 2362860"/>
              <a:gd name="csY2" fmla="*/ 294468 h 588936"/>
              <a:gd name="csX3" fmla="*/ 2068392 w 2362860"/>
              <a:gd name="csY3" fmla="*/ 588936 h 588936"/>
              <a:gd name="csX4" fmla="*/ 0 w 2362860"/>
              <a:gd name="csY4" fmla="*/ 588936 h 588936"/>
              <a:gd name="csX5" fmla="*/ 675 w 2362860"/>
              <a:gd name="csY5" fmla="*/ 296585 h 588936"/>
              <a:gd name="csX6" fmla="*/ 0 w 2362860"/>
              <a:gd name="csY6" fmla="*/ 0 h 5889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62860" h="588936">
                <a:moveTo>
                  <a:pt x="0" y="0"/>
                </a:moveTo>
                <a:lnTo>
                  <a:pt x="2068392" y="0"/>
                </a:lnTo>
                <a:lnTo>
                  <a:pt x="2362860" y="294468"/>
                </a:lnTo>
                <a:lnTo>
                  <a:pt x="2068392" y="588936"/>
                </a:lnTo>
                <a:lnTo>
                  <a:pt x="0" y="588936"/>
                </a:lnTo>
                <a:lnTo>
                  <a:pt x="675" y="296585"/>
                </a:lnTo>
                <a:lnTo>
                  <a:pt x="0" y="0"/>
                </a:lnTo>
                <a:close/>
              </a:path>
            </a:pathLst>
          </a:cu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err="1">
                <a:solidFill>
                  <a:schemeClr val="tx1"/>
                </a:solidFill>
                <a:latin typeface="Aptos" panose="020B0004020202020204" pitchFamily="34" charset="0"/>
              </a:rPr>
              <a:t>Maksimum</a:t>
            </a:r>
            <a:r>
              <a:rPr lang="en-US" sz="1600" b="1" dirty="0">
                <a:solidFill>
                  <a:schemeClr val="tx1"/>
                </a:solidFill>
                <a:latin typeface="Aptos" panose="020B0004020202020204" pitchFamily="34" charset="0"/>
              </a:rPr>
              <a:t> Premi</a:t>
            </a:r>
          </a:p>
        </p:txBody>
      </p:sp>
      <p:sp>
        <p:nvSpPr>
          <p:cNvPr id="1037" name="Rectangle: Rounded Corners 1036">
            <a:extLst>
              <a:ext uri="{FF2B5EF4-FFF2-40B4-BE49-F238E27FC236}">
                <a16:creationId xmlns:a16="http://schemas.microsoft.com/office/drawing/2014/main" id="{3C29AFCE-F8DE-DA99-BDB2-9A16F5B2C214}"/>
              </a:ext>
            </a:extLst>
          </p:cNvPr>
          <p:cNvSpPr/>
          <p:nvPr/>
        </p:nvSpPr>
        <p:spPr>
          <a:xfrm>
            <a:off x="4954931" y="4791640"/>
            <a:ext cx="6463138" cy="1740645"/>
          </a:xfrm>
          <a:prstGeom prst="roundRect">
            <a:avLst>
              <a:gd name="adj" fmla="val 515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TextBox 1037">
            <a:extLst>
              <a:ext uri="{FF2B5EF4-FFF2-40B4-BE49-F238E27FC236}">
                <a16:creationId xmlns:a16="http://schemas.microsoft.com/office/drawing/2014/main" id="{B99E637D-13B1-B1F0-D97D-E8D16D9B2C77}"/>
              </a:ext>
            </a:extLst>
          </p:cNvPr>
          <p:cNvSpPr txBox="1"/>
          <p:nvPr/>
        </p:nvSpPr>
        <p:spPr>
          <a:xfrm>
            <a:off x="5046102" y="4834192"/>
            <a:ext cx="6239117" cy="1698094"/>
          </a:xfrm>
          <a:prstGeom prst="rect">
            <a:avLst/>
          </a:prstGeom>
          <a:noFill/>
        </p:spPr>
        <p:txBody>
          <a:bodyPr wrap="square" lIns="0" rIns="0" rtlCol="0" anchor="t">
            <a:spAutoFit/>
          </a:bodyPr>
          <a:lstStyle/>
          <a:p>
            <a:pPr marL="285750" indent="-285750">
              <a:lnSpc>
                <a:spcPct val="107000"/>
              </a:lnSpc>
              <a:buFont typeface="Arial" panose="020B0604020202020204" pitchFamily="34" charset="0"/>
              <a:buChar char="•"/>
            </a:pPr>
            <a:r>
              <a:rPr lang="en-US" sz="1400" dirty="0" err="1">
                <a:latin typeface="Aptos" panose="020B0004020202020204" pitchFamily="34" charset="0"/>
                <a:ea typeface="Calibri" panose="020F0502020204030204" pitchFamily="34" charset="0"/>
                <a:cs typeface="Times New Roman" panose="02020603050405020304" pitchFamily="18" charset="0"/>
              </a:rPr>
              <a:t>Maksimum</a:t>
            </a:r>
            <a:r>
              <a:rPr lang="en-US" sz="1400" dirty="0">
                <a:latin typeface="Aptos" panose="020B0004020202020204" pitchFamily="34" charset="0"/>
                <a:ea typeface="Calibri" panose="020F0502020204030204" pitchFamily="34" charset="0"/>
                <a:cs typeface="Times New Roman" panose="02020603050405020304" pitchFamily="18" charset="0"/>
              </a:rPr>
              <a:t> Premi per </a:t>
            </a:r>
            <a:r>
              <a:rPr lang="en-US" sz="1400" dirty="0" err="1">
                <a:latin typeface="Aptos" panose="020B0004020202020204" pitchFamily="34" charset="0"/>
                <a:ea typeface="Calibri" panose="020F0502020204030204" pitchFamily="34" charset="0"/>
                <a:cs typeface="Times New Roman" panose="02020603050405020304" pitchFamily="18" charset="0"/>
              </a:rPr>
              <a:t>Tertanggung</a:t>
            </a:r>
            <a:r>
              <a:rPr lang="en-US" sz="1400" dirty="0">
                <a:latin typeface="Aptos" panose="020B0004020202020204" pitchFamily="34" charset="0"/>
                <a:ea typeface="Calibri" panose="020F0502020204030204" pitchFamily="34" charset="0"/>
                <a:cs typeface="Times New Roman" panose="02020603050405020304" pitchFamily="18" charset="0"/>
              </a:rPr>
              <a:t>: Rp550.000.000/US$35.000 per </a:t>
            </a:r>
            <a:r>
              <a:rPr lang="en-US" sz="1400" dirty="0" err="1">
                <a:latin typeface="Aptos" panose="020B0004020202020204" pitchFamily="34" charset="0"/>
                <a:ea typeface="Calibri" panose="020F0502020204030204" pitchFamily="34" charset="0"/>
                <a:cs typeface="Times New Roman" panose="02020603050405020304" pitchFamily="18" charset="0"/>
              </a:rPr>
              <a:t>tahun</a:t>
            </a:r>
            <a:r>
              <a:rPr lang="en-US" sz="1400" dirty="0">
                <a:latin typeface="Aptos" panose="020B0004020202020204" pitchFamily="34" charset="0"/>
                <a:ea typeface="Calibri" panose="020F0502020204030204" pitchFamily="34" charset="0"/>
                <a:cs typeface="Times New Roman" panose="02020603050405020304" pitchFamily="18" charset="0"/>
              </a:rPr>
              <a:t>.</a:t>
            </a:r>
          </a:p>
          <a:p>
            <a:pPr marL="285750" indent="-285750">
              <a:lnSpc>
                <a:spcPct val="107000"/>
              </a:lnSpc>
              <a:buFont typeface="Arial" panose="020B0604020202020204" pitchFamily="34" charset="0"/>
              <a:buChar char="•"/>
            </a:pPr>
            <a:r>
              <a:rPr lang="en-US" sz="1400" dirty="0" err="1">
                <a:latin typeface="Aptos" panose="020B0004020202020204" pitchFamily="34" charset="0"/>
                <a:ea typeface="Calibri" panose="020F0502020204030204" pitchFamily="34" charset="0"/>
                <a:cs typeface="Times New Roman" panose="02020603050405020304" pitchFamily="18" charset="0"/>
              </a:rPr>
              <a:t>Untuk</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b="1" dirty="0" err="1">
                <a:latin typeface="Aptos" panose="020B0004020202020204" pitchFamily="34" charset="0"/>
                <a:ea typeface="Calibri" panose="020F0502020204030204" pitchFamily="34" charset="0"/>
                <a:cs typeface="Times New Roman" panose="02020603050405020304" pitchFamily="18" charset="0"/>
              </a:rPr>
              <a:t>Frekuensi</a:t>
            </a:r>
            <a:r>
              <a:rPr lang="en-US" sz="1400" b="1" dirty="0">
                <a:latin typeface="Aptos" panose="020B0004020202020204" pitchFamily="34" charset="0"/>
                <a:ea typeface="Calibri" panose="020F0502020204030204" pitchFamily="34" charset="0"/>
                <a:cs typeface="Times New Roman" panose="02020603050405020304" pitchFamily="18" charset="0"/>
              </a:rPr>
              <a:t> </a:t>
            </a:r>
            <a:r>
              <a:rPr lang="en-US" sz="1400" b="1" dirty="0" err="1">
                <a:latin typeface="Aptos" panose="020B0004020202020204" pitchFamily="34" charset="0"/>
                <a:ea typeface="Calibri" panose="020F0502020204030204" pitchFamily="34" charset="0"/>
                <a:cs typeface="Times New Roman" panose="02020603050405020304" pitchFamily="18" charset="0"/>
              </a:rPr>
              <a:t>Pembayaran</a:t>
            </a:r>
            <a:r>
              <a:rPr lang="en-US" sz="1400" b="1" dirty="0">
                <a:latin typeface="Aptos" panose="020B0004020202020204" pitchFamily="34" charset="0"/>
                <a:ea typeface="Calibri" panose="020F0502020204030204" pitchFamily="34" charset="0"/>
                <a:cs typeface="Times New Roman" panose="02020603050405020304" pitchFamily="18" charset="0"/>
              </a:rPr>
              <a:t> Premi </a:t>
            </a:r>
            <a:r>
              <a:rPr lang="en-US" sz="1400" b="1" dirty="0" err="1">
                <a:latin typeface="Aptos" panose="020B0004020202020204" pitchFamily="34" charset="0"/>
                <a:ea typeface="Calibri" panose="020F0502020204030204" pitchFamily="34" charset="0"/>
                <a:cs typeface="Times New Roman" panose="02020603050405020304" pitchFamily="18" charset="0"/>
              </a:rPr>
              <a:t>semesteran</a:t>
            </a:r>
            <a:r>
              <a:rPr lang="en-US" sz="1400" b="1" dirty="0">
                <a:latin typeface="Aptos" panose="020B0004020202020204" pitchFamily="34" charset="0"/>
                <a:ea typeface="Calibri" panose="020F0502020204030204" pitchFamily="34" charset="0"/>
                <a:cs typeface="Times New Roman" panose="02020603050405020304" pitchFamily="18" charset="0"/>
              </a:rPr>
              <a:t> dan </a:t>
            </a:r>
            <a:r>
              <a:rPr lang="en-US" sz="1400" b="1" dirty="0" err="1">
                <a:latin typeface="Aptos" panose="020B0004020202020204" pitchFamily="34" charset="0"/>
                <a:ea typeface="Calibri" panose="020F0502020204030204" pitchFamily="34" charset="0"/>
                <a:cs typeface="Times New Roman" panose="02020603050405020304" pitchFamily="18" charset="0"/>
              </a:rPr>
              <a:t>kuartalan</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dirty="0" err="1">
                <a:latin typeface="Aptos" panose="020B0004020202020204" pitchFamily="34" charset="0"/>
                <a:ea typeface="Calibri" panose="020F0502020204030204" pitchFamily="34" charset="0"/>
                <a:cs typeface="Times New Roman" panose="02020603050405020304" pitchFamily="18" charset="0"/>
              </a:rPr>
              <a:t>tetap</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dirty="0" err="1">
                <a:latin typeface="Aptos" panose="020B0004020202020204" pitchFamily="34" charset="0"/>
                <a:ea typeface="Calibri" panose="020F0502020204030204" pitchFamily="34" charset="0"/>
                <a:cs typeface="Times New Roman" panose="02020603050405020304" pitchFamily="18" charset="0"/>
              </a:rPr>
              <a:t>mengacu</a:t>
            </a:r>
            <a:r>
              <a:rPr lang="en-US" sz="1400" dirty="0">
                <a:latin typeface="Aptos" panose="020B0004020202020204" pitchFamily="34" charset="0"/>
                <a:ea typeface="Calibri" panose="020F0502020204030204" pitchFamily="34" charset="0"/>
                <a:cs typeface="Times New Roman" panose="02020603050405020304" pitchFamily="18" charset="0"/>
              </a:rPr>
              <a:t> pada </a:t>
            </a:r>
            <a:r>
              <a:rPr lang="en-US" sz="1400" dirty="0" err="1">
                <a:latin typeface="Aptos" panose="020B0004020202020204" pitchFamily="34" charset="0"/>
                <a:ea typeface="Calibri" panose="020F0502020204030204" pitchFamily="34" charset="0"/>
                <a:cs typeface="Times New Roman" panose="02020603050405020304" pitchFamily="18" charset="0"/>
              </a:rPr>
              <a:t>maksimum</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dirty="0" err="1">
                <a:latin typeface="Aptos" panose="020B0004020202020204" pitchFamily="34" charset="0"/>
                <a:ea typeface="Calibri" panose="020F0502020204030204" pitchFamily="34" charset="0"/>
                <a:cs typeface="Times New Roman" panose="02020603050405020304" pitchFamily="18" charset="0"/>
              </a:rPr>
              <a:t>premi</a:t>
            </a:r>
            <a:r>
              <a:rPr lang="en-US" sz="1400" dirty="0">
                <a:latin typeface="Aptos" panose="020B0004020202020204" pitchFamily="34" charset="0"/>
                <a:ea typeface="Calibri" panose="020F0502020204030204" pitchFamily="34" charset="0"/>
                <a:cs typeface="Times New Roman" panose="02020603050405020304" pitchFamily="18" charset="0"/>
              </a:rPr>
              <a:t> per </a:t>
            </a:r>
            <a:r>
              <a:rPr lang="en-US" sz="1400" dirty="0" err="1">
                <a:latin typeface="Aptos" panose="020B0004020202020204" pitchFamily="34" charset="0"/>
                <a:ea typeface="Calibri" panose="020F0502020204030204" pitchFamily="34" charset="0"/>
                <a:cs typeface="Times New Roman" panose="02020603050405020304" pitchFamily="18" charset="0"/>
              </a:rPr>
              <a:t>tahun</a:t>
            </a:r>
            <a:r>
              <a:rPr lang="en-US" sz="1400" dirty="0">
                <a:latin typeface="Aptos" panose="020B0004020202020204" pitchFamily="34" charset="0"/>
                <a:ea typeface="Calibri" panose="020F0502020204030204" pitchFamily="34" charset="0"/>
                <a:cs typeface="Times New Roman" panose="02020603050405020304" pitchFamily="18" charset="0"/>
              </a:rPr>
              <a:t>. </a:t>
            </a:r>
            <a:br>
              <a:rPr lang="en-US" sz="1400" dirty="0">
                <a:latin typeface="Aptos" panose="020B0004020202020204" pitchFamily="34" charset="0"/>
                <a:ea typeface="Calibri" panose="020F0502020204030204" pitchFamily="34" charset="0"/>
                <a:cs typeface="Times New Roman" panose="02020603050405020304" pitchFamily="18" charset="0"/>
              </a:rPr>
            </a:br>
            <a:r>
              <a:rPr lang="en-US" sz="1400" dirty="0" err="1">
                <a:latin typeface="Aptos" panose="020B0004020202020204" pitchFamily="34" charset="0"/>
                <a:ea typeface="Calibri" panose="020F0502020204030204" pitchFamily="34" charset="0"/>
                <a:cs typeface="Times New Roman" panose="02020603050405020304" pitchFamily="18" charset="0"/>
              </a:rPr>
              <a:t>Contoh</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dirty="0" err="1">
                <a:latin typeface="Aptos" panose="020B0004020202020204" pitchFamily="34" charset="0"/>
                <a:ea typeface="Calibri" panose="020F0502020204030204" pitchFamily="34" charset="0"/>
                <a:cs typeface="Times New Roman" panose="02020603050405020304" pitchFamily="18" charset="0"/>
              </a:rPr>
              <a:t>maksimum</a:t>
            </a:r>
            <a:r>
              <a:rPr lang="en-US" sz="1400" dirty="0">
                <a:latin typeface="Aptos" panose="020B0004020202020204" pitchFamily="34" charset="0"/>
                <a:ea typeface="Calibri" panose="020F0502020204030204" pitchFamily="34" charset="0"/>
                <a:cs typeface="Times New Roman" panose="02020603050405020304" pitchFamily="18" charset="0"/>
              </a:rPr>
              <a:t> Premi </a:t>
            </a:r>
            <a:r>
              <a:rPr lang="en-US" sz="1400" dirty="0" err="1">
                <a:latin typeface="Aptos" panose="020B0004020202020204" pitchFamily="34" charset="0"/>
                <a:ea typeface="Calibri" panose="020F0502020204030204" pitchFamily="34" charset="0"/>
                <a:cs typeface="Times New Roman" panose="02020603050405020304" pitchFamily="18" charset="0"/>
              </a:rPr>
              <a:t>semesteran</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dirty="0" err="1">
                <a:latin typeface="Aptos" panose="020B0004020202020204" pitchFamily="34" charset="0"/>
                <a:ea typeface="Calibri" panose="020F0502020204030204" pitchFamily="34" charset="0"/>
                <a:cs typeface="Times New Roman" panose="02020603050405020304" pitchFamily="18" charset="0"/>
              </a:rPr>
              <a:t>untuk</a:t>
            </a:r>
            <a:r>
              <a:rPr lang="en-US" sz="1400" dirty="0">
                <a:latin typeface="Aptos" panose="020B0004020202020204" pitchFamily="34" charset="0"/>
                <a:ea typeface="Calibri" panose="020F0502020204030204" pitchFamily="34" charset="0"/>
                <a:cs typeface="Times New Roman" panose="02020603050405020304" pitchFamily="18" charset="0"/>
              </a:rPr>
              <a:t> MPP 5 </a:t>
            </a:r>
            <a:r>
              <a:rPr lang="en-US" sz="1400" dirty="0" err="1">
                <a:latin typeface="Aptos" panose="020B0004020202020204" pitchFamily="34" charset="0"/>
                <a:ea typeface="Calibri" panose="020F0502020204030204" pitchFamily="34" charset="0"/>
                <a:cs typeface="Times New Roman" panose="02020603050405020304" pitchFamily="18" charset="0"/>
              </a:rPr>
              <a:t>tahun</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dirty="0" err="1">
                <a:latin typeface="Aptos" panose="020B0004020202020204" pitchFamily="34" charset="0"/>
                <a:ea typeface="Calibri" panose="020F0502020204030204" pitchFamily="34" charset="0"/>
                <a:cs typeface="Times New Roman" panose="02020603050405020304" pitchFamily="18" charset="0"/>
              </a:rPr>
              <a:t>adalah</a:t>
            </a:r>
            <a:r>
              <a:rPr lang="en-US" sz="1400" dirty="0">
                <a:latin typeface="Aptos" panose="020B0004020202020204" pitchFamily="34" charset="0"/>
                <a:ea typeface="Calibri" panose="020F0502020204030204" pitchFamily="34" charset="0"/>
                <a:cs typeface="Times New Roman" panose="02020603050405020304" pitchFamily="18" charset="0"/>
              </a:rPr>
              <a:t> Rp550.000.000/2 = Rp275.000.000.</a:t>
            </a:r>
          </a:p>
          <a:p>
            <a:pPr marL="285750" indent="-285750">
              <a:lnSpc>
                <a:spcPct val="107000"/>
              </a:lnSpc>
              <a:buFont typeface="Arial" panose="020B0604020202020204" pitchFamily="34" charset="0"/>
              <a:buChar char="•"/>
            </a:pPr>
            <a:r>
              <a:rPr lang="en-US" sz="1400" dirty="0" err="1">
                <a:latin typeface="Aptos" panose="020B0004020202020204" pitchFamily="34" charset="0"/>
                <a:ea typeface="Calibri" panose="020F0502020204030204" pitchFamily="34" charset="0"/>
                <a:cs typeface="Times New Roman" panose="02020603050405020304" pitchFamily="18" charset="0"/>
              </a:rPr>
              <a:t>Untuk</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b="1" dirty="0" err="1">
                <a:latin typeface="Aptos" panose="020B0004020202020204" pitchFamily="34" charset="0"/>
                <a:ea typeface="Calibri" panose="020F0502020204030204" pitchFamily="34" charset="0"/>
                <a:cs typeface="Times New Roman" panose="02020603050405020304" pitchFamily="18" charset="0"/>
              </a:rPr>
              <a:t>Frekuensi</a:t>
            </a:r>
            <a:r>
              <a:rPr lang="en-US" sz="1400" b="1" dirty="0">
                <a:latin typeface="Aptos" panose="020B0004020202020204" pitchFamily="34" charset="0"/>
                <a:ea typeface="Calibri" panose="020F0502020204030204" pitchFamily="34" charset="0"/>
                <a:cs typeface="Times New Roman" panose="02020603050405020304" pitchFamily="18" charset="0"/>
              </a:rPr>
              <a:t> </a:t>
            </a:r>
            <a:r>
              <a:rPr lang="en-US" sz="1400" b="1" dirty="0" err="1">
                <a:latin typeface="Aptos" panose="020B0004020202020204" pitchFamily="34" charset="0"/>
                <a:ea typeface="Calibri" panose="020F0502020204030204" pitchFamily="34" charset="0"/>
                <a:cs typeface="Times New Roman" panose="02020603050405020304" pitchFamily="18" charset="0"/>
              </a:rPr>
              <a:t>Pembayaran</a:t>
            </a:r>
            <a:r>
              <a:rPr lang="en-US" sz="1400" b="1" dirty="0">
                <a:latin typeface="Aptos" panose="020B0004020202020204" pitchFamily="34" charset="0"/>
                <a:ea typeface="Calibri" panose="020F0502020204030204" pitchFamily="34" charset="0"/>
                <a:cs typeface="Times New Roman" panose="02020603050405020304" pitchFamily="18" charset="0"/>
              </a:rPr>
              <a:t> Premi </a:t>
            </a:r>
            <a:r>
              <a:rPr lang="en-US" sz="1400" b="1" dirty="0" err="1">
                <a:latin typeface="Aptos" panose="020B0004020202020204" pitchFamily="34" charset="0"/>
                <a:ea typeface="Calibri" panose="020F0502020204030204" pitchFamily="34" charset="0"/>
                <a:cs typeface="Times New Roman" panose="02020603050405020304" pitchFamily="18" charset="0"/>
              </a:rPr>
              <a:t>bulanan</a:t>
            </a:r>
            <a:r>
              <a:rPr lang="en-US" sz="1400" dirty="0">
                <a:latin typeface="Aptos" panose="020B0004020202020204" pitchFamily="34" charset="0"/>
                <a:ea typeface="Calibri" panose="020F0502020204030204" pitchFamily="34" charset="0"/>
                <a:cs typeface="Times New Roman" panose="02020603050405020304" pitchFamily="18" charset="0"/>
              </a:rPr>
              <a:t>, </a:t>
            </a:r>
            <a:r>
              <a:rPr lang="en-US" sz="1400" dirty="0" err="1">
                <a:latin typeface="Aptos" panose="020B0004020202020204" pitchFamily="34" charset="0"/>
                <a:ea typeface="Calibri" panose="020F0502020204030204" pitchFamily="34" charset="0"/>
                <a:cs typeface="Times New Roman" panose="02020603050405020304" pitchFamily="18" charset="0"/>
              </a:rPr>
              <a:t>maksimum</a:t>
            </a:r>
            <a:r>
              <a:rPr lang="en-US" sz="1400" dirty="0">
                <a:latin typeface="Aptos" panose="020B0004020202020204" pitchFamily="34" charset="0"/>
                <a:ea typeface="Calibri" panose="020F0502020204030204" pitchFamily="34" charset="0"/>
                <a:cs typeface="Times New Roman" panose="02020603050405020304" pitchFamily="18" charset="0"/>
              </a:rPr>
              <a:t> Premi per </a:t>
            </a:r>
            <a:r>
              <a:rPr lang="en-US" sz="1400" dirty="0" err="1">
                <a:latin typeface="Aptos" panose="020B0004020202020204" pitchFamily="34" charset="0"/>
                <a:ea typeface="Calibri" panose="020F0502020204030204" pitchFamily="34" charset="0"/>
                <a:cs typeface="Times New Roman" panose="02020603050405020304" pitchFamily="18" charset="0"/>
              </a:rPr>
              <a:t>Tertanggung</a:t>
            </a:r>
            <a:r>
              <a:rPr lang="en-US" sz="1400" dirty="0">
                <a:latin typeface="Aptos" panose="020B0004020202020204" pitchFamily="34" charset="0"/>
                <a:ea typeface="Calibri" panose="020F0502020204030204" pitchFamily="34" charset="0"/>
                <a:cs typeface="Times New Roman" panose="02020603050405020304" pitchFamily="18" charset="0"/>
              </a:rPr>
              <a:t>: Rp45.800.000/US$2.915 per </a:t>
            </a:r>
            <a:r>
              <a:rPr lang="en-US" sz="1400" dirty="0" err="1">
                <a:latin typeface="Aptos" panose="020B0004020202020204" pitchFamily="34" charset="0"/>
                <a:ea typeface="Calibri" panose="020F0502020204030204" pitchFamily="34" charset="0"/>
                <a:cs typeface="Times New Roman" panose="02020603050405020304" pitchFamily="18" charset="0"/>
              </a:rPr>
              <a:t>bulan</a:t>
            </a:r>
            <a:r>
              <a:rPr lang="en-US" sz="1400" dirty="0">
                <a:latin typeface="Aptos" panose="020B000402020202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149601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3718EBD0-6575-7E23-F36A-9A5DCBBBF0C0}"/>
              </a:ext>
            </a:extLst>
          </p:cNvPr>
          <p:cNvSpPr>
            <a:spLocks noGrp="1"/>
          </p:cNvSpPr>
          <p:nvPr>
            <p:ph idx="4294967295"/>
          </p:nvPr>
        </p:nvSpPr>
        <p:spPr>
          <a:xfrm>
            <a:off x="0" y="1595438"/>
            <a:ext cx="11780838" cy="741362"/>
          </a:xfrm>
        </p:spPr>
        <p:txBody>
          <a:bodyPr anchor="ctr">
            <a:noAutofit/>
          </a:bodyPr>
          <a:lstStyle/>
          <a:p>
            <a:pPr marL="0" indent="0">
              <a:buNone/>
            </a:pPr>
            <a:r>
              <a:rPr lang="en-US" sz="2800" b="1">
                <a:solidFill>
                  <a:schemeClr val="bg1"/>
                </a:solidFill>
                <a:latin typeface="Aptos" panose="020B0004020202020204" pitchFamily="34" charset="0"/>
                <a:ea typeface="Calibri" panose="020F0502020204030204" pitchFamily="34" charset="0"/>
                <a:cs typeface="Calibri" panose="020F0502020204030204" pitchFamily="34" charset="0"/>
              </a:rPr>
              <a:t>MANFAAT PRODUK VALUE INCOME ASSURANCE (VALUE+)</a:t>
            </a:r>
          </a:p>
        </p:txBody>
      </p:sp>
      <p:cxnSp>
        <p:nvCxnSpPr>
          <p:cNvPr id="11" name="Straight Connector 10">
            <a:extLst>
              <a:ext uri="{FF2B5EF4-FFF2-40B4-BE49-F238E27FC236}">
                <a16:creationId xmlns:a16="http://schemas.microsoft.com/office/drawing/2014/main" id="{66D09D03-573A-4DB5-452B-2DFF8ED9085B}"/>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FD64DBF-56CD-7505-A5D2-07A8AB6C3790}"/>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9235474-EC90-0B2E-B129-46C22C80ABE5}"/>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E5DF576E-FD72-FBCB-A68B-09240A6F7622}"/>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90556F07-5378-C60A-0CD9-B39720C8929D}"/>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Tree>
    <p:extLst>
      <p:ext uri="{BB962C8B-B14F-4D97-AF65-F5344CB8AC3E}">
        <p14:creationId xmlns:p14="http://schemas.microsoft.com/office/powerpoint/2010/main" val="927470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B018A9-23DC-4BD5-1B79-C0A53DA61180}"/>
              </a:ext>
            </a:extLst>
          </p:cNvPr>
          <p:cNvSpPr/>
          <p:nvPr/>
        </p:nvSpPr>
        <p:spPr>
          <a:xfrm>
            <a:off x="9615488" y="6100763"/>
            <a:ext cx="2493168" cy="692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BD1452-A26B-6BEB-8567-0ACB8E6583B8}"/>
              </a:ext>
            </a:extLst>
          </p:cNvPr>
          <p:cNvSpPr>
            <a:spLocks noGrp="1"/>
          </p:cNvSpPr>
          <p:nvPr>
            <p:ph type="title" idx="4294967295"/>
          </p:nvPr>
        </p:nvSpPr>
        <p:spPr>
          <a:xfrm>
            <a:off x="1719264" y="189611"/>
            <a:ext cx="10084595" cy="692944"/>
          </a:xfrm>
        </p:spPr>
        <p:txBody>
          <a:bodyPr>
            <a:normAutofit/>
          </a:bodyPr>
          <a:lstStyle/>
          <a:p>
            <a:pPr algn="r"/>
            <a:r>
              <a:rPr lang="en-GB" sz="2400" b="1">
                <a:solidFill>
                  <a:srgbClr val="002060"/>
                </a:solidFill>
                <a:latin typeface="Aptos" panose="020B0004020202020204" pitchFamily="34" charset="0"/>
              </a:rPr>
              <a:t>MANFAAT PRODUK Value Income Assurance (VALUE+)</a:t>
            </a:r>
          </a:p>
        </p:txBody>
      </p:sp>
      <p:cxnSp>
        <p:nvCxnSpPr>
          <p:cNvPr id="7" name="Straight Connector 6">
            <a:extLst>
              <a:ext uri="{FF2B5EF4-FFF2-40B4-BE49-F238E27FC236}">
                <a16:creationId xmlns:a16="http://schemas.microsoft.com/office/drawing/2014/main" id="{15CEBDC8-9E81-FC10-2EA2-DE66A110059D}"/>
              </a:ext>
            </a:extLst>
          </p:cNvPr>
          <p:cNvCxnSpPr>
            <a:cxnSpLocks/>
          </p:cNvCxnSpPr>
          <p:nvPr/>
        </p:nvCxnSpPr>
        <p:spPr>
          <a:xfrm>
            <a:off x="4102896" y="712918"/>
            <a:ext cx="7700963"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4C84B4C1-A776-60D0-E6F9-C2327AE02F1E}"/>
              </a:ext>
            </a:extLst>
          </p:cNvPr>
          <p:cNvGraphicFramePr>
            <a:graphicFrameLocks noGrp="1"/>
          </p:cNvGraphicFramePr>
          <p:nvPr>
            <p:extLst>
              <p:ext uri="{D42A27DB-BD31-4B8C-83A1-F6EECF244321}">
                <p14:modId xmlns:p14="http://schemas.microsoft.com/office/powerpoint/2010/main" val="184770994"/>
              </p:ext>
            </p:extLst>
          </p:nvPr>
        </p:nvGraphicFramePr>
        <p:xfrm>
          <a:off x="676922" y="2059619"/>
          <a:ext cx="9973323" cy="1834210"/>
        </p:xfrm>
        <a:graphic>
          <a:graphicData uri="http://schemas.openxmlformats.org/drawingml/2006/table">
            <a:tbl>
              <a:tblPr firstRow="1" firstCol="1" bandRow="1">
                <a:tableStyleId>{5940675A-B579-460E-94D1-54222C63F5DA}</a:tableStyleId>
              </a:tblPr>
              <a:tblGrid>
                <a:gridCol w="4432588">
                  <a:extLst>
                    <a:ext uri="{9D8B030D-6E8A-4147-A177-3AD203B41FA5}">
                      <a16:colId xmlns:a16="http://schemas.microsoft.com/office/drawing/2014/main" val="2621382983"/>
                    </a:ext>
                  </a:extLst>
                </a:gridCol>
                <a:gridCol w="2908886">
                  <a:extLst>
                    <a:ext uri="{9D8B030D-6E8A-4147-A177-3AD203B41FA5}">
                      <a16:colId xmlns:a16="http://schemas.microsoft.com/office/drawing/2014/main" val="1612377031"/>
                    </a:ext>
                  </a:extLst>
                </a:gridCol>
                <a:gridCol w="2631849">
                  <a:extLst>
                    <a:ext uri="{9D8B030D-6E8A-4147-A177-3AD203B41FA5}">
                      <a16:colId xmlns:a16="http://schemas.microsoft.com/office/drawing/2014/main" val="1357329345"/>
                    </a:ext>
                  </a:extLst>
                </a:gridCol>
              </a:tblGrid>
              <a:tr h="408373">
                <a:tc>
                  <a:txBody>
                    <a:bodyPr/>
                    <a:lstStyle/>
                    <a:p>
                      <a:pPr marR="50165" algn="ctr">
                        <a:lnSpc>
                          <a:spcPct val="107000"/>
                        </a:lnSpc>
                        <a:spcAft>
                          <a:spcPts val="800"/>
                        </a:spcAft>
                        <a:buNone/>
                      </a:pPr>
                      <a:r>
                        <a:rPr lang="en-US" sz="1600" b="1">
                          <a:effectLst/>
                          <a:latin typeface="Aptos" panose="020B0004020202020204" pitchFamily="34" charset="0"/>
                        </a:rPr>
                        <a:t>Manfaat </a:t>
                      </a:r>
                      <a:r>
                        <a:rPr lang="en-US" sz="1600" b="1" err="1">
                          <a:effectLst/>
                          <a:latin typeface="Aptos" panose="020B0004020202020204" pitchFamily="34" charset="0"/>
                        </a:rPr>
                        <a:t>Asuransi</a:t>
                      </a:r>
                      <a:endParaRPr lang="en-US" sz="16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bg2">
                        <a:lumMod val="90000"/>
                      </a:schemeClr>
                    </a:solidFill>
                  </a:tcPr>
                </a:tc>
                <a:tc>
                  <a:txBody>
                    <a:bodyPr/>
                    <a:lstStyle/>
                    <a:p>
                      <a:pPr marR="50165" algn="ctr">
                        <a:lnSpc>
                          <a:spcPct val="107000"/>
                        </a:lnSpc>
                        <a:spcAft>
                          <a:spcPts val="800"/>
                        </a:spcAft>
                        <a:buNone/>
                      </a:pPr>
                      <a:r>
                        <a:rPr lang="en-US" sz="1600" b="1">
                          <a:effectLst/>
                          <a:latin typeface="Aptos" panose="020B0004020202020204" pitchFamily="34" charset="0"/>
                        </a:rPr>
                        <a:t>Plan Core</a:t>
                      </a:r>
                      <a:endParaRPr lang="en-US" sz="16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solidFill>
                      <a:schemeClr val="bg2">
                        <a:lumMod val="90000"/>
                      </a:schemeClr>
                    </a:solidFill>
                  </a:tcPr>
                </a:tc>
                <a:tc>
                  <a:txBody>
                    <a:bodyPr/>
                    <a:lstStyle/>
                    <a:p>
                      <a:pPr marR="50165" algn="ctr">
                        <a:lnSpc>
                          <a:spcPct val="107000"/>
                        </a:lnSpc>
                        <a:spcAft>
                          <a:spcPts val="800"/>
                        </a:spcAft>
                        <a:buNone/>
                      </a:pPr>
                      <a:r>
                        <a:rPr lang="en-US" sz="1600" b="1">
                          <a:effectLst/>
                          <a:latin typeface="Aptos" panose="020B0004020202020204" pitchFamily="34" charset="0"/>
                          <a:ea typeface="Calibri" panose="020F0502020204030204" pitchFamily="34" charset="0"/>
                          <a:cs typeface="Times New Roman" panose="02020603050405020304" pitchFamily="18" charset="0"/>
                        </a:rPr>
                        <a:t>Plan Boost</a:t>
                      </a:r>
                    </a:p>
                  </a:txBody>
                  <a:tcPr marL="68580" marR="68580" marT="0" marB="0" anchor="ctr">
                    <a:solidFill>
                      <a:schemeClr val="bg2">
                        <a:lumMod val="90000"/>
                      </a:schemeClr>
                    </a:solidFill>
                  </a:tcPr>
                </a:tc>
                <a:extLst>
                  <a:ext uri="{0D108BD9-81ED-4DB2-BD59-A6C34878D82A}">
                    <a16:rowId xmlns:a16="http://schemas.microsoft.com/office/drawing/2014/main" val="2199671607"/>
                  </a:ext>
                </a:extLst>
              </a:tr>
              <a:tr h="475279">
                <a:tc>
                  <a:txBody>
                    <a:bodyPr/>
                    <a:lstStyle/>
                    <a:p>
                      <a:pPr marR="50165" algn="just">
                        <a:lnSpc>
                          <a:spcPct val="107000"/>
                        </a:lnSpc>
                        <a:spcAft>
                          <a:spcPts val="800"/>
                        </a:spcAft>
                        <a:buNone/>
                      </a:pPr>
                      <a:r>
                        <a:rPr lang="en-US" sz="1500">
                          <a:effectLst/>
                          <a:latin typeface="Aptos" panose="020B0004020202020204" pitchFamily="34" charset="0"/>
                        </a:rPr>
                        <a:t>Manfaat </a:t>
                      </a:r>
                      <a:r>
                        <a:rPr lang="en-US" sz="1500" err="1">
                          <a:effectLst/>
                          <a:latin typeface="Aptos" panose="020B0004020202020204" pitchFamily="34" charset="0"/>
                        </a:rPr>
                        <a:t>Meninggal</a:t>
                      </a:r>
                      <a:r>
                        <a:rPr lang="en-US" sz="1500">
                          <a:effectLst/>
                          <a:latin typeface="Aptos" panose="020B0004020202020204" pitchFamily="34" charset="0"/>
                        </a:rPr>
                        <a:t> Dunia</a:t>
                      </a:r>
                      <a:endParaRPr lang="en-US" sz="15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R="50165" algn="ctr">
                        <a:lnSpc>
                          <a:spcPct val="107000"/>
                        </a:lnSpc>
                        <a:spcAft>
                          <a:spcPts val="800"/>
                        </a:spcAft>
                        <a:buNone/>
                      </a:pPr>
                      <a:r>
                        <a:rPr lang="en-US" sz="1500" b="1">
                          <a:effectLst/>
                          <a:latin typeface="Aptos" panose="020B0004020202020204" pitchFamily="34" charset="0"/>
                        </a:rPr>
                        <a:t>✓</a:t>
                      </a:r>
                      <a:endParaRPr lang="en-US" sz="15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R="50165" algn="ctr">
                        <a:lnSpc>
                          <a:spcPct val="107000"/>
                        </a:lnSpc>
                        <a:spcAft>
                          <a:spcPts val="800"/>
                        </a:spcAft>
                        <a:buNone/>
                      </a:pPr>
                      <a:r>
                        <a:rPr lang="en-US" sz="1500" b="1">
                          <a:effectLst/>
                          <a:latin typeface="Aptos" panose="020B0004020202020204" pitchFamily="34" charset="0"/>
                        </a:rPr>
                        <a:t>✓</a:t>
                      </a:r>
                      <a:endParaRPr lang="en-US" sz="15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29728350"/>
                  </a:ext>
                </a:extLst>
              </a:tr>
              <a:tr h="475279">
                <a:tc>
                  <a:txBody>
                    <a:bodyPr/>
                    <a:lstStyle/>
                    <a:p>
                      <a:pPr marR="50165" algn="just">
                        <a:lnSpc>
                          <a:spcPct val="107000"/>
                        </a:lnSpc>
                        <a:spcAft>
                          <a:spcPts val="800"/>
                        </a:spcAft>
                        <a:buNone/>
                      </a:pPr>
                      <a:r>
                        <a:rPr lang="en-US" sz="1500">
                          <a:effectLst/>
                          <a:latin typeface="Aptos" panose="020B0004020202020204" pitchFamily="34" charset="0"/>
                        </a:rPr>
                        <a:t>Manfaat Akhir Masa </a:t>
                      </a:r>
                      <a:r>
                        <a:rPr lang="en-US" sz="1500" err="1">
                          <a:effectLst/>
                          <a:latin typeface="Aptos" panose="020B0004020202020204" pitchFamily="34" charset="0"/>
                        </a:rPr>
                        <a:t>Pertanggungan</a:t>
                      </a:r>
                      <a:endParaRPr lang="en-US" sz="15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R="50165" algn="ctr">
                        <a:lnSpc>
                          <a:spcPct val="107000"/>
                        </a:lnSpc>
                        <a:spcAft>
                          <a:spcPts val="800"/>
                        </a:spcAft>
                        <a:buNone/>
                      </a:pPr>
                      <a:r>
                        <a:rPr lang="en-US" sz="1500" b="1">
                          <a:effectLst/>
                          <a:latin typeface="Aptos" panose="020B0004020202020204" pitchFamily="34" charset="0"/>
                        </a:rPr>
                        <a:t>✓</a:t>
                      </a:r>
                      <a:endParaRPr lang="en-US" sz="15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R="50165" algn="ctr">
                        <a:lnSpc>
                          <a:spcPct val="107000"/>
                        </a:lnSpc>
                        <a:spcAft>
                          <a:spcPts val="800"/>
                        </a:spcAft>
                        <a:buNone/>
                      </a:pPr>
                      <a:r>
                        <a:rPr lang="en-US" sz="1500" b="1">
                          <a:effectLst/>
                          <a:latin typeface="Aptos" panose="020B0004020202020204" pitchFamily="34" charset="0"/>
                        </a:rPr>
                        <a:t>✓</a:t>
                      </a:r>
                      <a:endParaRPr lang="en-US" sz="15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1712942"/>
                  </a:ext>
                </a:extLst>
              </a:tr>
              <a:tr h="475279">
                <a:tc>
                  <a:txBody>
                    <a:bodyPr/>
                    <a:lstStyle/>
                    <a:p>
                      <a:pPr marR="50165" algn="just">
                        <a:lnSpc>
                          <a:spcPct val="107000"/>
                        </a:lnSpc>
                        <a:spcAft>
                          <a:spcPts val="800"/>
                        </a:spcAft>
                        <a:buNone/>
                      </a:pPr>
                      <a:r>
                        <a:rPr lang="en-US" sz="1500">
                          <a:effectLst/>
                          <a:latin typeface="Aptos" panose="020B0004020202020204" pitchFamily="34" charset="0"/>
                        </a:rPr>
                        <a:t>Manfaat </a:t>
                      </a:r>
                      <a:r>
                        <a:rPr lang="en-US" sz="1500" err="1">
                          <a:effectLst/>
                          <a:latin typeface="Aptos" panose="020B0004020202020204" pitchFamily="34" charset="0"/>
                        </a:rPr>
                        <a:t>Tunai</a:t>
                      </a:r>
                      <a:r>
                        <a:rPr lang="en-US" sz="1500">
                          <a:effectLst/>
                          <a:latin typeface="Aptos" panose="020B0004020202020204" pitchFamily="34" charset="0"/>
                        </a:rPr>
                        <a:t> </a:t>
                      </a:r>
                      <a:r>
                        <a:rPr lang="en-US" sz="1500" err="1">
                          <a:effectLst/>
                          <a:latin typeface="Aptos" panose="020B0004020202020204" pitchFamily="34" charset="0"/>
                        </a:rPr>
                        <a:t>Tahunan</a:t>
                      </a:r>
                      <a:endParaRPr lang="en-US" sz="15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R="50165" algn="ctr">
                        <a:lnSpc>
                          <a:spcPct val="107000"/>
                        </a:lnSpc>
                        <a:spcAft>
                          <a:spcPts val="800"/>
                        </a:spcAft>
                        <a:buNone/>
                      </a:pPr>
                      <a:r>
                        <a:rPr lang="en-US" sz="1500" b="1">
                          <a:effectLst/>
                          <a:latin typeface="Aptos" panose="020B0004020202020204" pitchFamily="34" charset="0"/>
                        </a:rPr>
                        <a:t>-</a:t>
                      </a:r>
                      <a:endParaRPr lang="en-US" sz="15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R="50165" algn="ctr">
                        <a:lnSpc>
                          <a:spcPct val="107000"/>
                        </a:lnSpc>
                        <a:spcAft>
                          <a:spcPts val="800"/>
                        </a:spcAft>
                        <a:buNone/>
                      </a:pPr>
                      <a:r>
                        <a:rPr lang="en-US" sz="1500" b="1">
                          <a:effectLst/>
                          <a:latin typeface="Aptos" panose="020B0004020202020204" pitchFamily="34" charset="0"/>
                        </a:rPr>
                        <a:t>✓</a:t>
                      </a:r>
                      <a:endParaRPr lang="en-US" sz="1500" b="1">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74943610"/>
                  </a:ext>
                </a:extLst>
              </a:tr>
            </a:tbl>
          </a:graphicData>
        </a:graphic>
      </p:graphicFrame>
      <p:sp>
        <p:nvSpPr>
          <p:cNvPr id="8" name="TextBox 7">
            <a:extLst>
              <a:ext uri="{FF2B5EF4-FFF2-40B4-BE49-F238E27FC236}">
                <a16:creationId xmlns:a16="http://schemas.microsoft.com/office/drawing/2014/main" id="{42BE2A1D-4CBA-5EAF-5452-F813FF452F52}"/>
              </a:ext>
            </a:extLst>
          </p:cNvPr>
          <p:cNvSpPr txBox="1"/>
          <p:nvPr/>
        </p:nvSpPr>
        <p:spPr>
          <a:xfrm>
            <a:off x="614778" y="1582488"/>
            <a:ext cx="6094520" cy="369332"/>
          </a:xfrm>
          <a:prstGeom prst="rect">
            <a:avLst/>
          </a:prstGeom>
          <a:noFill/>
        </p:spPr>
        <p:txBody>
          <a:bodyPr wrap="square">
            <a:spAutoFit/>
          </a:bodyPr>
          <a:lstStyle/>
          <a:p>
            <a:pPr algn="just"/>
            <a:r>
              <a:rPr lang="sv-SE" b="1">
                <a:latin typeface="Aptos" panose="020B0004020202020204" pitchFamily="34" charset="0"/>
              </a:rPr>
              <a:t>Pilihan Plan Produk Value Income Assurance (VALUE+) :</a:t>
            </a:r>
            <a:endParaRPr lang="sv-SE" sz="1800" b="1" i="0" u="none" strike="noStrike" baseline="0">
              <a:latin typeface="Aptos" panose="020B0004020202020204" pitchFamily="34" charset="0"/>
            </a:endParaRPr>
          </a:p>
        </p:txBody>
      </p:sp>
      <p:sp>
        <p:nvSpPr>
          <p:cNvPr id="5" name="TextBox 4">
            <a:extLst>
              <a:ext uri="{FF2B5EF4-FFF2-40B4-BE49-F238E27FC236}">
                <a16:creationId xmlns:a16="http://schemas.microsoft.com/office/drawing/2014/main" id="{FF5B83E2-5E4E-DFA2-9278-046409EC9E35}"/>
              </a:ext>
            </a:extLst>
          </p:cNvPr>
          <p:cNvSpPr txBox="1"/>
          <p:nvPr/>
        </p:nvSpPr>
        <p:spPr>
          <a:xfrm>
            <a:off x="614778" y="4183458"/>
            <a:ext cx="10215979" cy="276999"/>
          </a:xfrm>
          <a:prstGeom prst="rect">
            <a:avLst/>
          </a:prstGeom>
          <a:noFill/>
        </p:spPr>
        <p:txBody>
          <a:bodyPr wrap="square">
            <a:spAutoFit/>
          </a:bodyPr>
          <a:lstStyle/>
          <a:p>
            <a:pPr algn="just"/>
            <a:r>
              <a:rPr lang="sv-SE" sz="1200" i="0" u="none" baseline="0">
                <a:latin typeface="Aptos" panose="020B0004020202020204" pitchFamily="34" charset="0"/>
              </a:rPr>
              <a:t>Catata</a:t>
            </a:r>
            <a:r>
              <a:rPr lang="sv-SE" sz="1200">
                <a:latin typeface="Aptos" panose="020B0004020202020204" pitchFamily="34" charset="0"/>
              </a:rPr>
              <a:t>n: Tidak diperkenankan untuk mengubah jenis Plan selama Masa Pertanggungan</a:t>
            </a:r>
            <a:endParaRPr lang="sv-SE" sz="1200" i="0" u="none" baseline="0">
              <a:latin typeface="Aptos" panose="020B0004020202020204" pitchFamily="34" charset="0"/>
            </a:endParaRPr>
          </a:p>
        </p:txBody>
      </p:sp>
    </p:spTree>
    <p:extLst>
      <p:ext uri="{BB962C8B-B14F-4D97-AF65-F5344CB8AC3E}">
        <p14:creationId xmlns:p14="http://schemas.microsoft.com/office/powerpoint/2010/main" val="2463404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3568E-2419-D037-0CA2-1CBB735126D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AA5EFB-3F44-828F-6910-4A5D0F6A24FD}"/>
              </a:ext>
            </a:extLst>
          </p:cNvPr>
          <p:cNvSpPr txBox="1"/>
          <p:nvPr/>
        </p:nvSpPr>
        <p:spPr>
          <a:xfrm>
            <a:off x="272160" y="892463"/>
            <a:ext cx="5514278" cy="4154984"/>
          </a:xfrm>
          <a:prstGeom prst="rect">
            <a:avLst/>
          </a:prstGeom>
          <a:noFill/>
        </p:spPr>
        <p:txBody>
          <a:bodyPr wrap="square">
            <a:spAutoFit/>
          </a:bodyPr>
          <a:lstStyle/>
          <a:p>
            <a:pPr marL="228600" indent="-228600" algn="just">
              <a:buFont typeface="+mj-lt"/>
              <a:buAutoNum type="arabicPeriod"/>
            </a:pPr>
            <a:r>
              <a:rPr lang="sv-SE" sz="1200" b="1" i="0" u="none" strike="noStrike" baseline="0">
                <a:latin typeface="Aptos" panose="020B0004020202020204" pitchFamily="34" charset="0"/>
              </a:rPr>
              <a:t>Manfaat Meninggal Dunia</a:t>
            </a:r>
            <a:endParaRPr lang="sv-SE" sz="1200" b="1">
              <a:latin typeface="Aptos" panose="020B0004020202020204" pitchFamily="34" charset="0"/>
            </a:endParaRPr>
          </a:p>
          <a:p>
            <a:pPr marL="228600" algn="just"/>
            <a:r>
              <a:rPr lang="sv-SE" sz="1200" i="0" u="none" strike="noStrike" baseline="0">
                <a:latin typeface="Aptos" panose="020B0004020202020204" pitchFamily="34" charset="0"/>
              </a:rPr>
              <a:t>Dalam hal Tertanggung Meninggal Dunia dan selama Polis masih berlaku, Penanggung akan membayarkan Manfaat Meninggal Dunia sebesar persentase dari total Premi Asuransi Dasar yang telah dibayarkan (tidak termasuk Premi Asuransi Tambahan (jika ada)) dengan mengacu pada tabel di bawah dikurangi dengan Manfaat Tunai Tahunan yang telah dibayarkan (jika ada) dan selanjutnya Polis berakhir.</a:t>
            </a:r>
          </a:p>
          <a:p>
            <a:pPr marL="228600" algn="just"/>
            <a:r>
              <a:rPr lang="sv-SE" sz="1200" i="0" u="none" strike="noStrike" baseline="0">
                <a:latin typeface="Aptos" panose="020B0004020202020204" pitchFamily="34" charset="0"/>
              </a:rPr>
              <a:t>Mata Uang Rupiah</a:t>
            </a:r>
          </a:p>
          <a:p>
            <a:pPr marL="228600" algn="just"/>
            <a:endParaRPr lang="sv-SE" sz="1200">
              <a:latin typeface="Aptos" panose="020B0004020202020204" pitchFamily="34" charset="0"/>
            </a:endParaRPr>
          </a:p>
          <a:p>
            <a:pPr marL="228600" algn="just"/>
            <a:endParaRPr lang="sv-SE" sz="1200" i="0" u="none" strike="noStrike" baseline="0">
              <a:latin typeface="Aptos" panose="020B0004020202020204" pitchFamily="34" charset="0"/>
            </a:endParaRPr>
          </a:p>
          <a:p>
            <a:pPr marL="228600" algn="just"/>
            <a:endParaRPr lang="sv-SE" sz="1200">
              <a:latin typeface="Aptos" panose="020B0004020202020204" pitchFamily="34" charset="0"/>
            </a:endParaRPr>
          </a:p>
          <a:p>
            <a:pPr marL="228600" algn="just"/>
            <a:endParaRPr lang="sv-SE" sz="1200" i="0" u="none" strike="noStrike" baseline="0">
              <a:latin typeface="Aptos" panose="020B0004020202020204" pitchFamily="34" charset="0"/>
            </a:endParaRPr>
          </a:p>
          <a:p>
            <a:pPr marL="228600" algn="just"/>
            <a:endParaRPr lang="sv-SE" sz="1200">
              <a:latin typeface="Aptos" panose="020B0004020202020204" pitchFamily="34" charset="0"/>
            </a:endParaRPr>
          </a:p>
          <a:p>
            <a:pPr marL="228600" algn="just"/>
            <a:endParaRPr lang="sv-SE" sz="1200" i="0" u="none" strike="noStrike" baseline="0">
              <a:latin typeface="Aptos" panose="020B0004020202020204" pitchFamily="34" charset="0"/>
            </a:endParaRPr>
          </a:p>
          <a:p>
            <a:pPr marL="228600" algn="just"/>
            <a:endParaRPr lang="sv-SE" sz="1200">
              <a:latin typeface="Aptos" panose="020B0004020202020204" pitchFamily="34" charset="0"/>
            </a:endParaRPr>
          </a:p>
          <a:p>
            <a:pPr marL="228600" algn="just"/>
            <a:endParaRPr lang="sv-SE" sz="1200" i="0" u="none" strike="noStrike" baseline="0">
              <a:latin typeface="Aptos" panose="020B0004020202020204" pitchFamily="34" charset="0"/>
            </a:endParaRPr>
          </a:p>
          <a:p>
            <a:pPr marL="228600" algn="just"/>
            <a:endParaRPr lang="sv-SE" sz="1200">
              <a:latin typeface="Aptos" panose="020B0004020202020204" pitchFamily="34" charset="0"/>
            </a:endParaRPr>
          </a:p>
          <a:p>
            <a:pPr marL="228600" algn="just"/>
            <a:endParaRPr lang="sv-SE" sz="1200" i="0" u="none" strike="noStrike" baseline="0">
              <a:latin typeface="Aptos" panose="020B0004020202020204" pitchFamily="34" charset="0"/>
            </a:endParaRPr>
          </a:p>
          <a:p>
            <a:pPr marL="228600" algn="just"/>
            <a:endParaRPr lang="sv-SE" sz="1200">
              <a:latin typeface="Aptos" panose="020B0004020202020204" pitchFamily="34" charset="0"/>
            </a:endParaRPr>
          </a:p>
          <a:p>
            <a:pPr marL="228600" algn="just"/>
            <a:endParaRPr lang="sv-SE" sz="1200" i="0" u="none" strike="noStrike" baseline="0">
              <a:latin typeface="Aptos" panose="020B0004020202020204" pitchFamily="34" charset="0"/>
            </a:endParaRPr>
          </a:p>
          <a:p>
            <a:pPr marL="228600" algn="just"/>
            <a:endParaRPr lang="sv-SE" sz="1200">
              <a:latin typeface="Aptos" panose="020B0004020202020204" pitchFamily="34" charset="0"/>
            </a:endParaRPr>
          </a:p>
          <a:p>
            <a:pPr marL="228600" algn="just"/>
            <a:r>
              <a:rPr lang="sv-SE" sz="1200" i="0" u="none" strike="noStrike" baseline="0">
                <a:latin typeface="Aptos" panose="020B0004020202020204" pitchFamily="34" charset="0"/>
              </a:rPr>
              <a:t>Mata Uang US Dollar</a:t>
            </a:r>
          </a:p>
        </p:txBody>
      </p:sp>
      <p:sp>
        <p:nvSpPr>
          <p:cNvPr id="10" name="Title 1">
            <a:extLst>
              <a:ext uri="{FF2B5EF4-FFF2-40B4-BE49-F238E27FC236}">
                <a16:creationId xmlns:a16="http://schemas.microsoft.com/office/drawing/2014/main" id="{FD7F15B1-0E20-34C8-54D0-5754CDCEFFC1}"/>
              </a:ext>
            </a:extLst>
          </p:cNvPr>
          <p:cNvSpPr txBox="1">
            <a:spLocks/>
          </p:cNvSpPr>
          <p:nvPr/>
        </p:nvSpPr>
        <p:spPr>
          <a:xfrm>
            <a:off x="1719264" y="162717"/>
            <a:ext cx="10084595" cy="6929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MANFAAT PRODUK Value Income Assurance (VALUE+)</a:t>
            </a:r>
          </a:p>
        </p:txBody>
      </p:sp>
      <p:cxnSp>
        <p:nvCxnSpPr>
          <p:cNvPr id="11" name="Straight Connector 10">
            <a:extLst>
              <a:ext uri="{FF2B5EF4-FFF2-40B4-BE49-F238E27FC236}">
                <a16:creationId xmlns:a16="http://schemas.microsoft.com/office/drawing/2014/main" id="{DD5A7B71-4883-3ABC-D974-68CC46852F11}"/>
              </a:ext>
            </a:extLst>
          </p:cNvPr>
          <p:cNvCxnSpPr>
            <a:cxnSpLocks/>
          </p:cNvCxnSpPr>
          <p:nvPr/>
        </p:nvCxnSpPr>
        <p:spPr>
          <a:xfrm>
            <a:off x="4102896" y="712918"/>
            <a:ext cx="7700963"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3D58D148-3679-98C3-59CE-A8F1537CBE40}"/>
              </a:ext>
            </a:extLst>
          </p:cNvPr>
          <p:cNvGraphicFramePr>
            <a:graphicFrameLocks noGrp="1"/>
          </p:cNvGraphicFramePr>
          <p:nvPr>
            <p:extLst>
              <p:ext uri="{D42A27DB-BD31-4B8C-83A1-F6EECF244321}">
                <p14:modId xmlns:p14="http://schemas.microsoft.com/office/powerpoint/2010/main" val="3227237259"/>
              </p:ext>
            </p:extLst>
          </p:nvPr>
        </p:nvGraphicFramePr>
        <p:xfrm>
          <a:off x="573373" y="2427259"/>
          <a:ext cx="4742697" cy="2255520"/>
        </p:xfrm>
        <a:graphic>
          <a:graphicData uri="http://schemas.openxmlformats.org/drawingml/2006/table">
            <a:tbl>
              <a:tblPr firstRow="1" bandRow="1">
                <a:tableStyleId>{5940675A-B579-460E-94D1-54222C63F5DA}</a:tableStyleId>
              </a:tblPr>
              <a:tblGrid>
                <a:gridCol w="1349187">
                  <a:extLst>
                    <a:ext uri="{9D8B030D-6E8A-4147-A177-3AD203B41FA5}">
                      <a16:colId xmlns:a16="http://schemas.microsoft.com/office/drawing/2014/main" val="2401790065"/>
                    </a:ext>
                  </a:extLst>
                </a:gridCol>
                <a:gridCol w="3393510">
                  <a:extLst>
                    <a:ext uri="{9D8B030D-6E8A-4147-A177-3AD203B41FA5}">
                      <a16:colId xmlns:a16="http://schemas.microsoft.com/office/drawing/2014/main" val="943987760"/>
                    </a:ext>
                  </a:extLst>
                </a:gridCol>
              </a:tblGrid>
              <a:tr h="359546">
                <a:tc>
                  <a:txBody>
                    <a:bodyPr/>
                    <a:lstStyle/>
                    <a:p>
                      <a:pPr algn="ctr"/>
                      <a:r>
                        <a:rPr lang="en-US" sz="1200" b="1" err="1">
                          <a:latin typeface="Aptos" panose="020B0004020202020204" pitchFamily="34" charset="0"/>
                        </a:rPr>
                        <a:t>Tahun</a:t>
                      </a:r>
                      <a:r>
                        <a:rPr lang="en-US" sz="1200" b="1">
                          <a:latin typeface="Aptos" panose="020B0004020202020204" pitchFamily="34" charset="0"/>
                        </a:rPr>
                        <a:t> Polis </a:t>
                      </a:r>
                      <a:r>
                        <a:rPr lang="en-US" sz="1200" b="1" err="1">
                          <a:latin typeface="Aptos" panose="020B0004020202020204" pitchFamily="34" charset="0"/>
                        </a:rPr>
                        <a:t>ke</a:t>
                      </a:r>
                      <a:r>
                        <a:rPr lang="en-US" sz="1200" b="1">
                          <a:latin typeface="Aptos" panose="020B0004020202020204" pitchFamily="34" charset="0"/>
                        </a:rPr>
                        <a:t>-</a:t>
                      </a:r>
                    </a:p>
                  </a:txBody>
                  <a:tcPr anchor="ctr">
                    <a:solidFill>
                      <a:schemeClr val="bg2"/>
                    </a:solidFill>
                  </a:tcPr>
                </a:tc>
                <a:tc>
                  <a:txBody>
                    <a:bodyPr/>
                    <a:lstStyle/>
                    <a:p>
                      <a:pPr marL="0" marR="0" algn="ctr">
                        <a:buNone/>
                      </a:pP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Persentase</a:t>
                      </a:r>
                      <a:r>
                        <a:rPr lang="en-ID" sz="1200" b="1">
                          <a:solidFill>
                            <a:srgbClr val="000000"/>
                          </a:solidFill>
                          <a:effectLst/>
                          <a:latin typeface="Aptos" panose="020B0004020202020204" pitchFamily="34" charset="0"/>
                          <a:ea typeface="MS Mincho" panose="02020609040205080304" pitchFamily="49" charset="-128"/>
                          <a:cs typeface="Calibri" panose="020F0502020204030204" pitchFamily="34" charset="0"/>
                        </a:rPr>
                        <a:t> Total Premi Asuransi Dasar</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p>
                      <a:pPr marL="0" marR="0" algn="ctr">
                        <a:buNone/>
                      </a:pPr>
                      <a:r>
                        <a:rPr lang="en-ID" sz="1200" b="1">
                          <a:solidFill>
                            <a:srgbClr val="000000"/>
                          </a:solidFill>
                          <a:effectLst/>
                          <a:latin typeface="Aptos" panose="020B0004020202020204" pitchFamily="34" charset="0"/>
                          <a:ea typeface="MS Mincho" panose="02020609040205080304" pitchFamily="49" charset="-128"/>
                          <a:cs typeface="Calibri" panose="020F0502020204030204" pitchFamily="34" charset="0"/>
                        </a:rPr>
                        <a:t>yang Telah </a:t>
                      </a: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Dibayarkan</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10410693"/>
                  </a:ext>
                </a:extLst>
              </a:tr>
              <a:tr h="0">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886961144"/>
                  </a:ext>
                </a:extLst>
              </a:tr>
              <a:tr h="42134">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2 – 3 </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110%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9960616"/>
                  </a:ext>
                </a:extLst>
              </a:tr>
              <a:tr h="7727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4 – 5 </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115%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946373328"/>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6 – 7</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2972212"/>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8 – 9 </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125%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768706553"/>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10 – 11</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130%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770780923"/>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12 – 13</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135%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910017942"/>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14 – 15</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140%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73305260"/>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16 – 17</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145%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377151378"/>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18 – 20</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150%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574778960"/>
                  </a:ext>
                </a:extLst>
              </a:tr>
            </a:tbl>
          </a:graphicData>
        </a:graphic>
      </p:graphicFrame>
      <p:graphicFrame>
        <p:nvGraphicFramePr>
          <p:cNvPr id="6" name="Table 5">
            <a:extLst>
              <a:ext uri="{FF2B5EF4-FFF2-40B4-BE49-F238E27FC236}">
                <a16:creationId xmlns:a16="http://schemas.microsoft.com/office/drawing/2014/main" id="{0743BADF-1EC6-19BB-931F-FFDBB234D805}"/>
              </a:ext>
            </a:extLst>
          </p:cNvPr>
          <p:cNvGraphicFramePr>
            <a:graphicFrameLocks noGrp="1"/>
          </p:cNvGraphicFramePr>
          <p:nvPr>
            <p:extLst>
              <p:ext uri="{D42A27DB-BD31-4B8C-83A1-F6EECF244321}">
                <p14:modId xmlns:p14="http://schemas.microsoft.com/office/powerpoint/2010/main" val="808368049"/>
              </p:ext>
            </p:extLst>
          </p:nvPr>
        </p:nvGraphicFramePr>
        <p:xfrm>
          <a:off x="573373" y="4989856"/>
          <a:ext cx="4742697" cy="1310640"/>
        </p:xfrm>
        <a:graphic>
          <a:graphicData uri="http://schemas.openxmlformats.org/drawingml/2006/table">
            <a:tbl>
              <a:tblPr firstRow="1" bandRow="1">
                <a:tableStyleId>{5940675A-B579-460E-94D1-54222C63F5DA}</a:tableStyleId>
              </a:tblPr>
              <a:tblGrid>
                <a:gridCol w="1349187">
                  <a:extLst>
                    <a:ext uri="{9D8B030D-6E8A-4147-A177-3AD203B41FA5}">
                      <a16:colId xmlns:a16="http://schemas.microsoft.com/office/drawing/2014/main" val="2401790065"/>
                    </a:ext>
                  </a:extLst>
                </a:gridCol>
                <a:gridCol w="3393510">
                  <a:extLst>
                    <a:ext uri="{9D8B030D-6E8A-4147-A177-3AD203B41FA5}">
                      <a16:colId xmlns:a16="http://schemas.microsoft.com/office/drawing/2014/main" val="943987760"/>
                    </a:ext>
                  </a:extLst>
                </a:gridCol>
              </a:tblGrid>
              <a:tr h="359546">
                <a:tc>
                  <a:txBody>
                    <a:bodyPr/>
                    <a:lstStyle/>
                    <a:p>
                      <a:pPr algn="ctr"/>
                      <a:r>
                        <a:rPr lang="en-US" sz="1200" b="1" err="1">
                          <a:latin typeface="Aptos" panose="020B0004020202020204" pitchFamily="34" charset="0"/>
                        </a:rPr>
                        <a:t>Tahun</a:t>
                      </a:r>
                      <a:r>
                        <a:rPr lang="en-US" sz="1200" b="1">
                          <a:latin typeface="Aptos" panose="020B0004020202020204" pitchFamily="34" charset="0"/>
                        </a:rPr>
                        <a:t> Polis </a:t>
                      </a:r>
                      <a:r>
                        <a:rPr lang="en-US" sz="1200" b="1" err="1">
                          <a:latin typeface="Aptos" panose="020B0004020202020204" pitchFamily="34" charset="0"/>
                        </a:rPr>
                        <a:t>ke</a:t>
                      </a:r>
                      <a:r>
                        <a:rPr lang="en-US" sz="1200" b="1">
                          <a:latin typeface="Aptos" panose="020B0004020202020204" pitchFamily="34" charset="0"/>
                        </a:rPr>
                        <a:t>-</a:t>
                      </a:r>
                    </a:p>
                  </a:txBody>
                  <a:tcPr anchor="ctr">
                    <a:solidFill>
                      <a:schemeClr val="bg2"/>
                    </a:solidFill>
                  </a:tcPr>
                </a:tc>
                <a:tc>
                  <a:txBody>
                    <a:bodyPr/>
                    <a:lstStyle/>
                    <a:p>
                      <a:pPr marL="0" marR="0" algn="ctr">
                        <a:buNone/>
                      </a:pP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Persentase</a:t>
                      </a:r>
                      <a:r>
                        <a:rPr lang="en-ID" sz="1200" b="1">
                          <a:solidFill>
                            <a:srgbClr val="000000"/>
                          </a:solidFill>
                          <a:effectLst/>
                          <a:latin typeface="Aptos" panose="020B0004020202020204" pitchFamily="34" charset="0"/>
                          <a:ea typeface="MS Mincho" panose="02020609040205080304" pitchFamily="49" charset="-128"/>
                          <a:cs typeface="Calibri" panose="020F0502020204030204" pitchFamily="34" charset="0"/>
                        </a:rPr>
                        <a:t> Total Premi Asuransi Dasar</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p>
                      <a:pPr marL="0" marR="0" algn="ctr">
                        <a:buNone/>
                      </a:pPr>
                      <a:r>
                        <a:rPr lang="en-ID" sz="1200" b="1">
                          <a:solidFill>
                            <a:srgbClr val="000000"/>
                          </a:solidFill>
                          <a:effectLst/>
                          <a:latin typeface="Aptos" panose="020B0004020202020204" pitchFamily="34" charset="0"/>
                          <a:ea typeface="MS Mincho" panose="02020609040205080304" pitchFamily="49" charset="-128"/>
                          <a:cs typeface="Calibri" panose="020F0502020204030204" pitchFamily="34" charset="0"/>
                        </a:rPr>
                        <a:t>yang Telah </a:t>
                      </a: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Dibayarkan</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10410693"/>
                  </a:ext>
                </a:extLst>
              </a:tr>
              <a:tr h="0">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100%</a:t>
                      </a:r>
                    </a:p>
                  </a:txBody>
                  <a:tcPr marL="68580" marR="68580" marT="0" marB="0" anchor="ctr"/>
                </a:tc>
                <a:extLst>
                  <a:ext uri="{0D108BD9-81ED-4DB2-BD59-A6C34878D82A}">
                    <a16:rowId xmlns:a16="http://schemas.microsoft.com/office/drawing/2014/main" val="2886961144"/>
                  </a:ext>
                </a:extLst>
              </a:tr>
              <a:tr h="42134">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2 – 5</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105%</a:t>
                      </a:r>
                    </a:p>
                  </a:txBody>
                  <a:tcPr marL="68580" marR="68580" marT="0" marB="0" anchor="ctr"/>
                </a:tc>
                <a:extLst>
                  <a:ext uri="{0D108BD9-81ED-4DB2-BD59-A6C34878D82A}">
                    <a16:rowId xmlns:a16="http://schemas.microsoft.com/office/drawing/2014/main" val="319960616"/>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6 – 10</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110%</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2972212"/>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11 – 15</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115%</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768706553"/>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16 – 20</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120%</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770780923"/>
                  </a:ext>
                </a:extLst>
              </a:tr>
            </a:tbl>
          </a:graphicData>
        </a:graphic>
      </p:graphicFrame>
      <p:graphicFrame>
        <p:nvGraphicFramePr>
          <p:cNvPr id="12" name="Table 11">
            <a:extLst>
              <a:ext uri="{FF2B5EF4-FFF2-40B4-BE49-F238E27FC236}">
                <a16:creationId xmlns:a16="http://schemas.microsoft.com/office/drawing/2014/main" id="{A97F24C9-E820-48C4-BB88-565F7BBB1AA0}"/>
              </a:ext>
            </a:extLst>
          </p:cNvPr>
          <p:cNvGraphicFramePr>
            <a:graphicFrameLocks noGrp="1"/>
          </p:cNvGraphicFramePr>
          <p:nvPr>
            <p:extLst>
              <p:ext uri="{D42A27DB-BD31-4B8C-83A1-F6EECF244321}">
                <p14:modId xmlns:p14="http://schemas.microsoft.com/office/powerpoint/2010/main" val="697332002"/>
              </p:ext>
            </p:extLst>
          </p:nvPr>
        </p:nvGraphicFramePr>
        <p:xfrm>
          <a:off x="6406173" y="2190502"/>
          <a:ext cx="5134219" cy="1768909"/>
        </p:xfrm>
        <a:graphic>
          <a:graphicData uri="http://schemas.openxmlformats.org/drawingml/2006/table">
            <a:tbl>
              <a:tblPr firstRow="1" bandRow="1">
                <a:tableStyleId>{5940675A-B579-460E-94D1-54222C63F5DA}</a:tableStyleId>
              </a:tblPr>
              <a:tblGrid>
                <a:gridCol w="940491">
                  <a:extLst>
                    <a:ext uri="{9D8B030D-6E8A-4147-A177-3AD203B41FA5}">
                      <a16:colId xmlns:a16="http://schemas.microsoft.com/office/drawing/2014/main" val="1923200391"/>
                    </a:ext>
                  </a:extLst>
                </a:gridCol>
                <a:gridCol w="1778784">
                  <a:extLst>
                    <a:ext uri="{9D8B030D-6E8A-4147-A177-3AD203B41FA5}">
                      <a16:colId xmlns:a16="http://schemas.microsoft.com/office/drawing/2014/main" val="1473917447"/>
                    </a:ext>
                  </a:extLst>
                </a:gridCol>
                <a:gridCol w="1207472">
                  <a:extLst>
                    <a:ext uri="{9D8B030D-6E8A-4147-A177-3AD203B41FA5}">
                      <a16:colId xmlns:a16="http://schemas.microsoft.com/office/drawing/2014/main" val="2774066979"/>
                    </a:ext>
                  </a:extLst>
                </a:gridCol>
                <a:gridCol w="1207472">
                  <a:extLst>
                    <a:ext uri="{9D8B030D-6E8A-4147-A177-3AD203B41FA5}">
                      <a16:colId xmlns:a16="http://schemas.microsoft.com/office/drawing/2014/main" val="148790262"/>
                    </a:ext>
                  </a:extLst>
                </a:gridCol>
              </a:tblGrid>
              <a:tr h="304680">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Plan</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gridSpan="2">
                  <a:txBody>
                    <a:bodyPr/>
                    <a:lstStyle/>
                    <a:p>
                      <a:pPr marL="0" marR="0" algn="ctr">
                        <a:buNone/>
                      </a:pPr>
                      <a:r>
                        <a:rPr lang="id-ID" sz="1200" b="1">
                          <a:solidFill>
                            <a:srgbClr val="000000"/>
                          </a:solidFill>
                          <a:effectLst/>
                          <a:latin typeface="Aptos" panose="020B0004020202020204" pitchFamily="34" charset="0"/>
                        </a:rPr>
                        <a:t>Persentase Premi Asuransi Dasar yang Disetahunkan</a:t>
                      </a:r>
                      <a:endParaRPr lang="id-ID" sz="1200">
                        <a:effectLst/>
                        <a:latin typeface="Aptos" panose="020B0004020202020204" pitchFamily="34" charset="0"/>
                      </a:endParaRPr>
                    </a:p>
                  </a:txBody>
                  <a:tcPr marL="68580" marR="68580" marT="0" marB="0" anchor="ctr">
                    <a:solidFill>
                      <a:schemeClr val="bg2"/>
                    </a:solidFill>
                  </a:tcPr>
                </a:tc>
                <a:tc hMerge="1">
                  <a:txBody>
                    <a:bodyPr/>
                    <a:lstStyle/>
                    <a:p>
                      <a:endParaRPr/>
                    </a:p>
                  </a:txBody>
                  <a:tcPr marL="68580" marR="68580" marT="0" marB="0" anchor="ctr">
                    <a:solidFill>
                      <a:schemeClr val="bg2"/>
                    </a:solidFill>
                  </a:tcPr>
                </a:tc>
                <a:extLst>
                  <a:ext uri="{0D108BD9-81ED-4DB2-BD59-A6C34878D82A}">
                    <a16:rowId xmlns:a16="http://schemas.microsoft.com/office/drawing/2014/main" val="3301353083"/>
                  </a:ext>
                </a:extLst>
              </a:tr>
              <a:tr h="304680">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a:effectLst/>
                          <a:latin typeface="Aptos" panose="020B0004020202020204" pitchFamily="34" charset="0"/>
                          <a:ea typeface="Times New Roman" panose="02020603050405020304" pitchFamily="18" charset="0"/>
                        </a:rPr>
                        <a:t>Rupiah</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a:effectLst/>
                          <a:latin typeface="Aptos" panose="020B0004020202020204" pitchFamily="34" charset="0"/>
                          <a:ea typeface="Times New Roman" panose="02020603050405020304" pitchFamily="18" charset="0"/>
                        </a:rPr>
                        <a:t>US Dollar</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6990028"/>
                  </a:ext>
                </a:extLst>
              </a:tr>
              <a:tr h="282991">
                <a:tc rowSpan="2">
                  <a:txBody>
                    <a:bodyPr/>
                    <a:lstStyle/>
                    <a:p>
                      <a:pPr marL="0" marR="0" algn="ctr">
                        <a:buNone/>
                      </a:pPr>
                      <a:r>
                        <a:rPr lang="en-US" sz="1200">
                          <a:effectLst/>
                          <a:latin typeface="Aptos" panose="020B0004020202020204" pitchFamily="34" charset="0"/>
                          <a:ea typeface="Times New Roman" panose="02020603050405020304" pitchFamily="18" charset="0"/>
                        </a:rPr>
                        <a:t>Boost</a:t>
                      </a:r>
                      <a:endParaRPr lang="id-ID" sz="18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520%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405%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630407440"/>
                  </a:ext>
                </a:extLst>
              </a:tr>
              <a:tr h="196171">
                <a:tc vMerge="1">
                  <a:txBody>
                    <a:bodyPr/>
                    <a:lstStyle/>
                    <a:p>
                      <a:endParaRPr lang="id-ID"/>
                    </a:p>
                  </a:txBody>
                  <a:tcPr/>
                </a:tc>
                <a:tc>
                  <a:txBody>
                    <a:bodyPr/>
                    <a:lstStyle/>
                    <a:p>
                      <a:pPr algn="ctr"/>
                      <a:r>
                        <a:rPr lang="id-ID" sz="1200">
                          <a:latin typeface="Aptos" panose="020B0004020202020204" pitchFamily="34" charset="0"/>
                        </a:rPr>
                        <a:t>10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1.450%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1.100%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02680002"/>
                  </a:ext>
                </a:extLst>
              </a:tr>
              <a:tr h="266838">
                <a:tc rowSpan="2">
                  <a:txBody>
                    <a:bodyPr/>
                    <a:lstStyle/>
                    <a:p>
                      <a:pPr marL="0" marR="0" indent="0" algn="ctr">
                        <a:buNone/>
                      </a:pPr>
                      <a:r>
                        <a:rPr lang="en-US" sz="1200">
                          <a:effectLst/>
                          <a:latin typeface="Aptos" panose="020B0004020202020204" pitchFamily="34" charset="0"/>
                          <a:ea typeface="Times New Roman" panose="02020603050405020304" pitchFamily="18" charset="0"/>
                        </a:rPr>
                        <a:t>Core</a:t>
                      </a:r>
                      <a:endParaRPr lang="id-ID" sz="18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940%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675%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26052877"/>
                  </a:ext>
                </a:extLst>
              </a:tr>
              <a:tr h="196171">
                <a:tc vMerge="1">
                  <a:txBody>
                    <a:bodyPr/>
                    <a:lstStyle/>
                    <a:p>
                      <a:endParaRPr lang="id-ID"/>
                    </a:p>
                  </a:txBody>
                  <a:tcPr/>
                </a:tc>
                <a:tc>
                  <a:txBody>
                    <a:bodyPr/>
                    <a:lstStyle/>
                    <a:p>
                      <a:pPr algn="ctr"/>
                      <a:r>
                        <a:rPr lang="id-ID" sz="1200">
                          <a:latin typeface="Aptos" panose="020B0004020202020204" pitchFamily="34" charset="0"/>
                        </a:rPr>
                        <a:t>10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1.790%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1.320%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675628533"/>
                  </a:ext>
                </a:extLst>
              </a:tr>
            </a:tbl>
          </a:graphicData>
        </a:graphic>
      </p:graphicFrame>
      <p:sp>
        <p:nvSpPr>
          <p:cNvPr id="13" name="TextBox 12">
            <a:extLst>
              <a:ext uri="{FF2B5EF4-FFF2-40B4-BE49-F238E27FC236}">
                <a16:creationId xmlns:a16="http://schemas.microsoft.com/office/drawing/2014/main" id="{80AFB28D-A74E-8DB9-BFC3-9270627B4668}"/>
              </a:ext>
            </a:extLst>
          </p:cNvPr>
          <p:cNvSpPr txBox="1"/>
          <p:nvPr/>
        </p:nvSpPr>
        <p:spPr>
          <a:xfrm>
            <a:off x="6104349" y="855661"/>
            <a:ext cx="5514278" cy="1384995"/>
          </a:xfrm>
          <a:prstGeom prst="rect">
            <a:avLst/>
          </a:prstGeom>
          <a:noFill/>
        </p:spPr>
        <p:txBody>
          <a:bodyPr wrap="square">
            <a:spAutoFit/>
          </a:bodyPr>
          <a:lstStyle/>
          <a:p>
            <a:pPr marL="228600" indent="-228600" algn="just">
              <a:buFont typeface="+mj-lt"/>
              <a:buAutoNum type="arabicPeriod" startAt="2"/>
            </a:pPr>
            <a:r>
              <a:rPr lang="sv-SE" sz="1200" b="1">
                <a:latin typeface="Aptos" panose="020B0004020202020204" pitchFamily="34" charset="0"/>
              </a:rPr>
              <a:t>Manfaat Akhir Masa Pertanggungan</a:t>
            </a:r>
          </a:p>
          <a:p>
            <a:pPr marL="228600" algn="just"/>
            <a:r>
              <a:rPr lang="sv-SE" sz="1200">
                <a:latin typeface="Aptos" panose="020B0004020202020204" pitchFamily="34" charset="0"/>
              </a:rPr>
              <a:t>Dalam hal Tertanggung masih hidup hingga Tanggal Berakhir Asuransi dan Polis masih berlaku, Penanggung akan membayarkan secara otomatis ke rekening Pemegang Polis yang terdaftar pada Penanggung sebesar persentase dari Premi Asuransi Dasar yang disetahunkan (tidak termasuk Premi Asuransi Tambahan (jika ada)) mengacu pada tabel di bawah serta selanjutnya Polis berakhir.</a:t>
            </a:r>
            <a:endParaRPr lang="sv-SE" sz="1200" i="0" u="none" strike="noStrike" baseline="0">
              <a:latin typeface="Aptos" panose="020B0004020202020204" pitchFamily="34" charset="0"/>
            </a:endParaRPr>
          </a:p>
        </p:txBody>
      </p:sp>
    </p:spTree>
    <p:extLst>
      <p:ext uri="{BB962C8B-B14F-4D97-AF65-F5344CB8AC3E}">
        <p14:creationId xmlns:p14="http://schemas.microsoft.com/office/powerpoint/2010/main" val="3714036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21F7A-9829-C23A-D0C0-7D87AF58B7E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4B95E5-6566-BA60-5707-7F50ED0CE77A}"/>
              </a:ext>
            </a:extLst>
          </p:cNvPr>
          <p:cNvSpPr/>
          <p:nvPr/>
        </p:nvSpPr>
        <p:spPr>
          <a:xfrm>
            <a:off x="9615488" y="6100763"/>
            <a:ext cx="2493168" cy="692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CE669569-8700-AD10-2DAB-0818B809ADD9}"/>
              </a:ext>
            </a:extLst>
          </p:cNvPr>
          <p:cNvSpPr txBox="1">
            <a:spLocks/>
          </p:cNvSpPr>
          <p:nvPr/>
        </p:nvSpPr>
        <p:spPr>
          <a:xfrm>
            <a:off x="1719264" y="162717"/>
            <a:ext cx="10084595" cy="6929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MANFAAT PRODUK Value Income Assurance (VALUE+)</a:t>
            </a:r>
          </a:p>
        </p:txBody>
      </p:sp>
      <p:cxnSp>
        <p:nvCxnSpPr>
          <p:cNvPr id="11" name="Straight Connector 10">
            <a:extLst>
              <a:ext uri="{FF2B5EF4-FFF2-40B4-BE49-F238E27FC236}">
                <a16:creationId xmlns:a16="http://schemas.microsoft.com/office/drawing/2014/main" id="{28F93A2C-A01B-1716-B0C0-FE1ED0953765}"/>
              </a:ext>
            </a:extLst>
          </p:cNvPr>
          <p:cNvCxnSpPr>
            <a:cxnSpLocks/>
          </p:cNvCxnSpPr>
          <p:nvPr/>
        </p:nvCxnSpPr>
        <p:spPr>
          <a:xfrm>
            <a:off x="4102896" y="712918"/>
            <a:ext cx="7700963"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3AC3302-67AD-8D5C-5E29-9A9B2BCF69CA}"/>
              </a:ext>
            </a:extLst>
          </p:cNvPr>
          <p:cNvSpPr txBox="1"/>
          <p:nvPr/>
        </p:nvSpPr>
        <p:spPr>
          <a:xfrm>
            <a:off x="374633" y="1122370"/>
            <a:ext cx="5514278" cy="3416320"/>
          </a:xfrm>
          <a:prstGeom prst="rect">
            <a:avLst/>
          </a:prstGeom>
          <a:noFill/>
        </p:spPr>
        <p:txBody>
          <a:bodyPr wrap="square">
            <a:spAutoFit/>
          </a:bodyPr>
          <a:lstStyle/>
          <a:p>
            <a:pPr marL="228600" indent="-228600" algn="just">
              <a:buFont typeface="+mj-lt"/>
              <a:buAutoNum type="arabicPeriod" startAt="3"/>
            </a:pPr>
            <a:r>
              <a:rPr lang="sv-SE" sz="1200" b="1">
                <a:latin typeface="Aptos" panose="020B0004020202020204" pitchFamily="34" charset="0"/>
              </a:rPr>
              <a:t>Manfaat Tunai Tahunan (khusus Plan Boost)</a:t>
            </a:r>
          </a:p>
          <a:p>
            <a:pPr marL="457200" indent="-228600" algn="just">
              <a:buFont typeface="+mj-lt"/>
              <a:buAutoNum type="alphaLcPeriod"/>
            </a:pPr>
            <a:r>
              <a:rPr lang="sv-SE" sz="1200">
                <a:latin typeface="Aptos" panose="020B0004020202020204" pitchFamily="34" charset="0"/>
              </a:rPr>
              <a:t>Dalam hal Tertanggung masih hidup dan Polis masih berlaku, Penanggung akan membayarkan Manfaat Tunai Tahunan secara berkala sebesar persentase dari Premi Asuransi Dasar yang disetahunkan (tidak termasuk Premi Asuransi Tambahan (jika ada)) mengacu pada tabel di bawah selama Masa Pertanggungan.</a:t>
            </a:r>
          </a:p>
          <a:p>
            <a:pPr marL="457200" indent="-228600" algn="just">
              <a:buFont typeface="+mj-lt"/>
              <a:buAutoNum type="alphaLcPeriod"/>
            </a:pPr>
            <a:endParaRPr lang="sv-SE" sz="1200">
              <a:latin typeface="Aptos" panose="020B0004020202020204" pitchFamily="34" charset="0"/>
            </a:endParaRPr>
          </a:p>
          <a:p>
            <a:pPr marL="457200" indent="-228600" algn="just">
              <a:buFont typeface="+mj-lt"/>
              <a:buAutoNum type="alphaLcPeriod"/>
            </a:pPr>
            <a:endParaRPr lang="sv-SE" sz="1200">
              <a:latin typeface="Aptos" panose="020B0004020202020204" pitchFamily="34" charset="0"/>
            </a:endParaRPr>
          </a:p>
          <a:p>
            <a:pPr marL="457200" indent="-228600" algn="just">
              <a:buFont typeface="+mj-lt"/>
              <a:buAutoNum type="alphaLcPeriod"/>
            </a:pPr>
            <a:endParaRPr lang="sv-SE" sz="1200">
              <a:latin typeface="Aptos" panose="020B0004020202020204" pitchFamily="34" charset="0"/>
            </a:endParaRPr>
          </a:p>
          <a:p>
            <a:pPr marL="457200" indent="-228600" algn="just">
              <a:buFont typeface="+mj-lt"/>
              <a:buAutoNum type="alphaLcPeriod"/>
            </a:pPr>
            <a:endParaRPr lang="sv-SE" sz="1200">
              <a:latin typeface="Aptos" panose="020B0004020202020204" pitchFamily="34" charset="0"/>
            </a:endParaRPr>
          </a:p>
          <a:p>
            <a:pPr marL="457200" indent="-228600" algn="just">
              <a:buFont typeface="+mj-lt"/>
              <a:buAutoNum type="alphaLcPeriod"/>
            </a:pPr>
            <a:endParaRPr lang="sv-SE" sz="1200">
              <a:latin typeface="Aptos" panose="020B0004020202020204" pitchFamily="34" charset="0"/>
            </a:endParaRPr>
          </a:p>
          <a:p>
            <a:pPr marL="457200" indent="-228600" algn="just">
              <a:buFont typeface="+mj-lt"/>
              <a:buAutoNum type="alphaLcPeriod"/>
            </a:pPr>
            <a:endParaRPr lang="sv-SE" sz="1200">
              <a:latin typeface="Aptos" panose="020B0004020202020204" pitchFamily="34" charset="0"/>
            </a:endParaRPr>
          </a:p>
          <a:p>
            <a:pPr marL="457200" indent="-228600" algn="just">
              <a:buFont typeface="+mj-lt"/>
              <a:buAutoNum type="alphaLcPeriod" startAt="2"/>
            </a:pPr>
            <a:endParaRPr lang="sv-SE" sz="1200" i="0" u="none" strike="noStrike" baseline="0">
              <a:latin typeface="Aptos" panose="020B0004020202020204" pitchFamily="34" charset="0"/>
            </a:endParaRPr>
          </a:p>
          <a:p>
            <a:pPr marL="457200" indent="-228600" algn="just">
              <a:buFont typeface="+mj-lt"/>
              <a:buAutoNum type="alphaLcPeriod" startAt="2"/>
            </a:pPr>
            <a:r>
              <a:rPr lang="sv-SE" sz="1200" i="0" u="none" strike="noStrike" baseline="0">
                <a:latin typeface="Aptos" panose="020B0004020202020204" pitchFamily="34" charset="0"/>
              </a:rPr>
              <a:t>Manfaat Tunai Tahunan akan dibayarkan secara otomatis ke rekening Pemegang Polis yang terdaftar pada Penanggung.</a:t>
            </a:r>
          </a:p>
          <a:p>
            <a:pPr marL="457200" indent="-228600" algn="just">
              <a:buFont typeface="+mj-lt"/>
              <a:buAutoNum type="alphaLcPeriod" startAt="2"/>
            </a:pPr>
            <a:r>
              <a:rPr lang="sv-SE" sz="1200" i="0" u="none" strike="noStrike" baseline="0">
                <a:latin typeface="Aptos" panose="020B0004020202020204" pitchFamily="34" charset="0"/>
              </a:rPr>
              <a:t>Pembayaran Manfaat Tunai Tahunan akan mengurangi Manfaat Meninggal Dunia.</a:t>
            </a:r>
          </a:p>
          <a:p>
            <a:pPr algn="just"/>
            <a:endParaRPr lang="sv-SE" sz="1200" i="0" u="none" strike="noStrike" baseline="0">
              <a:latin typeface="Aptos" panose="020B0004020202020204" pitchFamily="34" charset="0"/>
            </a:endParaRPr>
          </a:p>
        </p:txBody>
      </p:sp>
      <p:graphicFrame>
        <p:nvGraphicFramePr>
          <p:cNvPr id="7" name="Table 6">
            <a:extLst>
              <a:ext uri="{FF2B5EF4-FFF2-40B4-BE49-F238E27FC236}">
                <a16:creationId xmlns:a16="http://schemas.microsoft.com/office/drawing/2014/main" id="{8576D048-D158-B379-5451-4FDB33F5B0C7}"/>
              </a:ext>
            </a:extLst>
          </p:cNvPr>
          <p:cNvGraphicFramePr>
            <a:graphicFrameLocks noGrp="1"/>
          </p:cNvGraphicFramePr>
          <p:nvPr>
            <p:extLst>
              <p:ext uri="{D42A27DB-BD31-4B8C-83A1-F6EECF244321}">
                <p14:modId xmlns:p14="http://schemas.microsoft.com/office/powerpoint/2010/main" val="398995168"/>
              </p:ext>
            </p:extLst>
          </p:nvPr>
        </p:nvGraphicFramePr>
        <p:xfrm>
          <a:off x="916705" y="2306224"/>
          <a:ext cx="4810371" cy="1110571"/>
        </p:xfrm>
        <a:graphic>
          <a:graphicData uri="http://schemas.openxmlformats.org/drawingml/2006/table">
            <a:tbl>
              <a:tblPr firstRow="1" bandRow="1">
                <a:tableStyleId>{5940675A-B579-460E-94D1-54222C63F5DA}</a:tableStyleId>
              </a:tblPr>
              <a:tblGrid>
                <a:gridCol w="1123883">
                  <a:extLst>
                    <a:ext uri="{9D8B030D-6E8A-4147-A177-3AD203B41FA5}">
                      <a16:colId xmlns:a16="http://schemas.microsoft.com/office/drawing/2014/main" val="1923200391"/>
                    </a:ext>
                  </a:extLst>
                </a:gridCol>
                <a:gridCol w="1157444">
                  <a:extLst>
                    <a:ext uri="{9D8B030D-6E8A-4147-A177-3AD203B41FA5}">
                      <a16:colId xmlns:a16="http://schemas.microsoft.com/office/drawing/2014/main" val="1473917447"/>
                    </a:ext>
                  </a:extLst>
                </a:gridCol>
                <a:gridCol w="1157444">
                  <a:extLst>
                    <a:ext uri="{9D8B030D-6E8A-4147-A177-3AD203B41FA5}">
                      <a16:colId xmlns:a16="http://schemas.microsoft.com/office/drawing/2014/main" val="61989479"/>
                    </a:ext>
                  </a:extLst>
                </a:gridCol>
                <a:gridCol w="1371600">
                  <a:extLst>
                    <a:ext uri="{9D8B030D-6E8A-4147-A177-3AD203B41FA5}">
                      <a16:colId xmlns:a16="http://schemas.microsoft.com/office/drawing/2014/main" val="148790262"/>
                    </a:ext>
                  </a:extLst>
                </a:gridCol>
              </a:tblGrid>
              <a:tr h="304680">
                <a:tc rowSpan="2">
                  <a:txBody>
                    <a:bodyPr/>
                    <a:lstStyle/>
                    <a:p>
                      <a:pPr algn="ctr"/>
                      <a:r>
                        <a:rPr lang="en-US" sz="1200" b="1">
                          <a:latin typeface="Aptos" panose="020B0004020202020204" pitchFamily="34" charset="0"/>
                        </a:rPr>
                        <a:t>Masa </a:t>
                      </a:r>
                      <a:r>
                        <a:rPr lang="en-US" sz="1200" b="1" err="1">
                          <a:latin typeface="Aptos" panose="020B0004020202020204" pitchFamily="34" charset="0"/>
                        </a:rPr>
                        <a:t>Pembayaran</a:t>
                      </a:r>
                      <a:r>
                        <a:rPr lang="en-US" sz="1200" b="1">
                          <a:latin typeface="Aptos" panose="020B0004020202020204" pitchFamily="34" charset="0"/>
                        </a:rPr>
                        <a:t> Premi</a:t>
                      </a:r>
                    </a:p>
                  </a:txBody>
                  <a:tcPr anchor="ctr">
                    <a:solidFill>
                      <a:schemeClr val="bg2"/>
                    </a:solidFill>
                  </a:tcPr>
                </a:tc>
                <a:tc gridSpan="2">
                  <a:txBody>
                    <a:bodyPr/>
                    <a:lstStyle/>
                    <a:p>
                      <a:pPr algn="ctr"/>
                      <a:r>
                        <a:rPr lang="en-US" sz="1200" b="1" err="1">
                          <a:latin typeface="Aptos" panose="020B0004020202020204" pitchFamily="34" charset="0"/>
                        </a:rPr>
                        <a:t>Persentase</a:t>
                      </a:r>
                      <a:r>
                        <a:rPr lang="en-US" sz="1200" b="1">
                          <a:latin typeface="Aptos" panose="020B0004020202020204" pitchFamily="34" charset="0"/>
                        </a:rPr>
                        <a:t> Premi </a:t>
                      </a:r>
                      <a:r>
                        <a:rPr lang="en-US" sz="1200" b="1" err="1">
                          <a:latin typeface="Aptos" panose="020B0004020202020204" pitchFamily="34" charset="0"/>
                        </a:rPr>
                        <a:t>Asuransi</a:t>
                      </a:r>
                      <a:r>
                        <a:rPr lang="en-US" sz="1200" b="1">
                          <a:latin typeface="Aptos" panose="020B0004020202020204" pitchFamily="34" charset="0"/>
                        </a:rPr>
                        <a:t> Dasar yang </a:t>
                      </a:r>
                      <a:r>
                        <a:rPr lang="en-US" sz="1200" b="1" err="1">
                          <a:latin typeface="Aptos" panose="020B0004020202020204" pitchFamily="34" charset="0"/>
                        </a:rPr>
                        <a:t>Disetahunkan</a:t>
                      </a:r>
                      <a:endParaRPr lang="en-US" sz="1200" b="1">
                        <a:latin typeface="Aptos" panose="020B0004020202020204" pitchFamily="34" charset="0"/>
                      </a:endParaRPr>
                    </a:p>
                  </a:txBody>
                  <a:tcPr anchor="ctr">
                    <a:solidFill>
                      <a:schemeClr val="bg2"/>
                    </a:solidFill>
                  </a:tcPr>
                </a:tc>
                <a:tc hMerge="1">
                  <a:txBody>
                    <a:bodyPr/>
                    <a:lstStyle/>
                    <a:p>
                      <a:pPr algn="ctr"/>
                      <a:endParaRPr lang="en-US" sz="1100" b="1">
                        <a:latin typeface="Aptos" panose="020B0004020202020204" pitchFamily="34" charset="0"/>
                      </a:endParaRPr>
                    </a:p>
                  </a:txBody>
                  <a:tcPr anchor="ctr">
                    <a:solidFill>
                      <a:schemeClr val="bg2"/>
                    </a:solidFill>
                  </a:tcPr>
                </a:tc>
                <a:tc rowSpan="2">
                  <a:txBody>
                    <a:bodyPr/>
                    <a:lstStyle/>
                    <a:p>
                      <a:pPr algn="ctr"/>
                      <a:r>
                        <a:rPr lang="en-US" sz="1200" b="1" err="1">
                          <a:latin typeface="Aptos" panose="020B0004020202020204" pitchFamily="34" charset="0"/>
                        </a:rPr>
                        <a:t>Dibayarkan</a:t>
                      </a:r>
                      <a:r>
                        <a:rPr lang="en-US" sz="1200" b="1">
                          <a:latin typeface="Aptos" panose="020B0004020202020204" pitchFamily="34" charset="0"/>
                        </a:rPr>
                        <a:t> Mulai Akhir </a:t>
                      </a:r>
                      <a:r>
                        <a:rPr lang="en-US" sz="1200" b="1" err="1">
                          <a:latin typeface="Aptos" panose="020B0004020202020204" pitchFamily="34" charset="0"/>
                        </a:rPr>
                        <a:t>Tahun</a:t>
                      </a:r>
                      <a:r>
                        <a:rPr lang="en-US" sz="1200" b="1">
                          <a:latin typeface="Aptos" panose="020B0004020202020204" pitchFamily="34" charset="0"/>
                        </a:rPr>
                        <a:t> Polis </a:t>
                      </a:r>
                      <a:r>
                        <a:rPr lang="en-US" sz="1200" b="1" err="1">
                          <a:latin typeface="Aptos" panose="020B0004020202020204" pitchFamily="34" charset="0"/>
                        </a:rPr>
                        <a:t>ke</a:t>
                      </a:r>
                      <a:r>
                        <a:rPr lang="en-US" sz="1200" b="1">
                          <a:latin typeface="Aptos" panose="020B0004020202020204" pitchFamily="34" charset="0"/>
                        </a:rPr>
                        <a:t>-</a:t>
                      </a:r>
                    </a:p>
                  </a:txBody>
                  <a:tcPr anchor="ctr">
                    <a:solidFill>
                      <a:schemeClr val="bg2"/>
                    </a:solidFill>
                  </a:tcPr>
                </a:tc>
                <a:extLst>
                  <a:ext uri="{0D108BD9-81ED-4DB2-BD59-A6C34878D82A}">
                    <a16:rowId xmlns:a16="http://schemas.microsoft.com/office/drawing/2014/main" val="3301353083"/>
                  </a:ext>
                </a:extLst>
              </a:tr>
              <a:tr h="0">
                <a:tc vMerge="1">
                  <a:txBody>
                    <a:bodyPr/>
                    <a:lstStyle/>
                    <a:p>
                      <a:pPr algn="ctr"/>
                      <a:endParaRPr lang="en-US" sz="1200" b="1">
                        <a:latin typeface="Aptos" panose="020B0004020202020204" pitchFamily="34" charset="0"/>
                      </a:endParaRPr>
                    </a:p>
                  </a:txBody>
                  <a:tcPr anchor="ctr">
                    <a:solidFill>
                      <a:schemeClr val="bg2"/>
                    </a:solidFill>
                  </a:tcPr>
                </a:tc>
                <a:tc>
                  <a:txBody>
                    <a:bodyPr/>
                    <a:lstStyle/>
                    <a:p>
                      <a:pPr algn="ctr"/>
                      <a:r>
                        <a:rPr lang="en-US" sz="1200" b="1">
                          <a:latin typeface="Aptos" panose="020B0004020202020204" pitchFamily="34" charset="0"/>
                        </a:rPr>
                        <a:t>Rupiah</a:t>
                      </a:r>
                    </a:p>
                  </a:txBody>
                  <a:tcPr anchor="ctr">
                    <a:solidFill>
                      <a:schemeClr val="bg2"/>
                    </a:solidFill>
                  </a:tcPr>
                </a:tc>
                <a:tc>
                  <a:txBody>
                    <a:bodyPr/>
                    <a:lstStyle/>
                    <a:p>
                      <a:pPr algn="ctr"/>
                      <a:r>
                        <a:rPr lang="en-US" sz="1200" b="1">
                          <a:latin typeface="Aptos" panose="020B0004020202020204" pitchFamily="34" charset="0"/>
                        </a:rPr>
                        <a:t>US Dollar</a:t>
                      </a:r>
                    </a:p>
                  </a:txBody>
                  <a:tcPr anchor="ctr">
                    <a:solidFill>
                      <a:schemeClr val="bg2"/>
                    </a:solidFill>
                  </a:tcPr>
                </a:tc>
                <a:tc vMerge="1">
                  <a:txBody>
                    <a:bodyPr/>
                    <a:lstStyle/>
                    <a:p>
                      <a:pPr algn="ctr"/>
                      <a:endParaRPr lang="en-US" sz="1100" b="1">
                        <a:latin typeface="Aptos" panose="020B0004020202020204" pitchFamily="34" charset="0"/>
                      </a:endParaRPr>
                    </a:p>
                  </a:txBody>
                  <a:tcPr anchor="ctr">
                    <a:solidFill>
                      <a:schemeClr val="bg2"/>
                    </a:solidFill>
                  </a:tcPr>
                </a:tc>
                <a:extLst>
                  <a:ext uri="{0D108BD9-81ED-4DB2-BD59-A6C34878D82A}">
                    <a16:rowId xmlns:a16="http://schemas.microsoft.com/office/drawing/2014/main" val="3322553115"/>
                  </a:ext>
                </a:extLst>
              </a:tr>
              <a:tr h="177503">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5 </a:t>
                      </a:r>
                      <a:r>
                        <a:rPr lang="en-US" sz="1200" err="1">
                          <a:solidFill>
                            <a:srgbClr val="000000"/>
                          </a:solidFill>
                          <a:effectLst/>
                          <a:latin typeface="Aptos" panose="020B0004020202020204" pitchFamily="34" charset="0"/>
                          <a:ea typeface="Calibri" panose="020F0502020204030204" pitchFamily="34" charset="0"/>
                          <a:cs typeface="Calibri" panose="020F0502020204030204" pitchFamily="34" charset="0"/>
                        </a:rPr>
                        <a:t>tahun</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20%</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100">
                          <a:effectLst/>
                          <a:latin typeface="Aptos" panose="020B0004020202020204" pitchFamily="34" charset="0"/>
                          <a:ea typeface="MS Mincho" panose="02020609040205080304" pitchFamily="49" charset="-128"/>
                          <a:cs typeface="Times New Roman" panose="02020603050405020304" pitchFamily="18" charset="0"/>
                        </a:rPr>
                        <a:t>15%</a:t>
                      </a:r>
                    </a:p>
                  </a:txBody>
                  <a:tcPr marL="68580" marR="68580" marT="0" marB="0" anchor="ctr"/>
                </a:tc>
                <a:tc>
                  <a:txBody>
                    <a:bodyPr/>
                    <a:lstStyle/>
                    <a:p>
                      <a:pPr marL="0" marR="0" algn="ctr">
                        <a:buNone/>
                      </a:pPr>
                      <a:r>
                        <a:rPr lang="en-US" sz="1100">
                          <a:effectLst/>
                          <a:latin typeface="Aptos" panose="020B0004020202020204" pitchFamily="34" charset="0"/>
                          <a:ea typeface="MS Mincho" panose="02020609040205080304" pitchFamily="49" charset="-128"/>
                          <a:cs typeface="Times New Roman" panose="02020603050405020304" pitchFamily="18" charset="0"/>
                        </a:rPr>
                        <a:t>6</a:t>
                      </a:r>
                    </a:p>
                  </a:txBody>
                  <a:tcPr marL="68580" marR="68580" marT="0" marB="0" anchor="ctr"/>
                </a:tc>
                <a:extLst>
                  <a:ext uri="{0D108BD9-81ED-4DB2-BD59-A6C34878D82A}">
                    <a16:rowId xmlns:a16="http://schemas.microsoft.com/office/drawing/2014/main" val="2630407440"/>
                  </a:ext>
                </a:extLst>
              </a:tr>
              <a:tr h="196171">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10 </a:t>
                      </a:r>
                      <a:r>
                        <a:rPr lang="en-US" sz="1200" err="1">
                          <a:solidFill>
                            <a:srgbClr val="000000"/>
                          </a:solidFill>
                          <a:effectLst/>
                          <a:latin typeface="Aptos" panose="020B0004020202020204" pitchFamily="34" charset="0"/>
                          <a:ea typeface="Calibri" panose="020F0502020204030204" pitchFamily="34" charset="0"/>
                          <a:cs typeface="Calibri" panose="020F0502020204030204" pitchFamily="34" charset="0"/>
                        </a:rPr>
                        <a:t>tahun</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25%</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100">
                          <a:effectLst/>
                          <a:latin typeface="Aptos" panose="020B0004020202020204" pitchFamily="34" charset="0"/>
                          <a:ea typeface="MS Mincho" panose="02020609040205080304" pitchFamily="49" charset="-128"/>
                          <a:cs typeface="Times New Roman" panose="02020603050405020304" pitchFamily="18" charset="0"/>
                        </a:rPr>
                        <a:t>20%</a:t>
                      </a:r>
                    </a:p>
                  </a:txBody>
                  <a:tcPr marL="68580" marR="68580" marT="0" marB="0" anchor="ctr"/>
                </a:tc>
                <a:tc>
                  <a:txBody>
                    <a:bodyPr/>
                    <a:lstStyle/>
                    <a:p>
                      <a:pPr marL="0" marR="0" algn="ctr">
                        <a:buNone/>
                      </a:pPr>
                      <a:r>
                        <a:rPr lang="en-US" sz="1100">
                          <a:effectLst/>
                          <a:latin typeface="Aptos" panose="020B0004020202020204" pitchFamily="34" charset="0"/>
                          <a:ea typeface="MS Mincho" panose="02020609040205080304" pitchFamily="49" charset="-128"/>
                          <a:cs typeface="Times New Roman" panose="02020603050405020304" pitchFamily="18" charset="0"/>
                        </a:rPr>
                        <a:t>11</a:t>
                      </a:r>
                    </a:p>
                  </a:txBody>
                  <a:tcPr marL="68580" marR="68580" marT="0" marB="0" anchor="ctr"/>
                </a:tc>
                <a:extLst>
                  <a:ext uri="{0D108BD9-81ED-4DB2-BD59-A6C34878D82A}">
                    <a16:rowId xmlns:a16="http://schemas.microsoft.com/office/drawing/2014/main" val="402680002"/>
                  </a:ext>
                </a:extLst>
              </a:tr>
            </a:tbl>
          </a:graphicData>
        </a:graphic>
      </p:graphicFrame>
    </p:spTree>
    <p:extLst>
      <p:ext uri="{BB962C8B-B14F-4D97-AF65-F5344CB8AC3E}">
        <p14:creationId xmlns:p14="http://schemas.microsoft.com/office/powerpoint/2010/main" val="1489392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E88D1-2CC7-2911-C97B-71137EFD81F1}"/>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9C9790AB-E74A-B8A8-3E0B-E42143618A9A}"/>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33A1E7F-48F8-0516-A4A8-7DAFA0F18DE1}"/>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DEF6A894-6EB5-D13C-55DB-A39075F78F55}"/>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E4749A21-E2C0-B725-0FFF-56E419A2093A}"/>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9B269ADD-AA7E-808F-26B6-395DB99B716F}"/>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
        <p:nvSpPr>
          <p:cNvPr id="3" name="Content Placeholder 4">
            <a:extLst>
              <a:ext uri="{FF2B5EF4-FFF2-40B4-BE49-F238E27FC236}">
                <a16:creationId xmlns:a16="http://schemas.microsoft.com/office/drawing/2014/main" id="{F1A0E06F-E9A5-F640-E4C5-B9A493E14E7F}"/>
              </a:ext>
            </a:extLst>
          </p:cNvPr>
          <p:cNvSpPr txBox="1">
            <a:spLocks/>
          </p:cNvSpPr>
          <p:nvPr/>
        </p:nvSpPr>
        <p:spPr>
          <a:xfrm>
            <a:off x="250031" y="1678848"/>
            <a:ext cx="10515600" cy="63817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a:solidFill>
                  <a:schemeClr val="bg1"/>
                </a:solidFill>
                <a:latin typeface="Aptos" panose="020B0004020202020204" pitchFamily="34" charset="0"/>
                <a:ea typeface="Calibri" panose="020F0502020204030204" pitchFamily="34" charset="0"/>
                <a:cs typeface="Calibri" panose="020F0502020204030204" pitchFamily="34" charset="0"/>
              </a:rPr>
              <a:t>ILUSTRASI MANFAAT</a:t>
            </a:r>
          </a:p>
        </p:txBody>
      </p:sp>
    </p:spTree>
    <p:extLst>
      <p:ext uri="{BB962C8B-B14F-4D97-AF65-F5344CB8AC3E}">
        <p14:creationId xmlns:p14="http://schemas.microsoft.com/office/powerpoint/2010/main" val="898786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C550C-817B-CCD4-47EB-E955969B8CFC}"/>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1AC42291-23A7-85C7-1581-8960303E40E5}"/>
              </a:ext>
            </a:extLst>
          </p:cNvPr>
          <p:cNvSpPr>
            <a:spLocks noGrp="1"/>
          </p:cNvSpPr>
          <p:nvPr>
            <p:ph type="title" idx="4294967295"/>
          </p:nvPr>
        </p:nvSpPr>
        <p:spPr>
          <a:xfrm>
            <a:off x="2855913" y="183650"/>
            <a:ext cx="9217025" cy="620713"/>
          </a:xfrm>
        </p:spPr>
        <p:txBody>
          <a:bodyPr>
            <a:normAutofit fontScale="90000"/>
          </a:bodyPr>
          <a:lstStyle/>
          <a:p>
            <a:pPr algn="r"/>
            <a:r>
              <a:rPr lang="en-GB" sz="2400" b="1" err="1">
                <a:solidFill>
                  <a:srgbClr val="002060"/>
                </a:solidFill>
                <a:latin typeface="Aptos" panose="020B0004020202020204" pitchFamily="34" charset="0"/>
              </a:rPr>
              <a:t>Ilustrasi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Produk</a:t>
            </a:r>
            <a:r>
              <a:rPr lang="en-GB" sz="2400" b="1">
                <a:solidFill>
                  <a:srgbClr val="002060"/>
                </a:solidFill>
                <a:latin typeface="Aptos" panose="020B0004020202020204" pitchFamily="34" charset="0"/>
              </a:rPr>
              <a:t> Value Income Assurance (VALUE+) Plan Boost (IDR)</a:t>
            </a:r>
          </a:p>
        </p:txBody>
      </p:sp>
      <p:graphicFrame>
        <p:nvGraphicFramePr>
          <p:cNvPr id="5" name="Table 4">
            <a:extLst>
              <a:ext uri="{FF2B5EF4-FFF2-40B4-BE49-F238E27FC236}">
                <a16:creationId xmlns:a16="http://schemas.microsoft.com/office/drawing/2014/main" id="{D5CB8E3C-3674-1ACF-6551-2071732DF9B9}"/>
              </a:ext>
            </a:extLst>
          </p:cNvPr>
          <p:cNvGraphicFramePr>
            <a:graphicFrameLocks noGrp="1"/>
          </p:cNvGraphicFramePr>
          <p:nvPr/>
        </p:nvGraphicFramePr>
        <p:xfrm>
          <a:off x="212534" y="1085564"/>
          <a:ext cx="9557999" cy="822960"/>
        </p:xfrm>
        <a:graphic>
          <a:graphicData uri="http://schemas.openxmlformats.org/drawingml/2006/table">
            <a:tbl>
              <a:tblPr firstCol="1" bandRow="1">
                <a:tableStyleId>{7E9639D4-E3E2-4D34-9284-5A2195B3D0D7}</a:tableStyleId>
              </a:tblPr>
              <a:tblGrid>
                <a:gridCol w="2302389">
                  <a:extLst>
                    <a:ext uri="{9D8B030D-6E8A-4147-A177-3AD203B41FA5}">
                      <a16:colId xmlns:a16="http://schemas.microsoft.com/office/drawing/2014/main" val="1422733083"/>
                    </a:ext>
                  </a:extLst>
                </a:gridCol>
                <a:gridCol w="2285677">
                  <a:extLst>
                    <a:ext uri="{9D8B030D-6E8A-4147-A177-3AD203B41FA5}">
                      <a16:colId xmlns:a16="http://schemas.microsoft.com/office/drawing/2014/main" val="2680841471"/>
                    </a:ext>
                  </a:extLst>
                </a:gridCol>
                <a:gridCol w="2801610">
                  <a:extLst>
                    <a:ext uri="{9D8B030D-6E8A-4147-A177-3AD203B41FA5}">
                      <a16:colId xmlns:a16="http://schemas.microsoft.com/office/drawing/2014/main" val="3312317049"/>
                    </a:ext>
                  </a:extLst>
                </a:gridCol>
                <a:gridCol w="2168323">
                  <a:extLst>
                    <a:ext uri="{9D8B030D-6E8A-4147-A177-3AD203B41FA5}">
                      <a16:colId xmlns:a16="http://schemas.microsoft.com/office/drawing/2014/main" val="1531636827"/>
                    </a:ext>
                  </a:extLst>
                </a:gridCol>
              </a:tblGrid>
              <a:tr h="205740">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Nama </a:t>
                      </a:r>
                      <a:r>
                        <a:rPr lang="en-US" sz="1200" b="0" kern="0" err="1">
                          <a:solidFill>
                            <a:schemeClr val="tx1"/>
                          </a:solidFill>
                          <a:effectLst/>
                          <a:latin typeface="Aptos" panose="020B0004020202020204" pitchFamily="34" charset="0"/>
                        </a:rPr>
                        <a:t>Tertanggung</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Kevin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Premi </a:t>
                      </a:r>
                      <a:r>
                        <a:rPr lang="en-US" sz="1200" b="0" kern="0" err="1">
                          <a:solidFill>
                            <a:schemeClr val="tx1"/>
                          </a:solidFill>
                          <a:effectLst/>
                          <a:latin typeface="Aptos" panose="020B0004020202020204" pitchFamily="34" charset="0"/>
                        </a:rPr>
                        <a:t>Asuransi</a:t>
                      </a:r>
                      <a:r>
                        <a:rPr lang="en-US" sz="1200" b="0" kern="0">
                          <a:solidFill>
                            <a:schemeClr val="tx1"/>
                          </a:solidFill>
                          <a:effectLst/>
                          <a:latin typeface="Aptos" panose="020B0004020202020204" pitchFamily="34" charset="0"/>
                        </a:rPr>
                        <a:t> Dasar</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Rp100.000.000,-/</a:t>
                      </a:r>
                      <a:r>
                        <a:rPr lang="en-US" sz="1200" kern="0" err="1">
                          <a:solidFill>
                            <a:schemeClr val="tx1"/>
                          </a:solidFill>
                          <a:effectLst/>
                          <a:latin typeface="Aptos" panose="020B0004020202020204" pitchFamily="34" charset="0"/>
                        </a:rPr>
                        <a:t>tahun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1240422"/>
                  </a:ext>
                </a:extLst>
              </a:tr>
              <a:tr h="205740">
                <a:tc>
                  <a:txBody>
                    <a:bodyPr/>
                    <a:lstStyle/>
                    <a:p>
                      <a:pPr marL="57150" marR="0" indent="0">
                        <a:lnSpc>
                          <a:spcPct val="100000"/>
                        </a:lnSpc>
                        <a:spcAft>
                          <a:spcPts val="0"/>
                        </a:spcAft>
                        <a:buNone/>
                      </a:pPr>
                      <a:r>
                        <a:rPr lang="en-US" sz="1200" b="0" kern="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Usia</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35 </a:t>
                      </a:r>
                      <a:r>
                        <a:rPr lang="en-US" sz="1200" kern="0" err="1">
                          <a:solidFill>
                            <a:schemeClr val="tx1"/>
                          </a:solidFill>
                          <a:effectLst/>
                          <a:latin typeface="Aptos" panose="020B0004020202020204" pitchFamily="34" charset="0"/>
                        </a:rPr>
                        <a:t>tahun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ea typeface="+mn-ea"/>
                          <a:cs typeface="+mn-cs"/>
                        </a:rPr>
                        <a:t>Premi </a:t>
                      </a:r>
                      <a:r>
                        <a:rPr lang="en-US" sz="1200" b="0" kern="0" err="1">
                          <a:solidFill>
                            <a:schemeClr val="tx1"/>
                          </a:solidFill>
                          <a:effectLst/>
                          <a:latin typeface="Aptos" panose="020B0004020202020204" pitchFamily="34" charset="0"/>
                          <a:ea typeface="+mn-ea"/>
                          <a:cs typeface="+mn-cs"/>
                        </a:rPr>
                        <a:t>Asuransi</a:t>
                      </a:r>
                      <a:r>
                        <a:rPr lang="en-US" sz="1200" b="0" kern="0">
                          <a:solidFill>
                            <a:schemeClr val="tx1"/>
                          </a:solidFill>
                          <a:effectLst/>
                          <a:latin typeface="Aptos" panose="020B0004020202020204" pitchFamily="34" charset="0"/>
                          <a:ea typeface="+mn-ea"/>
                          <a:cs typeface="+mn-cs"/>
                        </a:rPr>
                        <a:t> </a:t>
                      </a:r>
                      <a:r>
                        <a:rPr lang="en-US" sz="1200" b="0" kern="0" err="1">
                          <a:solidFill>
                            <a:schemeClr val="tx1"/>
                          </a:solidFill>
                          <a:effectLst/>
                          <a:latin typeface="Aptos" panose="020B0004020202020204" pitchFamily="34" charset="0"/>
                          <a:ea typeface="+mn-ea"/>
                          <a:cs typeface="+mn-cs"/>
                        </a:rPr>
                        <a:t>Tambahan</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ea typeface="+mn-ea"/>
                          <a:cs typeface="+mn-cs"/>
                        </a:rPr>
                        <a:t>: Rp200.000,-/tahun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30022040"/>
                  </a:ext>
                </a:extLst>
              </a:tr>
              <a:tr h="205740">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Jenis </a:t>
                      </a:r>
                      <a:r>
                        <a:rPr lang="en-US" sz="1200" b="0" kern="0" err="1">
                          <a:solidFill>
                            <a:schemeClr val="tx1"/>
                          </a:solidFill>
                          <a:effectLst/>
                          <a:latin typeface="Aptos" panose="020B0004020202020204" pitchFamily="34" charset="0"/>
                        </a:rPr>
                        <a:t>Kelamin</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Laki-</a:t>
                      </a:r>
                      <a:r>
                        <a:rPr lang="en-US" sz="1200" kern="0" err="1">
                          <a:solidFill>
                            <a:schemeClr val="tx1"/>
                          </a:solidFill>
                          <a:effectLst/>
                          <a:latin typeface="Aptos" panose="020B0004020202020204" pitchFamily="34" charset="0"/>
                        </a:rPr>
                        <a:t>laki</a:t>
                      </a:r>
                      <a:r>
                        <a:rPr lang="en-US" sz="1200" kern="0">
                          <a:solidFill>
                            <a:schemeClr val="tx1"/>
                          </a:solidFill>
                          <a:effectLst/>
                          <a:latin typeface="Aptos" panose="020B0004020202020204" pitchFamily="34" charset="0"/>
                        </a:rPr>
                        <a:t> </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indent="0">
                        <a:lnSpc>
                          <a:spcPct val="100000"/>
                        </a:lnSpc>
                        <a:spcAft>
                          <a:spcPts val="0"/>
                        </a:spcAft>
                        <a:buNone/>
                      </a:pPr>
                      <a:r>
                        <a:rPr lang="en-US" sz="1200" b="0" kern="0" err="1">
                          <a:solidFill>
                            <a:schemeClr val="tx1"/>
                          </a:solidFill>
                          <a:effectLst/>
                          <a:latin typeface="Aptos" panose="020B0004020202020204" pitchFamily="34" charset="0"/>
                        </a:rPr>
                        <a:t>Frekuensi</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Pembayaran</a:t>
                      </a:r>
                      <a:r>
                        <a:rPr lang="en-US" sz="1200" b="0" kern="0">
                          <a:solidFill>
                            <a:schemeClr val="tx1"/>
                          </a:solidFill>
                          <a:effectLst/>
                          <a:latin typeface="Aptos" panose="020B0004020202020204" pitchFamily="34" charset="0"/>
                        </a:rPr>
                        <a:t> Premi</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a:t>
                      </a:r>
                      <a:r>
                        <a:rPr lang="en-US" sz="1200" kern="0" err="1">
                          <a:solidFill>
                            <a:schemeClr val="tx1"/>
                          </a:solidFill>
                          <a:effectLst/>
                          <a:latin typeface="Aptos" panose="020B0004020202020204" pitchFamily="34" charset="0"/>
                        </a:rPr>
                        <a:t>Tahunan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2057515"/>
                  </a:ext>
                </a:extLst>
              </a:tr>
              <a:tr h="205740">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Masa </a:t>
                      </a:r>
                      <a:r>
                        <a:rPr lang="en-US" sz="1200" b="0" kern="0" err="1">
                          <a:solidFill>
                            <a:schemeClr val="tx1"/>
                          </a:solidFill>
                          <a:effectLst/>
                          <a:latin typeface="Aptos" panose="020B0004020202020204" pitchFamily="34" charset="0"/>
                        </a:rPr>
                        <a:t>Pertanggungan</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US" sz="1200" kern="0">
                          <a:solidFill>
                            <a:schemeClr val="tx1"/>
                          </a:solidFill>
                          <a:effectLst/>
                          <a:latin typeface="Aptos" panose="020B0004020202020204" pitchFamily="34" charset="0"/>
                        </a:rPr>
                        <a:t>20 </a:t>
                      </a:r>
                      <a:r>
                        <a:rPr lang="en-US" sz="1200" kern="0" err="1">
                          <a:solidFill>
                            <a:schemeClr val="tx1"/>
                          </a:solidFill>
                          <a:effectLst/>
                          <a:latin typeface="Aptos" panose="020B0004020202020204" pitchFamily="34" charset="0"/>
                        </a:rPr>
                        <a:t>tahun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lvl="0" indent="0" algn="l" defTabSz="914400" rtl="0" eaLnBrk="1" fontAlgn="auto" latinLnBrk="0" hangingPunct="1">
                        <a:lnSpc>
                          <a:spcPct val="100000"/>
                        </a:lnSpc>
                        <a:spcBef>
                          <a:spcPts val="0"/>
                        </a:spcBef>
                        <a:spcAft>
                          <a:spcPts val="0"/>
                        </a:spcAft>
                        <a:buClrTx/>
                        <a:buSzTx/>
                        <a:buFontTx/>
                        <a:buNone/>
                        <a:tabLst/>
                        <a:defRPr/>
                      </a:pPr>
                      <a:r>
                        <a:rPr lang="en-US" sz="1200" b="0" kern="0">
                          <a:solidFill>
                            <a:schemeClr val="tx1"/>
                          </a:solidFill>
                          <a:effectLst/>
                          <a:latin typeface="Aptos" panose="020B0004020202020204" pitchFamily="34" charset="0"/>
                        </a:rPr>
                        <a:t>Masa </a:t>
                      </a:r>
                      <a:r>
                        <a:rPr lang="en-US" sz="1200" b="0" kern="0" err="1">
                          <a:solidFill>
                            <a:schemeClr val="tx1"/>
                          </a:solidFill>
                          <a:effectLst/>
                          <a:latin typeface="Aptos" panose="020B0004020202020204" pitchFamily="34" charset="0"/>
                        </a:rPr>
                        <a:t>Pembayaran</a:t>
                      </a:r>
                      <a:r>
                        <a:rPr lang="en-US" sz="1200" b="0" kern="0">
                          <a:solidFill>
                            <a:schemeClr val="tx1"/>
                          </a:solidFill>
                          <a:effectLst/>
                          <a:latin typeface="Aptos" panose="020B0004020202020204" pitchFamily="34" charset="0"/>
                        </a:rPr>
                        <a:t> Premi</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ea typeface="+mn-ea"/>
                          <a:cs typeface="+mn-cs"/>
                        </a:rPr>
                        <a:t>: 5 </a:t>
                      </a:r>
                      <a:r>
                        <a:rPr lang="en-US" sz="1200" kern="0" err="1">
                          <a:solidFill>
                            <a:schemeClr val="tx1"/>
                          </a:solidFill>
                          <a:effectLst/>
                          <a:latin typeface="Aptos" panose="020B0004020202020204" pitchFamily="34" charset="0"/>
                          <a:ea typeface="+mn-ea"/>
                          <a:cs typeface="+mn-cs"/>
                        </a:rPr>
                        <a:t>tahun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96221601"/>
                  </a:ext>
                </a:extLst>
              </a:tr>
            </a:tbl>
          </a:graphicData>
        </a:graphic>
      </p:graphicFrame>
      <p:sp>
        <p:nvSpPr>
          <p:cNvPr id="6" name="TextBox 5">
            <a:extLst>
              <a:ext uri="{FF2B5EF4-FFF2-40B4-BE49-F238E27FC236}">
                <a16:creationId xmlns:a16="http://schemas.microsoft.com/office/drawing/2014/main" id="{E15E6E55-44E0-7F68-083D-1A6571E77CC8}"/>
              </a:ext>
            </a:extLst>
          </p:cNvPr>
          <p:cNvSpPr txBox="1"/>
          <p:nvPr/>
        </p:nvSpPr>
        <p:spPr>
          <a:xfrm>
            <a:off x="212534" y="2214456"/>
            <a:ext cx="3491831" cy="276999"/>
          </a:xfrm>
          <a:prstGeom prst="rect">
            <a:avLst/>
          </a:prstGeom>
          <a:noFill/>
        </p:spPr>
        <p:txBody>
          <a:bodyPr wrap="square">
            <a:spAutoFit/>
          </a:bodyPr>
          <a:lstStyle/>
          <a:p>
            <a:r>
              <a:rPr lang="en-US" sz="1200" b="1" err="1">
                <a:latin typeface="Aptos" panose="020B0004020202020204" pitchFamily="34" charset="0"/>
              </a:rPr>
              <a:t>Ilustrasi</a:t>
            </a:r>
            <a:r>
              <a:rPr lang="en-US" sz="1200" b="1">
                <a:latin typeface="Aptos" panose="020B0004020202020204" pitchFamily="34" charset="0"/>
              </a:rPr>
              <a:t> </a:t>
            </a:r>
            <a:r>
              <a:rPr lang="en-US" sz="1200" b="1" err="1">
                <a:latin typeface="Aptos" panose="020B0004020202020204" pitchFamily="34" charset="0"/>
              </a:rPr>
              <a:t>Pembayaran</a:t>
            </a:r>
            <a:r>
              <a:rPr lang="en-US" sz="1200" b="1">
                <a:latin typeface="Aptos" panose="020B0004020202020204" pitchFamily="34" charset="0"/>
              </a:rPr>
              <a:t> Manfaat</a:t>
            </a:r>
          </a:p>
        </p:txBody>
      </p:sp>
      <p:sp>
        <p:nvSpPr>
          <p:cNvPr id="9" name="Rectangle 3">
            <a:extLst>
              <a:ext uri="{FF2B5EF4-FFF2-40B4-BE49-F238E27FC236}">
                <a16:creationId xmlns:a16="http://schemas.microsoft.com/office/drawing/2014/main" id="{251403CE-BF21-D774-62BA-C2D70566A9B0}"/>
              </a:ext>
            </a:extLst>
          </p:cNvPr>
          <p:cNvSpPr>
            <a:spLocks noChangeArrowheads="1"/>
          </p:cNvSpPr>
          <p:nvPr/>
        </p:nvSpPr>
        <p:spPr bwMode="auto">
          <a:xfrm>
            <a:off x="212533" y="5960590"/>
            <a:ext cx="855999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100" b="0"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Catatan</a:t>
            </a:r>
            <a:r>
              <a:rPr kumimoji="0" lang="en-US" altLang="en-US" sz="1100" b="0"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id-ID" altLang="en-US" sz="1100" b="0"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Manfaat Meninggal Dunia akan dikurangi dengan Manfaat </a:t>
            </a:r>
            <a:r>
              <a:rPr kumimoji="0" lang="en-US" altLang="en-US" sz="1100" b="0"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Tunai</a:t>
            </a:r>
            <a:r>
              <a:rPr kumimoji="0" lang="en-US" altLang="en-US" sz="1100" b="0"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100" b="0"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Tahunan</a:t>
            </a:r>
            <a:r>
              <a:rPr kumimoji="0" lang="en-US" altLang="en-US" sz="1100" b="0"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yang </a:t>
            </a:r>
            <a:r>
              <a:rPr kumimoji="0" lang="en-US" altLang="en-US" sz="1100" b="0"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telah</a:t>
            </a:r>
            <a:r>
              <a:rPr kumimoji="0" lang="en-US" altLang="en-US" sz="1100" b="0"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100" b="0"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dibayarkan</a:t>
            </a:r>
            <a:r>
              <a:rPr kumimoji="0" lang="id-ID" altLang="en-US" sz="1100" b="0"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(jika ada) dan selanjutnya Polis berakhir.</a:t>
            </a:r>
            <a:endParaRPr kumimoji="0" lang="id-ID" altLang="en-US" sz="3200" b="0" i="0" strike="noStrike" cap="none" normalizeH="0" baseline="0">
              <a:ln>
                <a:noFill/>
              </a:ln>
              <a:effectLst/>
              <a:latin typeface="Aptos" panose="020B0004020202020204" pitchFamily="34" charset="0"/>
            </a:endParaRPr>
          </a:p>
        </p:txBody>
      </p:sp>
      <p:sp>
        <p:nvSpPr>
          <p:cNvPr id="2" name="TextBox 1">
            <a:extLst>
              <a:ext uri="{FF2B5EF4-FFF2-40B4-BE49-F238E27FC236}">
                <a16:creationId xmlns:a16="http://schemas.microsoft.com/office/drawing/2014/main" id="{45CCF217-95D6-7190-C993-21EBBCFADC15}"/>
              </a:ext>
            </a:extLst>
          </p:cNvPr>
          <p:cNvSpPr txBox="1"/>
          <p:nvPr/>
        </p:nvSpPr>
        <p:spPr>
          <a:xfrm>
            <a:off x="154558" y="804363"/>
            <a:ext cx="9065642" cy="276999"/>
          </a:xfrm>
          <a:prstGeom prst="rect">
            <a:avLst/>
          </a:prstGeom>
          <a:noFill/>
        </p:spPr>
        <p:txBody>
          <a:bodyPr wrap="square">
            <a:spAutoFit/>
          </a:bodyPr>
          <a:lstStyle/>
          <a:p>
            <a:pPr algn="just"/>
            <a:r>
              <a:rPr lang="en-US" sz="1200" b="1" err="1">
                <a:latin typeface="Aptos" panose="020B0004020202020204" pitchFamily="34" charset="0"/>
              </a:rPr>
              <a:t>Nasabah</a:t>
            </a:r>
            <a:r>
              <a:rPr lang="en-US" sz="1200" b="1">
                <a:latin typeface="Aptos" panose="020B0004020202020204" pitchFamily="34" charset="0"/>
              </a:rPr>
              <a:t> </a:t>
            </a:r>
            <a:r>
              <a:rPr lang="en-US" sz="1200" b="1" err="1">
                <a:latin typeface="Aptos" panose="020B0004020202020204" pitchFamily="34" charset="0"/>
              </a:rPr>
              <a:t>memilih</a:t>
            </a:r>
            <a:r>
              <a:rPr lang="en-US" sz="1200" b="1">
                <a:latin typeface="Aptos" panose="020B0004020202020204" pitchFamily="34" charset="0"/>
              </a:rPr>
              <a:t> Plan Boost (</a:t>
            </a:r>
            <a:r>
              <a:rPr lang="en-US" sz="1200" b="1" err="1">
                <a:latin typeface="Aptos" panose="020B0004020202020204" pitchFamily="34" charset="0"/>
              </a:rPr>
              <a:t>dengan</a:t>
            </a:r>
            <a:r>
              <a:rPr lang="en-US" sz="1200" b="1">
                <a:latin typeface="Aptos" panose="020B0004020202020204" pitchFamily="34" charset="0"/>
              </a:rPr>
              <a:t> Manfaat </a:t>
            </a:r>
            <a:r>
              <a:rPr lang="en-US" sz="1200" b="1" err="1">
                <a:latin typeface="Aptos" panose="020B0004020202020204" pitchFamily="34" charset="0"/>
              </a:rPr>
              <a:t>Tunai</a:t>
            </a:r>
            <a:r>
              <a:rPr lang="en-US" sz="1200" b="1">
                <a:latin typeface="Aptos" panose="020B0004020202020204" pitchFamily="34" charset="0"/>
              </a:rPr>
              <a:t> </a:t>
            </a:r>
            <a:r>
              <a:rPr lang="en-US" sz="1200" b="1" err="1">
                <a:latin typeface="Aptos" panose="020B0004020202020204" pitchFamily="34" charset="0"/>
              </a:rPr>
              <a:t>Tahunan</a:t>
            </a:r>
            <a:r>
              <a:rPr lang="en-US" sz="1200" b="1">
                <a:latin typeface="Aptos" panose="020B0004020202020204" pitchFamily="34" charset="0"/>
              </a:rPr>
              <a:t>) </a:t>
            </a:r>
            <a:r>
              <a:rPr lang="en-US" sz="1200" b="1" err="1">
                <a:latin typeface="Aptos" panose="020B0004020202020204" pitchFamily="34" charset="0"/>
              </a:rPr>
              <a:t>disertai</a:t>
            </a:r>
            <a:r>
              <a:rPr lang="en-US" sz="1200" b="1">
                <a:latin typeface="Aptos" panose="020B0004020202020204" pitchFamily="34" charset="0"/>
              </a:rPr>
              <a:t> Asuransi Tambahan Waiver of Premium Plus:</a:t>
            </a:r>
          </a:p>
        </p:txBody>
      </p:sp>
      <p:pic>
        <p:nvPicPr>
          <p:cNvPr id="3" name="Picture 2">
            <a:extLst>
              <a:ext uri="{FF2B5EF4-FFF2-40B4-BE49-F238E27FC236}">
                <a16:creationId xmlns:a16="http://schemas.microsoft.com/office/drawing/2014/main" id="{D46D1241-3292-AA03-17DF-CCB4EE0401C3}"/>
              </a:ext>
            </a:extLst>
          </p:cNvPr>
          <p:cNvPicPr>
            <a:picLocks noChangeAspect="1"/>
          </p:cNvPicPr>
          <p:nvPr/>
        </p:nvPicPr>
        <p:blipFill>
          <a:blip r:embed="rId3"/>
          <a:stretch>
            <a:fillRect/>
          </a:stretch>
        </p:blipFill>
        <p:spPr>
          <a:xfrm>
            <a:off x="212533" y="2563591"/>
            <a:ext cx="9105941" cy="3490046"/>
          </a:xfrm>
          <a:prstGeom prst="rect">
            <a:avLst/>
          </a:prstGeom>
        </p:spPr>
      </p:pic>
    </p:spTree>
    <p:extLst>
      <p:ext uri="{BB962C8B-B14F-4D97-AF65-F5344CB8AC3E}">
        <p14:creationId xmlns:p14="http://schemas.microsoft.com/office/powerpoint/2010/main" val="2782976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43EA7-997A-E666-5041-CC132830DD87}"/>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DC5E8E23-11FA-BC33-28FB-C25190BC2099}"/>
              </a:ext>
            </a:extLst>
          </p:cNvPr>
          <p:cNvSpPr>
            <a:spLocks noGrp="1"/>
          </p:cNvSpPr>
          <p:nvPr>
            <p:ph type="title" idx="4294967295"/>
          </p:nvPr>
        </p:nvSpPr>
        <p:spPr>
          <a:xfrm>
            <a:off x="2855913" y="183650"/>
            <a:ext cx="9217025" cy="620713"/>
          </a:xfrm>
        </p:spPr>
        <p:txBody>
          <a:bodyPr>
            <a:normAutofit fontScale="90000"/>
          </a:bodyPr>
          <a:lstStyle/>
          <a:p>
            <a:pPr algn="r"/>
            <a:r>
              <a:rPr lang="en-GB" sz="2400" b="1" err="1">
                <a:solidFill>
                  <a:srgbClr val="002060"/>
                </a:solidFill>
                <a:latin typeface="Aptos" panose="020B0004020202020204" pitchFamily="34" charset="0"/>
              </a:rPr>
              <a:t>Ilustrasi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Produk</a:t>
            </a:r>
            <a:r>
              <a:rPr lang="en-GB" sz="2400" b="1">
                <a:solidFill>
                  <a:srgbClr val="002060"/>
                </a:solidFill>
                <a:latin typeface="Aptos" panose="020B0004020202020204" pitchFamily="34" charset="0"/>
              </a:rPr>
              <a:t> Value Income Assurance (VALUE+) Plan Boost (IDR)</a:t>
            </a:r>
          </a:p>
        </p:txBody>
      </p:sp>
      <p:graphicFrame>
        <p:nvGraphicFramePr>
          <p:cNvPr id="4" name="Table 3">
            <a:extLst>
              <a:ext uri="{FF2B5EF4-FFF2-40B4-BE49-F238E27FC236}">
                <a16:creationId xmlns:a16="http://schemas.microsoft.com/office/drawing/2014/main" id="{75D761E5-A86C-0777-FBD2-1D7C00565006}"/>
              </a:ext>
            </a:extLst>
          </p:cNvPr>
          <p:cNvGraphicFramePr>
            <a:graphicFrameLocks noGrp="1"/>
          </p:cNvGraphicFramePr>
          <p:nvPr>
            <p:extLst>
              <p:ext uri="{D42A27DB-BD31-4B8C-83A1-F6EECF244321}">
                <p14:modId xmlns:p14="http://schemas.microsoft.com/office/powerpoint/2010/main" val="2637092721"/>
              </p:ext>
            </p:extLst>
          </p:nvPr>
        </p:nvGraphicFramePr>
        <p:xfrm>
          <a:off x="305667" y="1323308"/>
          <a:ext cx="9871267" cy="1658949"/>
        </p:xfrm>
        <a:graphic>
          <a:graphicData uri="http://schemas.openxmlformats.org/drawingml/2006/table">
            <a:tbl>
              <a:tblPr firstRow="1" firstCol="1" bandRow="1">
                <a:tableStyleId>{5940675A-B579-460E-94D1-54222C63F5DA}</a:tableStyleId>
              </a:tblPr>
              <a:tblGrid>
                <a:gridCol w="1815741">
                  <a:extLst>
                    <a:ext uri="{9D8B030D-6E8A-4147-A177-3AD203B41FA5}">
                      <a16:colId xmlns:a16="http://schemas.microsoft.com/office/drawing/2014/main" val="1650739761"/>
                    </a:ext>
                  </a:extLst>
                </a:gridCol>
                <a:gridCol w="2640669">
                  <a:extLst>
                    <a:ext uri="{9D8B030D-6E8A-4147-A177-3AD203B41FA5}">
                      <a16:colId xmlns:a16="http://schemas.microsoft.com/office/drawing/2014/main" val="1962661030"/>
                    </a:ext>
                  </a:extLst>
                </a:gridCol>
                <a:gridCol w="3828422">
                  <a:extLst>
                    <a:ext uri="{9D8B030D-6E8A-4147-A177-3AD203B41FA5}">
                      <a16:colId xmlns:a16="http://schemas.microsoft.com/office/drawing/2014/main" val="3081628540"/>
                    </a:ext>
                  </a:extLst>
                </a:gridCol>
                <a:gridCol w="1586435">
                  <a:extLst>
                    <a:ext uri="{9D8B030D-6E8A-4147-A177-3AD203B41FA5}">
                      <a16:colId xmlns:a16="http://schemas.microsoft.com/office/drawing/2014/main" val="1099585529"/>
                    </a:ext>
                  </a:extLst>
                </a:gridCol>
              </a:tblGrid>
              <a:tr h="413336">
                <a:tc>
                  <a:txBody>
                    <a:bodyPr/>
                    <a:lstStyle/>
                    <a:p>
                      <a:pPr algn="ctr">
                        <a:lnSpc>
                          <a:spcPct val="100000"/>
                        </a:lnSpc>
                        <a:spcAft>
                          <a:spcPts val="0"/>
                        </a:spcAft>
                        <a:buNone/>
                      </a:pP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Usia</a:t>
                      </a: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Tertanggung</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a:solidFill>
                            <a:schemeClr val="bg1"/>
                          </a:solidFill>
                          <a:effectLst/>
                          <a:latin typeface="Aptos" panose="020B0004020202020204" pitchFamily="34" charset="0"/>
                        </a:rPr>
                        <a:t>Manfaat </a:t>
                      </a:r>
                      <a:r>
                        <a:rPr lang="en-US" sz="1200" b="1" kern="0" err="1">
                          <a:solidFill>
                            <a:schemeClr val="bg1"/>
                          </a:solidFill>
                          <a:effectLst/>
                          <a:latin typeface="Aptos" panose="020B0004020202020204" pitchFamily="34" charset="0"/>
                        </a:rPr>
                        <a:t>Asuransi</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Detail Manfaat</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Manfaat yang Dibayarkan</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extLst>
                  <a:ext uri="{0D108BD9-81ED-4DB2-BD59-A6C34878D82A}">
                    <a16:rowId xmlns:a16="http://schemas.microsoft.com/office/drawing/2014/main" val="2762450738"/>
                  </a:ext>
                </a:extLst>
              </a:tr>
              <a:tr h="331213">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40 – 54 tahun</a:t>
                      </a:r>
                    </a:p>
                  </a:txBody>
                  <a:tcPr marL="68580" marR="68580" marT="0" marB="0" anchor="ctr"/>
                </a:tc>
                <a:tc>
                  <a:txBody>
                    <a:bodyPr/>
                    <a:lstStyle/>
                    <a:p>
                      <a:pPr algn="l">
                        <a:lnSpc>
                          <a:spcPct val="100000"/>
                        </a:lnSpc>
                        <a:spcAft>
                          <a:spcPts val="0"/>
                        </a:spcAft>
                        <a:buNone/>
                      </a:pPr>
                      <a:r>
                        <a:rPr lang="en-US" sz="1200" kern="0">
                          <a:solidFill>
                            <a:schemeClr val="tx1"/>
                          </a:solidFill>
                          <a:effectLst/>
                          <a:latin typeface="Aptos" panose="020B0004020202020204" pitchFamily="34" charset="0"/>
                        </a:rPr>
                        <a:t>Manfaat </a:t>
                      </a:r>
                      <a:r>
                        <a:rPr lang="en-US" sz="1200" kern="0" err="1">
                          <a:solidFill>
                            <a:schemeClr val="tx1"/>
                          </a:solidFill>
                          <a:effectLst/>
                          <a:latin typeface="Aptos" panose="020B0004020202020204" pitchFamily="34" charset="0"/>
                        </a:rPr>
                        <a:t>Tunai</a:t>
                      </a:r>
                      <a:r>
                        <a:rPr lang="en-US" sz="1200" kern="0">
                          <a:solidFill>
                            <a:schemeClr val="tx1"/>
                          </a:solidFill>
                          <a:effectLst/>
                          <a:latin typeface="Aptos" panose="020B0004020202020204" pitchFamily="34" charset="0"/>
                        </a:rPr>
                        <a:t> </a:t>
                      </a:r>
                      <a:r>
                        <a:rPr lang="en-US" sz="1200" kern="0" err="1">
                          <a:solidFill>
                            <a:schemeClr val="tx1"/>
                          </a:solidFill>
                          <a:effectLst/>
                          <a:latin typeface="Aptos" panose="020B0004020202020204" pitchFamily="34" charset="0"/>
                        </a:rPr>
                        <a:t>Tahunan</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l">
                        <a:lnSpc>
                          <a:spcPct val="100000"/>
                        </a:lnSpc>
                        <a:spcAft>
                          <a:spcPts val="0"/>
                        </a:spcAft>
                        <a:buNone/>
                      </a:pPr>
                      <a:r>
                        <a:rPr lang="en-US" sz="1200" b="0" kern="0" err="1">
                          <a:solidFill>
                            <a:schemeClr val="tx1"/>
                          </a:solidFill>
                          <a:effectLst/>
                          <a:latin typeface="Aptos" panose="020B0004020202020204" pitchFamily="34" charset="0"/>
                        </a:rPr>
                        <a:t>Dibayarkan</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berkala</a:t>
                      </a:r>
                      <a:r>
                        <a:rPr lang="en-US" sz="1200" b="0" kern="0">
                          <a:solidFill>
                            <a:schemeClr val="tx1"/>
                          </a:solidFill>
                          <a:effectLst/>
                          <a:latin typeface="Aptos" panose="020B0004020202020204" pitchFamily="34" charset="0"/>
                        </a:rPr>
                        <a:t> pada </a:t>
                      </a:r>
                      <a:r>
                        <a:rPr lang="en-US" sz="1200" b="0" kern="0" err="1">
                          <a:solidFill>
                            <a:schemeClr val="tx1"/>
                          </a:solidFill>
                          <a:effectLst/>
                          <a:latin typeface="Aptos" panose="020B0004020202020204" pitchFamily="34" charset="0"/>
                        </a:rPr>
                        <a:t>akhir</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ke-6 </a:t>
                      </a:r>
                      <a:r>
                        <a:rPr lang="en-US" sz="1200" b="0" kern="0" err="1">
                          <a:solidFill>
                            <a:schemeClr val="tx1"/>
                          </a:solidFill>
                          <a:effectLst/>
                          <a:latin typeface="Aptos" panose="020B0004020202020204" pitchFamily="34" charset="0"/>
                        </a:rPr>
                        <a:t>hingga</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akhir</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ke-20:</a:t>
                      </a:r>
                    </a:p>
                    <a:p>
                      <a:pPr algn="l">
                        <a:lnSpc>
                          <a:spcPct val="100000"/>
                        </a:lnSpc>
                        <a:spcAft>
                          <a:spcPts val="0"/>
                        </a:spcAft>
                        <a:buNone/>
                      </a:pPr>
                      <a:r>
                        <a:rPr lang="en-US" sz="1200" b="0" kern="0">
                          <a:solidFill>
                            <a:schemeClr val="tx1"/>
                          </a:solidFill>
                          <a:effectLst/>
                          <a:latin typeface="Aptos" panose="020B0004020202020204" pitchFamily="34" charset="0"/>
                          <a:ea typeface="Aptos" panose="020B0004020202020204" pitchFamily="34" charset="0"/>
                          <a:cs typeface="Times New Roman" panose="02020603050405020304" pitchFamily="18" charset="0"/>
                        </a:rPr>
                        <a:t>20% x Rp100.000.000 x 15</a:t>
                      </a:r>
                      <a:endPar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0" kern="0">
                          <a:effectLst/>
                          <a:latin typeface="Aptos" panose="020B0004020202020204" pitchFamily="34" charset="0"/>
                        </a:rPr>
                        <a:t>Rp300.000.000</a:t>
                      </a:r>
                      <a:endParaRPr lang="en-US" sz="12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98108034"/>
                  </a:ext>
                </a:extLst>
              </a:tr>
              <a:tr h="331213">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54 tahun</a:t>
                      </a:r>
                    </a:p>
                  </a:txBody>
                  <a:tcPr marL="68580" marR="68580" marT="0" marB="0" anchor="ctr"/>
                </a:tc>
                <a:tc>
                  <a:txBody>
                    <a:bodyPr/>
                    <a:lstStyle/>
                    <a:p>
                      <a:pPr algn="l">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Manfaat Akhir Masa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Pertanggungan</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l">
                        <a:lnSpc>
                          <a:spcPct val="100000"/>
                        </a:lnSpc>
                        <a:spcAft>
                          <a:spcPts val="0"/>
                        </a:spcAft>
                        <a:buNone/>
                      </a:pP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Dibayarkan</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pada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akhir</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Tahun Polis ke-20:</a:t>
                      </a:r>
                    </a:p>
                    <a:p>
                      <a:pPr algn="l">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520% x Rp100.000.000</a:t>
                      </a:r>
                    </a:p>
                  </a:txBody>
                  <a:tcPr marL="68580" marR="68580" marT="0" marB="0" anchor="ctr"/>
                </a:tc>
                <a:tc>
                  <a:txBody>
                    <a:bodyPr/>
                    <a:lstStyle/>
                    <a:p>
                      <a:pPr algn="ctr">
                        <a:lnSpc>
                          <a:spcPct val="100000"/>
                        </a:lnSpc>
                        <a:spcAft>
                          <a:spcPts val="0"/>
                        </a:spcAft>
                        <a:buNone/>
                      </a:pPr>
                      <a:r>
                        <a:rPr lang="en-US" sz="1200" b="0" kern="100">
                          <a:effectLst/>
                          <a:latin typeface="Aptos" panose="020B0004020202020204" pitchFamily="34" charset="0"/>
                          <a:ea typeface="Aptos" panose="020B0004020202020204" pitchFamily="34" charset="0"/>
                          <a:cs typeface="Times New Roman" panose="02020603050405020304" pitchFamily="18" charset="0"/>
                        </a:rPr>
                        <a:t>Rp520.000.000</a:t>
                      </a:r>
                    </a:p>
                  </a:txBody>
                  <a:tcPr marL="68580" marR="68580" marT="0" marB="0" anchor="ctr"/>
                </a:tc>
                <a:extLst>
                  <a:ext uri="{0D108BD9-81ED-4DB2-BD59-A6C34878D82A}">
                    <a16:rowId xmlns:a16="http://schemas.microsoft.com/office/drawing/2014/main" val="1180768947"/>
                  </a:ext>
                </a:extLst>
              </a:tr>
              <a:tr h="331213">
                <a:tc gridSpan="3">
                  <a:txBody>
                    <a:bodyPr/>
                    <a:lstStyle/>
                    <a:p>
                      <a:pPr algn="ctr">
                        <a:lnSpc>
                          <a:spcPct val="100000"/>
                        </a:lnSpc>
                        <a:spcAft>
                          <a:spcPts val="0"/>
                        </a:spcAft>
                        <a:buNone/>
                      </a:pPr>
                      <a:r>
                        <a:rPr lang="en-US" sz="1200" b="1" kern="100">
                          <a:solidFill>
                            <a:schemeClr val="tx1"/>
                          </a:solidFill>
                          <a:effectLst/>
                          <a:latin typeface="Aptos" panose="020B0004020202020204" pitchFamily="34" charset="0"/>
                          <a:cs typeface="Times New Roman" panose="02020603050405020304" pitchFamily="18" charset="0"/>
                        </a:rPr>
                        <a:t>Total Manfaat </a:t>
                      </a:r>
                      <a:r>
                        <a:rPr lang="en-US" sz="1200" b="1" kern="100" err="1">
                          <a:solidFill>
                            <a:schemeClr val="tx1"/>
                          </a:solidFill>
                          <a:effectLst/>
                          <a:latin typeface="Aptos" panose="020B0004020202020204" pitchFamily="34" charset="0"/>
                          <a:cs typeface="Times New Roman" panose="02020603050405020304" pitchFamily="18" charset="0"/>
                        </a:rPr>
                        <a:t>Asuransi</a:t>
                      </a:r>
                      <a:r>
                        <a:rPr lang="en-US" sz="1200" b="1" kern="100">
                          <a:solidFill>
                            <a:schemeClr val="tx1"/>
                          </a:solidFill>
                          <a:effectLst/>
                          <a:latin typeface="Aptos" panose="020B0004020202020204" pitchFamily="34" charset="0"/>
                          <a:cs typeface="Times New Roman" panose="02020603050405020304" pitchFamily="18" charset="0"/>
                        </a:rPr>
                        <a:t> yang </a:t>
                      </a:r>
                      <a:r>
                        <a:rPr lang="en-US" sz="1200" b="1" kern="100" err="1">
                          <a:solidFill>
                            <a:schemeClr val="tx1"/>
                          </a:solidFill>
                          <a:effectLst/>
                          <a:latin typeface="Aptos" panose="020B0004020202020204" pitchFamily="34" charset="0"/>
                          <a:cs typeface="Times New Roman" panose="02020603050405020304" pitchFamily="18" charset="0"/>
                        </a:rPr>
                        <a:t>dibayarkan</a:t>
                      </a:r>
                      <a:r>
                        <a:rPr lang="en-US" sz="1200" b="1" kern="100">
                          <a:solidFill>
                            <a:schemeClr val="tx1"/>
                          </a:solidFill>
                          <a:effectLst/>
                          <a:latin typeface="Aptos" panose="020B0004020202020204" pitchFamily="34" charset="0"/>
                          <a:cs typeface="Times New Roman" panose="02020603050405020304" pitchFamily="18" charset="0"/>
                        </a:rPr>
                        <a:t> BCA Life</a:t>
                      </a:r>
                    </a:p>
                  </a:txBody>
                  <a:tcPr marL="68580" marR="68580" marT="0" marB="0" anchor="ctr"/>
                </a:tc>
                <a:tc hMerge="1">
                  <a:txBody>
                    <a:bodyPr/>
                    <a:lstStyle/>
                    <a:p>
                      <a:endParaRPr/>
                    </a:p>
                  </a:txBody>
                  <a:tcPr marL="68580" marR="68580" marT="0" marB="0" anchor="ctr"/>
                </a:tc>
                <a:tc hMerge="1">
                  <a:txBody>
                    <a:bodyPr/>
                    <a:lstStyle/>
                    <a:p>
                      <a:pPr algn="l">
                        <a:lnSpc>
                          <a:spcPct val="100000"/>
                        </a:lnSpc>
                        <a:spcAft>
                          <a:spcPts val="0"/>
                        </a:spcAft>
                        <a:buNone/>
                      </a:pPr>
                      <a:endParaRPr lang="en-US" sz="11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Rp820.000.000</a:t>
                      </a:r>
                    </a:p>
                  </a:txBody>
                  <a:tcPr marL="68580" marR="68580" marT="0" marB="0" anchor="ctr"/>
                </a:tc>
                <a:extLst>
                  <a:ext uri="{0D108BD9-81ED-4DB2-BD59-A6C34878D82A}">
                    <a16:rowId xmlns:a16="http://schemas.microsoft.com/office/drawing/2014/main" val="56495340"/>
                  </a:ext>
                </a:extLst>
              </a:tr>
            </a:tbl>
          </a:graphicData>
        </a:graphic>
      </p:graphicFrame>
      <p:sp>
        <p:nvSpPr>
          <p:cNvPr id="8" name="Rectangle 3">
            <a:extLst>
              <a:ext uri="{FF2B5EF4-FFF2-40B4-BE49-F238E27FC236}">
                <a16:creationId xmlns:a16="http://schemas.microsoft.com/office/drawing/2014/main" id="{A492575A-83CC-A416-2C81-296D5B8D7AB8}"/>
              </a:ext>
            </a:extLst>
          </p:cNvPr>
          <p:cNvSpPr>
            <a:spLocks noChangeArrowheads="1"/>
          </p:cNvSpPr>
          <p:nvPr/>
        </p:nvSpPr>
        <p:spPr bwMode="auto">
          <a:xfrm>
            <a:off x="247691" y="1038615"/>
            <a:ext cx="64008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Skenario</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1 – Bapak Kevin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hidup</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hingga</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Tanggal</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Berakhir</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Asuransi</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endParaRPr kumimoji="0" lang="id-ID" altLang="en-US" sz="3600" b="1" i="0" strike="noStrike" cap="none" normalizeH="0" baseline="0">
              <a:ln>
                <a:noFill/>
              </a:ln>
              <a:effectLst/>
              <a:latin typeface="Aptos" panose="020B0004020202020204" pitchFamily="34" charset="0"/>
            </a:endParaRPr>
          </a:p>
        </p:txBody>
      </p:sp>
      <p:graphicFrame>
        <p:nvGraphicFramePr>
          <p:cNvPr id="7" name="Table 6">
            <a:extLst>
              <a:ext uri="{FF2B5EF4-FFF2-40B4-BE49-F238E27FC236}">
                <a16:creationId xmlns:a16="http://schemas.microsoft.com/office/drawing/2014/main" id="{B16EEBC4-0394-4109-8A61-8DCC56931281}"/>
              </a:ext>
            </a:extLst>
          </p:cNvPr>
          <p:cNvGraphicFramePr>
            <a:graphicFrameLocks noGrp="1"/>
          </p:cNvGraphicFramePr>
          <p:nvPr>
            <p:extLst>
              <p:ext uri="{D42A27DB-BD31-4B8C-83A1-F6EECF244321}">
                <p14:modId xmlns:p14="http://schemas.microsoft.com/office/powerpoint/2010/main" val="1392180534"/>
              </p:ext>
            </p:extLst>
          </p:nvPr>
        </p:nvGraphicFramePr>
        <p:xfrm>
          <a:off x="305667" y="3384014"/>
          <a:ext cx="9871267" cy="1110309"/>
        </p:xfrm>
        <a:graphic>
          <a:graphicData uri="http://schemas.openxmlformats.org/drawingml/2006/table">
            <a:tbl>
              <a:tblPr firstRow="1" firstCol="1" bandRow="1">
                <a:tableStyleId>{5940675A-B579-460E-94D1-54222C63F5DA}</a:tableStyleId>
              </a:tblPr>
              <a:tblGrid>
                <a:gridCol w="1840125">
                  <a:extLst>
                    <a:ext uri="{9D8B030D-6E8A-4147-A177-3AD203B41FA5}">
                      <a16:colId xmlns:a16="http://schemas.microsoft.com/office/drawing/2014/main" val="242572680"/>
                    </a:ext>
                  </a:extLst>
                </a:gridCol>
                <a:gridCol w="2616285">
                  <a:extLst>
                    <a:ext uri="{9D8B030D-6E8A-4147-A177-3AD203B41FA5}">
                      <a16:colId xmlns:a16="http://schemas.microsoft.com/office/drawing/2014/main" val="1962661030"/>
                    </a:ext>
                  </a:extLst>
                </a:gridCol>
                <a:gridCol w="3828422">
                  <a:extLst>
                    <a:ext uri="{9D8B030D-6E8A-4147-A177-3AD203B41FA5}">
                      <a16:colId xmlns:a16="http://schemas.microsoft.com/office/drawing/2014/main" val="3081628540"/>
                    </a:ext>
                  </a:extLst>
                </a:gridCol>
                <a:gridCol w="1586435">
                  <a:extLst>
                    <a:ext uri="{9D8B030D-6E8A-4147-A177-3AD203B41FA5}">
                      <a16:colId xmlns:a16="http://schemas.microsoft.com/office/drawing/2014/main" val="1099585529"/>
                    </a:ext>
                  </a:extLst>
                </a:gridCol>
              </a:tblGrid>
              <a:tr h="413336">
                <a:tc>
                  <a:txBody>
                    <a:bodyPr/>
                    <a:lstStyle/>
                    <a:p>
                      <a:pPr algn="ctr">
                        <a:lnSpc>
                          <a:spcPct val="100000"/>
                        </a:lnSpc>
                        <a:spcAft>
                          <a:spcPts val="0"/>
                        </a:spcAft>
                        <a:buNone/>
                      </a:pP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Usia</a:t>
                      </a: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Tertanggung</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a:solidFill>
                            <a:schemeClr val="bg1"/>
                          </a:solidFill>
                          <a:effectLst/>
                          <a:latin typeface="Aptos" panose="020B0004020202020204" pitchFamily="34" charset="0"/>
                        </a:rPr>
                        <a:t>Manfaat </a:t>
                      </a:r>
                      <a:r>
                        <a:rPr lang="en-US" sz="1200" b="1" kern="0" err="1">
                          <a:solidFill>
                            <a:schemeClr val="bg1"/>
                          </a:solidFill>
                          <a:effectLst/>
                          <a:latin typeface="Aptos" panose="020B0004020202020204" pitchFamily="34" charset="0"/>
                        </a:rPr>
                        <a:t>Asuransi</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Detail Manfaat</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Manfaat yang Dibayarkan</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extLst>
                  <a:ext uri="{0D108BD9-81ED-4DB2-BD59-A6C34878D82A}">
                    <a16:rowId xmlns:a16="http://schemas.microsoft.com/office/drawing/2014/main" val="2762450738"/>
                  </a:ext>
                </a:extLst>
              </a:tr>
              <a:tr h="331213">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39 tahun</a:t>
                      </a:r>
                    </a:p>
                  </a:txBody>
                  <a:tcPr marL="68580" marR="68580" marT="0" marB="0" anchor="ctr"/>
                </a:tc>
                <a:tc>
                  <a:txBody>
                    <a:bodyPr/>
                    <a:lstStyle/>
                    <a:p>
                      <a:pPr algn="just">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Manfaat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Meninggal</a:t>
                      </a: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Dunia</a:t>
                      </a:r>
                    </a:p>
                  </a:txBody>
                  <a:tcPr marL="68580" marR="68580" marT="0" marB="0" anchor="ctr"/>
                </a:tc>
                <a:tc>
                  <a:txBody>
                    <a:bodyPr/>
                    <a:lstStyle/>
                    <a:p>
                      <a:pPr algn="just">
                        <a:lnSpc>
                          <a:spcPct val="100000"/>
                        </a:lnSpc>
                        <a:spcAft>
                          <a:spcPts val="0"/>
                        </a:spcAft>
                        <a:buNone/>
                      </a:pP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Persentase</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total Premi yang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telah</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dibayarkan</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a:t>
                      </a:r>
                    </a:p>
                    <a:p>
                      <a:pPr algn="just">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115% x Rp500.000.000</a:t>
                      </a:r>
                    </a:p>
                  </a:txBody>
                  <a:tcPr marL="68580" marR="68580" marT="0" marB="0" anchor="ctr"/>
                </a:tc>
                <a:tc>
                  <a:txBody>
                    <a:bodyPr/>
                    <a:lstStyle/>
                    <a:p>
                      <a:pPr algn="ctr">
                        <a:lnSpc>
                          <a:spcPct val="100000"/>
                        </a:lnSpc>
                        <a:spcAft>
                          <a:spcPts val="0"/>
                        </a:spcAft>
                        <a:buNone/>
                      </a:pPr>
                      <a:r>
                        <a:rPr lang="en-US" sz="1200" b="0" kern="100">
                          <a:effectLst/>
                          <a:latin typeface="Aptos" panose="020B0004020202020204" pitchFamily="34" charset="0"/>
                          <a:ea typeface="Aptos" panose="020B0004020202020204" pitchFamily="34" charset="0"/>
                          <a:cs typeface="Times New Roman" panose="02020603050405020304" pitchFamily="18" charset="0"/>
                        </a:rPr>
                        <a:t>Rp575.000.000</a:t>
                      </a:r>
                    </a:p>
                  </a:txBody>
                  <a:tcPr marL="68580" marR="68580" marT="0" marB="0" anchor="ctr"/>
                </a:tc>
                <a:extLst>
                  <a:ext uri="{0D108BD9-81ED-4DB2-BD59-A6C34878D82A}">
                    <a16:rowId xmlns:a16="http://schemas.microsoft.com/office/drawing/2014/main" val="1180768947"/>
                  </a:ext>
                </a:extLst>
              </a:tr>
              <a:tr h="331213">
                <a:tc gridSpan="3">
                  <a:txBody>
                    <a:bodyPr/>
                    <a:lstStyle/>
                    <a:p>
                      <a:pPr algn="ctr">
                        <a:lnSpc>
                          <a:spcPct val="100000"/>
                        </a:lnSpc>
                        <a:spcAft>
                          <a:spcPts val="0"/>
                        </a:spcAft>
                        <a:buNone/>
                      </a:pPr>
                      <a:r>
                        <a:rPr lang="en-US" sz="1200" b="1" kern="100">
                          <a:solidFill>
                            <a:schemeClr val="tx1"/>
                          </a:solidFill>
                          <a:effectLst/>
                          <a:latin typeface="Aptos" panose="020B0004020202020204" pitchFamily="34" charset="0"/>
                          <a:cs typeface="Times New Roman" panose="02020603050405020304" pitchFamily="18" charset="0"/>
                        </a:rPr>
                        <a:t>Total Manfaat </a:t>
                      </a:r>
                      <a:r>
                        <a:rPr lang="en-US" sz="1200" b="1" kern="100" err="1">
                          <a:solidFill>
                            <a:schemeClr val="tx1"/>
                          </a:solidFill>
                          <a:effectLst/>
                          <a:latin typeface="Aptos" panose="020B0004020202020204" pitchFamily="34" charset="0"/>
                          <a:cs typeface="Times New Roman" panose="02020603050405020304" pitchFamily="18" charset="0"/>
                        </a:rPr>
                        <a:t>Asuransi</a:t>
                      </a:r>
                      <a:r>
                        <a:rPr lang="en-US" sz="1200" b="1" kern="100">
                          <a:solidFill>
                            <a:schemeClr val="tx1"/>
                          </a:solidFill>
                          <a:effectLst/>
                          <a:latin typeface="Aptos" panose="020B0004020202020204" pitchFamily="34" charset="0"/>
                          <a:cs typeface="Times New Roman" panose="02020603050405020304" pitchFamily="18" charset="0"/>
                        </a:rPr>
                        <a:t> yang </a:t>
                      </a:r>
                      <a:r>
                        <a:rPr lang="en-US" sz="1200" b="1" kern="100" err="1">
                          <a:solidFill>
                            <a:schemeClr val="tx1"/>
                          </a:solidFill>
                          <a:effectLst/>
                          <a:latin typeface="Aptos" panose="020B0004020202020204" pitchFamily="34" charset="0"/>
                          <a:cs typeface="Times New Roman" panose="02020603050405020304" pitchFamily="18" charset="0"/>
                        </a:rPr>
                        <a:t>dibayarkan</a:t>
                      </a:r>
                      <a:r>
                        <a:rPr lang="en-US" sz="1200" b="1" kern="100">
                          <a:solidFill>
                            <a:schemeClr val="tx1"/>
                          </a:solidFill>
                          <a:effectLst/>
                          <a:latin typeface="Aptos" panose="020B0004020202020204" pitchFamily="34" charset="0"/>
                          <a:cs typeface="Times New Roman" panose="02020603050405020304" pitchFamily="18" charset="0"/>
                        </a:rPr>
                        <a:t> BCA Life</a:t>
                      </a:r>
                    </a:p>
                  </a:txBody>
                  <a:tcPr marL="68580" marR="68580" marT="0" marB="0" anchor="ctr"/>
                </a:tc>
                <a:tc hMerge="1">
                  <a:txBody>
                    <a:bodyPr/>
                    <a:lstStyle/>
                    <a:p>
                      <a:endParaRPr/>
                    </a:p>
                  </a:txBody>
                  <a:tcPr marL="68580" marR="68580" marT="0" marB="0" anchor="ctr"/>
                </a:tc>
                <a:tc hMerge="1">
                  <a:txBody>
                    <a:bodyPr/>
                    <a:lstStyle/>
                    <a:p>
                      <a:pPr algn="l">
                        <a:lnSpc>
                          <a:spcPct val="100000"/>
                        </a:lnSpc>
                        <a:spcAft>
                          <a:spcPts val="0"/>
                        </a:spcAft>
                        <a:buNone/>
                      </a:pPr>
                      <a:endParaRPr lang="en-US" sz="11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Rp575.000.000</a:t>
                      </a:r>
                    </a:p>
                  </a:txBody>
                  <a:tcPr marL="68580" marR="68580" marT="0" marB="0" anchor="ctr"/>
                </a:tc>
                <a:extLst>
                  <a:ext uri="{0D108BD9-81ED-4DB2-BD59-A6C34878D82A}">
                    <a16:rowId xmlns:a16="http://schemas.microsoft.com/office/drawing/2014/main" val="56495340"/>
                  </a:ext>
                </a:extLst>
              </a:tr>
            </a:tbl>
          </a:graphicData>
        </a:graphic>
      </p:graphicFrame>
      <p:sp>
        <p:nvSpPr>
          <p:cNvPr id="10" name="Rectangle 3">
            <a:extLst>
              <a:ext uri="{FF2B5EF4-FFF2-40B4-BE49-F238E27FC236}">
                <a16:creationId xmlns:a16="http://schemas.microsoft.com/office/drawing/2014/main" id="{53F11D0F-DC30-8C02-4155-97808E3096B5}"/>
              </a:ext>
            </a:extLst>
          </p:cNvPr>
          <p:cNvSpPr>
            <a:spLocks noChangeArrowheads="1"/>
          </p:cNvSpPr>
          <p:nvPr/>
        </p:nvSpPr>
        <p:spPr bwMode="auto">
          <a:xfrm>
            <a:off x="247691" y="3099321"/>
            <a:ext cx="95482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Skenario</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2 – Bapak Kevin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Meninggal</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Dunia pada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akhir</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Polis ke-5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belum</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ada</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Manfaat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Tunai</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yang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dibayarkan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a:t>
            </a:r>
            <a:endParaRPr kumimoji="0" lang="id-ID" altLang="en-US" sz="3600" b="1" i="0" strike="noStrike" cap="none" normalizeH="0" baseline="0">
              <a:ln>
                <a:noFill/>
              </a:ln>
              <a:effectLst/>
              <a:latin typeface="Aptos" panose="020B0004020202020204" pitchFamily="34" charset="0"/>
            </a:endParaRPr>
          </a:p>
        </p:txBody>
      </p:sp>
    </p:spTree>
    <p:extLst>
      <p:ext uri="{BB962C8B-B14F-4D97-AF65-F5344CB8AC3E}">
        <p14:creationId xmlns:p14="http://schemas.microsoft.com/office/powerpoint/2010/main" val="404830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29AB2-DF85-517B-C5E4-88762B80B435}"/>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572D4EED-43DF-8A9A-65B2-73DCAE4B8678}"/>
              </a:ext>
            </a:extLst>
          </p:cNvPr>
          <p:cNvSpPr>
            <a:spLocks noGrp="1"/>
          </p:cNvSpPr>
          <p:nvPr>
            <p:ph type="title" idx="4294967295"/>
          </p:nvPr>
        </p:nvSpPr>
        <p:spPr>
          <a:xfrm>
            <a:off x="2855913" y="183650"/>
            <a:ext cx="9217025" cy="620713"/>
          </a:xfrm>
        </p:spPr>
        <p:txBody>
          <a:bodyPr>
            <a:normAutofit fontScale="90000"/>
          </a:bodyPr>
          <a:lstStyle/>
          <a:p>
            <a:pPr algn="r"/>
            <a:r>
              <a:rPr lang="en-GB" sz="2400" b="1" err="1">
                <a:solidFill>
                  <a:srgbClr val="002060"/>
                </a:solidFill>
                <a:latin typeface="Aptos" panose="020B0004020202020204" pitchFamily="34" charset="0"/>
              </a:rPr>
              <a:t>Ilustrasi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Produk</a:t>
            </a:r>
            <a:r>
              <a:rPr lang="en-GB" sz="2400" b="1">
                <a:solidFill>
                  <a:srgbClr val="002060"/>
                </a:solidFill>
                <a:latin typeface="Aptos" panose="020B0004020202020204" pitchFamily="34" charset="0"/>
              </a:rPr>
              <a:t> Value Income Assurance (VALUE+) Plan Boost (IDR)</a:t>
            </a:r>
          </a:p>
        </p:txBody>
      </p:sp>
      <p:graphicFrame>
        <p:nvGraphicFramePr>
          <p:cNvPr id="13" name="Table 12">
            <a:extLst>
              <a:ext uri="{FF2B5EF4-FFF2-40B4-BE49-F238E27FC236}">
                <a16:creationId xmlns:a16="http://schemas.microsoft.com/office/drawing/2014/main" id="{8FB871EE-1C93-67A4-798E-956B62C4CAEA}"/>
              </a:ext>
            </a:extLst>
          </p:cNvPr>
          <p:cNvGraphicFramePr>
            <a:graphicFrameLocks noGrp="1"/>
          </p:cNvGraphicFramePr>
          <p:nvPr>
            <p:extLst>
              <p:ext uri="{D42A27DB-BD31-4B8C-83A1-F6EECF244321}">
                <p14:modId xmlns:p14="http://schemas.microsoft.com/office/powerpoint/2010/main" val="2214562047"/>
              </p:ext>
            </p:extLst>
          </p:nvPr>
        </p:nvGraphicFramePr>
        <p:xfrm>
          <a:off x="305667" y="3619479"/>
          <a:ext cx="9871267" cy="961976"/>
        </p:xfrm>
        <a:graphic>
          <a:graphicData uri="http://schemas.openxmlformats.org/drawingml/2006/table">
            <a:tbl>
              <a:tblPr firstRow="1" firstCol="1" bandRow="1">
                <a:tableStyleId>{5940675A-B579-460E-94D1-54222C63F5DA}</a:tableStyleId>
              </a:tblPr>
              <a:tblGrid>
                <a:gridCol w="1706013">
                  <a:extLst>
                    <a:ext uri="{9D8B030D-6E8A-4147-A177-3AD203B41FA5}">
                      <a16:colId xmlns:a16="http://schemas.microsoft.com/office/drawing/2014/main" val="4196143286"/>
                    </a:ext>
                  </a:extLst>
                </a:gridCol>
                <a:gridCol w="2750397">
                  <a:extLst>
                    <a:ext uri="{9D8B030D-6E8A-4147-A177-3AD203B41FA5}">
                      <a16:colId xmlns:a16="http://schemas.microsoft.com/office/drawing/2014/main" val="1962661030"/>
                    </a:ext>
                  </a:extLst>
                </a:gridCol>
                <a:gridCol w="3828422">
                  <a:extLst>
                    <a:ext uri="{9D8B030D-6E8A-4147-A177-3AD203B41FA5}">
                      <a16:colId xmlns:a16="http://schemas.microsoft.com/office/drawing/2014/main" val="3081628540"/>
                    </a:ext>
                  </a:extLst>
                </a:gridCol>
                <a:gridCol w="1586435">
                  <a:extLst>
                    <a:ext uri="{9D8B030D-6E8A-4147-A177-3AD203B41FA5}">
                      <a16:colId xmlns:a16="http://schemas.microsoft.com/office/drawing/2014/main" val="1099585529"/>
                    </a:ext>
                  </a:extLst>
                </a:gridCol>
              </a:tblGrid>
              <a:tr h="413336">
                <a:tc>
                  <a:txBody>
                    <a:bodyPr/>
                    <a:lstStyle/>
                    <a:p>
                      <a:pPr algn="ctr">
                        <a:lnSpc>
                          <a:spcPct val="100000"/>
                        </a:lnSpc>
                        <a:spcAft>
                          <a:spcPts val="0"/>
                        </a:spcAft>
                        <a:buNone/>
                      </a:pP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Usia</a:t>
                      </a: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Tertanggung</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a:solidFill>
                            <a:schemeClr val="bg1"/>
                          </a:solidFill>
                          <a:effectLst/>
                          <a:latin typeface="Aptos" panose="020B0004020202020204" pitchFamily="34" charset="0"/>
                        </a:rPr>
                        <a:t>Manfaat </a:t>
                      </a:r>
                      <a:r>
                        <a:rPr lang="en-US" sz="1200" b="1" kern="0" err="1">
                          <a:solidFill>
                            <a:schemeClr val="bg1"/>
                          </a:solidFill>
                          <a:effectLst/>
                          <a:latin typeface="Aptos" panose="020B0004020202020204" pitchFamily="34" charset="0"/>
                        </a:rPr>
                        <a:t>Asuransi</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Detail Manfaat</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err="1">
                          <a:solidFill>
                            <a:schemeClr val="bg1"/>
                          </a:solidFill>
                          <a:effectLst/>
                          <a:latin typeface="Aptos" panose="020B0004020202020204" pitchFamily="34" charset="0"/>
                        </a:rPr>
                        <a:t>Pembebasan</a:t>
                      </a:r>
                      <a:r>
                        <a:rPr lang="en-US" sz="1200" b="1" kern="0">
                          <a:solidFill>
                            <a:schemeClr val="bg1"/>
                          </a:solidFill>
                          <a:effectLst/>
                          <a:latin typeface="Aptos" panose="020B0004020202020204" pitchFamily="34" charset="0"/>
                        </a:rPr>
                        <a:t> Premi </a:t>
                      </a:r>
                      <a:r>
                        <a:rPr lang="en-US" sz="1200" b="1" kern="0" err="1">
                          <a:solidFill>
                            <a:schemeClr val="bg1"/>
                          </a:solidFill>
                          <a:effectLst/>
                          <a:latin typeface="Aptos" panose="020B0004020202020204" pitchFamily="34" charset="0"/>
                        </a:rPr>
                        <a:t>Sebesar</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extLst>
                  <a:ext uri="{0D108BD9-81ED-4DB2-BD59-A6C34878D82A}">
                    <a16:rowId xmlns:a16="http://schemas.microsoft.com/office/drawing/2014/main" val="2762450738"/>
                  </a:ext>
                </a:extLst>
              </a:tr>
              <a:tr h="248606">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37 tahun</a:t>
                      </a:r>
                    </a:p>
                  </a:txBody>
                  <a:tcPr marL="68580" marR="68580" marT="0" marB="0" anchor="ctr"/>
                </a:tc>
                <a:tc>
                  <a:txBody>
                    <a:bodyPr/>
                    <a:lstStyle/>
                    <a:p>
                      <a:pPr algn="just">
                        <a:lnSpc>
                          <a:spcPct val="100000"/>
                        </a:lnSpc>
                        <a:spcAft>
                          <a:spcPts val="0"/>
                        </a:spcAft>
                        <a:buNone/>
                      </a:pPr>
                      <a:r>
                        <a:rPr lang="en-US" sz="1200" kern="0">
                          <a:solidFill>
                            <a:schemeClr val="tx1"/>
                          </a:solidFill>
                          <a:effectLst/>
                          <a:latin typeface="Aptos" panose="020B0004020202020204" pitchFamily="34" charset="0"/>
                        </a:rPr>
                        <a:t>Manfaat </a:t>
                      </a:r>
                      <a:r>
                        <a:rPr lang="en-US" sz="1200" kern="0" err="1">
                          <a:solidFill>
                            <a:schemeClr val="tx1"/>
                          </a:solidFill>
                          <a:effectLst/>
                          <a:latin typeface="Aptos" panose="020B0004020202020204" pitchFamily="34" charset="0"/>
                        </a:rPr>
                        <a:t>Asuransi</a:t>
                      </a:r>
                      <a:r>
                        <a:rPr lang="en-US" sz="1200" kern="0">
                          <a:solidFill>
                            <a:schemeClr val="tx1"/>
                          </a:solidFill>
                          <a:effectLst/>
                          <a:latin typeface="Aptos" panose="020B0004020202020204" pitchFamily="34" charset="0"/>
                        </a:rPr>
                        <a:t> </a:t>
                      </a:r>
                      <a:r>
                        <a:rPr lang="en-US" sz="1200" kern="0" err="1">
                          <a:solidFill>
                            <a:schemeClr val="tx1"/>
                          </a:solidFill>
                          <a:effectLst/>
                          <a:latin typeface="Aptos" panose="020B0004020202020204" pitchFamily="34" charset="0"/>
                        </a:rPr>
                        <a:t>Tambahan</a:t>
                      </a:r>
                      <a:r>
                        <a:rPr lang="en-US" sz="1200" kern="0">
                          <a:solidFill>
                            <a:schemeClr val="tx1"/>
                          </a:solidFill>
                          <a:effectLst/>
                          <a:latin typeface="Aptos" panose="020B0004020202020204" pitchFamily="34" charset="0"/>
                        </a:rPr>
                        <a:t> Waiver of Premium Plus</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l">
                        <a:lnSpc>
                          <a:spcPct val="100000"/>
                        </a:lnSpc>
                        <a:spcAft>
                          <a:spcPts val="0"/>
                        </a:spcAft>
                        <a:buNone/>
                      </a:pPr>
                      <a:r>
                        <a:rPr lang="en-US" sz="1200" b="0" kern="0" err="1">
                          <a:solidFill>
                            <a:schemeClr val="tx1"/>
                          </a:solidFill>
                          <a:effectLst/>
                          <a:latin typeface="Aptos" panose="020B0004020202020204" pitchFamily="34" charset="0"/>
                        </a:rPr>
                        <a:t>Pembebasan</a:t>
                      </a:r>
                      <a:r>
                        <a:rPr lang="en-US" sz="1200" b="0" kern="0">
                          <a:solidFill>
                            <a:schemeClr val="tx1"/>
                          </a:solidFill>
                          <a:effectLst/>
                          <a:latin typeface="Aptos" panose="020B0004020202020204" pitchFamily="34" charset="0"/>
                        </a:rPr>
                        <a:t> Premi </a:t>
                      </a:r>
                      <a:r>
                        <a:rPr lang="en-US" sz="1200" b="0" kern="0" err="1">
                          <a:solidFill>
                            <a:schemeClr val="tx1"/>
                          </a:solidFill>
                          <a:effectLst/>
                          <a:latin typeface="Aptos" panose="020B0004020202020204" pitchFamily="34" charset="0"/>
                        </a:rPr>
                        <a:t>Asuransi</a:t>
                      </a:r>
                      <a:r>
                        <a:rPr lang="en-US" sz="1200" b="0" kern="0">
                          <a:solidFill>
                            <a:schemeClr val="tx1"/>
                          </a:solidFill>
                          <a:effectLst/>
                          <a:latin typeface="Aptos" panose="020B0004020202020204" pitchFamily="34" charset="0"/>
                        </a:rPr>
                        <a:t> Dasar </a:t>
                      </a:r>
                      <a:r>
                        <a:rPr lang="en-US" sz="1200" b="0" kern="0" err="1">
                          <a:solidFill>
                            <a:schemeClr val="tx1"/>
                          </a:solidFill>
                          <a:effectLst/>
                          <a:latin typeface="Aptos" panose="020B0004020202020204" pitchFamily="34" charset="0"/>
                        </a:rPr>
                        <a:t>dari</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ke-4 </a:t>
                      </a:r>
                      <a:r>
                        <a:rPr lang="en-US" sz="1200" b="0" kern="0" err="1">
                          <a:solidFill>
                            <a:schemeClr val="tx1"/>
                          </a:solidFill>
                          <a:effectLst/>
                          <a:latin typeface="Aptos" panose="020B0004020202020204" pitchFamily="34" charset="0"/>
                        </a:rPr>
                        <a:t>hingga</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ke-5:</a:t>
                      </a:r>
                    </a:p>
                    <a:p>
                      <a:pPr algn="l">
                        <a:lnSpc>
                          <a:spcPct val="100000"/>
                        </a:lnSpc>
                        <a:spcAft>
                          <a:spcPts val="0"/>
                        </a:spcAft>
                        <a:buNone/>
                      </a:pPr>
                      <a:r>
                        <a:rPr lang="en-US" sz="1200" b="0" kern="0">
                          <a:solidFill>
                            <a:schemeClr val="tx1"/>
                          </a:solidFill>
                          <a:effectLst/>
                          <a:latin typeface="Aptos" panose="020B0004020202020204" pitchFamily="34" charset="0"/>
                          <a:ea typeface="Aptos" panose="020B0004020202020204" pitchFamily="34" charset="0"/>
                          <a:cs typeface="Times New Roman" panose="02020603050405020304" pitchFamily="18" charset="0"/>
                        </a:rPr>
                        <a:t>Rp100.000.000 x 2</a:t>
                      </a:r>
                      <a:endPar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0" kern="0">
                          <a:effectLst/>
                          <a:latin typeface="Aptos" panose="020B0004020202020204" pitchFamily="34" charset="0"/>
                        </a:rPr>
                        <a:t>Rp200.000.000</a:t>
                      </a:r>
                      <a:endParaRPr lang="en-US" sz="12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98108034"/>
                  </a:ext>
                </a:extLst>
              </a:tr>
            </a:tbl>
          </a:graphicData>
        </a:graphic>
      </p:graphicFrame>
      <p:sp>
        <p:nvSpPr>
          <p:cNvPr id="14" name="Rectangle 3">
            <a:extLst>
              <a:ext uri="{FF2B5EF4-FFF2-40B4-BE49-F238E27FC236}">
                <a16:creationId xmlns:a16="http://schemas.microsoft.com/office/drawing/2014/main" id="{B09A598C-10E4-F8B5-A028-01D45999C29D}"/>
              </a:ext>
            </a:extLst>
          </p:cNvPr>
          <p:cNvSpPr>
            <a:spLocks noChangeArrowheads="1"/>
          </p:cNvSpPr>
          <p:nvPr/>
        </p:nvSpPr>
        <p:spPr bwMode="auto">
          <a:xfrm>
            <a:off x="247691" y="3334786"/>
            <a:ext cx="95482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Skenario</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4 – Bapak Kevin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mengalami</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Ketidakmampuan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Tetap</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Total pada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akhir</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Polis ke-3</a:t>
            </a:r>
            <a:endParaRPr kumimoji="0" lang="id-ID" altLang="en-US" sz="3600" b="1" i="0" strike="noStrike" cap="none" normalizeH="0" baseline="0">
              <a:ln>
                <a:noFill/>
              </a:ln>
              <a:effectLst/>
              <a:latin typeface="Aptos" panose="020B0004020202020204" pitchFamily="34" charset="0"/>
            </a:endParaRPr>
          </a:p>
        </p:txBody>
      </p:sp>
      <p:graphicFrame>
        <p:nvGraphicFramePr>
          <p:cNvPr id="2" name="Table 1">
            <a:extLst>
              <a:ext uri="{FF2B5EF4-FFF2-40B4-BE49-F238E27FC236}">
                <a16:creationId xmlns:a16="http://schemas.microsoft.com/office/drawing/2014/main" id="{59C413FE-FDD0-6F07-FE56-6B10329D38FE}"/>
              </a:ext>
            </a:extLst>
          </p:cNvPr>
          <p:cNvGraphicFramePr>
            <a:graphicFrameLocks noGrp="1"/>
          </p:cNvGraphicFramePr>
          <p:nvPr>
            <p:extLst>
              <p:ext uri="{D42A27DB-BD31-4B8C-83A1-F6EECF244321}">
                <p14:modId xmlns:p14="http://schemas.microsoft.com/office/powerpoint/2010/main" val="584508164"/>
              </p:ext>
            </p:extLst>
          </p:nvPr>
        </p:nvGraphicFramePr>
        <p:xfrm>
          <a:off x="305667" y="1346967"/>
          <a:ext cx="9871267" cy="1841829"/>
        </p:xfrm>
        <a:graphic>
          <a:graphicData uri="http://schemas.openxmlformats.org/drawingml/2006/table">
            <a:tbl>
              <a:tblPr firstRow="1" firstCol="1" bandRow="1">
                <a:tableStyleId>{5940675A-B579-460E-94D1-54222C63F5DA}</a:tableStyleId>
              </a:tblPr>
              <a:tblGrid>
                <a:gridCol w="1681629">
                  <a:extLst>
                    <a:ext uri="{9D8B030D-6E8A-4147-A177-3AD203B41FA5}">
                      <a16:colId xmlns:a16="http://schemas.microsoft.com/office/drawing/2014/main" val="3740434320"/>
                    </a:ext>
                  </a:extLst>
                </a:gridCol>
                <a:gridCol w="2774781">
                  <a:extLst>
                    <a:ext uri="{9D8B030D-6E8A-4147-A177-3AD203B41FA5}">
                      <a16:colId xmlns:a16="http://schemas.microsoft.com/office/drawing/2014/main" val="1962661030"/>
                    </a:ext>
                  </a:extLst>
                </a:gridCol>
                <a:gridCol w="3828422">
                  <a:extLst>
                    <a:ext uri="{9D8B030D-6E8A-4147-A177-3AD203B41FA5}">
                      <a16:colId xmlns:a16="http://schemas.microsoft.com/office/drawing/2014/main" val="3081628540"/>
                    </a:ext>
                  </a:extLst>
                </a:gridCol>
                <a:gridCol w="1586435">
                  <a:extLst>
                    <a:ext uri="{9D8B030D-6E8A-4147-A177-3AD203B41FA5}">
                      <a16:colId xmlns:a16="http://schemas.microsoft.com/office/drawing/2014/main" val="1099585529"/>
                    </a:ext>
                  </a:extLst>
                </a:gridCol>
              </a:tblGrid>
              <a:tr h="413336">
                <a:tc>
                  <a:txBody>
                    <a:bodyPr/>
                    <a:lstStyle/>
                    <a:p>
                      <a:pPr algn="ctr">
                        <a:lnSpc>
                          <a:spcPct val="100000"/>
                        </a:lnSpc>
                        <a:spcAft>
                          <a:spcPts val="0"/>
                        </a:spcAft>
                        <a:buNone/>
                      </a:pP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Usia</a:t>
                      </a: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Tertanggung</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a:solidFill>
                            <a:schemeClr val="bg1"/>
                          </a:solidFill>
                          <a:effectLst/>
                          <a:latin typeface="Aptos" panose="020B0004020202020204" pitchFamily="34" charset="0"/>
                        </a:rPr>
                        <a:t>Manfaat </a:t>
                      </a:r>
                      <a:r>
                        <a:rPr lang="en-US" sz="1200" b="1" kern="0" err="1">
                          <a:solidFill>
                            <a:schemeClr val="bg1"/>
                          </a:solidFill>
                          <a:effectLst/>
                          <a:latin typeface="Aptos" panose="020B0004020202020204" pitchFamily="34" charset="0"/>
                        </a:rPr>
                        <a:t>Asuransi</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Detail Manfaat</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Manfaat yang Dibayarkan</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extLst>
                  <a:ext uri="{0D108BD9-81ED-4DB2-BD59-A6C34878D82A}">
                    <a16:rowId xmlns:a16="http://schemas.microsoft.com/office/drawing/2014/main" val="2762450738"/>
                  </a:ext>
                </a:extLst>
              </a:tr>
              <a:tr h="331213">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40 – 41 tahun</a:t>
                      </a:r>
                    </a:p>
                  </a:txBody>
                  <a:tcPr marL="68580" marR="68580" marT="0" marB="0" anchor="ctr"/>
                </a:tc>
                <a:tc>
                  <a:txBody>
                    <a:bodyPr/>
                    <a:lstStyle/>
                    <a:p>
                      <a:pPr algn="l">
                        <a:lnSpc>
                          <a:spcPct val="100000"/>
                        </a:lnSpc>
                        <a:spcAft>
                          <a:spcPts val="0"/>
                        </a:spcAft>
                        <a:buNone/>
                      </a:pPr>
                      <a:r>
                        <a:rPr lang="en-US" sz="1200" kern="0">
                          <a:solidFill>
                            <a:schemeClr val="tx1"/>
                          </a:solidFill>
                          <a:effectLst/>
                          <a:latin typeface="Aptos" panose="020B0004020202020204" pitchFamily="34" charset="0"/>
                        </a:rPr>
                        <a:t>Manfaat </a:t>
                      </a:r>
                      <a:r>
                        <a:rPr lang="en-US" sz="1200" kern="0" err="1">
                          <a:solidFill>
                            <a:schemeClr val="tx1"/>
                          </a:solidFill>
                          <a:effectLst/>
                          <a:latin typeface="Aptos" panose="020B0004020202020204" pitchFamily="34" charset="0"/>
                        </a:rPr>
                        <a:t>Tunai</a:t>
                      </a:r>
                      <a:r>
                        <a:rPr lang="en-US" sz="1200" kern="0">
                          <a:solidFill>
                            <a:schemeClr val="tx1"/>
                          </a:solidFill>
                          <a:effectLst/>
                          <a:latin typeface="Aptos" panose="020B0004020202020204" pitchFamily="34" charset="0"/>
                        </a:rPr>
                        <a:t> </a:t>
                      </a:r>
                      <a:r>
                        <a:rPr lang="en-US" sz="1200" kern="0" err="1">
                          <a:solidFill>
                            <a:schemeClr val="tx1"/>
                          </a:solidFill>
                          <a:effectLst/>
                          <a:latin typeface="Aptos" panose="020B0004020202020204" pitchFamily="34" charset="0"/>
                        </a:rPr>
                        <a:t>Tahunan</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l">
                        <a:lnSpc>
                          <a:spcPct val="100000"/>
                        </a:lnSpc>
                        <a:spcAft>
                          <a:spcPts val="0"/>
                        </a:spcAft>
                        <a:buNone/>
                      </a:pPr>
                      <a:r>
                        <a:rPr lang="en-US" sz="1200" b="0" kern="0" err="1">
                          <a:solidFill>
                            <a:schemeClr val="tx1"/>
                          </a:solidFill>
                          <a:effectLst/>
                          <a:latin typeface="Aptos" panose="020B0004020202020204" pitchFamily="34" charset="0"/>
                        </a:rPr>
                        <a:t>Dibayarkan</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berkala</a:t>
                      </a:r>
                      <a:r>
                        <a:rPr lang="en-US" sz="1200" b="0" kern="0">
                          <a:solidFill>
                            <a:schemeClr val="tx1"/>
                          </a:solidFill>
                          <a:effectLst/>
                          <a:latin typeface="Aptos" panose="020B0004020202020204" pitchFamily="34" charset="0"/>
                        </a:rPr>
                        <a:t> pada </a:t>
                      </a:r>
                      <a:r>
                        <a:rPr lang="en-US" sz="1200" b="0" kern="0" err="1">
                          <a:solidFill>
                            <a:schemeClr val="tx1"/>
                          </a:solidFill>
                          <a:effectLst/>
                          <a:latin typeface="Aptos" panose="020B0004020202020204" pitchFamily="34" charset="0"/>
                        </a:rPr>
                        <a:t>akhir</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ke-6 </a:t>
                      </a:r>
                      <a:r>
                        <a:rPr lang="en-US" sz="1200" b="0" kern="0" err="1">
                          <a:solidFill>
                            <a:schemeClr val="tx1"/>
                          </a:solidFill>
                          <a:effectLst/>
                          <a:latin typeface="Aptos" panose="020B0004020202020204" pitchFamily="34" charset="0"/>
                        </a:rPr>
                        <a:t>hingga</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akhir</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ke-7:</a:t>
                      </a:r>
                    </a:p>
                    <a:p>
                      <a:pPr algn="l">
                        <a:lnSpc>
                          <a:spcPct val="100000"/>
                        </a:lnSpc>
                        <a:spcAft>
                          <a:spcPts val="0"/>
                        </a:spcAft>
                        <a:buNone/>
                      </a:pPr>
                      <a:r>
                        <a:rPr lang="en-US" sz="1200" b="0" kern="0">
                          <a:solidFill>
                            <a:schemeClr val="tx1"/>
                          </a:solidFill>
                          <a:effectLst/>
                          <a:latin typeface="Aptos" panose="020B0004020202020204" pitchFamily="34" charset="0"/>
                          <a:ea typeface="Aptos" panose="020B0004020202020204" pitchFamily="34" charset="0"/>
                          <a:cs typeface="Times New Roman" panose="02020603050405020304" pitchFamily="18" charset="0"/>
                        </a:rPr>
                        <a:t>20% x Rp100.000.000 x 2</a:t>
                      </a:r>
                      <a:endPar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0" kern="0">
                          <a:effectLst/>
                          <a:latin typeface="Aptos" panose="020B0004020202020204" pitchFamily="34" charset="0"/>
                        </a:rPr>
                        <a:t>Rp40.000.000</a:t>
                      </a:r>
                      <a:endParaRPr lang="en-US" sz="12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98108034"/>
                  </a:ext>
                </a:extLst>
              </a:tr>
              <a:tr h="331213">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42 tahun</a:t>
                      </a:r>
                    </a:p>
                  </a:txBody>
                  <a:tcPr marL="68580" marR="68580" marT="0" marB="0" anchor="ctr"/>
                </a:tc>
                <a:tc>
                  <a:txBody>
                    <a:bodyPr/>
                    <a:lstStyle/>
                    <a:p>
                      <a:pPr algn="just">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Manfaat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Meninggal</a:t>
                      </a: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Dunia</a:t>
                      </a:r>
                    </a:p>
                  </a:txBody>
                  <a:tcPr marL="68580" marR="68580" marT="0" marB="0" anchor="ctr"/>
                </a:tc>
                <a:tc>
                  <a:txBody>
                    <a:bodyPr/>
                    <a:lstStyle/>
                    <a:p>
                      <a:pPr algn="just">
                        <a:lnSpc>
                          <a:spcPct val="100000"/>
                        </a:lnSpc>
                        <a:spcAft>
                          <a:spcPts val="0"/>
                        </a:spcAft>
                        <a:buNone/>
                      </a:pP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Persentase</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total Premi yang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telah</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dibayarkan</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 Manfaat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Tunai</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Tahunan</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yang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telah</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dibayarkan</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a:t>
                      </a:r>
                    </a:p>
                    <a:p>
                      <a:pPr algn="l">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(125% x Rp500.000.000) – Rp40.000.000</a:t>
                      </a:r>
                    </a:p>
                  </a:txBody>
                  <a:tcPr marL="68580" marR="68580" marT="0" marB="0" anchor="ctr"/>
                </a:tc>
                <a:tc>
                  <a:txBody>
                    <a:bodyPr/>
                    <a:lstStyle/>
                    <a:p>
                      <a:pPr algn="ctr">
                        <a:lnSpc>
                          <a:spcPct val="100000"/>
                        </a:lnSpc>
                        <a:spcAft>
                          <a:spcPts val="0"/>
                        </a:spcAft>
                        <a:buNone/>
                      </a:pPr>
                      <a:r>
                        <a:rPr lang="en-US" sz="1200" b="0" kern="100">
                          <a:effectLst/>
                          <a:latin typeface="Aptos" panose="020B0004020202020204" pitchFamily="34" charset="0"/>
                          <a:ea typeface="Aptos" panose="020B0004020202020204" pitchFamily="34" charset="0"/>
                          <a:cs typeface="Times New Roman" panose="02020603050405020304" pitchFamily="18" charset="0"/>
                        </a:rPr>
                        <a:t>Rp585.000.000</a:t>
                      </a:r>
                    </a:p>
                  </a:txBody>
                  <a:tcPr marL="68580" marR="68580" marT="0" marB="0" anchor="ctr"/>
                </a:tc>
                <a:extLst>
                  <a:ext uri="{0D108BD9-81ED-4DB2-BD59-A6C34878D82A}">
                    <a16:rowId xmlns:a16="http://schemas.microsoft.com/office/drawing/2014/main" val="1180768947"/>
                  </a:ext>
                </a:extLst>
              </a:tr>
              <a:tr h="331213">
                <a:tc gridSpan="3">
                  <a:txBody>
                    <a:bodyPr/>
                    <a:lstStyle/>
                    <a:p>
                      <a:pPr algn="ctr">
                        <a:lnSpc>
                          <a:spcPct val="100000"/>
                        </a:lnSpc>
                        <a:spcAft>
                          <a:spcPts val="0"/>
                        </a:spcAft>
                        <a:buNone/>
                      </a:pPr>
                      <a:r>
                        <a:rPr lang="en-US" sz="1200" b="1" kern="100">
                          <a:solidFill>
                            <a:schemeClr val="tx1"/>
                          </a:solidFill>
                          <a:effectLst/>
                          <a:latin typeface="Aptos" panose="020B0004020202020204" pitchFamily="34" charset="0"/>
                          <a:cs typeface="Times New Roman" panose="02020603050405020304" pitchFamily="18" charset="0"/>
                        </a:rPr>
                        <a:t>Total Manfaat </a:t>
                      </a:r>
                      <a:r>
                        <a:rPr lang="en-US" sz="1200" b="1" kern="100" err="1">
                          <a:solidFill>
                            <a:schemeClr val="tx1"/>
                          </a:solidFill>
                          <a:effectLst/>
                          <a:latin typeface="Aptos" panose="020B0004020202020204" pitchFamily="34" charset="0"/>
                          <a:cs typeface="Times New Roman" panose="02020603050405020304" pitchFamily="18" charset="0"/>
                        </a:rPr>
                        <a:t>Asuransi</a:t>
                      </a:r>
                      <a:r>
                        <a:rPr lang="en-US" sz="1200" b="1" kern="100">
                          <a:solidFill>
                            <a:schemeClr val="tx1"/>
                          </a:solidFill>
                          <a:effectLst/>
                          <a:latin typeface="Aptos" panose="020B0004020202020204" pitchFamily="34" charset="0"/>
                          <a:cs typeface="Times New Roman" panose="02020603050405020304" pitchFamily="18" charset="0"/>
                        </a:rPr>
                        <a:t> yang </a:t>
                      </a:r>
                      <a:r>
                        <a:rPr lang="en-US" sz="1200" b="1" kern="100" err="1">
                          <a:solidFill>
                            <a:schemeClr val="tx1"/>
                          </a:solidFill>
                          <a:effectLst/>
                          <a:latin typeface="Aptos" panose="020B0004020202020204" pitchFamily="34" charset="0"/>
                          <a:cs typeface="Times New Roman" panose="02020603050405020304" pitchFamily="18" charset="0"/>
                        </a:rPr>
                        <a:t>dibayarkan</a:t>
                      </a:r>
                      <a:r>
                        <a:rPr lang="en-US" sz="1200" b="1" kern="100">
                          <a:solidFill>
                            <a:schemeClr val="tx1"/>
                          </a:solidFill>
                          <a:effectLst/>
                          <a:latin typeface="Aptos" panose="020B0004020202020204" pitchFamily="34" charset="0"/>
                          <a:cs typeface="Times New Roman" panose="02020603050405020304" pitchFamily="18" charset="0"/>
                        </a:rPr>
                        <a:t> BCA Life</a:t>
                      </a:r>
                    </a:p>
                  </a:txBody>
                  <a:tcPr marL="68580" marR="68580" marT="0" marB="0" anchor="ctr"/>
                </a:tc>
                <a:tc hMerge="1">
                  <a:txBody>
                    <a:bodyPr/>
                    <a:lstStyle/>
                    <a:p>
                      <a:endParaRPr/>
                    </a:p>
                  </a:txBody>
                  <a:tcPr marL="68580" marR="68580" marT="0" marB="0" anchor="ctr"/>
                </a:tc>
                <a:tc hMerge="1">
                  <a:txBody>
                    <a:bodyPr/>
                    <a:lstStyle/>
                    <a:p>
                      <a:pPr algn="l">
                        <a:lnSpc>
                          <a:spcPct val="100000"/>
                        </a:lnSpc>
                        <a:spcAft>
                          <a:spcPts val="0"/>
                        </a:spcAft>
                        <a:buNone/>
                      </a:pPr>
                      <a:endParaRPr lang="en-US" sz="11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Rp625.000.000</a:t>
                      </a:r>
                    </a:p>
                  </a:txBody>
                  <a:tcPr marL="68580" marR="68580" marT="0" marB="0" anchor="ctr"/>
                </a:tc>
                <a:extLst>
                  <a:ext uri="{0D108BD9-81ED-4DB2-BD59-A6C34878D82A}">
                    <a16:rowId xmlns:a16="http://schemas.microsoft.com/office/drawing/2014/main" val="56495340"/>
                  </a:ext>
                </a:extLst>
              </a:tr>
            </a:tbl>
          </a:graphicData>
        </a:graphic>
      </p:graphicFrame>
      <p:sp>
        <p:nvSpPr>
          <p:cNvPr id="3" name="Rectangle 3">
            <a:extLst>
              <a:ext uri="{FF2B5EF4-FFF2-40B4-BE49-F238E27FC236}">
                <a16:creationId xmlns:a16="http://schemas.microsoft.com/office/drawing/2014/main" id="{3D4CFE3F-755A-8786-AB43-92C76B675465}"/>
              </a:ext>
            </a:extLst>
          </p:cNvPr>
          <p:cNvSpPr>
            <a:spLocks noChangeArrowheads="1"/>
          </p:cNvSpPr>
          <p:nvPr/>
        </p:nvSpPr>
        <p:spPr bwMode="auto">
          <a:xfrm>
            <a:off x="247691" y="1062274"/>
            <a:ext cx="95482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Skenario</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3 – Bapak Kevin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Meninggal</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Dunia pada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akhir</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Polis ke-8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sudah</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ada</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Manfaaat</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Tunai</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yang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dibayarkan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a:t>
            </a:r>
            <a:endParaRPr kumimoji="0" lang="id-ID" altLang="en-US" sz="3600" b="1" i="0" strike="noStrike" cap="none" normalizeH="0" baseline="0">
              <a:ln>
                <a:noFill/>
              </a:ln>
              <a:effectLst/>
              <a:latin typeface="Aptos" panose="020B0004020202020204" pitchFamily="34" charset="0"/>
            </a:endParaRPr>
          </a:p>
        </p:txBody>
      </p:sp>
    </p:spTree>
    <p:extLst>
      <p:ext uri="{BB962C8B-B14F-4D97-AF65-F5344CB8AC3E}">
        <p14:creationId xmlns:p14="http://schemas.microsoft.com/office/powerpoint/2010/main" val="2884546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C8FDB-5016-5C64-78CE-67759863D84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600BFD3-82AD-5FB0-00D9-CE9210EC3B34}"/>
              </a:ext>
            </a:extLst>
          </p:cNvPr>
          <p:cNvPicPr>
            <a:picLocks noChangeAspect="1"/>
          </p:cNvPicPr>
          <p:nvPr/>
        </p:nvPicPr>
        <p:blipFill>
          <a:blip r:embed="rId3"/>
          <a:stretch>
            <a:fillRect/>
          </a:stretch>
        </p:blipFill>
        <p:spPr>
          <a:xfrm>
            <a:off x="248410" y="2958473"/>
            <a:ext cx="8118350" cy="3565872"/>
          </a:xfrm>
          <a:prstGeom prst="rect">
            <a:avLst/>
          </a:prstGeom>
        </p:spPr>
      </p:pic>
      <p:sp>
        <p:nvSpPr>
          <p:cNvPr id="17" name="Title 1">
            <a:extLst>
              <a:ext uri="{FF2B5EF4-FFF2-40B4-BE49-F238E27FC236}">
                <a16:creationId xmlns:a16="http://schemas.microsoft.com/office/drawing/2014/main" id="{FB15D0F5-80DD-49DC-E886-FE3A7015C285}"/>
              </a:ext>
            </a:extLst>
          </p:cNvPr>
          <p:cNvSpPr>
            <a:spLocks noGrp="1"/>
          </p:cNvSpPr>
          <p:nvPr>
            <p:ph type="title" idx="4294967295"/>
          </p:nvPr>
        </p:nvSpPr>
        <p:spPr>
          <a:xfrm>
            <a:off x="2855913" y="183650"/>
            <a:ext cx="9217025" cy="620713"/>
          </a:xfrm>
        </p:spPr>
        <p:txBody>
          <a:bodyPr>
            <a:normAutofit fontScale="90000"/>
          </a:bodyPr>
          <a:lstStyle/>
          <a:p>
            <a:pPr algn="r"/>
            <a:r>
              <a:rPr lang="en-GB" sz="2400" b="1" err="1">
                <a:solidFill>
                  <a:srgbClr val="002060"/>
                </a:solidFill>
                <a:latin typeface="Aptos" panose="020B0004020202020204" pitchFamily="34" charset="0"/>
              </a:rPr>
              <a:t>Ilustrasi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Produk</a:t>
            </a:r>
            <a:r>
              <a:rPr lang="en-GB" sz="2400" b="1">
                <a:solidFill>
                  <a:srgbClr val="002060"/>
                </a:solidFill>
                <a:latin typeface="Aptos" panose="020B0004020202020204" pitchFamily="34" charset="0"/>
              </a:rPr>
              <a:t> Value Income Assurance (VALUE+) Plan Core (IDR)</a:t>
            </a:r>
          </a:p>
        </p:txBody>
      </p:sp>
      <p:graphicFrame>
        <p:nvGraphicFramePr>
          <p:cNvPr id="5" name="Table 4">
            <a:extLst>
              <a:ext uri="{FF2B5EF4-FFF2-40B4-BE49-F238E27FC236}">
                <a16:creationId xmlns:a16="http://schemas.microsoft.com/office/drawing/2014/main" id="{ED7803F6-6F74-2C91-5805-AA6678D5901E}"/>
              </a:ext>
            </a:extLst>
          </p:cNvPr>
          <p:cNvGraphicFramePr>
            <a:graphicFrameLocks noGrp="1"/>
          </p:cNvGraphicFramePr>
          <p:nvPr>
            <p:extLst>
              <p:ext uri="{D42A27DB-BD31-4B8C-83A1-F6EECF244321}">
                <p14:modId xmlns:p14="http://schemas.microsoft.com/office/powerpoint/2010/main" val="4129232634"/>
              </p:ext>
            </p:extLst>
          </p:nvPr>
        </p:nvGraphicFramePr>
        <p:xfrm>
          <a:off x="233171" y="1027191"/>
          <a:ext cx="9557999" cy="1440180"/>
        </p:xfrm>
        <a:graphic>
          <a:graphicData uri="http://schemas.openxmlformats.org/drawingml/2006/table">
            <a:tbl>
              <a:tblPr firstCol="1" bandRow="1">
                <a:tableStyleId>{7E9639D4-E3E2-4D34-9284-5A2195B3D0D7}</a:tableStyleId>
              </a:tblPr>
              <a:tblGrid>
                <a:gridCol w="2302389">
                  <a:extLst>
                    <a:ext uri="{9D8B030D-6E8A-4147-A177-3AD203B41FA5}">
                      <a16:colId xmlns:a16="http://schemas.microsoft.com/office/drawing/2014/main" val="1422733083"/>
                    </a:ext>
                  </a:extLst>
                </a:gridCol>
                <a:gridCol w="1769740">
                  <a:extLst>
                    <a:ext uri="{9D8B030D-6E8A-4147-A177-3AD203B41FA5}">
                      <a16:colId xmlns:a16="http://schemas.microsoft.com/office/drawing/2014/main" val="2680841471"/>
                    </a:ext>
                  </a:extLst>
                </a:gridCol>
                <a:gridCol w="3637756">
                  <a:extLst>
                    <a:ext uri="{9D8B030D-6E8A-4147-A177-3AD203B41FA5}">
                      <a16:colId xmlns:a16="http://schemas.microsoft.com/office/drawing/2014/main" val="3312317049"/>
                    </a:ext>
                  </a:extLst>
                </a:gridCol>
                <a:gridCol w="1848114">
                  <a:extLst>
                    <a:ext uri="{9D8B030D-6E8A-4147-A177-3AD203B41FA5}">
                      <a16:colId xmlns:a16="http://schemas.microsoft.com/office/drawing/2014/main" val="1531636827"/>
                    </a:ext>
                  </a:extLst>
                </a:gridCol>
              </a:tblGrid>
              <a:tr h="205740">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Nama </a:t>
                      </a:r>
                      <a:r>
                        <a:rPr lang="en-US" sz="1200" b="0" kern="0" err="1">
                          <a:solidFill>
                            <a:schemeClr val="tx1"/>
                          </a:solidFill>
                          <a:effectLst/>
                          <a:latin typeface="Aptos" panose="020B0004020202020204" pitchFamily="34" charset="0"/>
                        </a:rPr>
                        <a:t>Pemegang</a:t>
                      </a:r>
                      <a:r>
                        <a:rPr lang="en-US" sz="1200" b="0" kern="0">
                          <a:solidFill>
                            <a:schemeClr val="tx1"/>
                          </a:solidFill>
                          <a:effectLst/>
                          <a:latin typeface="Aptos" panose="020B0004020202020204" pitchFamily="34" charset="0"/>
                        </a:rPr>
                        <a:t> Polis</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Christy</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Premi </a:t>
                      </a:r>
                      <a:r>
                        <a:rPr lang="en-US" sz="1200" b="0" kern="0" err="1">
                          <a:solidFill>
                            <a:schemeClr val="tx1"/>
                          </a:solidFill>
                          <a:effectLst/>
                          <a:latin typeface="Aptos" panose="020B0004020202020204" pitchFamily="34" charset="0"/>
                        </a:rPr>
                        <a:t>Asuransi</a:t>
                      </a:r>
                      <a:r>
                        <a:rPr lang="en-US" sz="1200" b="0" kern="0">
                          <a:solidFill>
                            <a:schemeClr val="tx1"/>
                          </a:solidFill>
                          <a:effectLst/>
                          <a:latin typeface="Aptos" panose="020B0004020202020204" pitchFamily="34" charset="0"/>
                        </a:rPr>
                        <a:t> Dasar</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Rp100.000.000,-/</a:t>
                      </a:r>
                      <a:r>
                        <a:rPr lang="en-US" sz="1200" kern="0" err="1">
                          <a:solidFill>
                            <a:schemeClr val="tx1"/>
                          </a:solidFill>
                          <a:effectLst/>
                          <a:latin typeface="Aptos" panose="020B0004020202020204" pitchFamily="34" charset="0"/>
                        </a:rPr>
                        <a:t>tahun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1240422"/>
                  </a:ext>
                </a:extLst>
              </a:tr>
              <a:tr h="205740">
                <a:tc>
                  <a:txBody>
                    <a:bodyPr/>
                    <a:lstStyle/>
                    <a:p>
                      <a:pPr marL="57150" marR="0" indent="0">
                        <a:lnSpc>
                          <a:spcPct val="100000"/>
                        </a:lnSpc>
                        <a:spcAft>
                          <a:spcPts val="0"/>
                        </a:spcAft>
                        <a:buNone/>
                      </a:pP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Usia</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35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tahun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lvl="0" indent="0" algn="l" defTabSz="914400" rtl="0" eaLnBrk="1" fontAlgn="auto" latinLnBrk="0" hangingPunct="1">
                        <a:lnSpc>
                          <a:spcPct val="100000"/>
                        </a:lnSpc>
                        <a:spcBef>
                          <a:spcPts val="0"/>
                        </a:spcBef>
                        <a:spcAft>
                          <a:spcPts val="0"/>
                        </a:spcAft>
                        <a:buClrTx/>
                        <a:buSzTx/>
                        <a:buFontTx/>
                        <a:buNone/>
                        <a:tabLst/>
                        <a:defRPr/>
                      </a:pPr>
                      <a:r>
                        <a:rPr lang="en-US" sz="1200" b="0" kern="0">
                          <a:solidFill>
                            <a:schemeClr val="tx1"/>
                          </a:solidFill>
                          <a:effectLst/>
                          <a:latin typeface="Aptos" panose="020B0004020202020204" pitchFamily="34" charset="0"/>
                          <a:ea typeface="+mn-ea"/>
                          <a:cs typeface="+mn-cs"/>
                        </a:rPr>
                        <a:t>Premi </a:t>
                      </a:r>
                      <a:r>
                        <a:rPr lang="en-US" sz="1200" b="0" kern="0" err="1">
                          <a:solidFill>
                            <a:schemeClr val="tx1"/>
                          </a:solidFill>
                          <a:effectLst/>
                          <a:latin typeface="Aptos" panose="020B0004020202020204" pitchFamily="34" charset="0"/>
                          <a:ea typeface="+mn-ea"/>
                          <a:cs typeface="+mn-cs"/>
                        </a:rPr>
                        <a:t>Asuransi</a:t>
                      </a:r>
                      <a:r>
                        <a:rPr lang="en-US" sz="1200" b="0" kern="0">
                          <a:solidFill>
                            <a:schemeClr val="tx1"/>
                          </a:solidFill>
                          <a:effectLst/>
                          <a:latin typeface="Aptos" panose="020B0004020202020204" pitchFamily="34" charset="0"/>
                          <a:ea typeface="+mn-ea"/>
                          <a:cs typeface="+mn-cs"/>
                        </a:rPr>
                        <a:t> </a:t>
                      </a:r>
                      <a:r>
                        <a:rPr lang="en-US" sz="1200" b="0" kern="0" err="1">
                          <a:solidFill>
                            <a:schemeClr val="tx1"/>
                          </a:solidFill>
                          <a:effectLst/>
                          <a:latin typeface="Aptos" panose="020B0004020202020204" pitchFamily="34" charset="0"/>
                          <a:ea typeface="+mn-ea"/>
                          <a:cs typeface="+mn-cs"/>
                        </a:rPr>
                        <a:t>Tambahan</a:t>
                      </a:r>
                      <a:r>
                        <a:rPr lang="en-US" sz="1200" b="0" kern="0">
                          <a:solidFill>
                            <a:schemeClr val="tx1"/>
                          </a:solidFill>
                          <a:effectLst/>
                          <a:latin typeface="Aptos" panose="020B0004020202020204" pitchFamily="34" charset="0"/>
                          <a:ea typeface="+mn-ea"/>
                          <a:cs typeface="+mn-cs"/>
                        </a:rPr>
                        <a:t> Payor Benefit Plus</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ea typeface="+mn-ea"/>
                          <a:cs typeface="+mn-cs"/>
                        </a:rPr>
                        <a:t>: Rp567.700,-/tahun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55378624"/>
                  </a:ext>
                </a:extLst>
              </a:tr>
              <a:tr h="205740">
                <a:tc>
                  <a:txBody>
                    <a:bodyPr/>
                    <a:lstStyle/>
                    <a:p>
                      <a:pPr marL="57150" marR="0" indent="0">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Jenis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Kelamin</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Perempuan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lvl="0" indent="0" algn="l" defTabSz="914400" rtl="0" eaLnBrk="1" fontAlgn="auto" latinLnBrk="0" hangingPunct="1">
                        <a:lnSpc>
                          <a:spcPct val="100000"/>
                        </a:lnSpc>
                        <a:spcBef>
                          <a:spcPts val="0"/>
                        </a:spcBef>
                        <a:spcAft>
                          <a:spcPts val="0"/>
                        </a:spcAft>
                        <a:buClrTx/>
                        <a:buSzTx/>
                        <a:buFontTx/>
                        <a:buNone/>
                        <a:tabLst/>
                        <a:defRPr/>
                      </a:pPr>
                      <a:r>
                        <a:rPr lang="en-US" sz="1200" b="0" kern="0">
                          <a:solidFill>
                            <a:schemeClr val="tx1"/>
                          </a:solidFill>
                          <a:effectLst/>
                          <a:latin typeface="Aptos" panose="020B0004020202020204" pitchFamily="34" charset="0"/>
                          <a:ea typeface="+mn-ea"/>
                          <a:cs typeface="+mn-cs"/>
                        </a:rPr>
                        <a:t>Premi </a:t>
                      </a:r>
                      <a:r>
                        <a:rPr lang="en-US" sz="1200" b="0" kern="0" err="1">
                          <a:solidFill>
                            <a:schemeClr val="tx1"/>
                          </a:solidFill>
                          <a:effectLst/>
                          <a:latin typeface="Aptos" panose="020B0004020202020204" pitchFamily="34" charset="0"/>
                          <a:ea typeface="+mn-ea"/>
                          <a:cs typeface="+mn-cs"/>
                        </a:rPr>
                        <a:t>Asuransi</a:t>
                      </a:r>
                      <a:r>
                        <a:rPr lang="en-US" sz="1200" b="0" kern="0">
                          <a:solidFill>
                            <a:schemeClr val="tx1"/>
                          </a:solidFill>
                          <a:effectLst/>
                          <a:latin typeface="Aptos" panose="020B0004020202020204" pitchFamily="34" charset="0"/>
                          <a:ea typeface="+mn-ea"/>
                          <a:cs typeface="+mn-cs"/>
                        </a:rPr>
                        <a:t> </a:t>
                      </a:r>
                      <a:r>
                        <a:rPr lang="en-US" sz="1200" b="0" kern="0" err="1">
                          <a:solidFill>
                            <a:schemeClr val="tx1"/>
                          </a:solidFill>
                          <a:effectLst/>
                          <a:latin typeface="Aptos" panose="020B0004020202020204" pitchFamily="34" charset="0"/>
                          <a:ea typeface="+mn-ea"/>
                          <a:cs typeface="+mn-cs"/>
                        </a:rPr>
                        <a:t>Tambahan</a:t>
                      </a:r>
                      <a:r>
                        <a:rPr lang="en-US" sz="1200" b="0" kern="0">
                          <a:solidFill>
                            <a:schemeClr val="tx1"/>
                          </a:solidFill>
                          <a:effectLst/>
                          <a:latin typeface="Aptos" panose="020B0004020202020204" pitchFamily="34" charset="0"/>
                          <a:ea typeface="+mn-ea"/>
                          <a:cs typeface="+mn-cs"/>
                        </a:rPr>
                        <a:t> Term Life</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ea typeface="+mn-ea"/>
                          <a:cs typeface="+mn-cs"/>
                        </a:rPr>
                        <a:t>: Rp7.125.000,-/tahun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91698329"/>
                  </a:ext>
                </a:extLst>
              </a:tr>
              <a:tr h="205740">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Nama </a:t>
                      </a:r>
                      <a:r>
                        <a:rPr lang="en-US" sz="1200" b="0" kern="0" err="1">
                          <a:solidFill>
                            <a:schemeClr val="tx1"/>
                          </a:solidFill>
                          <a:effectLst/>
                          <a:latin typeface="Aptos" panose="020B0004020202020204" pitchFamily="34" charset="0"/>
                        </a:rPr>
                        <a:t>Tertanggung</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Kevin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ea typeface="+mn-ea"/>
                          <a:cs typeface="+mn-cs"/>
                        </a:rPr>
                        <a:t>Uang </a:t>
                      </a:r>
                      <a:r>
                        <a:rPr lang="en-US" sz="1200" b="0" kern="0" err="1">
                          <a:solidFill>
                            <a:schemeClr val="tx1"/>
                          </a:solidFill>
                          <a:effectLst/>
                          <a:latin typeface="Aptos" panose="020B0004020202020204" pitchFamily="34" charset="0"/>
                          <a:ea typeface="+mn-ea"/>
                          <a:cs typeface="+mn-cs"/>
                        </a:rPr>
                        <a:t>Pertanggungan</a:t>
                      </a:r>
                      <a:r>
                        <a:rPr lang="en-US" sz="1200" b="0" kern="0">
                          <a:solidFill>
                            <a:schemeClr val="tx1"/>
                          </a:solidFill>
                          <a:effectLst/>
                          <a:latin typeface="Aptos" panose="020B0004020202020204" pitchFamily="34" charset="0"/>
                          <a:ea typeface="+mn-ea"/>
                          <a:cs typeface="+mn-cs"/>
                        </a:rPr>
                        <a:t> </a:t>
                      </a:r>
                      <a:r>
                        <a:rPr lang="en-US" sz="1200" b="0" kern="0" err="1">
                          <a:solidFill>
                            <a:schemeClr val="tx1"/>
                          </a:solidFill>
                          <a:effectLst/>
                          <a:latin typeface="Aptos" panose="020B0004020202020204" pitchFamily="34" charset="0"/>
                          <a:ea typeface="+mn-ea"/>
                          <a:cs typeface="+mn-cs"/>
                        </a:rPr>
                        <a:t>Asuransi</a:t>
                      </a:r>
                      <a:r>
                        <a:rPr lang="en-US" sz="1200" b="0" kern="0">
                          <a:solidFill>
                            <a:schemeClr val="tx1"/>
                          </a:solidFill>
                          <a:effectLst/>
                          <a:latin typeface="Aptos" panose="020B0004020202020204" pitchFamily="34" charset="0"/>
                          <a:ea typeface="+mn-ea"/>
                          <a:cs typeface="+mn-cs"/>
                        </a:rPr>
                        <a:t> </a:t>
                      </a:r>
                      <a:r>
                        <a:rPr lang="en-US" sz="1200" b="0" kern="0" err="1">
                          <a:solidFill>
                            <a:schemeClr val="tx1"/>
                          </a:solidFill>
                          <a:effectLst/>
                          <a:latin typeface="Aptos" panose="020B0004020202020204" pitchFamily="34" charset="0"/>
                          <a:ea typeface="+mn-ea"/>
                          <a:cs typeface="+mn-cs"/>
                        </a:rPr>
                        <a:t>Tambahan</a:t>
                      </a:r>
                      <a:r>
                        <a:rPr lang="en-US" sz="1200" b="0" kern="0">
                          <a:solidFill>
                            <a:schemeClr val="tx1"/>
                          </a:solidFill>
                          <a:effectLst/>
                          <a:latin typeface="Aptos" panose="020B0004020202020204" pitchFamily="34" charset="0"/>
                          <a:ea typeface="+mn-ea"/>
                          <a:cs typeface="+mn-cs"/>
                        </a:rPr>
                        <a:t> Term Life</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ea typeface="+mn-ea"/>
                          <a:cs typeface="+mn-cs"/>
                        </a:rPr>
                        <a:t>: Rp500.000.000,-</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1242549"/>
                  </a:ext>
                </a:extLst>
              </a:tr>
              <a:tr h="205740">
                <a:tc>
                  <a:txBody>
                    <a:bodyPr/>
                    <a:lstStyle/>
                    <a:p>
                      <a:pPr marL="57150" marR="0" indent="0">
                        <a:lnSpc>
                          <a:spcPct val="100000"/>
                        </a:lnSpc>
                        <a:spcAft>
                          <a:spcPts val="0"/>
                        </a:spcAft>
                        <a:buNone/>
                      </a:pPr>
                      <a:r>
                        <a:rPr lang="en-US" sz="1200" b="0" kern="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Usia</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35 </a:t>
                      </a:r>
                      <a:r>
                        <a:rPr lang="en-US" sz="1200" kern="0" err="1">
                          <a:solidFill>
                            <a:schemeClr val="tx1"/>
                          </a:solidFill>
                          <a:effectLst/>
                          <a:latin typeface="Aptos" panose="020B0004020202020204" pitchFamily="34" charset="0"/>
                        </a:rPr>
                        <a:t>tahun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indent="0">
                        <a:lnSpc>
                          <a:spcPct val="100000"/>
                        </a:lnSpc>
                        <a:spcAft>
                          <a:spcPts val="0"/>
                        </a:spcAft>
                        <a:buNone/>
                      </a:pPr>
                      <a:r>
                        <a:rPr lang="en-US" sz="1200" b="0" kern="0" err="1">
                          <a:solidFill>
                            <a:schemeClr val="tx1"/>
                          </a:solidFill>
                          <a:effectLst/>
                          <a:latin typeface="Aptos" panose="020B0004020202020204" pitchFamily="34" charset="0"/>
                        </a:rPr>
                        <a:t>Frekuensi</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Pembayaran</a:t>
                      </a:r>
                      <a:r>
                        <a:rPr lang="en-US" sz="1200" b="0" kern="0">
                          <a:solidFill>
                            <a:schemeClr val="tx1"/>
                          </a:solidFill>
                          <a:effectLst/>
                          <a:latin typeface="Aptos" panose="020B0004020202020204" pitchFamily="34" charset="0"/>
                        </a:rPr>
                        <a:t> Premi</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a:t>
                      </a:r>
                      <a:r>
                        <a:rPr lang="en-US" sz="1200" kern="0" err="1">
                          <a:solidFill>
                            <a:schemeClr val="tx1"/>
                          </a:solidFill>
                          <a:effectLst/>
                          <a:latin typeface="Aptos" panose="020B0004020202020204" pitchFamily="34" charset="0"/>
                        </a:rPr>
                        <a:t>Tahunan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33982744"/>
                  </a:ext>
                </a:extLst>
              </a:tr>
              <a:tr h="205740">
                <a:tc>
                  <a:txBody>
                    <a:bodyPr/>
                    <a:lstStyle/>
                    <a:p>
                      <a:pPr marL="57150" marR="0" indent="0">
                        <a:lnSpc>
                          <a:spcPct val="100000"/>
                        </a:lnSpc>
                        <a:spcAft>
                          <a:spcPts val="0"/>
                        </a:spcAft>
                        <a:buNone/>
                      </a:pPr>
                      <a:r>
                        <a:rPr lang="en-US" sz="1200" b="0" kern="0">
                          <a:solidFill>
                            <a:schemeClr val="tx1"/>
                          </a:solidFill>
                          <a:effectLst/>
                          <a:latin typeface="Aptos" panose="020B0004020202020204" pitchFamily="34" charset="0"/>
                        </a:rPr>
                        <a:t>Jenis </a:t>
                      </a:r>
                      <a:r>
                        <a:rPr lang="en-US" sz="1200" b="0" kern="0" err="1">
                          <a:solidFill>
                            <a:schemeClr val="tx1"/>
                          </a:solidFill>
                          <a:effectLst/>
                          <a:latin typeface="Aptos" panose="020B0004020202020204" pitchFamily="34" charset="0"/>
                        </a:rPr>
                        <a:t>Kelamin</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rPr>
                        <a:t>: Laki-</a:t>
                      </a:r>
                      <a:r>
                        <a:rPr lang="en-US" sz="1200" kern="0" err="1">
                          <a:solidFill>
                            <a:schemeClr val="tx1"/>
                          </a:solidFill>
                          <a:effectLst/>
                          <a:latin typeface="Aptos" panose="020B0004020202020204" pitchFamily="34" charset="0"/>
                        </a:rPr>
                        <a:t>laki</a:t>
                      </a:r>
                      <a:r>
                        <a:rPr lang="en-US" sz="1200" kern="0">
                          <a:solidFill>
                            <a:schemeClr val="tx1"/>
                          </a:solidFill>
                          <a:effectLst/>
                          <a:latin typeface="Aptos" panose="020B0004020202020204" pitchFamily="34" charset="0"/>
                        </a:rPr>
                        <a:t> </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lvl="0" indent="0" algn="l" defTabSz="914400" rtl="0" eaLnBrk="1" fontAlgn="auto" latinLnBrk="0" hangingPunct="1">
                        <a:lnSpc>
                          <a:spcPct val="100000"/>
                        </a:lnSpc>
                        <a:spcBef>
                          <a:spcPts val="0"/>
                        </a:spcBef>
                        <a:spcAft>
                          <a:spcPts val="0"/>
                        </a:spcAft>
                        <a:buClrTx/>
                        <a:buSzTx/>
                        <a:buFontTx/>
                        <a:buNone/>
                        <a:tabLst/>
                        <a:defRPr/>
                      </a:pPr>
                      <a:r>
                        <a:rPr lang="en-US" sz="1200" b="0" kern="0">
                          <a:solidFill>
                            <a:schemeClr val="tx1"/>
                          </a:solidFill>
                          <a:effectLst/>
                          <a:latin typeface="Aptos" panose="020B0004020202020204" pitchFamily="34" charset="0"/>
                        </a:rPr>
                        <a:t>Masa Pembayaran Premi</a:t>
                      </a: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r>
                        <a:rPr lang="en-US" sz="1200" kern="0">
                          <a:solidFill>
                            <a:schemeClr val="tx1"/>
                          </a:solidFill>
                          <a:effectLst/>
                          <a:latin typeface="Aptos" panose="020B0004020202020204" pitchFamily="34" charset="0"/>
                          <a:ea typeface="+mn-ea"/>
                          <a:cs typeface="+mn-cs"/>
                        </a:rPr>
                        <a:t>: 5 </a:t>
                      </a:r>
                      <a:r>
                        <a:rPr lang="en-US" sz="1200" kern="0" err="1">
                          <a:solidFill>
                            <a:schemeClr val="tx1"/>
                          </a:solidFill>
                          <a:effectLst/>
                          <a:latin typeface="Aptos" panose="020B0004020202020204" pitchFamily="34" charset="0"/>
                          <a:ea typeface="+mn-ea"/>
                          <a:cs typeface="+mn-cs"/>
                        </a:rPr>
                        <a:t>tahun</a:t>
                      </a: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30022040"/>
                  </a:ext>
                </a:extLst>
              </a:tr>
              <a:tr h="205740">
                <a:tc>
                  <a:txBody>
                    <a:bodyPr/>
                    <a:lstStyle/>
                    <a:p>
                      <a:pPr marL="57150" marR="0" indent="0">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Masa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Pertanggungan</a:t>
                      </a:r>
                      <a:endParaRPr lang="id-ID"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tc>
                <a:tc>
                  <a:txBody>
                    <a:bodyPr/>
                    <a:lstStyle/>
                    <a:p>
                      <a:pPr marL="0" marR="0">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20 tahun</a:t>
                      </a:r>
                      <a:endParaRPr lang="id-ID"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57150" marR="0" indent="0">
                        <a:lnSpc>
                          <a:spcPct val="100000"/>
                        </a:lnSpc>
                        <a:spcAft>
                          <a:spcPts val="0"/>
                        </a:spcAft>
                        <a:buNone/>
                      </a:pPr>
                      <a:endParaRPr lang="id-ID" sz="1200" b="0" kern="0">
                        <a:solidFill>
                          <a:schemeClr val="tx1"/>
                        </a:solidFill>
                        <a:effectLst/>
                        <a:latin typeface="Aptos" panose="020B000402020202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nSpc>
                          <a:spcPct val="100000"/>
                        </a:lnSpc>
                        <a:spcAft>
                          <a:spcPts val="0"/>
                        </a:spcAft>
                        <a:buNone/>
                      </a:pPr>
                      <a:endParaRPr lang="id-ID" sz="1200" kern="0">
                        <a:solidFill>
                          <a:schemeClr val="tx1"/>
                        </a:solidFill>
                        <a:effectLst/>
                        <a:latin typeface="Aptos" panose="020B0004020202020204" pitchFamily="34" charset="0"/>
                        <a:ea typeface="+mn-ea"/>
                        <a:cs typeface="+mn-cs"/>
                      </a:endParaRPr>
                    </a:p>
                  </a:txBody>
                  <a:tcPr marL="0" marR="0" marT="0" marB="0" anchor="ctr">
                    <a:lnR w="635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2057515"/>
                  </a:ext>
                </a:extLst>
              </a:tr>
            </a:tbl>
          </a:graphicData>
        </a:graphic>
      </p:graphicFrame>
      <p:sp>
        <p:nvSpPr>
          <p:cNvPr id="6" name="TextBox 5">
            <a:extLst>
              <a:ext uri="{FF2B5EF4-FFF2-40B4-BE49-F238E27FC236}">
                <a16:creationId xmlns:a16="http://schemas.microsoft.com/office/drawing/2014/main" id="{D15DBC46-E688-EC9F-44AA-3A428302C518}"/>
              </a:ext>
            </a:extLst>
          </p:cNvPr>
          <p:cNvSpPr txBox="1"/>
          <p:nvPr/>
        </p:nvSpPr>
        <p:spPr>
          <a:xfrm>
            <a:off x="154557" y="2682782"/>
            <a:ext cx="3491831" cy="276999"/>
          </a:xfrm>
          <a:prstGeom prst="rect">
            <a:avLst/>
          </a:prstGeom>
          <a:noFill/>
        </p:spPr>
        <p:txBody>
          <a:bodyPr wrap="square">
            <a:spAutoFit/>
          </a:bodyPr>
          <a:lstStyle/>
          <a:p>
            <a:r>
              <a:rPr lang="en-US" sz="1200" b="1" err="1">
                <a:latin typeface="Aptos" panose="020B0004020202020204" pitchFamily="34" charset="0"/>
              </a:rPr>
              <a:t>Ilustrasi</a:t>
            </a:r>
            <a:r>
              <a:rPr lang="en-US" sz="1200" b="1">
                <a:latin typeface="Aptos" panose="020B0004020202020204" pitchFamily="34" charset="0"/>
              </a:rPr>
              <a:t> </a:t>
            </a:r>
            <a:r>
              <a:rPr lang="en-US" sz="1200" b="1" err="1">
                <a:latin typeface="Aptos" panose="020B0004020202020204" pitchFamily="34" charset="0"/>
              </a:rPr>
              <a:t>Pembayaran</a:t>
            </a:r>
            <a:r>
              <a:rPr lang="en-US" sz="1200" b="1">
                <a:latin typeface="Aptos" panose="020B0004020202020204" pitchFamily="34" charset="0"/>
              </a:rPr>
              <a:t> Manfaat</a:t>
            </a:r>
          </a:p>
        </p:txBody>
      </p:sp>
      <p:sp>
        <p:nvSpPr>
          <p:cNvPr id="2" name="TextBox 1">
            <a:extLst>
              <a:ext uri="{FF2B5EF4-FFF2-40B4-BE49-F238E27FC236}">
                <a16:creationId xmlns:a16="http://schemas.microsoft.com/office/drawing/2014/main" id="{AA1A8869-AA65-ECF8-7A2E-F826EB569971}"/>
              </a:ext>
            </a:extLst>
          </p:cNvPr>
          <p:cNvSpPr txBox="1"/>
          <p:nvPr/>
        </p:nvSpPr>
        <p:spPr>
          <a:xfrm>
            <a:off x="154557" y="732923"/>
            <a:ext cx="11334710" cy="276999"/>
          </a:xfrm>
          <a:prstGeom prst="rect">
            <a:avLst/>
          </a:prstGeom>
          <a:noFill/>
        </p:spPr>
        <p:txBody>
          <a:bodyPr wrap="square">
            <a:spAutoFit/>
          </a:bodyPr>
          <a:lstStyle/>
          <a:p>
            <a:pPr algn="just"/>
            <a:r>
              <a:rPr lang="en-US" sz="1200" b="1" err="1">
                <a:latin typeface="Aptos" panose="020B0004020202020204" pitchFamily="34" charset="0"/>
              </a:rPr>
              <a:t>Nasabah</a:t>
            </a:r>
            <a:r>
              <a:rPr lang="en-US" sz="1200" b="1">
                <a:latin typeface="Aptos" panose="020B0004020202020204" pitchFamily="34" charset="0"/>
              </a:rPr>
              <a:t> </a:t>
            </a:r>
            <a:r>
              <a:rPr lang="en-US" sz="1200" b="1" err="1">
                <a:latin typeface="Aptos" panose="020B0004020202020204" pitchFamily="34" charset="0"/>
              </a:rPr>
              <a:t>memilih</a:t>
            </a:r>
            <a:r>
              <a:rPr lang="en-US" sz="1200" b="1">
                <a:latin typeface="Aptos" panose="020B0004020202020204" pitchFamily="34" charset="0"/>
              </a:rPr>
              <a:t> Plan Core (</a:t>
            </a:r>
            <a:r>
              <a:rPr lang="en-US" sz="1200" b="1" err="1">
                <a:latin typeface="Aptos" panose="020B0004020202020204" pitchFamily="34" charset="0"/>
              </a:rPr>
              <a:t>tanpa</a:t>
            </a:r>
            <a:r>
              <a:rPr lang="en-US" sz="1200" b="1">
                <a:latin typeface="Aptos" panose="020B0004020202020204" pitchFamily="34" charset="0"/>
              </a:rPr>
              <a:t> Manfaat </a:t>
            </a:r>
            <a:r>
              <a:rPr lang="en-US" sz="1200" b="1" err="1">
                <a:latin typeface="Aptos" panose="020B0004020202020204" pitchFamily="34" charset="0"/>
              </a:rPr>
              <a:t>Tunai</a:t>
            </a:r>
            <a:r>
              <a:rPr lang="en-US" sz="1200" b="1">
                <a:latin typeface="Aptos" panose="020B0004020202020204" pitchFamily="34" charset="0"/>
              </a:rPr>
              <a:t> </a:t>
            </a:r>
            <a:r>
              <a:rPr lang="en-US" sz="1200" b="1" err="1">
                <a:latin typeface="Aptos" panose="020B0004020202020204" pitchFamily="34" charset="0"/>
              </a:rPr>
              <a:t>Tahunan</a:t>
            </a:r>
            <a:r>
              <a:rPr lang="en-US" sz="1200" b="1">
                <a:latin typeface="Aptos" panose="020B0004020202020204" pitchFamily="34" charset="0"/>
              </a:rPr>
              <a:t>) </a:t>
            </a:r>
            <a:r>
              <a:rPr lang="en-US" sz="1200" b="1" err="1">
                <a:latin typeface="Aptos" panose="020B0004020202020204" pitchFamily="34" charset="0"/>
              </a:rPr>
              <a:t>disertai</a:t>
            </a:r>
            <a:r>
              <a:rPr lang="en-US" sz="1200" b="1">
                <a:latin typeface="Aptos" panose="020B0004020202020204" pitchFamily="34" charset="0"/>
              </a:rPr>
              <a:t> Asuransi Tambahan Payor Benefit Plus dan Asuransi Tambahan Term Life:</a:t>
            </a:r>
          </a:p>
        </p:txBody>
      </p:sp>
    </p:spTree>
    <p:extLst>
      <p:ext uri="{BB962C8B-B14F-4D97-AF65-F5344CB8AC3E}">
        <p14:creationId xmlns:p14="http://schemas.microsoft.com/office/powerpoint/2010/main" val="3481108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12FC7-4B79-A614-A810-186FB93C533C}"/>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3DC6D482-44EA-F39D-C201-FFCD8048EA08}"/>
              </a:ext>
            </a:extLst>
          </p:cNvPr>
          <p:cNvSpPr>
            <a:spLocks noGrp="1"/>
          </p:cNvSpPr>
          <p:nvPr>
            <p:ph type="title" idx="4294967295"/>
          </p:nvPr>
        </p:nvSpPr>
        <p:spPr>
          <a:xfrm>
            <a:off x="2855913" y="183650"/>
            <a:ext cx="9217025" cy="620713"/>
          </a:xfrm>
        </p:spPr>
        <p:txBody>
          <a:bodyPr>
            <a:normAutofit fontScale="90000"/>
          </a:bodyPr>
          <a:lstStyle/>
          <a:p>
            <a:pPr algn="r"/>
            <a:r>
              <a:rPr lang="en-GB" sz="2400" b="1" err="1">
                <a:solidFill>
                  <a:srgbClr val="002060"/>
                </a:solidFill>
                <a:latin typeface="Aptos" panose="020B0004020202020204" pitchFamily="34" charset="0"/>
              </a:rPr>
              <a:t>Ilustrasi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Produk</a:t>
            </a:r>
            <a:r>
              <a:rPr lang="en-GB" sz="2400" b="1">
                <a:solidFill>
                  <a:srgbClr val="002060"/>
                </a:solidFill>
                <a:latin typeface="Aptos" panose="020B0004020202020204" pitchFamily="34" charset="0"/>
              </a:rPr>
              <a:t> Value Income Assurance (VALUE+) Plan Core (IDR)</a:t>
            </a:r>
          </a:p>
        </p:txBody>
      </p:sp>
      <p:graphicFrame>
        <p:nvGraphicFramePr>
          <p:cNvPr id="4" name="Table 3">
            <a:extLst>
              <a:ext uri="{FF2B5EF4-FFF2-40B4-BE49-F238E27FC236}">
                <a16:creationId xmlns:a16="http://schemas.microsoft.com/office/drawing/2014/main" id="{15879BEA-2FB1-2C74-27DC-BCB26C97DB92}"/>
              </a:ext>
            </a:extLst>
          </p:cNvPr>
          <p:cNvGraphicFramePr>
            <a:graphicFrameLocks noGrp="1"/>
          </p:cNvGraphicFramePr>
          <p:nvPr>
            <p:extLst>
              <p:ext uri="{D42A27DB-BD31-4B8C-83A1-F6EECF244321}">
                <p14:modId xmlns:p14="http://schemas.microsoft.com/office/powerpoint/2010/main" val="3549057735"/>
              </p:ext>
            </p:extLst>
          </p:nvPr>
        </p:nvGraphicFramePr>
        <p:xfrm>
          <a:off x="305667" y="1326250"/>
          <a:ext cx="9871267" cy="1075762"/>
        </p:xfrm>
        <a:graphic>
          <a:graphicData uri="http://schemas.openxmlformats.org/drawingml/2006/table">
            <a:tbl>
              <a:tblPr firstRow="1" firstCol="1" bandRow="1">
                <a:tableStyleId>{5940675A-B579-460E-94D1-54222C63F5DA}</a:tableStyleId>
              </a:tblPr>
              <a:tblGrid>
                <a:gridCol w="1706013">
                  <a:extLst>
                    <a:ext uri="{9D8B030D-6E8A-4147-A177-3AD203B41FA5}">
                      <a16:colId xmlns:a16="http://schemas.microsoft.com/office/drawing/2014/main" val="4005484585"/>
                    </a:ext>
                  </a:extLst>
                </a:gridCol>
                <a:gridCol w="2750397">
                  <a:extLst>
                    <a:ext uri="{9D8B030D-6E8A-4147-A177-3AD203B41FA5}">
                      <a16:colId xmlns:a16="http://schemas.microsoft.com/office/drawing/2014/main" val="1962661030"/>
                    </a:ext>
                  </a:extLst>
                </a:gridCol>
                <a:gridCol w="3394371">
                  <a:extLst>
                    <a:ext uri="{9D8B030D-6E8A-4147-A177-3AD203B41FA5}">
                      <a16:colId xmlns:a16="http://schemas.microsoft.com/office/drawing/2014/main" val="3081628540"/>
                    </a:ext>
                  </a:extLst>
                </a:gridCol>
                <a:gridCol w="2020486">
                  <a:extLst>
                    <a:ext uri="{9D8B030D-6E8A-4147-A177-3AD203B41FA5}">
                      <a16:colId xmlns:a16="http://schemas.microsoft.com/office/drawing/2014/main" val="1099585529"/>
                    </a:ext>
                  </a:extLst>
                </a:gridCol>
              </a:tblGrid>
              <a:tr h="413336">
                <a:tc>
                  <a:txBody>
                    <a:bodyPr/>
                    <a:lstStyle/>
                    <a:p>
                      <a:pPr algn="ctr">
                        <a:lnSpc>
                          <a:spcPct val="100000"/>
                        </a:lnSpc>
                        <a:spcAft>
                          <a:spcPts val="0"/>
                        </a:spcAft>
                        <a:buNone/>
                      </a:pP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Usia</a:t>
                      </a: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Tertanggung</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a:solidFill>
                            <a:schemeClr val="bg1"/>
                          </a:solidFill>
                          <a:effectLst/>
                          <a:latin typeface="Aptos" panose="020B0004020202020204" pitchFamily="34" charset="0"/>
                        </a:rPr>
                        <a:t>Manfaat </a:t>
                      </a:r>
                      <a:r>
                        <a:rPr lang="en-US" sz="1200" b="1" kern="0" err="1">
                          <a:solidFill>
                            <a:schemeClr val="bg1"/>
                          </a:solidFill>
                          <a:effectLst/>
                          <a:latin typeface="Aptos" panose="020B0004020202020204" pitchFamily="34" charset="0"/>
                        </a:rPr>
                        <a:t>Asuransi</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Detail Manfaat</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Manfaat yang Dibayarkan</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extLst>
                  <a:ext uri="{0D108BD9-81ED-4DB2-BD59-A6C34878D82A}">
                    <a16:rowId xmlns:a16="http://schemas.microsoft.com/office/drawing/2014/main" val="2762450738"/>
                  </a:ext>
                </a:extLst>
              </a:tr>
              <a:tr h="331213">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54 tahun</a:t>
                      </a:r>
                    </a:p>
                  </a:txBody>
                  <a:tcPr marL="68580" marR="68580" marT="0" marB="0" anchor="ctr"/>
                </a:tc>
                <a:tc>
                  <a:txBody>
                    <a:bodyPr/>
                    <a:lstStyle/>
                    <a:p>
                      <a:pPr algn="l">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Manfaat Akhir Masa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Pertanggungan</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l">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940% x Rp100.000.000</a:t>
                      </a:r>
                    </a:p>
                  </a:txBody>
                  <a:tcPr marL="68580" marR="68580" marT="0" marB="0" anchor="ctr"/>
                </a:tc>
                <a:tc>
                  <a:txBody>
                    <a:bodyPr/>
                    <a:lstStyle/>
                    <a:p>
                      <a:pPr algn="ctr">
                        <a:lnSpc>
                          <a:spcPct val="100000"/>
                        </a:lnSpc>
                        <a:spcAft>
                          <a:spcPts val="0"/>
                        </a:spcAft>
                        <a:buNone/>
                      </a:pPr>
                      <a:r>
                        <a:rPr lang="en-US" sz="1200" b="0" kern="100">
                          <a:effectLst/>
                          <a:latin typeface="Aptos" panose="020B0004020202020204" pitchFamily="34" charset="0"/>
                          <a:ea typeface="Aptos" panose="020B0004020202020204" pitchFamily="34" charset="0"/>
                          <a:cs typeface="Times New Roman" panose="02020603050405020304" pitchFamily="18" charset="0"/>
                        </a:rPr>
                        <a:t>Rp940.000.000</a:t>
                      </a:r>
                    </a:p>
                  </a:txBody>
                  <a:tcPr marL="68580" marR="68580" marT="0" marB="0" anchor="ctr"/>
                </a:tc>
                <a:extLst>
                  <a:ext uri="{0D108BD9-81ED-4DB2-BD59-A6C34878D82A}">
                    <a16:rowId xmlns:a16="http://schemas.microsoft.com/office/drawing/2014/main" val="1180768947"/>
                  </a:ext>
                </a:extLst>
              </a:tr>
              <a:tr h="331213">
                <a:tc gridSpan="3">
                  <a:txBody>
                    <a:bodyPr/>
                    <a:lstStyle/>
                    <a:p>
                      <a:pPr algn="ctr">
                        <a:lnSpc>
                          <a:spcPct val="100000"/>
                        </a:lnSpc>
                        <a:spcAft>
                          <a:spcPts val="0"/>
                        </a:spcAft>
                        <a:buNone/>
                      </a:pPr>
                      <a:r>
                        <a:rPr lang="en-US" sz="1200" b="1" kern="100">
                          <a:solidFill>
                            <a:schemeClr val="tx1"/>
                          </a:solidFill>
                          <a:effectLst/>
                          <a:latin typeface="Aptos" panose="020B0004020202020204" pitchFamily="34" charset="0"/>
                          <a:cs typeface="Times New Roman" panose="02020603050405020304" pitchFamily="18" charset="0"/>
                        </a:rPr>
                        <a:t>Total Manfaat </a:t>
                      </a:r>
                      <a:r>
                        <a:rPr lang="en-US" sz="1200" b="1" kern="100" err="1">
                          <a:solidFill>
                            <a:schemeClr val="tx1"/>
                          </a:solidFill>
                          <a:effectLst/>
                          <a:latin typeface="Aptos" panose="020B0004020202020204" pitchFamily="34" charset="0"/>
                          <a:cs typeface="Times New Roman" panose="02020603050405020304" pitchFamily="18" charset="0"/>
                        </a:rPr>
                        <a:t>Asuransi</a:t>
                      </a:r>
                      <a:r>
                        <a:rPr lang="en-US" sz="1200" b="1" kern="100">
                          <a:solidFill>
                            <a:schemeClr val="tx1"/>
                          </a:solidFill>
                          <a:effectLst/>
                          <a:latin typeface="Aptos" panose="020B0004020202020204" pitchFamily="34" charset="0"/>
                          <a:cs typeface="Times New Roman" panose="02020603050405020304" pitchFamily="18" charset="0"/>
                        </a:rPr>
                        <a:t> yang </a:t>
                      </a:r>
                      <a:r>
                        <a:rPr lang="en-US" sz="1200" b="1" kern="100" err="1">
                          <a:solidFill>
                            <a:schemeClr val="tx1"/>
                          </a:solidFill>
                          <a:effectLst/>
                          <a:latin typeface="Aptos" panose="020B0004020202020204" pitchFamily="34" charset="0"/>
                          <a:cs typeface="Times New Roman" panose="02020603050405020304" pitchFamily="18" charset="0"/>
                        </a:rPr>
                        <a:t>dibayarkan</a:t>
                      </a:r>
                      <a:r>
                        <a:rPr lang="en-US" sz="1200" b="1" kern="100">
                          <a:solidFill>
                            <a:schemeClr val="tx1"/>
                          </a:solidFill>
                          <a:effectLst/>
                          <a:latin typeface="Aptos" panose="020B0004020202020204" pitchFamily="34" charset="0"/>
                          <a:cs typeface="Times New Roman" panose="02020603050405020304" pitchFamily="18" charset="0"/>
                        </a:rPr>
                        <a:t> BCA Life</a:t>
                      </a:r>
                    </a:p>
                  </a:txBody>
                  <a:tcPr marL="68580" marR="68580" marT="0" marB="0" anchor="ctr"/>
                </a:tc>
                <a:tc hMerge="1">
                  <a:txBody>
                    <a:bodyPr/>
                    <a:lstStyle/>
                    <a:p>
                      <a:endParaRPr/>
                    </a:p>
                  </a:txBody>
                  <a:tcPr marL="68580" marR="68580" marT="0" marB="0" anchor="ctr"/>
                </a:tc>
                <a:tc hMerge="1">
                  <a:txBody>
                    <a:bodyPr/>
                    <a:lstStyle/>
                    <a:p>
                      <a:pPr algn="l">
                        <a:lnSpc>
                          <a:spcPct val="100000"/>
                        </a:lnSpc>
                        <a:spcAft>
                          <a:spcPts val="0"/>
                        </a:spcAft>
                        <a:buNone/>
                      </a:pPr>
                      <a:endParaRPr lang="en-US" sz="11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Rp940.000.000</a:t>
                      </a:r>
                    </a:p>
                  </a:txBody>
                  <a:tcPr marL="68580" marR="68580" marT="0" marB="0" anchor="ctr"/>
                </a:tc>
                <a:extLst>
                  <a:ext uri="{0D108BD9-81ED-4DB2-BD59-A6C34878D82A}">
                    <a16:rowId xmlns:a16="http://schemas.microsoft.com/office/drawing/2014/main" val="56495340"/>
                  </a:ext>
                </a:extLst>
              </a:tr>
            </a:tbl>
          </a:graphicData>
        </a:graphic>
      </p:graphicFrame>
      <p:sp>
        <p:nvSpPr>
          <p:cNvPr id="8" name="Rectangle 3">
            <a:extLst>
              <a:ext uri="{FF2B5EF4-FFF2-40B4-BE49-F238E27FC236}">
                <a16:creationId xmlns:a16="http://schemas.microsoft.com/office/drawing/2014/main" id="{4AD20AB4-FB25-94B9-957F-6ED5709EDF3E}"/>
              </a:ext>
            </a:extLst>
          </p:cNvPr>
          <p:cNvSpPr>
            <a:spLocks noChangeArrowheads="1"/>
          </p:cNvSpPr>
          <p:nvPr/>
        </p:nvSpPr>
        <p:spPr bwMode="auto">
          <a:xfrm>
            <a:off x="247691" y="1041557"/>
            <a:ext cx="64008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Skenario</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1 – Bapak Kevin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hidup</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hingga</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Tanggal</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Berakhir</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Asuransi</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endParaRPr kumimoji="0" lang="id-ID" altLang="en-US" sz="3600" b="1" i="0" strike="noStrike" cap="none" normalizeH="0" baseline="0">
              <a:ln>
                <a:noFill/>
              </a:ln>
              <a:effectLst/>
              <a:latin typeface="Aptos" panose="020B0004020202020204" pitchFamily="34" charset="0"/>
            </a:endParaRPr>
          </a:p>
        </p:txBody>
      </p:sp>
      <p:graphicFrame>
        <p:nvGraphicFramePr>
          <p:cNvPr id="7" name="Table 6">
            <a:extLst>
              <a:ext uri="{FF2B5EF4-FFF2-40B4-BE49-F238E27FC236}">
                <a16:creationId xmlns:a16="http://schemas.microsoft.com/office/drawing/2014/main" id="{1710A90C-ACB1-0C44-579E-DA1B43BAE178}"/>
              </a:ext>
            </a:extLst>
          </p:cNvPr>
          <p:cNvGraphicFramePr>
            <a:graphicFrameLocks noGrp="1"/>
          </p:cNvGraphicFramePr>
          <p:nvPr>
            <p:extLst>
              <p:ext uri="{D42A27DB-BD31-4B8C-83A1-F6EECF244321}">
                <p14:modId xmlns:p14="http://schemas.microsoft.com/office/powerpoint/2010/main" val="4201615407"/>
              </p:ext>
            </p:extLst>
          </p:nvPr>
        </p:nvGraphicFramePr>
        <p:xfrm>
          <a:off x="305667" y="2797381"/>
          <a:ext cx="9871267" cy="1441522"/>
        </p:xfrm>
        <a:graphic>
          <a:graphicData uri="http://schemas.openxmlformats.org/drawingml/2006/table">
            <a:tbl>
              <a:tblPr firstRow="1" firstCol="1" bandRow="1">
                <a:tableStyleId>{5940675A-B579-460E-94D1-54222C63F5DA}</a:tableStyleId>
              </a:tblPr>
              <a:tblGrid>
                <a:gridCol w="1693821">
                  <a:extLst>
                    <a:ext uri="{9D8B030D-6E8A-4147-A177-3AD203B41FA5}">
                      <a16:colId xmlns:a16="http://schemas.microsoft.com/office/drawing/2014/main" val="4228054934"/>
                    </a:ext>
                  </a:extLst>
                </a:gridCol>
                <a:gridCol w="2762589">
                  <a:extLst>
                    <a:ext uri="{9D8B030D-6E8A-4147-A177-3AD203B41FA5}">
                      <a16:colId xmlns:a16="http://schemas.microsoft.com/office/drawing/2014/main" val="1962661030"/>
                    </a:ext>
                  </a:extLst>
                </a:gridCol>
                <a:gridCol w="3828422">
                  <a:extLst>
                    <a:ext uri="{9D8B030D-6E8A-4147-A177-3AD203B41FA5}">
                      <a16:colId xmlns:a16="http://schemas.microsoft.com/office/drawing/2014/main" val="3081628540"/>
                    </a:ext>
                  </a:extLst>
                </a:gridCol>
                <a:gridCol w="1586435">
                  <a:extLst>
                    <a:ext uri="{9D8B030D-6E8A-4147-A177-3AD203B41FA5}">
                      <a16:colId xmlns:a16="http://schemas.microsoft.com/office/drawing/2014/main" val="1099585529"/>
                    </a:ext>
                  </a:extLst>
                </a:gridCol>
              </a:tblGrid>
              <a:tr h="413336">
                <a:tc>
                  <a:txBody>
                    <a:bodyPr/>
                    <a:lstStyle/>
                    <a:p>
                      <a:pPr algn="ctr">
                        <a:lnSpc>
                          <a:spcPct val="100000"/>
                        </a:lnSpc>
                        <a:spcAft>
                          <a:spcPts val="0"/>
                        </a:spcAft>
                        <a:buNone/>
                      </a:pP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Usia</a:t>
                      </a: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Tertanggung</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a:solidFill>
                            <a:schemeClr val="bg1"/>
                          </a:solidFill>
                          <a:effectLst/>
                          <a:latin typeface="Aptos" panose="020B0004020202020204" pitchFamily="34" charset="0"/>
                        </a:rPr>
                        <a:t>Manfaat </a:t>
                      </a:r>
                      <a:r>
                        <a:rPr lang="en-US" sz="1200" b="1" kern="0" err="1">
                          <a:solidFill>
                            <a:schemeClr val="bg1"/>
                          </a:solidFill>
                          <a:effectLst/>
                          <a:latin typeface="Aptos" panose="020B0004020202020204" pitchFamily="34" charset="0"/>
                        </a:rPr>
                        <a:t>Asuransi</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Detail Manfaat</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Manfaat yang Dibayarkan</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extLst>
                  <a:ext uri="{0D108BD9-81ED-4DB2-BD59-A6C34878D82A}">
                    <a16:rowId xmlns:a16="http://schemas.microsoft.com/office/drawing/2014/main" val="2762450738"/>
                  </a:ext>
                </a:extLst>
              </a:tr>
              <a:tr h="331213">
                <a:tc rowSpan="2">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42 tahun</a:t>
                      </a:r>
                    </a:p>
                  </a:txBody>
                  <a:tcPr marL="68580" marR="68580" marT="0" marB="0" anchor="ctr"/>
                </a:tc>
                <a:tc>
                  <a:txBody>
                    <a:bodyPr/>
                    <a:lstStyle/>
                    <a:p>
                      <a:pPr algn="just">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Manfaat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Meninggal</a:t>
                      </a: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Dunia</a:t>
                      </a:r>
                    </a:p>
                  </a:txBody>
                  <a:tcPr marL="68580" marR="68580" marT="0" marB="0" anchor="ctr"/>
                </a:tc>
                <a:tc>
                  <a:txBody>
                    <a:bodyPr/>
                    <a:lstStyle/>
                    <a:p>
                      <a:pPr algn="l">
                        <a:lnSpc>
                          <a:spcPct val="100000"/>
                        </a:lnSpc>
                        <a:spcAft>
                          <a:spcPts val="0"/>
                        </a:spcAft>
                        <a:buNone/>
                      </a:pP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Persentase</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total Premi yang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telah</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dibayarkan</a:t>
                      </a: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a:t>
                      </a:r>
                    </a:p>
                    <a:p>
                      <a:pPr algn="l">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125% x Rp500.000.000</a:t>
                      </a:r>
                    </a:p>
                  </a:txBody>
                  <a:tcPr marL="68580" marR="68580" marT="0" marB="0" anchor="ctr"/>
                </a:tc>
                <a:tc>
                  <a:txBody>
                    <a:bodyPr/>
                    <a:lstStyle/>
                    <a:p>
                      <a:pPr algn="ctr">
                        <a:lnSpc>
                          <a:spcPct val="100000"/>
                        </a:lnSpc>
                        <a:spcAft>
                          <a:spcPts val="0"/>
                        </a:spcAft>
                        <a:buNone/>
                      </a:pPr>
                      <a:r>
                        <a:rPr lang="en-US" sz="1200" b="0" kern="100">
                          <a:effectLst/>
                          <a:latin typeface="Aptos" panose="020B0004020202020204" pitchFamily="34" charset="0"/>
                          <a:ea typeface="Aptos" panose="020B0004020202020204" pitchFamily="34" charset="0"/>
                          <a:cs typeface="Times New Roman" panose="02020603050405020304" pitchFamily="18" charset="0"/>
                        </a:rPr>
                        <a:t>Rp625.000.000</a:t>
                      </a:r>
                    </a:p>
                  </a:txBody>
                  <a:tcPr marL="68580" marR="68580" marT="0" marB="0" anchor="ctr"/>
                </a:tc>
                <a:extLst>
                  <a:ext uri="{0D108BD9-81ED-4DB2-BD59-A6C34878D82A}">
                    <a16:rowId xmlns:a16="http://schemas.microsoft.com/office/drawing/2014/main" val="1180768947"/>
                  </a:ext>
                </a:extLst>
              </a:tr>
              <a:tr h="331213">
                <a:tc vMerge="1">
                  <a:txBody>
                    <a:bodyPr/>
                    <a:lstStyle/>
                    <a:p>
                      <a:pPr algn="ctr">
                        <a:lnSpc>
                          <a:spcPct val="100000"/>
                        </a:lnSpc>
                        <a:spcAft>
                          <a:spcPts val="0"/>
                        </a:spcAft>
                        <a:buNone/>
                      </a:pP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l">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Manfaat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Asuransi</a:t>
                      </a: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r>
                        <a:rPr lang="en-US" sz="120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Tambahan</a:t>
                      </a: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 Term Life</a:t>
                      </a:r>
                    </a:p>
                  </a:txBody>
                  <a:tcPr marL="68580" marR="68580" marT="0" marB="0" anchor="ctr"/>
                </a:tc>
                <a:tc>
                  <a:txBody>
                    <a:bodyPr/>
                    <a:lstStyle/>
                    <a:p>
                      <a:pPr algn="l">
                        <a:lnSpc>
                          <a:spcPct val="100000"/>
                        </a:lnSpc>
                        <a:spcAft>
                          <a:spcPts val="0"/>
                        </a:spcAft>
                        <a:buNone/>
                      </a:pPr>
                      <a:r>
                        <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100% Uang </a:t>
                      </a:r>
                      <a:r>
                        <a:rPr lang="en-US" sz="1200" b="0" kern="100" err="1">
                          <a:solidFill>
                            <a:schemeClr val="tx1"/>
                          </a:solidFill>
                          <a:effectLst/>
                          <a:latin typeface="Aptos" panose="020B0004020202020204" pitchFamily="34" charset="0"/>
                          <a:ea typeface="Aptos" panose="020B0004020202020204" pitchFamily="34" charset="0"/>
                          <a:cs typeface="Times New Roman" panose="02020603050405020304" pitchFamily="18" charset="0"/>
                        </a:rPr>
                        <a:t>Pertanggungan</a:t>
                      </a:r>
                      <a:endPar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0" kern="100">
                          <a:effectLst/>
                          <a:latin typeface="Aptos" panose="020B0004020202020204" pitchFamily="34" charset="0"/>
                          <a:ea typeface="Aptos" panose="020B0004020202020204" pitchFamily="34" charset="0"/>
                          <a:cs typeface="Times New Roman" panose="02020603050405020304" pitchFamily="18" charset="0"/>
                        </a:rPr>
                        <a:t>Rp500.000.000</a:t>
                      </a:r>
                    </a:p>
                  </a:txBody>
                  <a:tcPr marL="68580" marR="68580" marT="0" marB="0" anchor="ctr"/>
                </a:tc>
                <a:extLst>
                  <a:ext uri="{0D108BD9-81ED-4DB2-BD59-A6C34878D82A}">
                    <a16:rowId xmlns:a16="http://schemas.microsoft.com/office/drawing/2014/main" val="1492488334"/>
                  </a:ext>
                </a:extLst>
              </a:tr>
              <a:tr h="331213">
                <a:tc gridSpan="3">
                  <a:txBody>
                    <a:bodyPr/>
                    <a:lstStyle/>
                    <a:p>
                      <a:pPr algn="ctr">
                        <a:lnSpc>
                          <a:spcPct val="100000"/>
                        </a:lnSpc>
                        <a:spcAft>
                          <a:spcPts val="0"/>
                        </a:spcAft>
                        <a:buNone/>
                      </a:pPr>
                      <a:r>
                        <a:rPr lang="en-US" sz="1200" b="1" kern="100">
                          <a:solidFill>
                            <a:schemeClr val="tx1"/>
                          </a:solidFill>
                          <a:effectLst/>
                          <a:latin typeface="Aptos" panose="020B0004020202020204" pitchFamily="34" charset="0"/>
                          <a:cs typeface="Times New Roman" panose="02020603050405020304" pitchFamily="18" charset="0"/>
                        </a:rPr>
                        <a:t>Total Manfaat </a:t>
                      </a:r>
                      <a:r>
                        <a:rPr lang="en-US" sz="1200" b="1" kern="100" err="1">
                          <a:solidFill>
                            <a:schemeClr val="tx1"/>
                          </a:solidFill>
                          <a:effectLst/>
                          <a:latin typeface="Aptos" panose="020B0004020202020204" pitchFamily="34" charset="0"/>
                          <a:cs typeface="Times New Roman" panose="02020603050405020304" pitchFamily="18" charset="0"/>
                        </a:rPr>
                        <a:t>Asuransi</a:t>
                      </a:r>
                      <a:r>
                        <a:rPr lang="en-US" sz="1200" b="1" kern="100">
                          <a:solidFill>
                            <a:schemeClr val="tx1"/>
                          </a:solidFill>
                          <a:effectLst/>
                          <a:latin typeface="Aptos" panose="020B0004020202020204" pitchFamily="34" charset="0"/>
                          <a:cs typeface="Times New Roman" panose="02020603050405020304" pitchFamily="18" charset="0"/>
                        </a:rPr>
                        <a:t> yang </a:t>
                      </a:r>
                      <a:r>
                        <a:rPr lang="en-US" sz="1200" b="1" kern="100" err="1">
                          <a:solidFill>
                            <a:schemeClr val="tx1"/>
                          </a:solidFill>
                          <a:effectLst/>
                          <a:latin typeface="Aptos" panose="020B0004020202020204" pitchFamily="34" charset="0"/>
                          <a:cs typeface="Times New Roman" panose="02020603050405020304" pitchFamily="18" charset="0"/>
                        </a:rPr>
                        <a:t>dibayarkan</a:t>
                      </a:r>
                      <a:r>
                        <a:rPr lang="en-US" sz="1200" b="1" kern="100">
                          <a:solidFill>
                            <a:schemeClr val="tx1"/>
                          </a:solidFill>
                          <a:effectLst/>
                          <a:latin typeface="Aptos" panose="020B0004020202020204" pitchFamily="34" charset="0"/>
                          <a:cs typeface="Times New Roman" panose="02020603050405020304" pitchFamily="18" charset="0"/>
                        </a:rPr>
                        <a:t> BCA Life</a:t>
                      </a:r>
                    </a:p>
                  </a:txBody>
                  <a:tcPr marL="68580" marR="68580" marT="0" marB="0" anchor="ctr"/>
                </a:tc>
                <a:tc hMerge="1">
                  <a:txBody>
                    <a:bodyPr/>
                    <a:lstStyle/>
                    <a:p>
                      <a:endParaRPr/>
                    </a:p>
                  </a:txBody>
                  <a:tcPr marL="68580" marR="68580" marT="0" marB="0" anchor="ctr"/>
                </a:tc>
                <a:tc hMerge="1">
                  <a:txBody>
                    <a:bodyPr/>
                    <a:lstStyle/>
                    <a:p>
                      <a:pPr algn="l">
                        <a:lnSpc>
                          <a:spcPct val="100000"/>
                        </a:lnSpc>
                        <a:spcAft>
                          <a:spcPts val="0"/>
                        </a:spcAft>
                        <a:buNone/>
                      </a:pPr>
                      <a:endParaRPr lang="en-US" sz="11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Rp1.125.000.000</a:t>
                      </a:r>
                    </a:p>
                  </a:txBody>
                  <a:tcPr marL="68580" marR="68580" marT="0" marB="0" anchor="ctr"/>
                </a:tc>
                <a:extLst>
                  <a:ext uri="{0D108BD9-81ED-4DB2-BD59-A6C34878D82A}">
                    <a16:rowId xmlns:a16="http://schemas.microsoft.com/office/drawing/2014/main" val="56495340"/>
                  </a:ext>
                </a:extLst>
              </a:tr>
            </a:tbl>
          </a:graphicData>
        </a:graphic>
      </p:graphicFrame>
      <p:sp>
        <p:nvSpPr>
          <p:cNvPr id="10" name="Rectangle 3">
            <a:extLst>
              <a:ext uri="{FF2B5EF4-FFF2-40B4-BE49-F238E27FC236}">
                <a16:creationId xmlns:a16="http://schemas.microsoft.com/office/drawing/2014/main" id="{4D31E7DC-1689-9AA4-5D5A-3200463ABEF8}"/>
              </a:ext>
            </a:extLst>
          </p:cNvPr>
          <p:cNvSpPr>
            <a:spLocks noChangeArrowheads="1"/>
          </p:cNvSpPr>
          <p:nvPr/>
        </p:nvSpPr>
        <p:spPr bwMode="auto">
          <a:xfrm>
            <a:off x="247691" y="2512688"/>
            <a:ext cx="95482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Skenario</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2 – Bapak Kevin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Meninggal</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Dunia pada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akhir</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Polis ke-8</a:t>
            </a:r>
            <a:endParaRPr kumimoji="0" lang="id-ID" altLang="en-US" sz="3600" b="1" i="0" strike="noStrike" cap="none" normalizeH="0" baseline="0">
              <a:ln>
                <a:noFill/>
              </a:ln>
              <a:effectLst/>
              <a:latin typeface="Aptos" panose="020B0004020202020204" pitchFamily="34" charset="0"/>
            </a:endParaRPr>
          </a:p>
        </p:txBody>
      </p:sp>
      <p:graphicFrame>
        <p:nvGraphicFramePr>
          <p:cNvPr id="13" name="Table 12">
            <a:extLst>
              <a:ext uri="{FF2B5EF4-FFF2-40B4-BE49-F238E27FC236}">
                <a16:creationId xmlns:a16="http://schemas.microsoft.com/office/drawing/2014/main" id="{DD8FEDA0-0AD1-7CBE-E072-261CFD2B9018}"/>
              </a:ext>
            </a:extLst>
          </p:cNvPr>
          <p:cNvGraphicFramePr>
            <a:graphicFrameLocks noGrp="1"/>
          </p:cNvGraphicFramePr>
          <p:nvPr>
            <p:extLst>
              <p:ext uri="{D42A27DB-BD31-4B8C-83A1-F6EECF244321}">
                <p14:modId xmlns:p14="http://schemas.microsoft.com/office/powerpoint/2010/main" val="1648719479"/>
              </p:ext>
            </p:extLst>
          </p:nvPr>
        </p:nvGraphicFramePr>
        <p:xfrm>
          <a:off x="305667" y="4705335"/>
          <a:ext cx="9871267" cy="1144856"/>
        </p:xfrm>
        <a:graphic>
          <a:graphicData uri="http://schemas.openxmlformats.org/drawingml/2006/table">
            <a:tbl>
              <a:tblPr firstRow="1" firstCol="1" bandRow="1">
                <a:tableStyleId>{5940675A-B579-460E-94D1-54222C63F5DA}</a:tableStyleId>
              </a:tblPr>
              <a:tblGrid>
                <a:gridCol w="1693821">
                  <a:extLst>
                    <a:ext uri="{9D8B030D-6E8A-4147-A177-3AD203B41FA5}">
                      <a16:colId xmlns:a16="http://schemas.microsoft.com/office/drawing/2014/main" val="2330714095"/>
                    </a:ext>
                  </a:extLst>
                </a:gridCol>
                <a:gridCol w="2762589">
                  <a:extLst>
                    <a:ext uri="{9D8B030D-6E8A-4147-A177-3AD203B41FA5}">
                      <a16:colId xmlns:a16="http://schemas.microsoft.com/office/drawing/2014/main" val="1962661030"/>
                    </a:ext>
                  </a:extLst>
                </a:gridCol>
                <a:gridCol w="3828422">
                  <a:extLst>
                    <a:ext uri="{9D8B030D-6E8A-4147-A177-3AD203B41FA5}">
                      <a16:colId xmlns:a16="http://schemas.microsoft.com/office/drawing/2014/main" val="3081628540"/>
                    </a:ext>
                  </a:extLst>
                </a:gridCol>
                <a:gridCol w="1586435">
                  <a:extLst>
                    <a:ext uri="{9D8B030D-6E8A-4147-A177-3AD203B41FA5}">
                      <a16:colId xmlns:a16="http://schemas.microsoft.com/office/drawing/2014/main" val="1099585529"/>
                    </a:ext>
                  </a:extLst>
                </a:gridCol>
              </a:tblGrid>
              <a:tr h="413336">
                <a:tc>
                  <a:txBody>
                    <a:bodyPr/>
                    <a:lstStyle/>
                    <a:p>
                      <a:pPr algn="ctr">
                        <a:lnSpc>
                          <a:spcPct val="100000"/>
                        </a:lnSpc>
                        <a:spcAft>
                          <a:spcPts val="0"/>
                        </a:spcAft>
                        <a:buNone/>
                      </a:pP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Usia</a:t>
                      </a: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200" b="1" kern="10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Tertanggung</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a:solidFill>
                            <a:schemeClr val="bg1"/>
                          </a:solidFill>
                          <a:effectLst/>
                          <a:latin typeface="Aptos" panose="020B0004020202020204" pitchFamily="34" charset="0"/>
                        </a:rPr>
                        <a:t>Manfaat </a:t>
                      </a:r>
                      <a:r>
                        <a:rPr lang="en-US" sz="1200" b="1" kern="0" err="1">
                          <a:solidFill>
                            <a:schemeClr val="bg1"/>
                          </a:solidFill>
                          <a:effectLst/>
                          <a:latin typeface="Aptos" panose="020B0004020202020204" pitchFamily="34" charset="0"/>
                        </a:rPr>
                        <a:t>Asuransi</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id-ID" sz="1200" b="1" kern="0">
                          <a:solidFill>
                            <a:schemeClr val="bg1"/>
                          </a:solidFill>
                          <a:effectLst/>
                          <a:latin typeface="Aptos" panose="020B0004020202020204" pitchFamily="34" charset="0"/>
                        </a:rPr>
                        <a:t>Detail Manfaat</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tc>
                  <a:txBody>
                    <a:bodyPr/>
                    <a:lstStyle/>
                    <a:p>
                      <a:pPr algn="ctr">
                        <a:lnSpc>
                          <a:spcPct val="100000"/>
                        </a:lnSpc>
                        <a:spcAft>
                          <a:spcPts val="0"/>
                        </a:spcAft>
                        <a:buNone/>
                      </a:pPr>
                      <a:r>
                        <a:rPr lang="en-US" sz="1200" b="1" kern="0" err="1">
                          <a:solidFill>
                            <a:schemeClr val="bg1"/>
                          </a:solidFill>
                          <a:effectLst/>
                          <a:latin typeface="Aptos" panose="020B0004020202020204" pitchFamily="34" charset="0"/>
                        </a:rPr>
                        <a:t>Pembebasan</a:t>
                      </a:r>
                      <a:r>
                        <a:rPr lang="en-US" sz="1200" b="1" kern="0">
                          <a:solidFill>
                            <a:schemeClr val="bg1"/>
                          </a:solidFill>
                          <a:effectLst/>
                          <a:latin typeface="Aptos" panose="020B0004020202020204" pitchFamily="34" charset="0"/>
                        </a:rPr>
                        <a:t> Premi </a:t>
                      </a:r>
                      <a:r>
                        <a:rPr lang="en-US" sz="1200" b="1" kern="0" err="1">
                          <a:solidFill>
                            <a:schemeClr val="bg1"/>
                          </a:solidFill>
                          <a:effectLst/>
                          <a:latin typeface="Aptos" panose="020B0004020202020204" pitchFamily="34" charset="0"/>
                        </a:rPr>
                        <a:t>sebesar</a:t>
                      </a:r>
                      <a:endPar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070C0"/>
                    </a:solidFill>
                  </a:tcPr>
                </a:tc>
                <a:extLst>
                  <a:ext uri="{0D108BD9-81ED-4DB2-BD59-A6C34878D82A}">
                    <a16:rowId xmlns:a16="http://schemas.microsoft.com/office/drawing/2014/main" val="2762450738"/>
                  </a:ext>
                </a:extLst>
              </a:tr>
              <a:tr h="331213">
                <a:tc>
                  <a:txBody>
                    <a:bodyPr/>
                    <a:lstStyle/>
                    <a:p>
                      <a:pPr algn="ctr">
                        <a:lnSpc>
                          <a:spcPct val="100000"/>
                        </a:lnSpc>
                        <a:spcAft>
                          <a:spcPts val="0"/>
                        </a:spcAft>
                        <a:buNone/>
                      </a:pPr>
                      <a:r>
                        <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rPr>
                        <a:t>37 tahun</a:t>
                      </a:r>
                    </a:p>
                  </a:txBody>
                  <a:tcPr marL="68580" marR="68580" marT="0" marB="0" anchor="ctr"/>
                </a:tc>
                <a:tc>
                  <a:txBody>
                    <a:bodyPr/>
                    <a:lstStyle/>
                    <a:p>
                      <a:pPr algn="just">
                        <a:lnSpc>
                          <a:spcPct val="100000"/>
                        </a:lnSpc>
                        <a:spcAft>
                          <a:spcPts val="0"/>
                        </a:spcAft>
                        <a:buNone/>
                      </a:pPr>
                      <a:r>
                        <a:rPr lang="en-US" sz="1200" kern="0">
                          <a:solidFill>
                            <a:schemeClr val="tx1"/>
                          </a:solidFill>
                          <a:effectLst/>
                          <a:latin typeface="Aptos" panose="020B0004020202020204" pitchFamily="34" charset="0"/>
                        </a:rPr>
                        <a:t>Manfaat </a:t>
                      </a:r>
                      <a:r>
                        <a:rPr lang="en-US" sz="1200" kern="0" err="1">
                          <a:solidFill>
                            <a:schemeClr val="tx1"/>
                          </a:solidFill>
                          <a:effectLst/>
                          <a:latin typeface="Aptos" panose="020B0004020202020204" pitchFamily="34" charset="0"/>
                        </a:rPr>
                        <a:t>Asuransi</a:t>
                      </a:r>
                      <a:r>
                        <a:rPr lang="en-US" sz="1200" kern="0">
                          <a:solidFill>
                            <a:schemeClr val="tx1"/>
                          </a:solidFill>
                          <a:effectLst/>
                          <a:latin typeface="Aptos" panose="020B0004020202020204" pitchFamily="34" charset="0"/>
                        </a:rPr>
                        <a:t> </a:t>
                      </a:r>
                      <a:r>
                        <a:rPr lang="en-US" sz="1200" kern="0" err="1">
                          <a:solidFill>
                            <a:schemeClr val="tx1"/>
                          </a:solidFill>
                          <a:effectLst/>
                          <a:latin typeface="Aptos" panose="020B0004020202020204" pitchFamily="34" charset="0"/>
                        </a:rPr>
                        <a:t>Tambahan</a:t>
                      </a:r>
                      <a:r>
                        <a:rPr lang="en-US" sz="1200" kern="0">
                          <a:solidFill>
                            <a:schemeClr val="tx1"/>
                          </a:solidFill>
                          <a:effectLst/>
                          <a:latin typeface="Aptos" panose="020B0004020202020204" pitchFamily="34" charset="0"/>
                        </a:rPr>
                        <a:t> Payor Benefit Plus</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l">
                        <a:lnSpc>
                          <a:spcPct val="100000"/>
                        </a:lnSpc>
                        <a:spcAft>
                          <a:spcPts val="0"/>
                        </a:spcAft>
                        <a:buNone/>
                      </a:pPr>
                      <a:r>
                        <a:rPr lang="en-US" sz="1200" b="0" kern="0" err="1">
                          <a:solidFill>
                            <a:schemeClr val="tx1"/>
                          </a:solidFill>
                          <a:effectLst/>
                          <a:latin typeface="Aptos" panose="020B0004020202020204" pitchFamily="34" charset="0"/>
                        </a:rPr>
                        <a:t>Pembebasan</a:t>
                      </a:r>
                      <a:r>
                        <a:rPr lang="en-US" sz="1200" b="0" kern="0">
                          <a:solidFill>
                            <a:schemeClr val="tx1"/>
                          </a:solidFill>
                          <a:effectLst/>
                          <a:latin typeface="Aptos" panose="020B0004020202020204" pitchFamily="34" charset="0"/>
                        </a:rPr>
                        <a:t> Premi </a:t>
                      </a:r>
                      <a:r>
                        <a:rPr lang="en-US" sz="1200" b="0" kern="0" err="1">
                          <a:solidFill>
                            <a:schemeClr val="tx1"/>
                          </a:solidFill>
                          <a:effectLst/>
                          <a:latin typeface="Aptos" panose="020B0004020202020204" pitchFamily="34" charset="0"/>
                        </a:rPr>
                        <a:t>Asuransi</a:t>
                      </a:r>
                      <a:r>
                        <a:rPr lang="en-US" sz="1200" b="0" kern="0">
                          <a:solidFill>
                            <a:schemeClr val="tx1"/>
                          </a:solidFill>
                          <a:effectLst/>
                          <a:latin typeface="Aptos" panose="020B0004020202020204" pitchFamily="34" charset="0"/>
                        </a:rPr>
                        <a:t> Dasar dan </a:t>
                      </a:r>
                      <a:r>
                        <a:rPr lang="en-US" sz="1200" b="0" kern="0" err="1">
                          <a:solidFill>
                            <a:schemeClr val="tx1"/>
                          </a:solidFill>
                          <a:effectLst/>
                          <a:latin typeface="Aptos" panose="020B0004020202020204" pitchFamily="34" charset="0"/>
                        </a:rPr>
                        <a:t>Asurasi</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Tambahan</a:t>
                      </a:r>
                      <a:r>
                        <a:rPr lang="en-US" sz="1200" b="0" kern="0">
                          <a:solidFill>
                            <a:schemeClr val="tx1"/>
                          </a:solidFill>
                          <a:effectLst/>
                          <a:latin typeface="Aptos" panose="020B0004020202020204" pitchFamily="34" charset="0"/>
                        </a:rPr>
                        <a:t> Term Life </a:t>
                      </a:r>
                      <a:r>
                        <a:rPr lang="en-US" sz="1200" b="0" kern="0" err="1">
                          <a:solidFill>
                            <a:schemeClr val="tx1"/>
                          </a:solidFill>
                          <a:effectLst/>
                          <a:latin typeface="Aptos" panose="020B0004020202020204" pitchFamily="34" charset="0"/>
                        </a:rPr>
                        <a:t>dari</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ke-4 </a:t>
                      </a:r>
                      <a:r>
                        <a:rPr lang="en-US" sz="1200" b="0" kern="0" err="1">
                          <a:solidFill>
                            <a:schemeClr val="tx1"/>
                          </a:solidFill>
                          <a:effectLst/>
                          <a:latin typeface="Aptos" panose="020B0004020202020204" pitchFamily="34" charset="0"/>
                        </a:rPr>
                        <a:t>hingga</a:t>
                      </a:r>
                      <a:r>
                        <a:rPr lang="en-US" sz="1200" b="0" kern="0">
                          <a:solidFill>
                            <a:schemeClr val="tx1"/>
                          </a:solidFill>
                          <a:effectLst/>
                          <a:latin typeface="Aptos" panose="020B0004020202020204" pitchFamily="34" charset="0"/>
                        </a:rPr>
                        <a:t> </a:t>
                      </a:r>
                      <a:r>
                        <a:rPr lang="en-US" sz="1200" b="0" kern="0" err="1">
                          <a:solidFill>
                            <a:schemeClr val="tx1"/>
                          </a:solidFill>
                          <a:effectLst/>
                          <a:latin typeface="Aptos" panose="020B0004020202020204" pitchFamily="34" charset="0"/>
                        </a:rPr>
                        <a:t>Tahun</a:t>
                      </a:r>
                      <a:r>
                        <a:rPr lang="en-US" sz="1200" b="0" kern="0">
                          <a:solidFill>
                            <a:schemeClr val="tx1"/>
                          </a:solidFill>
                          <a:effectLst/>
                          <a:latin typeface="Aptos" panose="020B0004020202020204" pitchFamily="34" charset="0"/>
                        </a:rPr>
                        <a:t> Polis ke-5:</a:t>
                      </a:r>
                    </a:p>
                    <a:p>
                      <a:pPr algn="l">
                        <a:lnSpc>
                          <a:spcPct val="100000"/>
                        </a:lnSpc>
                        <a:spcAft>
                          <a:spcPts val="0"/>
                        </a:spcAft>
                        <a:buNone/>
                      </a:pPr>
                      <a:r>
                        <a:rPr lang="en-US" sz="1200" b="0" kern="0">
                          <a:solidFill>
                            <a:schemeClr val="tx1"/>
                          </a:solidFill>
                          <a:effectLst/>
                          <a:latin typeface="Aptos" panose="020B0004020202020204" pitchFamily="34" charset="0"/>
                          <a:ea typeface="Aptos" panose="020B0004020202020204" pitchFamily="34" charset="0"/>
                          <a:cs typeface="Times New Roman" panose="02020603050405020304" pitchFamily="18" charset="0"/>
                        </a:rPr>
                        <a:t>(Rp100.000.000 + Rp7.125.000) x 2</a:t>
                      </a:r>
                      <a:endParaRPr lang="en-US" sz="1200" b="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US" sz="1200" b="0" kern="0">
                          <a:effectLst/>
                          <a:latin typeface="Aptos" panose="020B0004020202020204" pitchFamily="34" charset="0"/>
                        </a:rPr>
                        <a:t>Rp214.250.000</a:t>
                      </a:r>
                      <a:endParaRPr lang="en-US" sz="12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98108034"/>
                  </a:ext>
                </a:extLst>
              </a:tr>
            </a:tbl>
          </a:graphicData>
        </a:graphic>
      </p:graphicFrame>
      <p:sp>
        <p:nvSpPr>
          <p:cNvPr id="14" name="Rectangle 3">
            <a:extLst>
              <a:ext uri="{FF2B5EF4-FFF2-40B4-BE49-F238E27FC236}">
                <a16:creationId xmlns:a16="http://schemas.microsoft.com/office/drawing/2014/main" id="{6430FF41-1EB6-4CED-9C3E-1CE5602B0DA6}"/>
              </a:ext>
            </a:extLst>
          </p:cNvPr>
          <p:cNvSpPr>
            <a:spLocks noChangeArrowheads="1"/>
          </p:cNvSpPr>
          <p:nvPr/>
        </p:nvSpPr>
        <p:spPr bwMode="auto">
          <a:xfrm>
            <a:off x="247691" y="4420642"/>
            <a:ext cx="95482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Skenario</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lang="en-US" altLang="en-US" sz="1200" b="1">
                <a:latin typeface="Aptos" panose="020B0004020202020204" pitchFamily="34" charset="0"/>
                <a:ea typeface="Times New Roman" panose="02020603050405020304" pitchFamily="18" charset="0"/>
                <a:cs typeface="Arial" panose="020B0604020202020204" pitchFamily="34" charset="0"/>
              </a:rPr>
              <a:t>3</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 Ibu Christy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mengalami</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Ketidakmampuan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Tetap</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Total pada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akhir</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a:t>
            </a:r>
            <a:r>
              <a:rPr kumimoji="0" lang="en-US" altLang="en-US" sz="1200" b="1" i="0" strike="noStrike" cap="none" normalizeH="0" baseline="0" err="1">
                <a:ln>
                  <a:noFill/>
                </a:ln>
                <a:effectLst/>
                <a:latin typeface="Aptos" panose="020B0004020202020204" pitchFamily="34" charset="0"/>
                <a:ea typeface="Times New Roman" panose="02020603050405020304" pitchFamily="18" charset="0"/>
                <a:cs typeface="Arial" panose="020B0604020202020204" pitchFamily="34" charset="0"/>
              </a:rPr>
              <a:t>Tahun</a:t>
            </a:r>
            <a:r>
              <a:rPr kumimoji="0" lang="en-US" altLang="en-US" sz="1200" b="1" i="0" strike="noStrike" cap="none" normalizeH="0" baseline="0">
                <a:ln>
                  <a:noFill/>
                </a:ln>
                <a:effectLst/>
                <a:latin typeface="Aptos" panose="020B0004020202020204" pitchFamily="34" charset="0"/>
                <a:ea typeface="Times New Roman" panose="02020603050405020304" pitchFamily="18" charset="0"/>
                <a:cs typeface="Arial" panose="020B0604020202020204" pitchFamily="34" charset="0"/>
              </a:rPr>
              <a:t> Polis ke-3</a:t>
            </a:r>
            <a:endParaRPr kumimoji="0" lang="id-ID" altLang="en-US" sz="3600" b="1" i="0" strike="noStrike" cap="none" normalizeH="0" baseline="0">
              <a:ln>
                <a:noFill/>
              </a:ln>
              <a:effectLst/>
              <a:latin typeface="Aptos" panose="020B0004020202020204" pitchFamily="34" charset="0"/>
            </a:endParaRPr>
          </a:p>
        </p:txBody>
      </p:sp>
    </p:spTree>
    <p:extLst>
      <p:ext uri="{BB962C8B-B14F-4D97-AF65-F5344CB8AC3E}">
        <p14:creationId xmlns:p14="http://schemas.microsoft.com/office/powerpoint/2010/main" val="4046321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B7C46-87B7-2D3E-12CB-77F4B502597D}"/>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0429A44B-2BFB-C186-21CB-8D08E1AD4807}"/>
              </a:ext>
            </a:extLst>
          </p:cNvPr>
          <p:cNvPicPr>
            <a:picLocks noChangeAspect="1"/>
          </p:cNvPicPr>
          <p:nvPr/>
        </p:nvPicPr>
        <p:blipFill>
          <a:blip r:embed="rId3"/>
          <a:stretch>
            <a:fillRect/>
          </a:stretch>
        </p:blipFill>
        <p:spPr>
          <a:xfrm>
            <a:off x="375920" y="4689085"/>
            <a:ext cx="10924540" cy="2120932"/>
          </a:xfrm>
          <a:prstGeom prst="rect">
            <a:avLst/>
          </a:prstGeom>
        </p:spPr>
      </p:pic>
      <p:pic>
        <p:nvPicPr>
          <p:cNvPr id="27" name="Picture 26">
            <a:extLst>
              <a:ext uri="{FF2B5EF4-FFF2-40B4-BE49-F238E27FC236}">
                <a16:creationId xmlns:a16="http://schemas.microsoft.com/office/drawing/2014/main" id="{1817064D-7037-D946-FC13-C95EE77A164B}"/>
              </a:ext>
            </a:extLst>
          </p:cNvPr>
          <p:cNvPicPr>
            <a:picLocks noChangeAspect="1"/>
          </p:cNvPicPr>
          <p:nvPr/>
        </p:nvPicPr>
        <p:blipFill>
          <a:blip r:embed="rId4"/>
          <a:stretch>
            <a:fillRect/>
          </a:stretch>
        </p:blipFill>
        <p:spPr>
          <a:xfrm>
            <a:off x="337820" y="2044636"/>
            <a:ext cx="10850054" cy="1835742"/>
          </a:xfrm>
          <a:prstGeom prst="rect">
            <a:avLst/>
          </a:prstGeom>
        </p:spPr>
      </p:pic>
      <p:sp>
        <p:nvSpPr>
          <p:cNvPr id="3" name="Title 1">
            <a:extLst>
              <a:ext uri="{FF2B5EF4-FFF2-40B4-BE49-F238E27FC236}">
                <a16:creationId xmlns:a16="http://schemas.microsoft.com/office/drawing/2014/main" id="{7BAD97DA-679C-44F0-F220-68679C3C7226}"/>
              </a:ext>
            </a:extLst>
          </p:cNvPr>
          <p:cNvSpPr txBox="1">
            <a:spLocks/>
          </p:cNvSpPr>
          <p:nvPr/>
        </p:nvSpPr>
        <p:spPr>
          <a:xfrm>
            <a:off x="2049781" y="183650"/>
            <a:ext cx="10023158" cy="620713"/>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err="1">
                <a:solidFill>
                  <a:srgbClr val="002060"/>
                </a:solidFill>
                <a:latin typeface="Aptos" panose="020B0004020202020204" pitchFamily="34" charset="0"/>
              </a:rPr>
              <a:t>Ilustrasi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Pembayaran</a:t>
            </a:r>
            <a:r>
              <a:rPr lang="en-GB" sz="2400" b="1">
                <a:solidFill>
                  <a:srgbClr val="002060"/>
                </a:solidFill>
                <a:latin typeface="Aptos" panose="020B0004020202020204" pitchFamily="34" charset="0"/>
              </a:rPr>
              <a:t> Manfaat Akhir Masa </a:t>
            </a:r>
            <a:r>
              <a:rPr lang="en-GB" sz="2400" b="1" err="1">
                <a:solidFill>
                  <a:srgbClr val="002060"/>
                </a:solidFill>
                <a:latin typeface="Aptos" panose="020B0004020202020204" pitchFamily="34" charset="0"/>
              </a:rPr>
              <a:t>Pertanggungan</a:t>
            </a:r>
            <a:endParaRPr lang="en-GB" sz="2400" b="1">
              <a:solidFill>
                <a:srgbClr val="002060"/>
              </a:solidFill>
              <a:latin typeface="Aptos" panose="020B0004020202020204" pitchFamily="34" charset="0"/>
            </a:endParaRPr>
          </a:p>
          <a:p>
            <a:pPr algn="r"/>
            <a:r>
              <a:rPr lang="en-GB" sz="2400" b="1">
                <a:solidFill>
                  <a:srgbClr val="002060"/>
                </a:solidFill>
                <a:latin typeface="Aptos" panose="020B0004020202020204" pitchFamily="34" charset="0"/>
              </a:rPr>
              <a:t>(Plan Core)</a:t>
            </a:r>
          </a:p>
        </p:txBody>
      </p:sp>
      <p:sp>
        <p:nvSpPr>
          <p:cNvPr id="7" name="TextBox 6">
            <a:extLst>
              <a:ext uri="{FF2B5EF4-FFF2-40B4-BE49-F238E27FC236}">
                <a16:creationId xmlns:a16="http://schemas.microsoft.com/office/drawing/2014/main" id="{78CB0592-56C3-94A6-EB72-A5879B28ED01}"/>
              </a:ext>
            </a:extLst>
          </p:cNvPr>
          <p:cNvSpPr txBox="1"/>
          <p:nvPr/>
        </p:nvSpPr>
        <p:spPr>
          <a:xfrm>
            <a:off x="260773" y="1579164"/>
            <a:ext cx="884767" cy="461665"/>
          </a:xfrm>
          <a:prstGeom prst="rect">
            <a:avLst/>
          </a:prstGeom>
          <a:noFill/>
        </p:spPr>
        <p:txBody>
          <a:bodyPr wrap="square" rtlCol="0">
            <a:spAutoFit/>
          </a:bodyPr>
          <a:lstStyle/>
          <a:p>
            <a:pPr algn="ctr"/>
            <a:r>
              <a:rPr lang="en-US" sz="1200">
                <a:latin typeface="Aptos" panose="020B0004020202020204" pitchFamily="34" charset="0"/>
              </a:rPr>
              <a:t>1 Januari 2031</a:t>
            </a:r>
          </a:p>
        </p:txBody>
      </p:sp>
      <p:sp>
        <p:nvSpPr>
          <p:cNvPr id="8" name="TextBox 7">
            <a:extLst>
              <a:ext uri="{FF2B5EF4-FFF2-40B4-BE49-F238E27FC236}">
                <a16:creationId xmlns:a16="http://schemas.microsoft.com/office/drawing/2014/main" id="{E6CF7ED1-FB1A-CCE9-661E-317E9D09920F}"/>
              </a:ext>
            </a:extLst>
          </p:cNvPr>
          <p:cNvSpPr txBox="1"/>
          <p:nvPr/>
        </p:nvSpPr>
        <p:spPr>
          <a:xfrm>
            <a:off x="1321311" y="1579164"/>
            <a:ext cx="884767" cy="461665"/>
          </a:xfrm>
          <a:prstGeom prst="rect">
            <a:avLst/>
          </a:prstGeom>
          <a:noFill/>
        </p:spPr>
        <p:txBody>
          <a:bodyPr wrap="square" rtlCol="0">
            <a:spAutoFit/>
          </a:bodyPr>
          <a:lstStyle/>
          <a:p>
            <a:pPr algn="ctr"/>
            <a:r>
              <a:rPr lang="en-US" sz="1200">
                <a:latin typeface="Aptos" panose="020B0004020202020204" pitchFamily="34" charset="0"/>
              </a:rPr>
              <a:t>1 Januari 2032</a:t>
            </a:r>
          </a:p>
        </p:txBody>
      </p:sp>
      <p:sp>
        <p:nvSpPr>
          <p:cNvPr id="9" name="TextBox 8">
            <a:extLst>
              <a:ext uri="{FF2B5EF4-FFF2-40B4-BE49-F238E27FC236}">
                <a16:creationId xmlns:a16="http://schemas.microsoft.com/office/drawing/2014/main" id="{6D7A5F80-9351-FC15-7CFC-889082F9122A}"/>
              </a:ext>
            </a:extLst>
          </p:cNvPr>
          <p:cNvSpPr txBox="1"/>
          <p:nvPr/>
        </p:nvSpPr>
        <p:spPr>
          <a:xfrm>
            <a:off x="2394373" y="1579164"/>
            <a:ext cx="884767" cy="461665"/>
          </a:xfrm>
          <a:prstGeom prst="rect">
            <a:avLst/>
          </a:prstGeom>
          <a:noFill/>
        </p:spPr>
        <p:txBody>
          <a:bodyPr wrap="square" rtlCol="0">
            <a:spAutoFit/>
          </a:bodyPr>
          <a:lstStyle/>
          <a:p>
            <a:pPr algn="ctr"/>
            <a:r>
              <a:rPr lang="en-US" sz="1200">
                <a:latin typeface="Aptos" panose="020B0004020202020204" pitchFamily="34" charset="0"/>
              </a:rPr>
              <a:t>1 Januari 2033</a:t>
            </a:r>
          </a:p>
        </p:txBody>
      </p:sp>
      <p:sp>
        <p:nvSpPr>
          <p:cNvPr id="10" name="TextBox 9">
            <a:extLst>
              <a:ext uri="{FF2B5EF4-FFF2-40B4-BE49-F238E27FC236}">
                <a16:creationId xmlns:a16="http://schemas.microsoft.com/office/drawing/2014/main" id="{05340C1C-DE00-CF6F-A143-938DCC7E5AC8}"/>
              </a:ext>
            </a:extLst>
          </p:cNvPr>
          <p:cNvSpPr txBox="1"/>
          <p:nvPr/>
        </p:nvSpPr>
        <p:spPr>
          <a:xfrm>
            <a:off x="3469817" y="1577659"/>
            <a:ext cx="884767" cy="461665"/>
          </a:xfrm>
          <a:prstGeom prst="rect">
            <a:avLst/>
          </a:prstGeom>
          <a:noFill/>
        </p:spPr>
        <p:txBody>
          <a:bodyPr wrap="square" rtlCol="0">
            <a:spAutoFit/>
          </a:bodyPr>
          <a:lstStyle/>
          <a:p>
            <a:pPr algn="ctr"/>
            <a:r>
              <a:rPr lang="en-US" sz="1200">
                <a:latin typeface="Aptos" panose="020B0004020202020204" pitchFamily="34" charset="0"/>
              </a:rPr>
              <a:t>1 Januari 2034</a:t>
            </a:r>
          </a:p>
        </p:txBody>
      </p:sp>
      <p:sp>
        <p:nvSpPr>
          <p:cNvPr id="11" name="TextBox 10">
            <a:extLst>
              <a:ext uri="{FF2B5EF4-FFF2-40B4-BE49-F238E27FC236}">
                <a16:creationId xmlns:a16="http://schemas.microsoft.com/office/drawing/2014/main" id="{09FAF768-DF4C-EFD3-17CE-06ABF29D6B6F}"/>
              </a:ext>
            </a:extLst>
          </p:cNvPr>
          <p:cNvSpPr txBox="1"/>
          <p:nvPr/>
        </p:nvSpPr>
        <p:spPr>
          <a:xfrm>
            <a:off x="4556001" y="1579164"/>
            <a:ext cx="884767" cy="461665"/>
          </a:xfrm>
          <a:prstGeom prst="rect">
            <a:avLst/>
          </a:prstGeom>
          <a:noFill/>
        </p:spPr>
        <p:txBody>
          <a:bodyPr wrap="square" rtlCol="0">
            <a:spAutoFit/>
          </a:bodyPr>
          <a:lstStyle/>
          <a:p>
            <a:pPr algn="ctr"/>
            <a:r>
              <a:rPr lang="en-US" sz="1200">
                <a:latin typeface="Aptos" panose="020B0004020202020204" pitchFamily="34" charset="0"/>
              </a:rPr>
              <a:t>1 Januari 2035</a:t>
            </a:r>
          </a:p>
        </p:txBody>
      </p:sp>
      <p:sp>
        <p:nvSpPr>
          <p:cNvPr id="12" name="TextBox 11">
            <a:extLst>
              <a:ext uri="{FF2B5EF4-FFF2-40B4-BE49-F238E27FC236}">
                <a16:creationId xmlns:a16="http://schemas.microsoft.com/office/drawing/2014/main" id="{2627F8FF-876E-2831-BC51-4192C108C997}"/>
              </a:ext>
            </a:extLst>
          </p:cNvPr>
          <p:cNvSpPr txBox="1"/>
          <p:nvPr/>
        </p:nvSpPr>
        <p:spPr>
          <a:xfrm>
            <a:off x="9982200" y="1577658"/>
            <a:ext cx="1098619" cy="461665"/>
          </a:xfrm>
          <a:prstGeom prst="rect">
            <a:avLst/>
          </a:prstGeom>
          <a:noFill/>
        </p:spPr>
        <p:txBody>
          <a:bodyPr wrap="square" rtlCol="0">
            <a:spAutoFit/>
          </a:bodyPr>
          <a:lstStyle/>
          <a:p>
            <a:pPr algn="ctr"/>
            <a:r>
              <a:rPr lang="en-US" sz="1200">
                <a:latin typeface="Aptos" panose="020B0004020202020204" pitchFamily="34" charset="0"/>
              </a:rPr>
              <a:t>31 </a:t>
            </a:r>
            <a:r>
              <a:rPr lang="en-US" sz="1200" err="1">
                <a:latin typeface="Aptos" panose="020B0004020202020204" pitchFamily="34" charset="0"/>
              </a:rPr>
              <a:t>Desember</a:t>
            </a:r>
            <a:r>
              <a:rPr lang="en-US" sz="1200">
                <a:latin typeface="Aptos" panose="020B0004020202020204" pitchFamily="34" charset="0"/>
              </a:rPr>
              <a:t> 2050</a:t>
            </a:r>
          </a:p>
        </p:txBody>
      </p:sp>
      <p:sp>
        <p:nvSpPr>
          <p:cNvPr id="14" name="TextBox 13">
            <a:extLst>
              <a:ext uri="{FF2B5EF4-FFF2-40B4-BE49-F238E27FC236}">
                <a16:creationId xmlns:a16="http://schemas.microsoft.com/office/drawing/2014/main" id="{25717ED5-4900-22DC-3CEC-C2007F8EB605}"/>
              </a:ext>
            </a:extLst>
          </p:cNvPr>
          <p:cNvSpPr txBox="1"/>
          <p:nvPr/>
        </p:nvSpPr>
        <p:spPr>
          <a:xfrm>
            <a:off x="314960"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2031</a:t>
            </a:r>
          </a:p>
        </p:txBody>
      </p:sp>
      <p:sp>
        <p:nvSpPr>
          <p:cNvPr id="15" name="TextBox 14">
            <a:extLst>
              <a:ext uri="{FF2B5EF4-FFF2-40B4-BE49-F238E27FC236}">
                <a16:creationId xmlns:a16="http://schemas.microsoft.com/office/drawing/2014/main" id="{713EF994-A4EF-8F86-028E-79EFB5FE9375}"/>
              </a:ext>
            </a:extLst>
          </p:cNvPr>
          <p:cNvSpPr txBox="1"/>
          <p:nvPr/>
        </p:nvSpPr>
        <p:spPr>
          <a:xfrm>
            <a:off x="1098550"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2032</a:t>
            </a:r>
          </a:p>
        </p:txBody>
      </p:sp>
      <p:sp>
        <p:nvSpPr>
          <p:cNvPr id="16" name="TextBox 15">
            <a:extLst>
              <a:ext uri="{FF2B5EF4-FFF2-40B4-BE49-F238E27FC236}">
                <a16:creationId xmlns:a16="http://schemas.microsoft.com/office/drawing/2014/main" id="{61C6764C-2759-CA3F-7A6C-72D4F8A71AAA}"/>
              </a:ext>
            </a:extLst>
          </p:cNvPr>
          <p:cNvSpPr txBox="1"/>
          <p:nvPr/>
        </p:nvSpPr>
        <p:spPr>
          <a:xfrm>
            <a:off x="1918970"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2033</a:t>
            </a:r>
          </a:p>
        </p:txBody>
      </p:sp>
      <p:sp>
        <p:nvSpPr>
          <p:cNvPr id="17" name="TextBox 16">
            <a:extLst>
              <a:ext uri="{FF2B5EF4-FFF2-40B4-BE49-F238E27FC236}">
                <a16:creationId xmlns:a16="http://schemas.microsoft.com/office/drawing/2014/main" id="{1CCC8EBA-5B31-4734-1F68-0162D7715119}"/>
              </a:ext>
            </a:extLst>
          </p:cNvPr>
          <p:cNvSpPr txBox="1"/>
          <p:nvPr/>
        </p:nvSpPr>
        <p:spPr>
          <a:xfrm>
            <a:off x="2749973"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2034</a:t>
            </a:r>
          </a:p>
        </p:txBody>
      </p:sp>
      <p:sp>
        <p:nvSpPr>
          <p:cNvPr id="18" name="TextBox 17">
            <a:extLst>
              <a:ext uri="{FF2B5EF4-FFF2-40B4-BE49-F238E27FC236}">
                <a16:creationId xmlns:a16="http://schemas.microsoft.com/office/drawing/2014/main" id="{E56306C0-28AB-8511-BCE3-F7D7AB4B1BAD}"/>
              </a:ext>
            </a:extLst>
          </p:cNvPr>
          <p:cNvSpPr txBox="1"/>
          <p:nvPr/>
        </p:nvSpPr>
        <p:spPr>
          <a:xfrm>
            <a:off x="3558116"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2035</a:t>
            </a:r>
          </a:p>
        </p:txBody>
      </p:sp>
      <p:sp>
        <p:nvSpPr>
          <p:cNvPr id="19" name="TextBox 18">
            <a:extLst>
              <a:ext uri="{FF2B5EF4-FFF2-40B4-BE49-F238E27FC236}">
                <a16:creationId xmlns:a16="http://schemas.microsoft.com/office/drawing/2014/main" id="{088AAA71-56B6-D377-74AB-EE5F368C6A0A}"/>
              </a:ext>
            </a:extLst>
          </p:cNvPr>
          <p:cNvSpPr txBox="1"/>
          <p:nvPr/>
        </p:nvSpPr>
        <p:spPr>
          <a:xfrm>
            <a:off x="4340859"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2036</a:t>
            </a:r>
          </a:p>
        </p:txBody>
      </p:sp>
      <p:sp>
        <p:nvSpPr>
          <p:cNvPr id="20" name="TextBox 19">
            <a:extLst>
              <a:ext uri="{FF2B5EF4-FFF2-40B4-BE49-F238E27FC236}">
                <a16:creationId xmlns:a16="http://schemas.microsoft.com/office/drawing/2014/main" id="{96B33707-D1B3-F839-4276-57013034D323}"/>
              </a:ext>
            </a:extLst>
          </p:cNvPr>
          <p:cNvSpPr txBox="1"/>
          <p:nvPr/>
        </p:nvSpPr>
        <p:spPr>
          <a:xfrm>
            <a:off x="5100742"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2037</a:t>
            </a:r>
          </a:p>
        </p:txBody>
      </p:sp>
      <p:sp>
        <p:nvSpPr>
          <p:cNvPr id="21" name="TextBox 20">
            <a:extLst>
              <a:ext uri="{FF2B5EF4-FFF2-40B4-BE49-F238E27FC236}">
                <a16:creationId xmlns:a16="http://schemas.microsoft.com/office/drawing/2014/main" id="{76EE5B0D-E6BE-8B00-DC85-A24BCEC642B7}"/>
              </a:ext>
            </a:extLst>
          </p:cNvPr>
          <p:cNvSpPr txBox="1"/>
          <p:nvPr/>
        </p:nvSpPr>
        <p:spPr>
          <a:xfrm>
            <a:off x="5868245"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2038</a:t>
            </a:r>
          </a:p>
        </p:txBody>
      </p:sp>
      <p:sp>
        <p:nvSpPr>
          <p:cNvPr id="22" name="TextBox 21">
            <a:extLst>
              <a:ext uri="{FF2B5EF4-FFF2-40B4-BE49-F238E27FC236}">
                <a16:creationId xmlns:a16="http://schemas.microsoft.com/office/drawing/2014/main" id="{213AB32B-1A89-C1DB-D9C8-315893612264}"/>
              </a:ext>
            </a:extLst>
          </p:cNvPr>
          <p:cNvSpPr txBox="1"/>
          <p:nvPr/>
        </p:nvSpPr>
        <p:spPr>
          <a:xfrm>
            <a:off x="6644638"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2039</a:t>
            </a:r>
          </a:p>
        </p:txBody>
      </p:sp>
      <p:sp>
        <p:nvSpPr>
          <p:cNvPr id="23" name="TextBox 22">
            <a:extLst>
              <a:ext uri="{FF2B5EF4-FFF2-40B4-BE49-F238E27FC236}">
                <a16:creationId xmlns:a16="http://schemas.microsoft.com/office/drawing/2014/main" id="{10DA7FE9-22AE-3FFC-D23F-30AB8F174B08}"/>
              </a:ext>
            </a:extLst>
          </p:cNvPr>
          <p:cNvSpPr txBox="1"/>
          <p:nvPr/>
        </p:nvSpPr>
        <p:spPr>
          <a:xfrm>
            <a:off x="7412141" y="4289344"/>
            <a:ext cx="884767" cy="461665"/>
          </a:xfrm>
          <a:prstGeom prst="rect">
            <a:avLst/>
          </a:prstGeom>
          <a:noFill/>
        </p:spPr>
        <p:txBody>
          <a:bodyPr wrap="square" rtlCol="0">
            <a:spAutoFit/>
          </a:bodyPr>
          <a:lstStyle/>
          <a:p>
            <a:pPr algn="ctr"/>
            <a:r>
              <a:rPr lang="en-US" sz="1200">
                <a:latin typeface="Aptos" panose="020B0004020202020204" pitchFamily="34" charset="0"/>
              </a:rPr>
              <a:t>1 Januari 2040</a:t>
            </a:r>
          </a:p>
        </p:txBody>
      </p:sp>
      <p:sp>
        <p:nvSpPr>
          <p:cNvPr id="25" name="TextBox 24">
            <a:extLst>
              <a:ext uri="{FF2B5EF4-FFF2-40B4-BE49-F238E27FC236}">
                <a16:creationId xmlns:a16="http://schemas.microsoft.com/office/drawing/2014/main" id="{D8FDE710-311E-8159-A92B-FC94F8A40535}"/>
              </a:ext>
            </a:extLst>
          </p:cNvPr>
          <p:cNvSpPr txBox="1"/>
          <p:nvPr/>
        </p:nvSpPr>
        <p:spPr>
          <a:xfrm>
            <a:off x="10118335" y="4289344"/>
            <a:ext cx="1067972" cy="461665"/>
          </a:xfrm>
          <a:prstGeom prst="rect">
            <a:avLst/>
          </a:prstGeom>
          <a:noFill/>
        </p:spPr>
        <p:txBody>
          <a:bodyPr wrap="square" rtlCol="0">
            <a:spAutoFit/>
          </a:bodyPr>
          <a:lstStyle/>
          <a:p>
            <a:pPr algn="ctr"/>
            <a:r>
              <a:rPr lang="en-US" sz="1200">
                <a:latin typeface="Aptos" panose="020B0004020202020204" pitchFamily="34" charset="0"/>
              </a:rPr>
              <a:t>31 </a:t>
            </a:r>
            <a:r>
              <a:rPr lang="en-US" sz="1200" err="1">
                <a:latin typeface="Aptos" panose="020B0004020202020204" pitchFamily="34" charset="0"/>
              </a:rPr>
              <a:t>Desember</a:t>
            </a:r>
            <a:r>
              <a:rPr lang="en-US" sz="1200">
                <a:latin typeface="Aptos" panose="020B0004020202020204" pitchFamily="34" charset="0"/>
              </a:rPr>
              <a:t> 2050</a:t>
            </a:r>
          </a:p>
        </p:txBody>
      </p:sp>
      <p:sp>
        <p:nvSpPr>
          <p:cNvPr id="2" name="TextBox 1">
            <a:extLst>
              <a:ext uri="{FF2B5EF4-FFF2-40B4-BE49-F238E27FC236}">
                <a16:creationId xmlns:a16="http://schemas.microsoft.com/office/drawing/2014/main" id="{915B03B4-1D5E-D37E-377F-37B44694B99D}"/>
              </a:ext>
            </a:extLst>
          </p:cNvPr>
          <p:cNvSpPr txBox="1"/>
          <p:nvPr/>
        </p:nvSpPr>
        <p:spPr>
          <a:xfrm>
            <a:off x="181945" y="822099"/>
            <a:ext cx="9670715" cy="307777"/>
          </a:xfrm>
          <a:prstGeom prst="rect">
            <a:avLst/>
          </a:prstGeom>
          <a:noFill/>
        </p:spPr>
        <p:txBody>
          <a:bodyPr wrap="square">
            <a:spAutoFit/>
          </a:bodyPr>
          <a:lstStyle/>
          <a:p>
            <a:r>
              <a:rPr lang="en-US" sz="1400" b="1" err="1">
                <a:latin typeface="Aptos" panose="020B0004020202020204" pitchFamily="34" charset="0"/>
              </a:rPr>
              <a:t>Tanggal</a:t>
            </a:r>
            <a:r>
              <a:rPr lang="en-US" sz="1400" b="1">
                <a:latin typeface="Aptos" panose="020B0004020202020204" pitchFamily="34" charset="0"/>
              </a:rPr>
              <a:t> Mulai Asuransi: 1 Januari 2031</a:t>
            </a:r>
          </a:p>
        </p:txBody>
      </p:sp>
      <p:sp>
        <p:nvSpPr>
          <p:cNvPr id="5" name="TextBox 4">
            <a:extLst>
              <a:ext uri="{FF2B5EF4-FFF2-40B4-BE49-F238E27FC236}">
                <a16:creationId xmlns:a16="http://schemas.microsoft.com/office/drawing/2014/main" id="{913F10FE-A2FF-1B23-1DCA-055EAFC4CBE2}"/>
              </a:ext>
            </a:extLst>
          </p:cNvPr>
          <p:cNvSpPr txBox="1"/>
          <p:nvPr/>
        </p:nvSpPr>
        <p:spPr>
          <a:xfrm>
            <a:off x="181945" y="1137496"/>
            <a:ext cx="9670715" cy="307777"/>
          </a:xfrm>
          <a:prstGeom prst="rect">
            <a:avLst/>
          </a:prstGeom>
          <a:noFill/>
        </p:spPr>
        <p:txBody>
          <a:bodyPr wrap="square">
            <a:spAutoFit/>
          </a:bodyPr>
          <a:lstStyle/>
          <a:p>
            <a:r>
              <a:rPr lang="en-US" sz="1400" b="1">
                <a:latin typeface="Aptos" panose="020B0004020202020204" pitchFamily="34" charset="0"/>
              </a:rPr>
              <a:t>Masa </a:t>
            </a:r>
            <a:r>
              <a:rPr lang="en-US" sz="1400" b="1" err="1">
                <a:latin typeface="Aptos" panose="020B0004020202020204" pitchFamily="34" charset="0"/>
              </a:rPr>
              <a:t>Pembayaran</a:t>
            </a:r>
            <a:r>
              <a:rPr lang="en-US" sz="1400" b="1">
                <a:latin typeface="Aptos" panose="020B0004020202020204" pitchFamily="34" charset="0"/>
              </a:rPr>
              <a:t> Premi 5 </a:t>
            </a:r>
            <a:r>
              <a:rPr lang="en-US" sz="1400" b="1" err="1">
                <a:latin typeface="Aptos" panose="020B0004020202020204" pitchFamily="34" charset="0"/>
              </a:rPr>
              <a:t>tahun</a:t>
            </a:r>
            <a:endParaRPr lang="en-US" sz="1400" b="1">
              <a:latin typeface="Aptos" panose="020B0004020202020204" pitchFamily="34" charset="0"/>
            </a:endParaRPr>
          </a:p>
        </p:txBody>
      </p:sp>
      <p:sp>
        <p:nvSpPr>
          <p:cNvPr id="13" name="TextBox 12">
            <a:extLst>
              <a:ext uri="{FF2B5EF4-FFF2-40B4-BE49-F238E27FC236}">
                <a16:creationId xmlns:a16="http://schemas.microsoft.com/office/drawing/2014/main" id="{1FCAE726-0086-DEEB-EF68-473F4300FDE5}"/>
              </a:ext>
            </a:extLst>
          </p:cNvPr>
          <p:cNvSpPr txBox="1"/>
          <p:nvPr/>
        </p:nvSpPr>
        <p:spPr>
          <a:xfrm>
            <a:off x="181945" y="3878966"/>
            <a:ext cx="9579275" cy="307777"/>
          </a:xfrm>
          <a:prstGeom prst="rect">
            <a:avLst/>
          </a:prstGeom>
          <a:noFill/>
        </p:spPr>
        <p:txBody>
          <a:bodyPr wrap="square">
            <a:spAutoFit/>
          </a:bodyPr>
          <a:lstStyle/>
          <a:p>
            <a:r>
              <a:rPr lang="en-US" sz="1400" b="1">
                <a:latin typeface="Aptos" panose="020B0004020202020204" pitchFamily="34" charset="0"/>
              </a:rPr>
              <a:t>Masa </a:t>
            </a:r>
            <a:r>
              <a:rPr lang="en-US" sz="1400" b="1" err="1">
                <a:latin typeface="Aptos" panose="020B0004020202020204" pitchFamily="34" charset="0"/>
              </a:rPr>
              <a:t>Pembayaran</a:t>
            </a:r>
            <a:r>
              <a:rPr lang="en-US" sz="1400" b="1">
                <a:latin typeface="Aptos" panose="020B0004020202020204" pitchFamily="34" charset="0"/>
              </a:rPr>
              <a:t> Premi 10 </a:t>
            </a:r>
            <a:r>
              <a:rPr lang="en-US" sz="1400" b="1" err="1">
                <a:latin typeface="Aptos" panose="020B0004020202020204" pitchFamily="34" charset="0"/>
              </a:rPr>
              <a:t>tahun</a:t>
            </a:r>
            <a:endParaRPr lang="en-US" sz="1400" b="1">
              <a:latin typeface="Aptos" panose="020B0004020202020204" pitchFamily="34" charset="0"/>
            </a:endParaRPr>
          </a:p>
        </p:txBody>
      </p:sp>
    </p:spTree>
    <p:extLst>
      <p:ext uri="{BB962C8B-B14F-4D97-AF65-F5344CB8AC3E}">
        <p14:creationId xmlns:p14="http://schemas.microsoft.com/office/powerpoint/2010/main" val="3508687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3E1ABCD6-9E89-73C5-956F-00E5EDC09D5F}"/>
              </a:ext>
            </a:extLst>
          </p:cNvPr>
          <p:cNvPicPr>
            <a:picLocks noChangeAspect="1"/>
          </p:cNvPicPr>
          <p:nvPr/>
        </p:nvPicPr>
        <p:blipFill>
          <a:blip r:embed="rId2"/>
          <a:stretch>
            <a:fillRect/>
          </a:stretch>
        </p:blipFill>
        <p:spPr>
          <a:xfrm>
            <a:off x="409711" y="4774936"/>
            <a:ext cx="10612267" cy="2049637"/>
          </a:xfrm>
          <a:prstGeom prst="rect">
            <a:avLst/>
          </a:prstGeom>
        </p:spPr>
      </p:pic>
      <p:pic>
        <p:nvPicPr>
          <p:cNvPr id="32" name="Picture 31">
            <a:extLst>
              <a:ext uri="{FF2B5EF4-FFF2-40B4-BE49-F238E27FC236}">
                <a16:creationId xmlns:a16="http://schemas.microsoft.com/office/drawing/2014/main" id="{B5270781-6CDE-75EA-4009-829866A5C358}"/>
              </a:ext>
            </a:extLst>
          </p:cNvPr>
          <p:cNvPicPr>
            <a:picLocks noChangeAspect="1"/>
          </p:cNvPicPr>
          <p:nvPr/>
        </p:nvPicPr>
        <p:blipFill>
          <a:blip r:embed="rId3"/>
          <a:stretch>
            <a:fillRect/>
          </a:stretch>
        </p:blipFill>
        <p:spPr>
          <a:xfrm>
            <a:off x="299720" y="1914039"/>
            <a:ext cx="10612267" cy="1856979"/>
          </a:xfrm>
          <a:prstGeom prst="rect">
            <a:avLst/>
          </a:prstGeom>
        </p:spPr>
      </p:pic>
      <p:sp>
        <p:nvSpPr>
          <p:cNvPr id="3" name="Title 1">
            <a:extLst>
              <a:ext uri="{FF2B5EF4-FFF2-40B4-BE49-F238E27FC236}">
                <a16:creationId xmlns:a16="http://schemas.microsoft.com/office/drawing/2014/main" id="{6124B800-FD4D-D320-467F-3718FB820BDD}"/>
              </a:ext>
            </a:extLst>
          </p:cNvPr>
          <p:cNvSpPr txBox="1">
            <a:spLocks/>
          </p:cNvSpPr>
          <p:nvPr/>
        </p:nvSpPr>
        <p:spPr>
          <a:xfrm>
            <a:off x="1983317" y="183650"/>
            <a:ext cx="10089622" cy="620713"/>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err="1">
                <a:solidFill>
                  <a:srgbClr val="002060"/>
                </a:solidFill>
                <a:latin typeface="Aptos" panose="020B0004020202020204" pitchFamily="34" charset="0"/>
              </a:rPr>
              <a:t>Ilustrasi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Pembayaran</a:t>
            </a:r>
            <a:r>
              <a:rPr lang="en-GB" sz="2400" b="1">
                <a:solidFill>
                  <a:srgbClr val="002060"/>
                </a:solidFill>
                <a:latin typeface="Aptos" panose="020B0004020202020204" pitchFamily="34" charset="0"/>
              </a:rPr>
              <a:t> Manfaat </a:t>
            </a:r>
            <a:r>
              <a:rPr lang="en-GB" sz="2400" b="1" err="1">
                <a:solidFill>
                  <a:srgbClr val="002060"/>
                </a:solidFill>
                <a:latin typeface="Aptos" panose="020B0004020202020204" pitchFamily="34" charset="0"/>
              </a:rPr>
              <a:t>Tunai</a:t>
            </a:r>
            <a:r>
              <a:rPr lang="en-GB" sz="2400" b="1">
                <a:solidFill>
                  <a:srgbClr val="002060"/>
                </a:solidFill>
                <a:latin typeface="Aptos" panose="020B0004020202020204" pitchFamily="34" charset="0"/>
              </a:rPr>
              <a:t> </a:t>
            </a:r>
            <a:r>
              <a:rPr lang="en-GB" sz="2400" b="1" err="1">
                <a:solidFill>
                  <a:srgbClr val="002060"/>
                </a:solidFill>
                <a:latin typeface="Aptos" panose="020B0004020202020204" pitchFamily="34" charset="0"/>
              </a:rPr>
              <a:t>Tahunan</a:t>
            </a:r>
            <a:r>
              <a:rPr lang="en-GB" sz="2400" b="1">
                <a:solidFill>
                  <a:srgbClr val="002060"/>
                </a:solidFill>
                <a:latin typeface="Aptos" panose="020B0004020202020204" pitchFamily="34" charset="0"/>
              </a:rPr>
              <a:t> &amp; </a:t>
            </a:r>
            <a:r>
              <a:rPr lang="en-GB" sz="2400" b="1" err="1">
                <a:solidFill>
                  <a:srgbClr val="002060"/>
                </a:solidFill>
                <a:latin typeface="Aptos" panose="020B0004020202020204" pitchFamily="34" charset="0"/>
              </a:rPr>
              <a:t>Manfaat</a:t>
            </a:r>
            <a:r>
              <a:rPr lang="en-GB" sz="2400" b="1">
                <a:solidFill>
                  <a:srgbClr val="002060"/>
                </a:solidFill>
                <a:latin typeface="Aptos" panose="020B0004020202020204" pitchFamily="34" charset="0"/>
              </a:rPr>
              <a:t> Akhir Masa </a:t>
            </a:r>
            <a:r>
              <a:rPr lang="en-GB" sz="2400" b="1" err="1">
                <a:solidFill>
                  <a:srgbClr val="002060"/>
                </a:solidFill>
                <a:latin typeface="Aptos" panose="020B0004020202020204" pitchFamily="34" charset="0"/>
              </a:rPr>
              <a:t>Pertanggungan</a:t>
            </a:r>
            <a:r>
              <a:rPr lang="en-GB" sz="2400" b="1">
                <a:solidFill>
                  <a:srgbClr val="002060"/>
                </a:solidFill>
                <a:latin typeface="Aptos" panose="020B0004020202020204" pitchFamily="34" charset="0"/>
              </a:rPr>
              <a:t> (Plan Boost)</a:t>
            </a:r>
          </a:p>
        </p:txBody>
      </p:sp>
      <p:sp>
        <p:nvSpPr>
          <p:cNvPr id="4" name="TextBox 3">
            <a:extLst>
              <a:ext uri="{FF2B5EF4-FFF2-40B4-BE49-F238E27FC236}">
                <a16:creationId xmlns:a16="http://schemas.microsoft.com/office/drawing/2014/main" id="{AA2CB53E-A41C-1511-4008-DD5F9553B34E}"/>
              </a:ext>
            </a:extLst>
          </p:cNvPr>
          <p:cNvSpPr txBox="1"/>
          <p:nvPr/>
        </p:nvSpPr>
        <p:spPr>
          <a:xfrm>
            <a:off x="181945" y="1137496"/>
            <a:ext cx="9670715" cy="307777"/>
          </a:xfrm>
          <a:prstGeom prst="rect">
            <a:avLst/>
          </a:prstGeom>
          <a:noFill/>
        </p:spPr>
        <p:txBody>
          <a:bodyPr wrap="square">
            <a:spAutoFit/>
          </a:bodyPr>
          <a:lstStyle/>
          <a:p>
            <a:r>
              <a:rPr lang="en-US" sz="1400" b="1">
                <a:latin typeface="Aptos" panose="020B0004020202020204" pitchFamily="34" charset="0"/>
              </a:rPr>
              <a:t>Masa </a:t>
            </a:r>
            <a:r>
              <a:rPr lang="en-US" sz="1400" b="1" err="1">
                <a:latin typeface="Aptos" panose="020B0004020202020204" pitchFamily="34" charset="0"/>
              </a:rPr>
              <a:t>Pembayaran</a:t>
            </a:r>
            <a:r>
              <a:rPr lang="en-US" sz="1400" b="1">
                <a:latin typeface="Aptos" panose="020B0004020202020204" pitchFamily="34" charset="0"/>
              </a:rPr>
              <a:t> Premi 5 </a:t>
            </a:r>
            <a:r>
              <a:rPr lang="en-US" sz="1400" b="1" err="1">
                <a:latin typeface="Aptos" panose="020B0004020202020204" pitchFamily="34" charset="0"/>
              </a:rPr>
              <a:t>tahun</a:t>
            </a:r>
            <a:endParaRPr lang="en-US" sz="1400" b="1">
              <a:latin typeface="Aptos" panose="020B0004020202020204" pitchFamily="34" charset="0"/>
            </a:endParaRPr>
          </a:p>
        </p:txBody>
      </p:sp>
      <p:sp>
        <p:nvSpPr>
          <p:cNvPr id="6" name="TextBox 5">
            <a:extLst>
              <a:ext uri="{FF2B5EF4-FFF2-40B4-BE49-F238E27FC236}">
                <a16:creationId xmlns:a16="http://schemas.microsoft.com/office/drawing/2014/main" id="{E0A3751B-E1D5-9E06-31F6-114762525B2B}"/>
              </a:ext>
            </a:extLst>
          </p:cNvPr>
          <p:cNvSpPr txBox="1"/>
          <p:nvPr/>
        </p:nvSpPr>
        <p:spPr>
          <a:xfrm>
            <a:off x="181945" y="3878966"/>
            <a:ext cx="9579275" cy="307777"/>
          </a:xfrm>
          <a:prstGeom prst="rect">
            <a:avLst/>
          </a:prstGeom>
          <a:noFill/>
        </p:spPr>
        <p:txBody>
          <a:bodyPr wrap="square">
            <a:spAutoFit/>
          </a:bodyPr>
          <a:lstStyle/>
          <a:p>
            <a:r>
              <a:rPr lang="en-US" sz="1400" b="1">
                <a:latin typeface="Aptos" panose="020B0004020202020204" pitchFamily="34" charset="0"/>
              </a:rPr>
              <a:t>Masa </a:t>
            </a:r>
            <a:r>
              <a:rPr lang="en-US" sz="1400" b="1" err="1">
                <a:latin typeface="Aptos" panose="020B0004020202020204" pitchFamily="34" charset="0"/>
              </a:rPr>
              <a:t>Pembayaran</a:t>
            </a:r>
            <a:r>
              <a:rPr lang="en-US" sz="1400" b="1">
                <a:latin typeface="Aptos" panose="020B0004020202020204" pitchFamily="34" charset="0"/>
              </a:rPr>
              <a:t> Premi 10 </a:t>
            </a:r>
            <a:r>
              <a:rPr lang="en-US" sz="1400" b="1" err="1">
                <a:latin typeface="Aptos" panose="020B0004020202020204" pitchFamily="34" charset="0"/>
              </a:rPr>
              <a:t>tahun</a:t>
            </a:r>
            <a:endParaRPr lang="en-US" sz="1400" b="1">
              <a:latin typeface="Aptos" panose="020B0004020202020204" pitchFamily="34" charset="0"/>
            </a:endParaRPr>
          </a:p>
        </p:txBody>
      </p:sp>
      <p:sp>
        <p:nvSpPr>
          <p:cNvPr id="9" name="TextBox 8">
            <a:extLst>
              <a:ext uri="{FF2B5EF4-FFF2-40B4-BE49-F238E27FC236}">
                <a16:creationId xmlns:a16="http://schemas.microsoft.com/office/drawing/2014/main" id="{CB21C794-27EB-AA7C-ED86-F25A840C6733}"/>
              </a:ext>
            </a:extLst>
          </p:cNvPr>
          <p:cNvSpPr txBox="1"/>
          <p:nvPr/>
        </p:nvSpPr>
        <p:spPr>
          <a:xfrm>
            <a:off x="245533" y="1492804"/>
            <a:ext cx="884767" cy="461665"/>
          </a:xfrm>
          <a:prstGeom prst="rect">
            <a:avLst/>
          </a:prstGeom>
          <a:noFill/>
        </p:spPr>
        <p:txBody>
          <a:bodyPr wrap="square" rtlCol="0">
            <a:spAutoFit/>
          </a:bodyPr>
          <a:lstStyle/>
          <a:p>
            <a:pPr algn="ctr"/>
            <a:r>
              <a:rPr lang="en-US" sz="1200">
                <a:latin typeface="Aptos" panose="020B0004020202020204" pitchFamily="34" charset="0"/>
              </a:rPr>
              <a:t>1 Januari 2031</a:t>
            </a:r>
          </a:p>
        </p:txBody>
      </p:sp>
      <p:sp>
        <p:nvSpPr>
          <p:cNvPr id="13" name="TextBox 12">
            <a:extLst>
              <a:ext uri="{FF2B5EF4-FFF2-40B4-BE49-F238E27FC236}">
                <a16:creationId xmlns:a16="http://schemas.microsoft.com/office/drawing/2014/main" id="{AB0C162E-FE17-AEE1-123B-CA3B81DD452B}"/>
              </a:ext>
            </a:extLst>
          </p:cNvPr>
          <p:cNvSpPr txBox="1"/>
          <p:nvPr/>
        </p:nvSpPr>
        <p:spPr>
          <a:xfrm>
            <a:off x="1275591" y="1492804"/>
            <a:ext cx="884767" cy="461665"/>
          </a:xfrm>
          <a:prstGeom prst="rect">
            <a:avLst/>
          </a:prstGeom>
          <a:noFill/>
        </p:spPr>
        <p:txBody>
          <a:bodyPr wrap="square" rtlCol="0">
            <a:spAutoFit/>
          </a:bodyPr>
          <a:lstStyle/>
          <a:p>
            <a:pPr algn="ctr"/>
            <a:r>
              <a:rPr lang="en-US" sz="1200">
                <a:latin typeface="Aptos" panose="020B0004020202020204" pitchFamily="34" charset="0"/>
              </a:rPr>
              <a:t>1 Januari 2032</a:t>
            </a:r>
          </a:p>
        </p:txBody>
      </p:sp>
      <p:sp>
        <p:nvSpPr>
          <p:cNvPr id="14" name="TextBox 13">
            <a:extLst>
              <a:ext uri="{FF2B5EF4-FFF2-40B4-BE49-F238E27FC236}">
                <a16:creationId xmlns:a16="http://schemas.microsoft.com/office/drawing/2014/main" id="{6B2982E3-4FF4-464F-191D-5BD2F66E7218}"/>
              </a:ext>
            </a:extLst>
          </p:cNvPr>
          <p:cNvSpPr txBox="1"/>
          <p:nvPr/>
        </p:nvSpPr>
        <p:spPr>
          <a:xfrm>
            <a:off x="2302933" y="1492804"/>
            <a:ext cx="884767" cy="461665"/>
          </a:xfrm>
          <a:prstGeom prst="rect">
            <a:avLst/>
          </a:prstGeom>
          <a:noFill/>
        </p:spPr>
        <p:txBody>
          <a:bodyPr wrap="square" rtlCol="0">
            <a:spAutoFit/>
          </a:bodyPr>
          <a:lstStyle/>
          <a:p>
            <a:pPr algn="ctr"/>
            <a:r>
              <a:rPr lang="en-US" sz="1200">
                <a:latin typeface="Aptos" panose="020B0004020202020204" pitchFamily="34" charset="0"/>
              </a:rPr>
              <a:t>1 Januari 2033</a:t>
            </a:r>
          </a:p>
        </p:txBody>
      </p:sp>
      <p:sp>
        <p:nvSpPr>
          <p:cNvPr id="15" name="TextBox 14">
            <a:extLst>
              <a:ext uri="{FF2B5EF4-FFF2-40B4-BE49-F238E27FC236}">
                <a16:creationId xmlns:a16="http://schemas.microsoft.com/office/drawing/2014/main" id="{7930F406-CE38-AD65-2D25-7C1811992C59}"/>
              </a:ext>
            </a:extLst>
          </p:cNvPr>
          <p:cNvSpPr txBox="1"/>
          <p:nvPr/>
        </p:nvSpPr>
        <p:spPr>
          <a:xfrm>
            <a:off x="3332657" y="1491299"/>
            <a:ext cx="884767" cy="461665"/>
          </a:xfrm>
          <a:prstGeom prst="rect">
            <a:avLst/>
          </a:prstGeom>
          <a:noFill/>
        </p:spPr>
        <p:txBody>
          <a:bodyPr wrap="square" rtlCol="0">
            <a:spAutoFit/>
          </a:bodyPr>
          <a:lstStyle/>
          <a:p>
            <a:pPr algn="ctr"/>
            <a:r>
              <a:rPr lang="en-US" sz="1200">
                <a:latin typeface="Aptos" panose="020B0004020202020204" pitchFamily="34" charset="0"/>
              </a:rPr>
              <a:t>1 Januari 2034</a:t>
            </a:r>
          </a:p>
        </p:txBody>
      </p:sp>
      <p:sp>
        <p:nvSpPr>
          <p:cNvPr id="16" name="TextBox 15">
            <a:extLst>
              <a:ext uri="{FF2B5EF4-FFF2-40B4-BE49-F238E27FC236}">
                <a16:creationId xmlns:a16="http://schemas.microsoft.com/office/drawing/2014/main" id="{27646333-292E-1306-8E5C-95A68EB17E7F}"/>
              </a:ext>
            </a:extLst>
          </p:cNvPr>
          <p:cNvSpPr txBox="1"/>
          <p:nvPr/>
        </p:nvSpPr>
        <p:spPr>
          <a:xfrm>
            <a:off x="4395981" y="1492804"/>
            <a:ext cx="884767" cy="461665"/>
          </a:xfrm>
          <a:prstGeom prst="rect">
            <a:avLst/>
          </a:prstGeom>
          <a:noFill/>
        </p:spPr>
        <p:txBody>
          <a:bodyPr wrap="square" rtlCol="0">
            <a:spAutoFit/>
          </a:bodyPr>
          <a:lstStyle/>
          <a:p>
            <a:pPr algn="ctr"/>
            <a:r>
              <a:rPr lang="en-US" sz="1200">
                <a:latin typeface="Aptos" panose="020B0004020202020204" pitchFamily="34" charset="0"/>
              </a:rPr>
              <a:t>1 Januari 2035</a:t>
            </a:r>
          </a:p>
        </p:txBody>
      </p:sp>
      <p:sp>
        <p:nvSpPr>
          <p:cNvPr id="17" name="TextBox 16">
            <a:extLst>
              <a:ext uri="{FF2B5EF4-FFF2-40B4-BE49-F238E27FC236}">
                <a16:creationId xmlns:a16="http://schemas.microsoft.com/office/drawing/2014/main" id="{F1481363-1334-6CF9-CD5C-6034D0C7CB6C}"/>
              </a:ext>
            </a:extLst>
          </p:cNvPr>
          <p:cNvSpPr txBox="1"/>
          <p:nvPr/>
        </p:nvSpPr>
        <p:spPr>
          <a:xfrm>
            <a:off x="9761220" y="1491298"/>
            <a:ext cx="1098619" cy="461665"/>
          </a:xfrm>
          <a:prstGeom prst="rect">
            <a:avLst/>
          </a:prstGeom>
          <a:noFill/>
        </p:spPr>
        <p:txBody>
          <a:bodyPr wrap="square" rtlCol="0">
            <a:spAutoFit/>
          </a:bodyPr>
          <a:lstStyle/>
          <a:p>
            <a:pPr algn="ctr"/>
            <a:r>
              <a:rPr lang="en-US" sz="1200">
                <a:latin typeface="Aptos" panose="020B0004020202020204" pitchFamily="34" charset="0"/>
              </a:rPr>
              <a:t>31 </a:t>
            </a:r>
            <a:r>
              <a:rPr lang="en-US" sz="1200" err="1">
                <a:latin typeface="Aptos" panose="020B0004020202020204" pitchFamily="34" charset="0"/>
              </a:rPr>
              <a:t>Desember</a:t>
            </a:r>
            <a:r>
              <a:rPr lang="en-US" sz="1200">
                <a:latin typeface="Aptos" panose="020B0004020202020204" pitchFamily="34" charset="0"/>
              </a:rPr>
              <a:t> 2050</a:t>
            </a:r>
          </a:p>
        </p:txBody>
      </p:sp>
      <p:sp>
        <p:nvSpPr>
          <p:cNvPr id="18" name="TextBox 17">
            <a:extLst>
              <a:ext uri="{FF2B5EF4-FFF2-40B4-BE49-F238E27FC236}">
                <a16:creationId xmlns:a16="http://schemas.microsoft.com/office/drawing/2014/main" id="{C4394317-BDDE-0E26-7887-0FC2C44C7CCE}"/>
              </a:ext>
            </a:extLst>
          </p:cNvPr>
          <p:cNvSpPr txBox="1"/>
          <p:nvPr/>
        </p:nvSpPr>
        <p:spPr>
          <a:xfrm>
            <a:off x="6298444" y="1491299"/>
            <a:ext cx="1098619" cy="461665"/>
          </a:xfrm>
          <a:prstGeom prst="rect">
            <a:avLst/>
          </a:prstGeom>
          <a:noFill/>
        </p:spPr>
        <p:txBody>
          <a:bodyPr wrap="square" rtlCol="0">
            <a:spAutoFit/>
          </a:bodyPr>
          <a:lstStyle/>
          <a:p>
            <a:pPr algn="ctr"/>
            <a:r>
              <a:rPr lang="en-US" sz="1200">
                <a:latin typeface="Aptos" panose="020B0004020202020204" pitchFamily="34" charset="0"/>
              </a:rPr>
              <a:t>31 </a:t>
            </a:r>
            <a:r>
              <a:rPr lang="en-US" sz="1200" err="1">
                <a:latin typeface="Aptos" panose="020B0004020202020204" pitchFamily="34" charset="0"/>
              </a:rPr>
              <a:t>Desember</a:t>
            </a:r>
            <a:r>
              <a:rPr lang="en-US" sz="1200">
                <a:latin typeface="Aptos" panose="020B0004020202020204" pitchFamily="34" charset="0"/>
              </a:rPr>
              <a:t> 2036</a:t>
            </a:r>
          </a:p>
        </p:txBody>
      </p:sp>
      <p:sp>
        <p:nvSpPr>
          <p:cNvPr id="19" name="TextBox 18">
            <a:extLst>
              <a:ext uri="{FF2B5EF4-FFF2-40B4-BE49-F238E27FC236}">
                <a16:creationId xmlns:a16="http://schemas.microsoft.com/office/drawing/2014/main" id="{8B7CA63A-7713-753C-1DC9-505385C6DFC2}"/>
              </a:ext>
            </a:extLst>
          </p:cNvPr>
          <p:cNvSpPr txBox="1"/>
          <p:nvPr/>
        </p:nvSpPr>
        <p:spPr>
          <a:xfrm>
            <a:off x="330200"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2031</a:t>
            </a:r>
          </a:p>
        </p:txBody>
      </p:sp>
      <p:sp>
        <p:nvSpPr>
          <p:cNvPr id="20" name="TextBox 19">
            <a:extLst>
              <a:ext uri="{FF2B5EF4-FFF2-40B4-BE49-F238E27FC236}">
                <a16:creationId xmlns:a16="http://schemas.microsoft.com/office/drawing/2014/main" id="{5C2F36C2-5C9B-3FFF-E9C2-18EB0C821DDB}"/>
              </a:ext>
            </a:extLst>
          </p:cNvPr>
          <p:cNvSpPr txBox="1"/>
          <p:nvPr/>
        </p:nvSpPr>
        <p:spPr>
          <a:xfrm>
            <a:off x="1098550"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2032</a:t>
            </a:r>
          </a:p>
        </p:txBody>
      </p:sp>
      <p:sp>
        <p:nvSpPr>
          <p:cNvPr id="21" name="TextBox 20">
            <a:extLst>
              <a:ext uri="{FF2B5EF4-FFF2-40B4-BE49-F238E27FC236}">
                <a16:creationId xmlns:a16="http://schemas.microsoft.com/office/drawing/2014/main" id="{2821508A-73B4-7A29-987D-2C46519A0B4E}"/>
              </a:ext>
            </a:extLst>
          </p:cNvPr>
          <p:cNvSpPr txBox="1"/>
          <p:nvPr/>
        </p:nvSpPr>
        <p:spPr>
          <a:xfrm>
            <a:off x="1911350"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2033</a:t>
            </a:r>
          </a:p>
        </p:txBody>
      </p:sp>
      <p:sp>
        <p:nvSpPr>
          <p:cNvPr id="22" name="TextBox 21">
            <a:extLst>
              <a:ext uri="{FF2B5EF4-FFF2-40B4-BE49-F238E27FC236}">
                <a16:creationId xmlns:a16="http://schemas.microsoft.com/office/drawing/2014/main" id="{54F51806-61D4-5D65-8FE6-B5E4DF34E25D}"/>
              </a:ext>
            </a:extLst>
          </p:cNvPr>
          <p:cNvSpPr txBox="1"/>
          <p:nvPr/>
        </p:nvSpPr>
        <p:spPr>
          <a:xfrm>
            <a:off x="2696633"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2034</a:t>
            </a:r>
          </a:p>
        </p:txBody>
      </p:sp>
      <p:sp>
        <p:nvSpPr>
          <p:cNvPr id="23" name="TextBox 22">
            <a:extLst>
              <a:ext uri="{FF2B5EF4-FFF2-40B4-BE49-F238E27FC236}">
                <a16:creationId xmlns:a16="http://schemas.microsoft.com/office/drawing/2014/main" id="{9ECB0481-76A5-7BD1-B1BE-A1D35F5E2263}"/>
              </a:ext>
            </a:extLst>
          </p:cNvPr>
          <p:cNvSpPr txBox="1"/>
          <p:nvPr/>
        </p:nvSpPr>
        <p:spPr>
          <a:xfrm>
            <a:off x="3481916"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2035</a:t>
            </a:r>
          </a:p>
        </p:txBody>
      </p:sp>
      <p:sp>
        <p:nvSpPr>
          <p:cNvPr id="24" name="TextBox 23">
            <a:extLst>
              <a:ext uri="{FF2B5EF4-FFF2-40B4-BE49-F238E27FC236}">
                <a16:creationId xmlns:a16="http://schemas.microsoft.com/office/drawing/2014/main" id="{281053DA-2EB4-023F-2D9C-529A28A30C2A}"/>
              </a:ext>
            </a:extLst>
          </p:cNvPr>
          <p:cNvSpPr txBox="1"/>
          <p:nvPr/>
        </p:nvSpPr>
        <p:spPr>
          <a:xfrm>
            <a:off x="4203699"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2036</a:t>
            </a:r>
          </a:p>
        </p:txBody>
      </p:sp>
      <p:sp>
        <p:nvSpPr>
          <p:cNvPr id="25" name="TextBox 24">
            <a:extLst>
              <a:ext uri="{FF2B5EF4-FFF2-40B4-BE49-F238E27FC236}">
                <a16:creationId xmlns:a16="http://schemas.microsoft.com/office/drawing/2014/main" id="{A275BF14-708C-016B-D65F-A7FDAEBDD80A}"/>
              </a:ext>
            </a:extLst>
          </p:cNvPr>
          <p:cNvSpPr txBox="1"/>
          <p:nvPr/>
        </p:nvSpPr>
        <p:spPr>
          <a:xfrm>
            <a:off x="4963582"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2037</a:t>
            </a:r>
          </a:p>
        </p:txBody>
      </p:sp>
      <p:sp>
        <p:nvSpPr>
          <p:cNvPr id="26" name="TextBox 25">
            <a:extLst>
              <a:ext uri="{FF2B5EF4-FFF2-40B4-BE49-F238E27FC236}">
                <a16:creationId xmlns:a16="http://schemas.microsoft.com/office/drawing/2014/main" id="{6FB2439C-83D2-9D23-E1E4-AA82D10F6DC6}"/>
              </a:ext>
            </a:extLst>
          </p:cNvPr>
          <p:cNvSpPr txBox="1"/>
          <p:nvPr/>
        </p:nvSpPr>
        <p:spPr>
          <a:xfrm>
            <a:off x="5685365"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2038</a:t>
            </a:r>
          </a:p>
        </p:txBody>
      </p:sp>
      <p:sp>
        <p:nvSpPr>
          <p:cNvPr id="27" name="TextBox 26">
            <a:extLst>
              <a:ext uri="{FF2B5EF4-FFF2-40B4-BE49-F238E27FC236}">
                <a16:creationId xmlns:a16="http://schemas.microsoft.com/office/drawing/2014/main" id="{C7DBB639-9E68-4FD5-B956-CE336D511F7B}"/>
              </a:ext>
            </a:extLst>
          </p:cNvPr>
          <p:cNvSpPr txBox="1"/>
          <p:nvPr/>
        </p:nvSpPr>
        <p:spPr>
          <a:xfrm>
            <a:off x="6438898"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2039</a:t>
            </a:r>
          </a:p>
        </p:txBody>
      </p:sp>
      <p:sp>
        <p:nvSpPr>
          <p:cNvPr id="28" name="TextBox 27">
            <a:extLst>
              <a:ext uri="{FF2B5EF4-FFF2-40B4-BE49-F238E27FC236}">
                <a16:creationId xmlns:a16="http://schemas.microsoft.com/office/drawing/2014/main" id="{5E511EFA-F130-AE3A-0AC8-4276E75BDD2B}"/>
              </a:ext>
            </a:extLst>
          </p:cNvPr>
          <p:cNvSpPr txBox="1"/>
          <p:nvPr/>
        </p:nvSpPr>
        <p:spPr>
          <a:xfrm>
            <a:off x="7198781" y="4298031"/>
            <a:ext cx="884767" cy="461665"/>
          </a:xfrm>
          <a:prstGeom prst="rect">
            <a:avLst/>
          </a:prstGeom>
          <a:noFill/>
        </p:spPr>
        <p:txBody>
          <a:bodyPr wrap="square" rtlCol="0">
            <a:spAutoFit/>
          </a:bodyPr>
          <a:lstStyle/>
          <a:p>
            <a:pPr algn="ctr"/>
            <a:r>
              <a:rPr lang="en-US" sz="1200">
                <a:latin typeface="Aptos" panose="020B0004020202020204" pitchFamily="34" charset="0"/>
              </a:rPr>
              <a:t>1 Januari 2040</a:t>
            </a:r>
          </a:p>
        </p:txBody>
      </p:sp>
      <p:sp>
        <p:nvSpPr>
          <p:cNvPr id="29" name="TextBox 28">
            <a:extLst>
              <a:ext uri="{FF2B5EF4-FFF2-40B4-BE49-F238E27FC236}">
                <a16:creationId xmlns:a16="http://schemas.microsoft.com/office/drawing/2014/main" id="{EB4909E7-4356-A043-5FBA-F1BFA53C3DE4}"/>
              </a:ext>
            </a:extLst>
          </p:cNvPr>
          <p:cNvSpPr txBox="1"/>
          <p:nvPr/>
        </p:nvSpPr>
        <p:spPr>
          <a:xfrm>
            <a:off x="8121648" y="4298031"/>
            <a:ext cx="1067972" cy="461665"/>
          </a:xfrm>
          <a:prstGeom prst="rect">
            <a:avLst/>
          </a:prstGeom>
          <a:noFill/>
        </p:spPr>
        <p:txBody>
          <a:bodyPr wrap="square" rtlCol="0">
            <a:spAutoFit/>
          </a:bodyPr>
          <a:lstStyle/>
          <a:p>
            <a:pPr algn="ctr"/>
            <a:r>
              <a:rPr lang="en-US" sz="1200">
                <a:latin typeface="Aptos" panose="020B0004020202020204" pitchFamily="34" charset="0"/>
              </a:rPr>
              <a:t>31 </a:t>
            </a:r>
            <a:r>
              <a:rPr lang="en-US" sz="1200" err="1">
                <a:latin typeface="Aptos" panose="020B0004020202020204" pitchFamily="34" charset="0"/>
              </a:rPr>
              <a:t>Desember</a:t>
            </a:r>
            <a:r>
              <a:rPr lang="en-US" sz="1200">
                <a:latin typeface="Aptos" panose="020B0004020202020204" pitchFamily="34" charset="0"/>
              </a:rPr>
              <a:t> 2041</a:t>
            </a:r>
          </a:p>
        </p:txBody>
      </p:sp>
      <p:sp>
        <p:nvSpPr>
          <p:cNvPr id="30" name="TextBox 29">
            <a:extLst>
              <a:ext uri="{FF2B5EF4-FFF2-40B4-BE49-F238E27FC236}">
                <a16:creationId xmlns:a16="http://schemas.microsoft.com/office/drawing/2014/main" id="{D7FBBF91-F86A-4D3E-A72F-E80000984D2D}"/>
              </a:ext>
            </a:extLst>
          </p:cNvPr>
          <p:cNvSpPr txBox="1"/>
          <p:nvPr/>
        </p:nvSpPr>
        <p:spPr>
          <a:xfrm>
            <a:off x="9844015" y="4298031"/>
            <a:ext cx="1067972" cy="461665"/>
          </a:xfrm>
          <a:prstGeom prst="rect">
            <a:avLst/>
          </a:prstGeom>
          <a:noFill/>
        </p:spPr>
        <p:txBody>
          <a:bodyPr wrap="square" rtlCol="0">
            <a:spAutoFit/>
          </a:bodyPr>
          <a:lstStyle/>
          <a:p>
            <a:pPr algn="ctr"/>
            <a:r>
              <a:rPr lang="en-US" sz="1200">
                <a:latin typeface="Aptos" panose="020B0004020202020204" pitchFamily="34" charset="0"/>
              </a:rPr>
              <a:t>31 </a:t>
            </a:r>
            <a:r>
              <a:rPr lang="en-US" sz="1200" err="1">
                <a:latin typeface="Aptos" panose="020B0004020202020204" pitchFamily="34" charset="0"/>
              </a:rPr>
              <a:t>Desember</a:t>
            </a:r>
            <a:r>
              <a:rPr lang="en-US" sz="1200">
                <a:latin typeface="Aptos" panose="020B0004020202020204" pitchFamily="34" charset="0"/>
              </a:rPr>
              <a:t> 2050</a:t>
            </a:r>
          </a:p>
        </p:txBody>
      </p:sp>
      <p:sp>
        <p:nvSpPr>
          <p:cNvPr id="2" name="TextBox 1">
            <a:extLst>
              <a:ext uri="{FF2B5EF4-FFF2-40B4-BE49-F238E27FC236}">
                <a16:creationId xmlns:a16="http://schemas.microsoft.com/office/drawing/2014/main" id="{539880F1-27D1-A594-7731-4E71A3384C63}"/>
              </a:ext>
            </a:extLst>
          </p:cNvPr>
          <p:cNvSpPr txBox="1"/>
          <p:nvPr/>
        </p:nvSpPr>
        <p:spPr>
          <a:xfrm>
            <a:off x="181945" y="822099"/>
            <a:ext cx="9670715" cy="307777"/>
          </a:xfrm>
          <a:prstGeom prst="rect">
            <a:avLst/>
          </a:prstGeom>
          <a:noFill/>
        </p:spPr>
        <p:txBody>
          <a:bodyPr wrap="square">
            <a:spAutoFit/>
          </a:bodyPr>
          <a:lstStyle/>
          <a:p>
            <a:r>
              <a:rPr lang="en-US" sz="1400" b="1" err="1">
                <a:latin typeface="Aptos" panose="020B0004020202020204" pitchFamily="34" charset="0"/>
              </a:rPr>
              <a:t>Tanggal</a:t>
            </a:r>
            <a:r>
              <a:rPr lang="en-US" sz="1400" b="1">
                <a:latin typeface="Aptos" panose="020B0004020202020204" pitchFamily="34" charset="0"/>
              </a:rPr>
              <a:t> Mulai Asuransi: 1 Januari 2031</a:t>
            </a:r>
          </a:p>
        </p:txBody>
      </p:sp>
    </p:spTree>
    <p:extLst>
      <p:ext uri="{BB962C8B-B14F-4D97-AF65-F5344CB8AC3E}">
        <p14:creationId xmlns:p14="http://schemas.microsoft.com/office/powerpoint/2010/main" val="360562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66210-F937-E3E5-95B7-EDE45DC42D5E}"/>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35EB567-6699-41DB-5807-3A4355996538}"/>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DE1C4A-2A31-787E-8471-C0106B4A0FBC}"/>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3E5149B-89B2-4CCC-6E02-F3DC27802860}"/>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DC5B6E50-5581-1EB2-34A7-096C43BF665F}"/>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B2E8D2C5-5601-1E73-9570-38B01C4C40BF}"/>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
        <p:nvSpPr>
          <p:cNvPr id="3" name="Content Placeholder 4">
            <a:extLst>
              <a:ext uri="{FF2B5EF4-FFF2-40B4-BE49-F238E27FC236}">
                <a16:creationId xmlns:a16="http://schemas.microsoft.com/office/drawing/2014/main" id="{10C4F96F-F420-AA44-7065-E956BE914E47}"/>
              </a:ext>
            </a:extLst>
          </p:cNvPr>
          <p:cNvSpPr txBox="1">
            <a:spLocks/>
          </p:cNvSpPr>
          <p:nvPr/>
        </p:nvSpPr>
        <p:spPr>
          <a:xfrm>
            <a:off x="250031" y="1678848"/>
            <a:ext cx="10515600" cy="63817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a:solidFill>
                  <a:schemeClr val="bg1"/>
                </a:solidFill>
                <a:latin typeface="Aptos" panose="020B0004020202020204" pitchFamily="34" charset="0"/>
                <a:ea typeface="Calibri" panose="020F0502020204030204" pitchFamily="34" charset="0"/>
                <a:cs typeface="Calibri" panose="020F0502020204030204" pitchFamily="34" charset="0"/>
              </a:rPr>
              <a:t>FITUR PRODUK VALUE INCOME ASSURANCE (VALUE+)</a:t>
            </a:r>
          </a:p>
        </p:txBody>
      </p:sp>
    </p:spTree>
    <p:extLst>
      <p:ext uri="{BB962C8B-B14F-4D97-AF65-F5344CB8AC3E}">
        <p14:creationId xmlns:p14="http://schemas.microsoft.com/office/powerpoint/2010/main" val="2023296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047F86D-BAE6-ACEA-5781-258C424BAAFD}"/>
              </a:ext>
            </a:extLst>
          </p:cNvPr>
          <p:cNvGraphicFramePr>
            <a:graphicFrameLocks noGrp="1"/>
          </p:cNvGraphicFramePr>
          <p:nvPr>
            <p:extLst>
              <p:ext uri="{D42A27DB-BD31-4B8C-83A1-F6EECF244321}">
                <p14:modId xmlns:p14="http://schemas.microsoft.com/office/powerpoint/2010/main" val="4264508185"/>
              </p:ext>
            </p:extLst>
          </p:nvPr>
        </p:nvGraphicFramePr>
        <p:xfrm>
          <a:off x="315380" y="806811"/>
          <a:ext cx="11561240" cy="5821680"/>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246161">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Jenis</a:t>
                      </a:r>
                      <a:r>
                        <a:rPr lang="en-US" sz="1400" b="1" i="0" strike="noStrike">
                          <a:solidFill>
                            <a:schemeClr val="bg1"/>
                          </a:solidFill>
                          <a:latin typeface="Aptos" panose="020B0004020202020204" pitchFamily="34" charset="0"/>
                        </a:rPr>
                        <a:t> Produk</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algn="just"/>
                      <a:r>
                        <a:rPr lang="en-ID" sz="1200" b="0" i="0" u="none" strike="noStrike" baseline="0" err="1">
                          <a:latin typeface="Aptos" panose="020B0004020202020204" pitchFamily="34" charset="0"/>
                        </a:rPr>
                        <a:t>Asuransi</a:t>
                      </a:r>
                      <a:r>
                        <a:rPr lang="en-ID" sz="1200" b="0" i="0" u="none" strike="noStrike" baseline="0">
                          <a:latin typeface="Aptos" panose="020B0004020202020204" pitchFamily="34" charset="0"/>
                        </a:rPr>
                        <a:t> Jiwa </a:t>
                      </a:r>
                      <a:r>
                        <a:rPr lang="en-ID" sz="1200" b="0" i="0" u="none" strike="noStrike" baseline="0" err="1">
                          <a:latin typeface="Aptos" panose="020B0004020202020204" pitchFamily="34" charset="0"/>
                        </a:rPr>
                        <a:t>Dwiguna</a:t>
                      </a:r>
                      <a:r>
                        <a:rPr lang="en-ID" sz="1200" b="0" i="0" u="none" strike="noStrike" baseline="0">
                          <a:latin typeface="Aptos" panose="020B0004020202020204" pitchFamily="34" charset="0"/>
                        </a:rPr>
                        <a:t> </a:t>
                      </a:r>
                      <a:r>
                        <a:rPr lang="en-ID" sz="1200" b="0" i="0" u="none" strike="noStrike" baseline="0" err="1">
                          <a:latin typeface="Aptos" panose="020B0004020202020204" pitchFamily="34" charset="0"/>
                        </a:rPr>
                        <a:t>Kombinasi</a:t>
                      </a:r>
                      <a:endParaRPr lang="en-US" sz="1200" b="0" i="0" strike="noStrike">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6745962"/>
                  </a:ext>
                </a:extLst>
              </a:tr>
              <a:tr h="147375">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Segmen</a:t>
                      </a:r>
                      <a:r>
                        <a:rPr lang="en-US" sz="1400" b="1" i="0" strike="noStrike">
                          <a:solidFill>
                            <a:schemeClr val="bg1"/>
                          </a:solidFill>
                          <a:latin typeface="Aptos" panose="020B0004020202020204" pitchFamily="34" charset="0"/>
                        </a:rPr>
                        <a:t> </a:t>
                      </a:r>
                      <a:r>
                        <a:rPr lang="en-US" sz="1400" b="1" i="0" strike="noStrike" err="1">
                          <a:solidFill>
                            <a:schemeClr val="bg1"/>
                          </a:solidFill>
                          <a:latin typeface="Aptos" panose="020B0004020202020204" pitchFamily="34" charset="0"/>
                        </a:rPr>
                        <a:t>Nasabah</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algn="just"/>
                      <a:r>
                        <a:rPr lang="en-US" sz="1200" b="0" i="0" strike="noStrike" err="1">
                          <a:latin typeface="Aptos" panose="020B0004020202020204" pitchFamily="34" charset="0"/>
                        </a:rPr>
                        <a:t>Nasabah</a:t>
                      </a:r>
                      <a:r>
                        <a:rPr lang="en-US" sz="1200" b="0" i="0" strike="noStrike">
                          <a:latin typeface="Aptos" panose="020B0004020202020204" pitchFamily="34" charset="0"/>
                        </a:rPr>
                        <a:t> BCA (</a:t>
                      </a:r>
                      <a:r>
                        <a:rPr lang="en-US" sz="1200" b="0" i="1" strike="noStrike">
                          <a:latin typeface="Aptos" panose="020B0004020202020204" pitchFamily="34" charset="0"/>
                        </a:rPr>
                        <a:t>Affluent </a:t>
                      </a:r>
                      <a:r>
                        <a:rPr lang="en-US" sz="1200" b="0" i="0" strike="noStrike">
                          <a:latin typeface="Aptos" panose="020B0004020202020204" pitchFamily="34" charset="0"/>
                        </a:rPr>
                        <a:t>dan </a:t>
                      </a:r>
                      <a:r>
                        <a:rPr lang="en-US" sz="1200" b="0" i="1" strike="noStrike">
                          <a:latin typeface="Aptos" panose="020B0004020202020204" pitchFamily="34" charset="0"/>
                        </a:rPr>
                        <a:t>Upper Mass</a:t>
                      </a:r>
                      <a:r>
                        <a:rPr lang="en-US" sz="1200" b="0" i="0" strike="noStrike">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92730854"/>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Saluran</a:t>
                      </a:r>
                      <a:r>
                        <a:rPr lang="en-US" sz="1400" b="1" i="0" strike="noStrike">
                          <a:solidFill>
                            <a:schemeClr val="bg1"/>
                          </a:solidFill>
                          <a:latin typeface="Aptos" panose="020B0004020202020204" pitchFamily="34" charset="0"/>
                        </a:rPr>
                        <a:t> </a:t>
                      </a:r>
                      <a:r>
                        <a:rPr lang="en-US" sz="1400" b="1" i="0" strike="noStrike" err="1">
                          <a:solidFill>
                            <a:schemeClr val="bg1"/>
                          </a:solidFill>
                          <a:latin typeface="Aptos" panose="020B0004020202020204" pitchFamily="34" charset="0"/>
                        </a:rPr>
                        <a:t>Pemasaran</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algn="just"/>
                      <a:r>
                        <a:rPr lang="en-US" sz="1200" b="0" i="1" strike="noStrike">
                          <a:latin typeface="Aptos" panose="020B0004020202020204" pitchFamily="34" charset="0"/>
                        </a:rPr>
                        <a:t>In branch</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49367451"/>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Manfaat Asuransi Tambahan (</a:t>
                      </a:r>
                      <a:r>
                        <a:rPr lang="en-US" sz="1400" b="1" i="1" strike="noStrike">
                          <a:solidFill>
                            <a:schemeClr val="bg1"/>
                          </a:solidFill>
                          <a:latin typeface="Aptos" panose="020B0004020202020204" pitchFamily="34" charset="0"/>
                        </a:rPr>
                        <a:t>Rider</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228600" indent="-228600" algn="just">
                        <a:buFont typeface="+mj-lt"/>
                        <a:buAutoNum type="arabicPeriod"/>
                      </a:pPr>
                      <a:r>
                        <a:rPr lang="en-US" sz="1200" b="0" i="0" strike="noStrike" err="1">
                          <a:latin typeface="Aptos" panose="020B0004020202020204" pitchFamily="34" charset="0"/>
                        </a:rPr>
                        <a:t>Asuransi</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Payor Benefit Plus</a:t>
                      </a:r>
                    </a:p>
                    <a:p>
                      <a:pPr marL="442913" indent="-228600" algn="just">
                        <a:buFont typeface="+mj-lt"/>
                        <a:buAutoNum type="alphaLcPeriod"/>
                      </a:pPr>
                      <a:r>
                        <a:rPr lang="en-US" sz="1200" b="0" i="0" strike="noStrike">
                          <a:latin typeface="Aptos" panose="020B0004020202020204" pitchFamily="34" charset="0"/>
                        </a:rPr>
                        <a:t>Manfaat yang </a:t>
                      </a:r>
                      <a:r>
                        <a:rPr lang="en-US" sz="1200" b="0" i="0" strike="noStrike" err="1">
                          <a:latin typeface="Aptos" panose="020B0004020202020204" pitchFamily="34" charset="0"/>
                        </a:rPr>
                        <a:t>didapatkan</a:t>
                      </a:r>
                      <a:r>
                        <a:rPr lang="en-US" sz="1200" b="0" i="0" strike="noStrike">
                          <a:latin typeface="Aptos" panose="020B0004020202020204" pitchFamily="34" charset="0"/>
                        </a:rPr>
                        <a:t> </a:t>
                      </a:r>
                      <a:r>
                        <a:rPr lang="en-US" sz="1200" b="0" i="0" strike="noStrike" err="1">
                          <a:latin typeface="Aptos" panose="020B0004020202020204" pitchFamily="34" charset="0"/>
                        </a:rPr>
                        <a:t>berupa</a:t>
                      </a:r>
                      <a:r>
                        <a:rPr lang="en-US" sz="1200" b="0" i="0" strike="noStrike">
                          <a:latin typeface="Aptos" panose="020B0004020202020204" pitchFamily="34" charset="0"/>
                        </a:rPr>
                        <a:t> </a:t>
                      </a:r>
                      <a:r>
                        <a:rPr lang="en-US" sz="1200" b="0" i="0" strike="noStrike" err="1">
                          <a:solidFill>
                            <a:schemeClr val="tx1"/>
                          </a:solidFill>
                          <a:latin typeface="Aptos" panose="020B0004020202020204" pitchFamily="34" charset="0"/>
                        </a:rPr>
                        <a:t>pembebasan</a:t>
                      </a:r>
                      <a:r>
                        <a:rPr lang="en-US" sz="1200" b="0" i="0" strike="noStrike">
                          <a:solidFill>
                            <a:schemeClr val="tx1"/>
                          </a:solidFill>
                          <a:latin typeface="Aptos" panose="020B0004020202020204" pitchFamily="34" charset="0"/>
                        </a:rPr>
                        <a:t> Premi </a:t>
                      </a:r>
                      <a:r>
                        <a:rPr lang="en-US" sz="1200" b="0" i="0" strike="noStrike" err="1">
                          <a:solidFill>
                            <a:schemeClr val="tx1"/>
                          </a:solidFill>
                          <a:latin typeface="Aptos" panose="020B0004020202020204" pitchFamily="34" charset="0"/>
                        </a:rPr>
                        <a:t>jika</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Tertanggung</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Tambahan</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Meninggal</a:t>
                      </a:r>
                      <a:r>
                        <a:rPr lang="en-US" sz="1200" b="0" i="0" strike="noStrike">
                          <a:solidFill>
                            <a:schemeClr val="tx1"/>
                          </a:solidFill>
                          <a:latin typeface="Aptos" panose="020B0004020202020204" pitchFamily="34" charset="0"/>
                        </a:rPr>
                        <a:t> Dunia, atau </a:t>
                      </a:r>
                      <a:r>
                        <a:rPr lang="en-US" sz="1200" b="0" i="0" strike="noStrike" err="1">
                          <a:solidFill>
                            <a:schemeClr val="tx1"/>
                          </a:solidFill>
                          <a:latin typeface="Aptos" panose="020B0004020202020204" pitchFamily="34" charset="0"/>
                        </a:rPr>
                        <a:t>mengalami</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Ketidakmampuan</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Tetap</a:t>
                      </a:r>
                      <a:r>
                        <a:rPr lang="en-US" sz="1200" b="0" i="0" strike="noStrike">
                          <a:solidFill>
                            <a:schemeClr val="tx1"/>
                          </a:solidFill>
                          <a:latin typeface="Aptos" panose="020B0004020202020204" pitchFamily="34" charset="0"/>
                        </a:rPr>
                        <a:t> Total, mana yang </a:t>
                      </a:r>
                      <a:r>
                        <a:rPr lang="en-US" sz="1200" b="0" i="0" strike="noStrike" err="1">
                          <a:solidFill>
                            <a:schemeClr val="tx1"/>
                          </a:solidFill>
                          <a:latin typeface="Aptos" panose="020B0004020202020204" pitchFamily="34" charset="0"/>
                        </a:rPr>
                        <a:t>terlebih</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dahulu</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terjadi</a:t>
                      </a:r>
                      <a:r>
                        <a:rPr lang="en-US" sz="1200" b="0" i="0" strike="noStrike">
                          <a:solidFill>
                            <a:schemeClr val="tx1"/>
                          </a:solidFill>
                          <a:latin typeface="Aptos" panose="020B0004020202020204" pitchFamily="34" charset="0"/>
                        </a:rPr>
                        <a:t>. </a:t>
                      </a:r>
                    </a:p>
                    <a:p>
                      <a:pPr marL="442913" indent="-228600" algn="just">
                        <a:buFont typeface="+mj-lt"/>
                        <a:buAutoNum type="alphaLcPeriod"/>
                      </a:pPr>
                      <a:r>
                        <a:rPr lang="en-US" sz="1200" b="0" i="0" strike="noStrike" err="1">
                          <a:solidFill>
                            <a:schemeClr val="tx1"/>
                          </a:solidFill>
                          <a:latin typeface="Aptos" panose="020B0004020202020204" pitchFamily="34" charset="0"/>
                        </a:rPr>
                        <a:t>Tertanggung</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Tambahan</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dalam</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Asuransi</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Tambahan</a:t>
                      </a:r>
                      <a:r>
                        <a:rPr lang="en-US" sz="1200" b="0" i="0" strike="noStrike">
                          <a:solidFill>
                            <a:schemeClr val="tx1"/>
                          </a:solidFill>
                          <a:latin typeface="Aptos" panose="020B0004020202020204" pitchFamily="34" charset="0"/>
                        </a:rPr>
                        <a:t> Payor Benefit Plus </a:t>
                      </a:r>
                      <a:r>
                        <a:rPr lang="en-US" sz="1200" b="0" i="0" strike="noStrike" err="1">
                          <a:solidFill>
                            <a:schemeClr val="tx1"/>
                          </a:solidFill>
                          <a:latin typeface="Aptos" panose="020B0004020202020204" pitchFamily="34" charset="0"/>
                        </a:rPr>
                        <a:t>adalah</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Pemegang</a:t>
                      </a:r>
                      <a:r>
                        <a:rPr lang="en-US" sz="1200" b="0" i="0" strike="noStrike">
                          <a:solidFill>
                            <a:schemeClr val="tx1"/>
                          </a:solidFill>
                          <a:latin typeface="Aptos" panose="020B0004020202020204" pitchFamily="34" charset="0"/>
                        </a:rPr>
                        <a:t> </a:t>
                      </a:r>
                      <a:r>
                        <a:rPr lang="en-US" sz="1200" b="0" i="0" strike="noStrike">
                          <a:latin typeface="Aptos" panose="020B0004020202020204" pitchFamily="34" charset="0"/>
                        </a:rPr>
                        <a:t>Polis </a:t>
                      </a:r>
                      <a:r>
                        <a:rPr lang="en-US" sz="1200" b="0" i="0" strike="noStrike" err="1">
                          <a:latin typeface="Aptos" panose="020B0004020202020204" pitchFamily="34" charset="0"/>
                        </a:rPr>
                        <a:t>Asuransi</a:t>
                      </a:r>
                      <a:r>
                        <a:rPr lang="en-US" sz="1200" b="0" i="0" strike="noStrike">
                          <a:latin typeface="Aptos" panose="020B0004020202020204" pitchFamily="34" charset="0"/>
                        </a:rPr>
                        <a:t> Dasar yang </a:t>
                      </a:r>
                      <a:r>
                        <a:rPr lang="en-US" sz="1200" b="0" i="0" strike="noStrike" err="1">
                          <a:latin typeface="Aptos" panose="020B0004020202020204" pitchFamily="34" charset="0"/>
                        </a:rPr>
                        <a:t>bukan</a:t>
                      </a:r>
                      <a:r>
                        <a:rPr lang="en-US" sz="1200" b="0" i="0" strike="noStrike">
                          <a:latin typeface="Aptos" panose="020B0004020202020204" pitchFamily="34" charset="0"/>
                        </a:rPr>
                        <a:t> </a:t>
                      </a:r>
                      <a:r>
                        <a:rPr lang="en-US" sz="1200" b="0" i="0" strike="noStrike" err="1">
                          <a:latin typeface="Aptos" panose="020B0004020202020204" pitchFamily="34" charset="0"/>
                        </a:rPr>
                        <a:t>merupakan</a:t>
                      </a:r>
                      <a:r>
                        <a:rPr lang="en-US" sz="1200" b="0" i="0" strike="noStrike">
                          <a:latin typeface="Aptos" panose="020B0004020202020204" pitchFamily="34" charset="0"/>
                        </a:rPr>
                        <a:t> </a:t>
                      </a:r>
                      <a:r>
                        <a:rPr lang="en-US" sz="1200" b="0" i="0" strike="noStrike" err="1">
                          <a:latin typeface="Aptos" panose="020B0004020202020204" pitchFamily="34" charset="0"/>
                        </a:rPr>
                        <a:t>Tertanggung</a:t>
                      </a:r>
                      <a:r>
                        <a:rPr lang="en-US" sz="1200" b="0" i="0" strike="noStrike">
                          <a:latin typeface="Aptos" panose="020B0004020202020204" pitchFamily="34" charset="0"/>
                        </a:rPr>
                        <a:t> pada </a:t>
                      </a:r>
                      <a:r>
                        <a:rPr lang="en-US" sz="1200" b="0" i="0" strike="noStrike" err="1">
                          <a:latin typeface="Aptos" panose="020B0004020202020204" pitchFamily="34" charset="0"/>
                        </a:rPr>
                        <a:t>Asuransi</a:t>
                      </a:r>
                      <a:r>
                        <a:rPr lang="en-US" sz="1200" b="0" i="0" strike="noStrike">
                          <a:latin typeface="Aptos" panose="020B0004020202020204" pitchFamily="34" charset="0"/>
                        </a:rPr>
                        <a:t> Dasar. </a:t>
                      </a:r>
                    </a:p>
                    <a:p>
                      <a:pPr marL="214313" indent="0" algn="just">
                        <a:buFont typeface="+mj-lt"/>
                        <a:buNone/>
                      </a:pPr>
                      <a:endParaRPr lang="en-US" sz="1200" b="0" i="0" strike="noStrike">
                        <a:latin typeface="Aptos" panose="020B0004020202020204" pitchFamily="34" charset="0"/>
                      </a:endParaRPr>
                    </a:p>
                    <a:p>
                      <a:pPr marL="228600" indent="-228600" algn="just">
                        <a:buFont typeface="+mj-lt"/>
                        <a:buAutoNum type="arabicPeriod" startAt="2"/>
                      </a:pPr>
                      <a:r>
                        <a:rPr lang="en-US" sz="1200" b="0" i="0" strike="noStrike" err="1">
                          <a:latin typeface="Aptos" panose="020B0004020202020204" pitchFamily="34" charset="0"/>
                        </a:rPr>
                        <a:t>Asuransi</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Waiver of Premium Plus</a:t>
                      </a:r>
                    </a:p>
                    <a:p>
                      <a:pPr marL="442913" indent="-228600" algn="just">
                        <a:buFont typeface="+mj-lt"/>
                        <a:buAutoNum type="alphaLcPeriod"/>
                      </a:pPr>
                      <a:r>
                        <a:rPr lang="en-US" sz="1200" b="0" i="0" strike="noStrike">
                          <a:latin typeface="Aptos" panose="020B0004020202020204" pitchFamily="34" charset="0"/>
                        </a:rPr>
                        <a:t>Manfaat yang </a:t>
                      </a:r>
                      <a:r>
                        <a:rPr lang="en-US" sz="1200" b="0" i="0" strike="noStrike" err="1">
                          <a:latin typeface="Aptos" panose="020B0004020202020204" pitchFamily="34" charset="0"/>
                        </a:rPr>
                        <a:t>didapatkan</a:t>
                      </a:r>
                      <a:r>
                        <a:rPr lang="en-US" sz="1200" b="0" i="0" strike="noStrike">
                          <a:latin typeface="Aptos" panose="020B0004020202020204" pitchFamily="34" charset="0"/>
                        </a:rPr>
                        <a:t> </a:t>
                      </a:r>
                      <a:r>
                        <a:rPr lang="en-US" sz="1200" b="0" i="0" strike="noStrike" err="1">
                          <a:latin typeface="Aptos" panose="020B0004020202020204" pitchFamily="34" charset="0"/>
                        </a:rPr>
                        <a:t>berupa</a:t>
                      </a:r>
                      <a:r>
                        <a:rPr lang="en-US" sz="1200" b="0" i="0" strike="noStrike">
                          <a:latin typeface="Aptos" panose="020B0004020202020204" pitchFamily="34" charset="0"/>
                        </a:rPr>
                        <a:t> </a:t>
                      </a:r>
                      <a:r>
                        <a:rPr lang="en-US" sz="1200" b="0" i="0" strike="noStrike" err="1">
                          <a:latin typeface="Aptos" panose="020B0004020202020204" pitchFamily="34" charset="0"/>
                        </a:rPr>
                        <a:t>pembebasan</a:t>
                      </a:r>
                      <a:r>
                        <a:rPr lang="en-US" sz="1200" b="0" i="0" strike="noStrike">
                          <a:latin typeface="Aptos" panose="020B0004020202020204" pitchFamily="34" charset="0"/>
                        </a:rPr>
                        <a:t> Premi </a:t>
                      </a:r>
                      <a:r>
                        <a:rPr lang="en-US" sz="1200" b="0" i="0" strike="noStrike" err="1">
                          <a:latin typeface="Aptos" panose="020B0004020202020204" pitchFamily="34" charset="0"/>
                        </a:rPr>
                        <a:t>jika</a:t>
                      </a:r>
                      <a:r>
                        <a:rPr lang="en-US" sz="1200" b="0" i="0" strike="noStrike">
                          <a:latin typeface="Aptos" panose="020B0004020202020204" pitchFamily="34" charset="0"/>
                        </a:rPr>
                        <a:t> </a:t>
                      </a:r>
                      <a:r>
                        <a:rPr lang="en-US" sz="1200" b="0" i="0" strike="noStrike" err="1">
                          <a:latin typeface="Aptos" panose="020B0004020202020204" pitchFamily="34" charset="0"/>
                        </a:rPr>
                        <a:t>Tertanggung</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a:t>
                      </a:r>
                      <a:r>
                        <a:rPr lang="en-US" sz="1200" b="0" i="0" strike="noStrike" err="1">
                          <a:latin typeface="Aptos" panose="020B0004020202020204" pitchFamily="34" charset="0"/>
                        </a:rPr>
                        <a:t>mengalami</a:t>
                      </a:r>
                      <a:r>
                        <a:rPr lang="en-US" sz="1200" b="0" i="0" strike="noStrike">
                          <a:latin typeface="Aptos" panose="020B0004020202020204" pitchFamily="34" charset="0"/>
                        </a:rPr>
                        <a:t> </a:t>
                      </a:r>
                      <a:r>
                        <a:rPr lang="en-US" sz="1200" b="0" i="0" strike="noStrike" err="1">
                          <a:latin typeface="Aptos" panose="020B0004020202020204" pitchFamily="34" charset="0"/>
                        </a:rPr>
                        <a:t>Ketidakmampuan</a:t>
                      </a:r>
                      <a:r>
                        <a:rPr lang="en-US" sz="1200" b="0" i="0" strike="noStrike">
                          <a:latin typeface="Aptos" panose="020B0004020202020204" pitchFamily="34" charset="0"/>
                        </a:rPr>
                        <a:t> </a:t>
                      </a:r>
                      <a:r>
                        <a:rPr lang="en-US" sz="1200" b="0" i="0" strike="noStrike" err="1">
                          <a:latin typeface="Aptos" panose="020B0004020202020204" pitchFamily="34" charset="0"/>
                        </a:rPr>
                        <a:t>Tetap</a:t>
                      </a:r>
                      <a:r>
                        <a:rPr lang="en-US" sz="1200" b="0" i="0" strike="noStrike">
                          <a:latin typeface="Aptos" panose="020B0004020202020204" pitchFamily="34" charset="0"/>
                        </a:rPr>
                        <a:t> Total.</a:t>
                      </a:r>
                    </a:p>
                    <a:p>
                      <a:pPr marL="442913" indent="-228600" algn="just">
                        <a:buFont typeface="+mj-lt"/>
                        <a:buAutoNum type="alphaLcPeriod"/>
                      </a:pPr>
                      <a:r>
                        <a:rPr lang="en-US" sz="1200" b="0" i="0" strike="noStrike" err="1">
                          <a:latin typeface="Aptos" panose="020B0004020202020204" pitchFamily="34" charset="0"/>
                        </a:rPr>
                        <a:t>Tertanggung</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a:t>
                      </a:r>
                      <a:r>
                        <a:rPr lang="en-US" sz="1200" b="0" i="0" strike="noStrike" err="1">
                          <a:latin typeface="Aptos" panose="020B0004020202020204" pitchFamily="34" charset="0"/>
                        </a:rPr>
                        <a:t>dalam</a:t>
                      </a:r>
                      <a:r>
                        <a:rPr lang="en-US" sz="1200" b="0" i="0" strike="noStrike">
                          <a:latin typeface="Aptos" panose="020B0004020202020204" pitchFamily="34" charset="0"/>
                        </a:rPr>
                        <a:t> </a:t>
                      </a:r>
                      <a:r>
                        <a:rPr lang="en-US" sz="1200" b="0" i="0" strike="noStrike" err="1">
                          <a:latin typeface="Aptos" panose="020B0004020202020204" pitchFamily="34" charset="0"/>
                        </a:rPr>
                        <a:t>Asuransi</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Waiver of Premium Plus </a:t>
                      </a:r>
                      <a:r>
                        <a:rPr lang="en-US" sz="1200" b="0" i="0" strike="noStrike" err="1">
                          <a:latin typeface="Aptos" panose="020B0004020202020204" pitchFamily="34" charset="0"/>
                        </a:rPr>
                        <a:t>adalah</a:t>
                      </a:r>
                      <a:r>
                        <a:rPr lang="en-US" sz="1200" b="0" i="0" strike="noStrike">
                          <a:latin typeface="Aptos" panose="020B0004020202020204" pitchFamily="34" charset="0"/>
                        </a:rPr>
                        <a:t> </a:t>
                      </a:r>
                      <a:r>
                        <a:rPr lang="en-US" sz="1200" b="0" i="0" strike="noStrike" err="1">
                          <a:latin typeface="Aptos" panose="020B0004020202020204" pitchFamily="34" charset="0"/>
                        </a:rPr>
                        <a:t>Pemegang</a:t>
                      </a:r>
                      <a:r>
                        <a:rPr lang="en-US" sz="1200" b="0" i="0" strike="noStrike">
                          <a:latin typeface="Aptos" panose="020B0004020202020204" pitchFamily="34" charset="0"/>
                        </a:rPr>
                        <a:t> Polis </a:t>
                      </a:r>
                      <a:r>
                        <a:rPr lang="en-US" sz="1200" b="0" i="0" strike="noStrike" err="1">
                          <a:latin typeface="Aptos" panose="020B0004020202020204" pitchFamily="34" charset="0"/>
                        </a:rPr>
                        <a:t>Asuransi</a:t>
                      </a:r>
                      <a:r>
                        <a:rPr lang="en-US" sz="1200" b="0" i="0" strike="noStrike">
                          <a:latin typeface="Aptos" panose="020B0004020202020204" pitchFamily="34" charset="0"/>
                        </a:rPr>
                        <a:t> Dasar yang </a:t>
                      </a:r>
                      <a:r>
                        <a:rPr lang="en-US" sz="1200" b="0" i="0" strike="noStrike" err="1">
                          <a:latin typeface="Aptos" panose="020B0004020202020204" pitchFamily="34" charset="0"/>
                        </a:rPr>
                        <a:t>merupakan</a:t>
                      </a:r>
                      <a:r>
                        <a:rPr lang="en-US" sz="1200" b="0" i="0" strike="noStrike">
                          <a:latin typeface="Aptos" panose="020B0004020202020204" pitchFamily="34" charset="0"/>
                        </a:rPr>
                        <a:t> </a:t>
                      </a:r>
                      <a:r>
                        <a:rPr lang="en-US" sz="1200" b="0" i="0" strike="noStrike" err="1">
                          <a:latin typeface="Aptos" panose="020B0004020202020204" pitchFamily="34" charset="0"/>
                        </a:rPr>
                        <a:t>Tertanggung</a:t>
                      </a:r>
                      <a:r>
                        <a:rPr lang="en-US" sz="1200" b="0" i="0" strike="noStrike">
                          <a:latin typeface="Aptos" panose="020B0004020202020204" pitchFamily="34" charset="0"/>
                        </a:rPr>
                        <a:t> pada </a:t>
                      </a:r>
                      <a:r>
                        <a:rPr lang="en-US" sz="1200" b="0" i="0" strike="noStrike" err="1">
                          <a:latin typeface="Aptos" panose="020B0004020202020204" pitchFamily="34" charset="0"/>
                        </a:rPr>
                        <a:t>Asuransi</a:t>
                      </a:r>
                      <a:r>
                        <a:rPr lang="en-US" sz="1200" b="0" i="0" strike="noStrike">
                          <a:latin typeface="Aptos" panose="020B0004020202020204" pitchFamily="34" charset="0"/>
                        </a:rPr>
                        <a:t> Dasar. </a:t>
                      </a:r>
                    </a:p>
                    <a:p>
                      <a:pPr marL="0" indent="0" algn="just">
                        <a:buFont typeface="+mj-lt"/>
                        <a:buNone/>
                      </a:pPr>
                      <a:endParaRPr lang="en-US" sz="1200" b="0" i="0" strike="noStrike">
                        <a:latin typeface="Aptos" panose="020B0004020202020204" pitchFamily="34" charset="0"/>
                      </a:endParaRPr>
                    </a:p>
                    <a:p>
                      <a:pPr marL="228600" indent="-228600" algn="just">
                        <a:buFont typeface="+mj-lt"/>
                        <a:buAutoNum type="arabicPeriod" startAt="3"/>
                      </a:pPr>
                      <a:r>
                        <a:rPr lang="en-US" sz="1200" b="0" i="0" strike="noStrike" err="1">
                          <a:latin typeface="Aptos" panose="020B0004020202020204" pitchFamily="34" charset="0"/>
                        </a:rPr>
                        <a:t>Asuransi</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Term Life</a:t>
                      </a:r>
                    </a:p>
                    <a:p>
                      <a:pPr marL="457200" indent="-228600" algn="just">
                        <a:buFont typeface="+mj-lt"/>
                        <a:buAutoNum type="alphaLcPeriod"/>
                      </a:pPr>
                      <a:r>
                        <a:rPr lang="en-US" sz="1200" b="0" i="0" strike="noStrike">
                          <a:latin typeface="Aptos" panose="020B0004020202020204" pitchFamily="34" charset="0"/>
                        </a:rPr>
                        <a:t>Manfaat yang </a:t>
                      </a:r>
                      <a:r>
                        <a:rPr lang="en-US" sz="1200" b="0" i="0" strike="noStrike" err="1">
                          <a:latin typeface="Aptos" panose="020B0004020202020204" pitchFamily="34" charset="0"/>
                        </a:rPr>
                        <a:t>didapatkan</a:t>
                      </a:r>
                      <a:r>
                        <a:rPr lang="en-US" sz="1200" b="0" i="0" strike="noStrike">
                          <a:latin typeface="Aptos" panose="020B0004020202020204" pitchFamily="34" charset="0"/>
                        </a:rPr>
                        <a:t> </a:t>
                      </a:r>
                      <a:r>
                        <a:rPr lang="en-US" sz="1200" b="0" i="0" strike="noStrike" err="1">
                          <a:latin typeface="Aptos" panose="020B0004020202020204" pitchFamily="34" charset="0"/>
                        </a:rPr>
                        <a:t>berupa</a:t>
                      </a:r>
                      <a:r>
                        <a:rPr lang="en-US" sz="1200" b="0" i="0" strike="noStrike">
                          <a:latin typeface="Aptos" panose="020B0004020202020204" pitchFamily="34" charset="0"/>
                        </a:rPr>
                        <a:t> Manfaat </a:t>
                      </a:r>
                      <a:r>
                        <a:rPr lang="en-US" sz="1200" b="0" i="0" strike="noStrike" err="1">
                          <a:latin typeface="Aptos" panose="020B0004020202020204" pitchFamily="34" charset="0"/>
                        </a:rPr>
                        <a:t>Meninggal</a:t>
                      </a:r>
                      <a:r>
                        <a:rPr lang="en-US" sz="1200" b="0" i="0" strike="noStrike">
                          <a:latin typeface="Aptos" panose="020B0004020202020204" pitchFamily="34" charset="0"/>
                        </a:rPr>
                        <a:t> Dunia </a:t>
                      </a:r>
                      <a:r>
                        <a:rPr lang="en-US" sz="1200" b="0" i="0" strike="noStrike" err="1">
                          <a:latin typeface="Aptos" panose="020B0004020202020204" pitchFamily="34" charset="0"/>
                        </a:rPr>
                        <a:t>sejumlah</a:t>
                      </a:r>
                      <a:r>
                        <a:rPr lang="en-US" sz="1200" b="0" i="0" strike="noStrike">
                          <a:latin typeface="Aptos" panose="020B0004020202020204" pitchFamily="34" charset="0"/>
                        </a:rPr>
                        <a:t> Uang </a:t>
                      </a:r>
                      <a:r>
                        <a:rPr lang="en-US" sz="1200" b="0" i="0" strike="noStrike" err="1">
                          <a:latin typeface="Aptos" panose="020B0004020202020204" pitchFamily="34" charset="0"/>
                        </a:rPr>
                        <a:t>Pertanggungan</a:t>
                      </a:r>
                      <a:r>
                        <a:rPr lang="en-US" sz="1200" b="0" i="0" strike="noStrike">
                          <a:latin typeface="Aptos" panose="020B0004020202020204" pitchFamily="34" charset="0"/>
                        </a:rPr>
                        <a:t> </a:t>
                      </a:r>
                      <a:r>
                        <a:rPr lang="en-US" sz="1200" b="0" i="0" strike="noStrike" err="1">
                          <a:latin typeface="Aptos" panose="020B0004020202020204" pitchFamily="34" charset="0"/>
                        </a:rPr>
                        <a:t>jika</a:t>
                      </a:r>
                      <a:r>
                        <a:rPr lang="en-US" sz="1200" b="0" i="0" strike="noStrike">
                          <a:latin typeface="Aptos" panose="020B0004020202020204" pitchFamily="34" charset="0"/>
                        </a:rPr>
                        <a:t> </a:t>
                      </a:r>
                      <a:r>
                        <a:rPr lang="en-US" sz="1200" b="0" i="0" strike="noStrike" err="1">
                          <a:latin typeface="Aptos" panose="020B0004020202020204" pitchFamily="34" charset="0"/>
                        </a:rPr>
                        <a:t>Tertanggung</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a:t>
                      </a:r>
                      <a:r>
                        <a:rPr lang="en-US" sz="1200" b="0" i="0" strike="noStrike" err="1">
                          <a:latin typeface="Aptos" panose="020B0004020202020204" pitchFamily="34" charset="0"/>
                        </a:rPr>
                        <a:t>Meninggal</a:t>
                      </a:r>
                      <a:r>
                        <a:rPr lang="en-US" sz="1200" b="0" i="0" strike="noStrike">
                          <a:latin typeface="Aptos" panose="020B0004020202020204" pitchFamily="34" charset="0"/>
                        </a:rPr>
                        <a:t> Dunia.</a:t>
                      </a:r>
                    </a:p>
                    <a:p>
                      <a:pPr marL="457200" indent="-228600" algn="just">
                        <a:buFont typeface="+mj-lt"/>
                        <a:buAutoNum type="alphaLcPeriod"/>
                      </a:pPr>
                      <a:r>
                        <a:rPr lang="en-US" sz="1200" b="0" i="0" strike="noStrike" err="1">
                          <a:latin typeface="Aptos" panose="020B0004020202020204" pitchFamily="34" charset="0"/>
                        </a:rPr>
                        <a:t>Tertanggung</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a:t>
                      </a:r>
                      <a:r>
                        <a:rPr lang="en-US" sz="1200" b="0" i="0" strike="noStrike" err="1">
                          <a:latin typeface="Aptos" panose="020B0004020202020204" pitchFamily="34" charset="0"/>
                        </a:rPr>
                        <a:t>dalam</a:t>
                      </a:r>
                      <a:r>
                        <a:rPr lang="en-US" sz="1200" b="0" i="0" strike="noStrike">
                          <a:latin typeface="Aptos" panose="020B0004020202020204" pitchFamily="34" charset="0"/>
                        </a:rPr>
                        <a:t> </a:t>
                      </a:r>
                      <a:r>
                        <a:rPr lang="en-US" sz="1200" b="0" i="0" strike="noStrike" err="1">
                          <a:latin typeface="Aptos" panose="020B0004020202020204" pitchFamily="34" charset="0"/>
                        </a:rPr>
                        <a:t>Asuransi</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Term Life </a:t>
                      </a:r>
                      <a:r>
                        <a:rPr lang="en-US" sz="1200" b="0" i="0" strike="noStrike" err="1">
                          <a:latin typeface="Aptos" panose="020B0004020202020204" pitchFamily="34" charset="0"/>
                        </a:rPr>
                        <a:t>adalah</a:t>
                      </a:r>
                      <a:r>
                        <a:rPr lang="en-US" sz="1200" b="0" i="0" strike="noStrike">
                          <a:latin typeface="Aptos" panose="020B0004020202020204" pitchFamily="34" charset="0"/>
                        </a:rPr>
                        <a:t> </a:t>
                      </a:r>
                      <a:r>
                        <a:rPr lang="en-US" sz="1200" b="0" i="0" strike="noStrike" err="1">
                          <a:latin typeface="Aptos" panose="020B0004020202020204" pitchFamily="34" charset="0"/>
                        </a:rPr>
                        <a:t>Tertanggung</a:t>
                      </a:r>
                      <a:r>
                        <a:rPr lang="en-US" sz="1200" b="0" i="0" strike="noStrike">
                          <a:latin typeface="Aptos" panose="020B0004020202020204" pitchFamily="34" charset="0"/>
                        </a:rPr>
                        <a:t> pada </a:t>
                      </a:r>
                      <a:r>
                        <a:rPr lang="en-US" sz="1200" b="0" i="0" strike="noStrike" err="1">
                          <a:latin typeface="Aptos" panose="020B0004020202020204" pitchFamily="34" charset="0"/>
                        </a:rPr>
                        <a:t>Asuransi</a:t>
                      </a:r>
                      <a:r>
                        <a:rPr lang="en-US" sz="1200" b="0" i="0" strike="noStrike">
                          <a:latin typeface="Aptos" panose="020B0004020202020204" pitchFamily="34" charset="0"/>
                        </a:rPr>
                        <a:t> Dasar.</a:t>
                      </a:r>
                    </a:p>
                    <a:p>
                      <a:pPr marL="228600" indent="-228600" algn="just">
                        <a:buFont typeface="+mj-lt"/>
                        <a:buAutoNum type="arabicPeriod" startAt="3"/>
                      </a:pPr>
                      <a:endParaRPr lang="en-US" sz="1200" b="0" i="0" strike="noStrike">
                        <a:latin typeface="Aptos" panose="020B0004020202020204" pitchFamily="34" charset="0"/>
                      </a:endParaRPr>
                    </a:p>
                    <a:p>
                      <a:pPr marL="228600" indent="-228600" algn="just">
                        <a:buFont typeface="+mj-lt"/>
                        <a:buAutoNum type="arabicPeriod" startAt="4"/>
                      </a:pPr>
                      <a:r>
                        <a:rPr lang="en-US" sz="1200" b="0" i="0" strike="noStrike" err="1">
                          <a:latin typeface="Aptos" panose="020B0004020202020204" pitchFamily="34" charset="0"/>
                        </a:rPr>
                        <a:t>Asuransi</a:t>
                      </a:r>
                      <a:r>
                        <a:rPr lang="en-US" sz="1200" b="0" i="0" strike="noStrike">
                          <a:latin typeface="Aptos" panose="020B0004020202020204" pitchFamily="34" charset="0"/>
                        </a:rPr>
                        <a:t> </a:t>
                      </a:r>
                      <a:r>
                        <a:rPr lang="en-US" sz="1200" b="0" i="0" strike="noStrike" err="1">
                          <a:latin typeface="Aptos" panose="020B0004020202020204" pitchFamily="34" charset="0"/>
                        </a:rPr>
                        <a:t>Tambahan</a:t>
                      </a:r>
                      <a:r>
                        <a:rPr lang="en-US" sz="1200" b="0" i="0" strike="noStrike">
                          <a:latin typeface="Aptos" panose="020B0004020202020204" pitchFamily="34" charset="0"/>
                        </a:rPr>
                        <a:t> ini </a:t>
                      </a:r>
                      <a:r>
                        <a:rPr lang="en-US" sz="1200" b="0" i="0" strike="noStrike" err="1">
                          <a:latin typeface="Aptos" panose="020B0004020202020204" pitchFamily="34" charset="0"/>
                        </a:rPr>
                        <a:t>bersifat</a:t>
                      </a:r>
                      <a:r>
                        <a:rPr lang="en-US" sz="1200" b="0" i="0" strike="noStrike">
                          <a:latin typeface="Aptos" panose="020B0004020202020204" pitchFamily="34" charset="0"/>
                        </a:rPr>
                        <a:t> </a:t>
                      </a:r>
                      <a:r>
                        <a:rPr lang="en-US" sz="1200" b="0" i="0" strike="noStrike" err="1">
                          <a:latin typeface="Aptos" panose="020B0004020202020204" pitchFamily="34" charset="0"/>
                        </a:rPr>
                        <a:t>opsional</a:t>
                      </a:r>
                      <a:r>
                        <a:rPr lang="en-US" sz="1200" b="0" i="0" strike="noStrike">
                          <a:latin typeface="Aptos" panose="020B0004020202020204" pitchFamily="34" charset="0"/>
                        </a:rPr>
                        <a:t> dan </a:t>
                      </a:r>
                      <a:r>
                        <a:rPr lang="en-US" sz="1200" b="0" i="0" strike="noStrike" err="1">
                          <a:latin typeface="Aptos" panose="020B0004020202020204" pitchFamily="34" charset="0"/>
                        </a:rPr>
                        <a:t>dapat</a:t>
                      </a:r>
                      <a:r>
                        <a:rPr lang="en-US" sz="1200" b="0" i="0" strike="noStrike">
                          <a:latin typeface="Aptos" panose="020B0004020202020204" pitchFamily="34" charset="0"/>
                        </a:rPr>
                        <a:t> </a:t>
                      </a:r>
                      <a:r>
                        <a:rPr lang="en-US" sz="1200" b="0" i="0" strike="noStrike" err="1">
                          <a:latin typeface="Aptos" panose="020B0004020202020204" pitchFamily="34" charset="0"/>
                        </a:rPr>
                        <a:t>dipilih</a:t>
                      </a:r>
                      <a:r>
                        <a:rPr lang="en-US" sz="1200" b="0" i="0" strike="noStrike">
                          <a:latin typeface="Aptos" panose="020B0004020202020204" pitchFamily="34" charset="0"/>
                        </a:rPr>
                        <a:t> pada </a:t>
                      </a:r>
                      <a:r>
                        <a:rPr lang="en-US" sz="1200" b="0" i="0" strike="noStrike" err="1">
                          <a:latin typeface="Aptos" panose="020B0004020202020204" pitchFamily="34" charset="0"/>
                        </a:rPr>
                        <a:t>saat</a:t>
                      </a:r>
                      <a:r>
                        <a:rPr lang="en-US" sz="1200" b="0" i="0" strike="noStrike">
                          <a:latin typeface="Aptos" panose="020B0004020202020204" pitchFamily="34" charset="0"/>
                        </a:rPr>
                        <a:t> </a:t>
                      </a:r>
                      <a:r>
                        <a:rPr lang="en-US" sz="1200" b="0" i="0" strike="noStrike" err="1">
                          <a:latin typeface="Aptos" panose="020B0004020202020204" pitchFamily="34" charset="0"/>
                        </a:rPr>
                        <a:t>pengajuan</a:t>
                      </a:r>
                      <a:r>
                        <a:rPr lang="en-US" sz="1200" b="0" i="0" strike="noStrike">
                          <a:latin typeface="Aptos" panose="020B0004020202020204" pitchFamily="34" charset="0"/>
                        </a:rPr>
                        <a:t> </a:t>
                      </a:r>
                      <a:r>
                        <a:rPr lang="en-US" sz="1200" b="0" i="0" strike="noStrike" err="1">
                          <a:latin typeface="Aptos" panose="020B0004020202020204" pitchFamily="34" charset="0"/>
                        </a:rPr>
                        <a:t>asuransi</a:t>
                      </a:r>
                      <a:r>
                        <a:rPr lang="en-US" sz="1200" b="0" i="0" strike="noStrike">
                          <a:latin typeface="Aptos" panose="020B0004020202020204" pitchFamily="34" charset="0"/>
                        </a:rPr>
                        <a:t>.</a:t>
                      </a:r>
                      <a:r>
                        <a:rPr lang="en-US" sz="1200" b="0" i="0" strike="sngStrike">
                          <a:solidFill>
                            <a:srgbClr val="FF0000"/>
                          </a:solidFill>
                          <a:latin typeface="Aptos" panose="020B0004020202020204" pitchFamily="34" charset="0"/>
                        </a:rPr>
                        <a:t>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85428374"/>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Kepesertaan</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342900" marR="0" indent="-342900" algn="just">
                        <a:lnSpc>
                          <a:spcPct val="100000"/>
                        </a:lnSpc>
                        <a:spcAft>
                          <a:spcPts val="0"/>
                        </a:spcAft>
                        <a:buAutoNum type="arabicPeriod"/>
                      </a:pPr>
                      <a:r>
                        <a:rPr lang="en-US" sz="1200" err="1">
                          <a:effectLst/>
                          <a:latin typeface="Aptos" panose="020B0004020202020204" pitchFamily="34" charset="0"/>
                          <a:ea typeface="Calibri" panose="020F0502020204030204" pitchFamily="34" charset="0"/>
                          <a:cs typeface="Times New Roman" panose="02020603050405020304" pitchFamily="18" charset="0"/>
                        </a:rPr>
                        <a:t>Pemegang</a:t>
                      </a:r>
                      <a:r>
                        <a:rPr lang="en-US" sz="1200">
                          <a:effectLst/>
                          <a:latin typeface="Aptos" panose="020B0004020202020204" pitchFamily="34" charset="0"/>
                          <a:ea typeface="Calibri" panose="020F0502020204030204" pitchFamily="34" charset="0"/>
                          <a:cs typeface="Times New Roman" panose="02020603050405020304" pitchFamily="18" charset="0"/>
                        </a:rPr>
                        <a:t> Polis </a:t>
                      </a:r>
                      <a:r>
                        <a:rPr lang="en-US" sz="1200" err="1">
                          <a:effectLst/>
                          <a:latin typeface="Aptos" panose="020B0004020202020204" pitchFamily="34" charset="0"/>
                          <a:ea typeface="Calibri" panose="020F0502020204030204" pitchFamily="34" charset="0"/>
                          <a:cs typeface="Times New Roman" panose="02020603050405020304" pitchFamily="18" charset="0"/>
                        </a:rPr>
                        <a:t>tidak</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diwajibkan</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menjadi</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Tertanggung</a:t>
                      </a:r>
                      <a:r>
                        <a:rPr lang="en-US" sz="1200">
                          <a:effectLst/>
                          <a:latin typeface="Aptos" panose="020B0004020202020204" pitchFamily="34" charset="0"/>
                          <a:ea typeface="Calibri" panose="020F0502020204030204" pitchFamily="34" charset="0"/>
                          <a:cs typeface="Times New Roman" panose="02020603050405020304" pitchFamily="18" charset="0"/>
                        </a:rPr>
                        <a:t>.</a:t>
                      </a:r>
                    </a:p>
                    <a:p>
                      <a:pPr marL="342900" marR="0" indent="-342900" algn="just">
                        <a:lnSpc>
                          <a:spcPct val="100000"/>
                        </a:lnSpc>
                        <a:spcAft>
                          <a:spcPts val="0"/>
                        </a:spcAft>
                        <a:buAutoNum type="arabicPeriod"/>
                      </a:pPr>
                      <a:r>
                        <a:rPr lang="en-US" sz="1200" err="1">
                          <a:effectLst/>
                          <a:latin typeface="Aptos" panose="020B0004020202020204" pitchFamily="34" charset="0"/>
                          <a:ea typeface="Calibri" panose="020F0502020204030204" pitchFamily="34" charset="0"/>
                          <a:cs typeface="Times New Roman" panose="02020603050405020304" pitchFamily="18" charset="0"/>
                        </a:rPr>
                        <a:t>Tertanggung</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dapat</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merupakan</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Pemegang</a:t>
                      </a:r>
                      <a:r>
                        <a:rPr lang="en-US" sz="1200">
                          <a:effectLst/>
                          <a:latin typeface="Aptos" panose="020B0004020202020204" pitchFamily="34" charset="0"/>
                          <a:ea typeface="Calibri" panose="020F0502020204030204" pitchFamily="34" charset="0"/>
                          <a:cs typeface="Times New Roman" panose="02020603050405020304" pitchFamily="18" charset="0"/>
                        </a:rPr>
                        <a:t> Polis </a:t>
                      </a:r>
                      <a:r>
                        <a:rPr lang="en-US" sz="1200" err="1">
                          <a:effectLst/>
                          <a:latin typeface="Aptos" panose="020B0004020202020204" pitchFamily="34" charset="0"/>
                          <a:ea typeface="Calibri" panose="020F0502020204030204" pitchFamily="34" charset="0"/>
                          <a:cs typeface="Times New Roman" panose="02020603050405020304" pitchFamily="18" charset="0"/>
                        </a:rPr>
                        <a:t>atau</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individu</a:t>
                      </a:r>
                      <a:r>
                        <a:rPr lang="en-US" sz="1200">
                          <a:effectLst/>
                          <a:latin typeface="Aptos" panose="020B0004020202020204" pitchFamily="34" charset="0"/>
                          <a:ea typeface="Calibri" panose="020F0502020204030204" pitchFamily="34" charset="0"/>
                          <a:cs typeface="Times New Roman" panose="02020603050405020304" pitchFamily="18" charset="0"/>
                        </a:rPr>
                        <a:t> yang </a:t>
                      </a:r>
                      <a:r>
                        <a:rPr lang="en-US" sz="1200" err="1">
                          <a:effectLst/>
                          <a:latin typeface="Aptos" panose="020B0004020202020204" pitchFamily="34" charset="0"/>
                          <a:ea typeface="Calibri" panose="020F0502020204030204" pitchFamily="34" charset="0"/>
                          <a:cs typeface="Times New Roman" panose="02020603050405020304" pitchFamily="18" charset="0"/>
                        </a:rPr>
                        <a:t>memiliki</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Kepentingan</a:t>
                      </a:r>
                      <a:r>
                        <a:rPr lang="en-US" sz="1200">
                          <a:effectLst/>
                          <a:latin typeface="Aptos" panose="020B0004020202020204" pitchFamily="34" charset="0"/>
                          <a:ea typeface="Calibri" panose="020F0502020204030204" pitchFamily="34" charset="0"/>
                          <a:cs typeface="Times New Roman" panose="02020603050405020304" pitchFamily="18" charset="0"/>
                        </a:rPr>
                        <a:t> Yang </a:t>
                      </a:r>
                      <a:r>
                        <a:rPr lang="en-US" sz="1200" err="1">
                          <a:effectLst/>
                          <a:latin typeface="Aptos" panose="020B0004020202020204" pitchFamily="34" charset="0"/>
                          <a:ea typeface="Calibri" panose="020F0502020204030204" pitchFamily="34" charset="0"/>
                          <a:cs typeface="Times New Roman" panose="02020603050405020304" pitchFamily="18" charset="0"/>
                        </a:rPr>
                        <a:t>Dipertanggungkan</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i="1">
                          <a:effectLst/>
                          <a:latin typeface="Aptos" panose="020B0004020202020204" pitchFamily="34" charset="0"/>
                          <a:ea typeface="Calibri" panose="020F0502020204030204" pitchFamily="34" charset="0"/>
                          <a:cs typeface="Times New Roman" panose="02020603050405020304" pitchFamily="18" charset="0"/>
                        </a:rPr>
                        <a:t>(Insurable Interest) </a:t>
                      </a:r>
                      <a:r>
                        <a:rPr lang="en-US" sz="1200" i="0" err="1">
                          <a:effectLst/>
                          <a:latin typeface="Aptos" panose="020B0004020202020204" pitchFamily="34" charset="0"/>
                          <a:ea typeface="Calibri" panose="020F0502020204030204" pitchFamily="34" charset="0"/>
                          <a:cs typeface="Times New Roman" panose="02020603050405020304" pitchFamily="18" charset="0"/>
                        </a:rPr>
                        <a:t>dengan</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Pemegang</a:t>
                      </a:r>
                      <a:r>
                        <a:rPr lang="en-US" sz="1200" i="0">
                          <a:effectLst/>
                          <a:latin typeface="Aptos" panose="020B0004020202020204" pitchFamily="34" charset="0"/>
                          <a:ea typeface="Calibri" panose="020F0502020204030204" pitchFamily="34" charset="0"/>
                          <a:cs typeface="Times New Roman" panose="02020603050405020304" pitchFamily="18" charset="0"/>
                        </a:rPr>
                        <a:t> Polis dan </a:t>
                      </a:r>
                      <a:r>
                        <a:rPr lang="en-US" sz="1200" i="0" err="1">
                          <a:effectLst/>
                          <a:latin typeface="Aptos" panose="020B0004020202020204" pitchFamily="34" charset="0"/>
                          <a:ea typeface="Calibri" panose="020F0502020204030204" pitchFamily="34" charset="0"/>
                          <a:cs typeface="Times New Roman" panose="02020603050405020304" pitchFamily="18" charset="0"/>
                        </a:rPr>
                        <a:t>merujuk</a:t>
                      </a:r>
                      <a:r>
                        <a:rPr lang="en-US" sz="1200" i="0">
                          <a:effectLst/>
                          <a:latin typeface="Aptos" panose="020B0004020202020204" pitchFamily="34" charset="0"/>
                          <a:ea typeface="Calibri" panose="020F0502020204030204" pitchFamily="34" charset="0"/>
                          <a:cs typeface="Times New Roman" panose="02020603050405020304" pitchFamily="18" charset="0"/>
                        </a:rPr>
                        <a:t> pada </a:t>
                      </a:r>
                      <a:r>
                        <a:rPr lang="en-US" sz="1200" i="0" err="1">
                          <a:effectLst/>
                          <a:latin typeface="Aptos" panose="020B0004020202020204" pitchFamily="34" charset="0"/>
                          <a:ea typeface="Calibri" panose="020F0502020204030204" pitchFamily="34" charset="0"/>
                          <a:cs typeface="Times New Roman" panose="02020603050405020304" pitchFamily="18" charset="0"/>
                        </a:rPr>
                        <a:t>ketentuan</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hukum</a:t>
                      </a:r>
                      <a:r>
                        <a:rPr lang="en-US" sz="1200" i="0">
                          <a:effectLst/>
                          <a:latin typeface="Aptos" panose="020B0004020202020204" pitchFamily="34" charset="0"/>
                          <a:ea typeface="Calibri" panose="020F0502020204030204" pitchFamily="34" charset="0"/>
                          <a:cs typeface="Times New Roman" panose="02020603050405020304" pitchFamily="18" charset="0"/>
                        </a:rPr>
                        <a:t> yang </a:t>
                      </a:r>
                      <a:r>
                        <a:rPr lang="en-US" sz="1200" i="0" err="1">
                          <a:effectLst/>
                          <a:latin typeface="Aptos" panose="020B0004020202020204" pitchFamily="34" charset="0"/>
                          <a:ea typeface="Calibri" panose="020F0502020204030204" pitchFamily="34" charset="0"/>
                          <a:cs typeface="Times New Roman" panose="02020603050405020304" pitchFamily="18" charset="0"/>
                        </a:rPr>
                        <a:t>berlaku</a:t>
                      </a:r>
                      <a:r>
                        <a:rPr lang="en-US" sz="1200" i="0">
                          <a:effectLst/>
                          <a:latin typeface="Aptos" panose="020B0004020202020204" pitchFamily="34" charset="0"/>
                          <a:ea typeface="Calibri" panose="020F0502020204030204" pitchFamily="34" charset="0"/>
                          <a:cs typeface="Times New Roman" panose="02020603050405020304" pitchFamily="18" charset="0"/>
                        </a:rPr>
                        <a:t>. </a:t>
                      </a:r>
                    </a:p>
                    <a:p>
                      <a:pPr marL="342900" marR="0" indent="-342900" algn="just">
                        <a:lnSpc>
                          <a:spcPct val="100000"/>
                        </a:lnSpc>
                        <a:spcAft>
                          <a:spcPts val="0"/>
                        </a:spcAft>
                        <a:buAutoNum type="arabicPeriod"/>
                      </a:pPr>
                      <a:r>
                        <a:rPr lang="en-US" sz="1200" i="0">
                          <a:effectLst/>
                          <a:latin typeface="Aptos" panose="020B0004020202020204" pitchFamily="34" charset="0"/>
                          <a:ea typeface="Calibri" panose="020F0502020204030204" pitchFamily="34" charset="0"/>
                          <a:cs typeface="Times New Roman" panose="02020603050405020304" pitchFamily="18" charset="0"/>
                        </a:rPr>
                        <a:t>Segala </a:t>
                      </a:r>
                      <a:r>
                        <a:rPr lang="en-US" sz="1200" i="0" err="1">
                          <a:effectLst/>
                          <a:latin typeface="Aptos" panose="020B0004020202020204" pitchFamily="34" charset="0"/>
                          <a:ea typeface="Calibri" panose="020F0502020204030204" pitchFamily="34" charset="0"/>
                          <a:cs typeface="Times New Roman" panose="02020603050405020304" pitchFamily="18" charset="0"/>
                        </a:rPr>
                        <a:t>pelaksanaan</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hak</a:t>
                      </a:r>
                      <a:r>
                        <a:rPr lang="en-US" sz="1200" i="0">
                          <a:effectLst/>
                          <a:latin typeface="Aptos" panose="020B0004020202020204" pitchFamily="34" charset="0"/>
                          <a:ea typeface="Calibri" panose="020F0502020204030204" pitchFamily="34" charset="0"/>
                          <a:cs typeface="Times New Roman" panose="02020603050405020304" pitchFamily="18" charset="0"/>
                        </a:rPr>
                        <a:t> dan </a:t>
                      </a:r>
                      <a:r>
                        <a:rPr lang="en-US" sz="1200" i="0" err="1">
                          <a:effectLst/>
                          <a:latin typeface="Aptos" panose="020B0004020202020204" pitchFamily="34" charset="0"/>
                          <a:ea typeface="Calibri" panose="020F0502020204030204" pitchFamily="34" charset="0"/>
                          <a:cs typeface="Times New Roman" panose="02020603050405020304" pitchFamily="18" charset="0"/>
                        </a:rPr>
                        <a:t>kewajiban</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atas</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asuransi</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ini</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antara</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Penanggung</a:t>
                      </a:r>
                      <a:r>
                        <a:rPr lang="en-US" sz="1200" i="0">
                          <a:effectLst/>
                          <a:latin typeface="Aptos" panose="020B0004020202020204" pitchFamily="34" charset="0"/>
                          <a:ea typeface="Calibri" panose="020F0502020204030204" pitchFamily="34" charset="0"/>
                          <a:cs typeface="Times New Roman" panose="02020603050405020304" pitchFamily="18" charset="0"/>
                        </a:rPr>
                        <a:t> dan </a:t>
                      </a:r>
                      <a:r>
                        <a:rPr lang="en-US" sz="1200" i="0" err="1">
                          <a:effectLst/>
                          <a:latin typeface="Aptos" panose="020B0004020202020204" pitchFamily="34" charset="0"/>
                          <a:ea typeface="Calibri" panose="020F0502020204030204" pitchFamily="34" charset="0"/>
                          <a:cs typeface="Times New Roman" panose="02020603050405020304" pitchFamily="18" charset="0"/>
                        </a:rPr>
                        <a:t>Tertanggung</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dilakukan</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melalui</a:t>
                      </a:r>
                      <a:r>
                        <a:rPr lang="en-US" sz="1200" i="0">
                          <a:effectLst/>
                          <a:latin typeface="Aptos" panose="020B0004020202020204" pitchFamily="34" charset="0"/>
                          <a:ea typeface="Calibri" panose="020F0502020204030204" pitchFamily="34" charset="0"/>
                          <a:cs typeface="Times New Roman" panose="02020603050405020304" pitchFamily="18" charset="0"/>
                        </a:rPr>
                        <a:t> </a:t>
                      </a:r>
                      <a:r>
                        <a:rPr lang="en-US" sz="1200" i="0" err="1">
                          <a:effectLst/>
                          <a:latin typeface="Aptos" panose="020B0004020202020204" pitchFamily="34" charset="0"/>
                          <a:ea typeface="Calibri" panose="020F0502020204030204" pitchFamily="34" charset="0"/>
                          <a:cs typeface="Times New Roman" panose="02020603050405020304" pitchFamily="18" charset="0"/>
                        </a:rPr>
                        <a:t>Pemegang</a:t>
                      </a:r>
                      <a:r>
                        <a:rPr lang="en-US" sz="1200" i="0">
                          <a:effectLst/>
                          <a:latin typeface="Aptos" panose="020B0004020202020204" pitchFamily="34" charset="0"/>
                          <a:ea typeface="Calibri" panose="020F0502020204030204" pitchFamily="34" charset="0"/>
                          <a:cs typeface="Times New Roman" panose="02020603050405020304" pitchFamily="18" charset="0"/>
                        </a:rPr>
                        <a:t> Polis. </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2121138"/>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Wilayah </a:t>
                      </a:r>
                      <a:r>
                        <a:rPr lang="en-US" sz="1400" b="1" i="0" strike="noStrike" err="1">
                          <a:solidFill>
                            <a:schemeClr val="bg1"/>
                          </a:solidFill>
                          <a:latin typeface="Aptos" panose="020B0004020202020204" pitchFamily="34" charset="0"/>
                        </a:rPr>
                        <a:t>Pertanggungan</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just">
                        <a:lnSpc>
                          <a:spcPct val="107000"/>
                        </a:lnSpc>
                        <a:spcAft>
                          <a:spcPts val="80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Seluruh</a:t>
                      </a:r>
                      <a:r>
                        <a:rPr lang="en-US" sz="1200">
                          <a:effectLst/>
                          <a:latin typeface="Aptos" panose="020B0004020202020204" pitchFamily="34" charset="0"/>
                          <a:ea typeface="Calibri" panose="020F0502020204030204" pitchFamily="34" charset="0"/>
                          <a:cs typeface="Times New Roman" panose="02020603050405020304" pitchFamily="18" charset="0"/>
                        </a:rPr>
                        <a:t> dunia</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3025147"/>
                  </a:ext>
                </a:extLst>
              </a:tr>
            </a:tbl>
          </a:graphicData>
        </a:graphic>
      </p:graphicFrame>
      <p:sp>
        <p:nvSpPr>
          <p:cNvPr id="2" name="Title 1">
            <a:extLst>
              <a:ext uri="{FF2B5EF4-FFF2-40B4-BE49-F238E27FC236}">
                <a16:creationId xmlns:a16="http://schemas.microsoft.com/office/drawing/2014/main" id="{E1BD1452-A26B-6BEB-8567-0ACB8E6583B8}"/>
              </a:ext>
            </a:extLst>
          </p:cNvPr>
          <p:cNvSpPr>
            <a:spLocks noGrp="1"/>
          </p:cNvSpPr>
          <p:nvPr>
            <p:ph type="title" idx="4294967295"/>
          </p:nvPr>
        </p:nvSpPr>
        <p:spPr>
          <a:xfrm>
            <a:off x="2974975" y="236538"/>
            <a:ext cx="8901645" cy="620712"/>
          </a:xfrm>
        </p:spPr>
        <p:txBody>
          <a:bodyPr>
            <a:normAutofit/>
          </a:bodyPr>
          <a:lstStyle/>
          <a:p>
            <a:pPr algn="r"/>
            <a:r>
              <a:rPr lang="en-GB" sz="2400" b="1">
                <a:solidFill>
                  <a:srgbClr val="002060"/>
                </a:solidFill>
                <a:latin typeface="Aptos" panose="020B0004020202020204" pitchFamily="34" charset="0"/>
              </a:rPr>
              <a:t>FITUR PRODUK Value Income Assurance (VALUE+)</a:t>
            </a:r>
          </a:p>
        </p:txBody>
      </p:sp>
    </p:spTree>
    <p:extLst>
      <p:ext uri="{BB962C8B-B14F-4D97-AF65-F5344CB8AC3E}">
        <p14:creationId xmlns:p14="http://schemas.microsoft.com/office/powerpoint/2010/main" val="2837592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37DAC-70AE-FE39-24B0-DB79997A18C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05B6CCF-24D9-27B7-3A85-E049D1E16E18}"/>
              </a:ext>
            </a:extLst>
          </p:cNvPr>
          <p:cNvGraphicFramePr>
            <a:graphicFrameLocks noGrp="1"/>
          </p:cNvGraphicFramePr>
          <p:nvPr>
            <p:extLst>
              <p:ext uri="{D42A27DB-BD31-4B8C-83A1-F6EECF244321}">
                <p14:modId xmlns:p14="http://schemas.microsoft.com/office/powerpoint/2010/main" val="1020915180"/>
              </p:ext>
            </p:extLst>
          </p:nvPr>
        </p:nvGraphicFramePr>
        <p:xfrm>
          <a:off x="315380" y="475115"/>
          <a:ext cx="11561240" cy="6309868"/>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246161">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Pertanggungan</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just">
                        <a:lnSpc>
                          <a:spcPct val="107000"/>
                        </a:lnSpc>
                        <a:spcAft>
                          <a:spcPts val="800"/>
                        </a:spcAft>
                        <a:buNone/>
                      </a:pPr>
                      <a:r>
                        <a:rPr lang="en-US" sz="1200">
                          <a:effectLst/>
                          <a:latin typeface="Aptos" panose="020B0004020202020204" pitchFamily="34" charset="0"/>
                          <a:ea typeface="Calibri" panose="020F0502020204030204" pitchFamily="34" charset="0"/>
                          <a:cs typeface="Times New Roman" panose="02020603050405020304" pitchFamily="18" charset="0"/>
                        </a:rPr>
                        <a:t>20 </a:t>
                      </a:r>
                      <a:r>
                        <a:rPr lang="en-US" sz="1200" err="1">
                          <a:effectLst/>
                          <a:latin typeface="Aptos" panose="020B0004020202020204" pitchFamily="34" charset="0"/>
                          <a:ea typeface="Calibri" panose="020F0502020204030204" pitchFamily="34" charset="0"/>
                          <a:cs typeface="Times New Roman" panose="02020603050405020304" pitchFamily="18" charset="0"/>
                        </a:rPr>
                        <a:t>tahun</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51210829"/>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Usia</a:t>
                      </a:r>
                      <a:r>
                        <a:rPr lang="en-US" sz="1400" b="1" i="0" strike="noStrike">
                          <a:solidFill>
                            <a:schemeClr val="bg1"/>
                          </a:solidFill>
                          <a:latin typeface="Aptos" panose="020B0004020202020204" pitchFamily="34" charset="0"/>
                        </a:rPr>
                        <a:t> Masuk</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l">
                        <a:lnSpc>
                          <a:spcPct val="107000"/>
                        </a:lnSpc>
                        <a:spcAft>
                          <a:spcPts val="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Usia</a:t>
                      </a:r>
                      <a:r>
                        <a:rPr lang="en-US" sz="1200">
                          <a:effectLst/>
                          <a:latin typeface="Aptos" panose="020B0004020202020204" pitchFamily="34" charset="0"/>
                          <a:ea typeface="Calibri" panose="020F0502020204030204" pitchFamily="34" charset="0"/>
                          <a:cs typeface="Times New Roman" panose="02020603050405020304" pitchFamily="18" charset="0"/>
                        </a:rPr>
                        <a:t> masuk </a:t>
                      </a:r>
                      <a:r>
                        <a:rPr lang="en-US" sz="1200" err="1">
                          <a:effectLst/>
                          <a:latin typeface="Aptos" panose="020B0004020202020204" pitchFamily="34" charset="0"/>
                          <a:ea typeface="Calibri" panose="020F0502020204030204" pitchFamily="34" charset="0"/>
                          <a:cs typeface="Times New Roman" panose="02020603050405020304" pitchFamily="18" charset="0"/>
                        </a:rPr>
                        <a:t>Pemegang</a:t>
                      </a:r>
                      <a:r>
                        <a:rPr lang="en-US" sz="1200">
                          <a:effectLst/>
                          <a:latin typeface="Aptos" panose="020B0004020202020204" pitchFamily="34" charset="0"/>
                          <a:ea typeface="Calibri" panose="020F0502020204030204" pitchFamily="34" charset="0"/>
                          <a:cs typeface="Times New Roman" panose="02020603050405020304" pitchFamily="18" charset="0"/>
                        </a:rPr>
                        <a:t> Polis: minimum 21 tahun</a:t>
                      </a:r>
                    </a:p>
                    <a:p>
                      <a:pPr marL="0" marR="0" algn="l">
                        <a:lnSpc>
                          <a:spcPct val="107000"/>
                        </a:lnSpc>
                        <a:spcAft>
                          <a:spcPts val="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Usia</a:t>
                      </a:r>
                      <a:r>
                        <a:rPr lang="en-US" sz="1200">
                          <a:effectLst/>
                          <a:latin typeface="Aptos" panose="020B0004020202020204" pitchFamily="34" charset="0"/>
                          <a:ea typeface="Calibri" panose="020F0502020204030204" pitchFamily="34" charset="0"/>
                          <a:cs typeface="Times New Roman" panose="02020603050405020304" pitchFamily="18" charset="0"/>
                        </a:rPr>
                        <a:t> masuk </a:t>
                      </a:r>
                      <a:r>
                        <a:rPr lang="en-US" sz="1200" err="1">
                          <a:effectLst/>
                          <a:latin typeface="Aptos" panose="020B0004020202020204" pitchFamily="34" charset="0"/>
                          <a:ea typeface="Calibri" panose="020F0502020204030204" pitchFamily="34" charset="0"/>
                          <a:cs typeface="Times New Roman" panose="02020603050405020304" pitchFamily="18" charset="0"/>
                        </a:rPr>
                        <a:t>Tertanggung</a:t>
                      </a:r>
                      <a:r>
                        <a:rPr lang="en-US" sz="1200">
                          <a:effectLst/>
                          <a:latin typeface="Aptos" panose="020B0004020202020204" pitchFamily="34" charset="0"/>
                          <a:ea typeface="Calibri" panose="020F0502020204030204" pitchFamily="34" charset="0"/>
                          <a:cs typeface="Times New Roman" panose="02020603050405020304" pitchFamily="18" charset="0"/>
                        </a:rPr>
                        <a:t>: minimum 18 – 65 </a:t>
                      </a:r>
                      <a:r>
                        <a:rPr lang="en-US" sz="1200" err="1">
                          <a:effectLst/>
                          <a:latin typeface="Aptos" panose="020B0004020202020204" pitchFamily="34" charset="0"/>
                          <a:ea typeface="Calibri" panose="020F0502020204030204" pitchFamily="34" charset="0"/>
                          <a:cs typeface="Times New Roman" panose="02020603050405020304" pitchFamily="18" charset="0"/>
                        </a:rPr>
                        <a:t>tahun</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i="1">
                          <a:effectLst/>
                          <a:latin typeface="Aptos" panose="020B0004020202020204" pitchFamily="34" charset="0"/>
                          <a:ea typeface="Calibri" panose="020F0502020204030204" pitchFamily="34" charset="0"/>
                          <a:cs typeface="Times New Roman" panose="02020603050405020304" pitchFamily="18" charset="0"/>
                        </a:rPr>
                        <a:t>last birthday</a:t>
                      </a:r>
                      <a:r>
                        <a:rPr lang="en-US" sz="1200">
                          <a:effectLst/>
                          <a:latin typeface="Aptos" panose="020B0004020202020204" pitchFamily="34" charset="0"/>
                          <a:ea typeface="Calibri" panose="020F0502020204030204" pitchFamily="34" charset="0"/>
                          <a:cs typeface="Times New Roman" panose="02020603050405020304" pitchFamily="18" charset="0"/>
                        </a:rPr>
                        <a:t>)</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6745962"/>
                  </a:ext>
                </a:extLst>
              </a:tr>
              <a:tr h="246161">
                <a:tc>
                  <a:txBody>
                    <a:bodyPr/>
                    <a:lstStyle/>
                    <a:p>
                      <a:pPr marL="0" indent="0" algn="l">
                        <a:spcAft>
                          <a:spcPts val="0"/>
                        </a:spcAft>
                        <a:buFont typeface="Arial" panose="020B0604020202020204" pitchFamily="34" charset="0"/>
                        <a:buNone/>
                      </a:pPr>
                      <a:r>
                        <a:rPr lang="en-US" sz="1400" b="1" i="0" strike="noStrike">
                          <a:solidFill>
                            <a:schemeClr val="bg1"/>
                          </a:solidFill>
                          <a:latin typeface="Aptos" panose="020B0004020202020204" pitchFamily="34" charset="0"/>
                        </a:rPr>
                        <a:t>Mata Uang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l">
                        <a:lnSpc>
                          <a:spcPct val="107000"/>
                        </a:lnSpc>
                        <a:spcAft>
                          <a:spcPts val="0"/>
                        </a:spcAft>
                        <a:buNone/>
                      </a:pPr>
                      <a:r>
                        <a:rPr lang="en-US" sz="1200">
                          <a:effectLst/>
                          <a:latin typeface="Aptos" panose="020B0004020202020204" pitchFamily="34" charset="0"/>
                          <a:ea typeface="Calibri" panose="020F0502020204030204" pitchFamily="34" charset="0"/>
                          <a:cs typeface="Times New Roman" panose="02020603050405020304" pitchFamily="18" charset="0"/>
                        </a:rPr>
                        <a:t>Rupiah </a:t>
                      </a:r>
                      <a:r>
                        <a:rPr lang="en-US" sz="1200" err="1">
                          <a:effectLst/>
                          <a:latin typeface="Aptos" panose="020B0004020202020204" pitchFamily="34" charset="0"/>
                          <a:ea typeface="Calibri" panose="020F0502020204030204" pitchFamily="34" charset="0"/>
                          <a:cs typeface="Times New Roman" panose="02020603050405020304" pitchFamily="18" charset="0"/>
                        </a:rPr>
                        <a:t>atau</a:t>
                      </a:r>
                      <a:r>
                        <a:rPr lang="en-US" sz="1200">
                          <a:effectLst/>
                          <a:latin typeface="Aptos" panose="020B0004020202020204" pitchFamily="34" charset="0"/>
                          <a:ea typeface="Calibri" panose="020F0502020204030204" pitchFamily="34" charset="0"/>
                          <a:cs typeface="Times New Roman" panose="02020603050405020304" pitchFamily="18" charset="0"/>
                        </a:rPr>
                        <a:t> US Dollar</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5609447"/>
                  </a:ext>
                </a:extLst>
              </a:tr>
              <a:tr h="1815744">
                <a:tc>
                  <a:txBody>
                    <a:bodyPr/>
                    <a:lstStyle/>
                    <a:p>
                      <a:pPr marL="0" indent="0" algn="l">
                        <a:spcAft>
                          <a:spcPts val="0"/>
                        </a:spcAft>
                        <a:buFont typeface="Arial" panose="020B0604020202020204" pitchFamily="34" charset="0"/>
                        <a:buNone/>
                      </a:pPr>
                      <a:r>
                        <a:rPr lang="en-US" sz="1400" b="1" i="0" strike="noStrike">
                          <a:solidFill>
                            <a:schemeClr val="bg1"/>
                          </a:solidFill>
                          <a:latin typeface="Aptos" panose="020B0004020202020204" pitchFamily="34" charset="0"/>
                        </a:rPr>
                        <a:t>Premi</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l">
                        <a:lnSpc>
                          <a:spcPct val="107000"/>
                        </a:lnSpc>
                        <a:spcAft>
                          <a:spcPts val="0"/>
                        </a:spcAft>
                        <a:buNone/>
                      </a:pPr>
                      <a:r>
                        <a:rPr lang="en-US" sz="1200" dirty="0">
                          <a:effectLst/>
                          <a:latin typeface="Aptos" panose="020B0004020202020204" pitchFamily="34" charset="0"/>
                          <a:ea typeface="Calibri" panose="020F0502020204030204" pitchFamily="34" charset="0"/>
                          <a:cs typeface="Times New Roman" panose="02020603050405020304" pitchFamily="18" charset="0"/>
                        </a:rPr>
                        <a:t>Minimum Premi:</a:t>
                      </a: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r>
                        <a:rPr lang="en-US" sz="1200" dirty="0" err="1">
                          <a:effectLst/>
                          <a:latin typeface="Aptos" panose="020B0004020202020204" pitchFamily="34" charset="0"/>
                          <a:ea typeface="Calibri" panose="020F0502020204030204" pitchFamily="34" charset="0"/>
                          <a:cs typeface="Times New Roman" panose="02020603050405020304" pitchFamily="18" charset="0"/>
                        </a:rPr>
                        <a:t>Keterangan</a:t>
                      </a:r>
                      <a:r>
                        <a:rPr lang="en-US" sz="1200" dirty="0">
                          <a:effectLst/>
                          <a:latin typeface="Aptos" panose="020B0004020202020204" pitchFamily="34" charset="0"/>
                          <a:ea typeface="Calibri" panose="020F0502020204030204" pitchFamily="34" charset="0"/>
                          <a:cs typeface="Times New Roman" panose="02020603050405020304" pitchFamily="18" charset="0"/>
                        </a:rPr>
                        <a:t>:</a:t>
                      </a:r>
                    </a:p>
                    <a:p>
                      <a:pPr marL="171450" marR="0" indent="-171450" algn="l">
                        <a:lnSpc>
                          <a:spcPct val="107000"/>
                        </a:lnSpc>
                        <a:spcAft>
                          <a:spcPts val="0"/>
                        </a:spcAft>
                        <a:buFont typeface="Arial" panose="020B0604020202020204" pitchFamily="34" charset="0"/>
                        <a:buChar char="•"/>
                      </a:pPr>
                      <a:r>
                        <a:rPr lang="en-US" sz="1200" dirty="0" err="1">
                          <a:effectLst/>
                          <a:latin typeface="Aptos" panose="020B0004020202020204" pitchFamily="34" charset="0"/>
                          <a:ea typeface="Calibri" panose="020F0502020204030204" pitchFamily="34" charset="0"/>
                          <a:cs typeface="Times New Roman" panose="02020603050405020304" pitchFamily="18" charset="0"/>
                        </a:rPr>
                        <a:t>Maksimum</a:t>
                      </a:r>
                      <a:r>
                        <a:rPr lang="en-US" sz="1200" dirty="0">
                          <a:effectLst/>
                          <a:latin typeface="Aptos" panose="020B0004020202020204" pitchFamily="34" charset="0"/>
                          <a:ea typeface="Calibri" panose="020F0502020204030204" pitchFamily="34" charset="0"/>
                          <a:cs typeface="Times New Roman" panose="02020603050405020304" pitchFamily="18" charset="0"/>
                        </a:rPr>
                        <a:t> Premi per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Tertanggung</a:t>
                      </a:r>
                      <a:r>
                        <a:rPr lang="en-US" sz="1200" dirty="0">
                          <a:effectLst/>
                          <a:latin typeface="Aptos" panose="020B0004020202020204" pitchFamily="34" charset="0"/>
                          <a:ea typeface="Calibri" panose="020F0502020204030204" pitchFamily="34" charset="0"/>
                          <a:cs typeface="Times New Roman" panose="02020603050405020304" pitchFamily="18" charset="0"/>
                        </a:rPr>
                        <a:t>: Rp550.000.000/US$35.000 per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tahun</a:t>
                      </a:r>
                      <a:r>
                        <a:rPr lang="en-US" sz="1200" dirty="0">
                          <a:effectLst/>
                          <a:latin typeface="Aptos" panose="020B0004020202020204" pitchFamily="34" charset="0"/>
                          <a:ea typeface="Calibri" panose="020F0502020204030204" pitchFamily="34" charset="0"/>
                          <a:cs typeface="Times New Roman" panose="02020603050405020304" pitchFamily="18" charset="0"/>
                        </a:rPr>
                        <a:t>.</a:t>
                      </a:r>
                    </a:p>
                    <a:p>
                      <a:pPr marL="171450" marR="0" indent="-171450" algn="l">
                        <a:lnSpc>
                          <a:spcPct val="107000"/>
                        </a:lnSpc>
                        <a:spcAft>
                          <a:spcPts val="0"/>
                        </a:spcAft>
                        <a:buFont typeface="Arial" panose="020B0604020202020204" pitchFamily="34" charset="0"/>
                        <a:buChar char="•"/>
                      </a:pPr>
                      <a:r>
                        <a:rPr lang="en-US" sz="1200" dirty="0">
                          <a:effectLst/>
                          <a:latin typeface="Aptos" panose="020B0004020202020204" pitchFamily="34" charset="0"/>
                          <a:ea typeface="Calibri" panose="020F0502020204030204" pitchFamily="34" charset="0"/>
                          <a:cs typeface="Times New Roman" panose="02020603050405020304" pitchFamily="18" charset="0"/>
                        </a:rPr>
                        <a:t>Kurs yang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digunakan</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untuk</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menghitung</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konversi</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antara</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agregasi</a:t>
                      </a:r>
                      <a:r>
                        <a:rPr lang="en-US" sz="1200" dirty="0">
                          <a:effectLst/>
                          <a:latin typeface="Aptos" panose="020B0004020202020204" pitchFamily="34" charset="0"/>
                          <a:ea typeface="Calibri" panose="020F0502020204030204" pitchFamily="34" charset="0"/>
                          <a:cs typeface="Times New Roman" panose="02020603050405020304" pitchFamily="18" charset="0"/>
                        </a:rPr>
                        <a:t> Premi Rupiah dan USD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adalah</a:t>
                      </a:r>
                      <a:r>
                        <a:rPr lang="en-US" sz="1200" dirty="0">
                          <a:effectLst/>
                          <a:latin typeface="Aptos" panose="020B0004020202020204" pitchFamily="34" charset="0"/>
                          <a:ea typeface="Calibri" panose="020F0502020204030204" pitchFamily="34" charset="0"/>
                          <a:cs typeface="Times New Roman" panose="02020603050405020304" pitchFamily="18" charset="0"/>
                        </a:rPr>
                        <a:t> Rp16.000.</a:t>
                      </a:r>
                    </a:p>
                    <a:p>
                      <a:pPr marL="171450" marR="0" indent="-171450" algn="l">
                        <a:lnSpc>
                          <a:spcPct val="107000"/>
                        </a:lnSpc>
                        <a:spcAft>
                          <a:spcPts val="0"/>
                        </a:spcAft>
                        <a:buFont typeface="Arial" panose="020B0604020202020204" pitchFamily="34" charset="0"/>
                        <a:buChar char="•"/>
                      </a:pPr>
                      <a:r>
                        <a:rPr lang="en-US" sz="1200" dirty="0" err="1">
                          <a:effectLst/>
                          <a:latin typeface="Aptos" panose="020B0004020202020204" pitchFamily="34" charset="0"/>
                          <a:ea typeface="Calibri" panose="020F0502020204030204" pitchFamily="34" charset="0"/>
                          <a:cs typeface="Times New Roman" panose="02020603050405020304" pitchFamily="18" charset="0"/>
                        </a:rPr>
                        <a:t>Untuk</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Frekuensi</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Pembayaran</a:t>
                      </a:r>
                      <a:r>
                        <a:rPr lang="en-US" sz="1200" dirty="0">
                          <a:effectLst/>
                          <a:latin typeface="Aptos" panose="020B0004020202020204" pitchFamily="34" charset="0"/>
                          <a:ea typeface="Calibri" panose="020F0502020204030204" pitchFamily="34" charset="0"/>
                          <a:cs typeface="Times New Roman" panose="02020603050405020304" pitchFamily="18" charset="0"/>
                        </a:rPr>
                        <a:t> Premi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semesteran</a:t>
                      </a:r>
                      <a:r>
                        <a:rPr lang="en-US" sz="1200" dirty="0">
                          <a:effectLst/>
                          <a:latin typeface="Aptos" panose="020B0004020202020204" pitchFamily="34" charset="0"/>
                          <a:ea typeface="Calibri" panose="020F0502020204030204" pitchFamily="34" charset="0"/>
                          <a:cs typeface="Times New Roman" panose="02020603050405020304" pitchFamily="18" charset="0"/>
                        </a:rPr>
                        <a:t> dan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kuartalan</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tetap</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mengacu</a:t>
                      </a:r>
                      <a:r>
                        <a:rPr lang="en-US" sz="1200" dirty="0">
                          <a:effectLst/>
                          <a:latin typeface="Aptos" panose="020B0004020202020204" pitchFamily="34" charset="0"/>
                          <a:ea typeface="Calibri" panose="020F0502020204030204" pitchFamily="34" charset="0"/>
                          <a:cs typeface="Times New Roman" panose="02020603050405020304" pitchFamily="18" charset="0"/>
                        </a:rPr>
                        <a:t> pada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maksimum</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premi</a:t>
                      </a:r>
                      <a:r>
                        <a:rPr lang="en-US" sz="1200" dirty="0">
                          <a:effectLst/>
                          <a:latin typeface="Aptos" panose="020B0004020202020204" pitchFamily="34" charset="0"/>
                          <a:ea typeface="Calibri" panose="020F0502020204030204" pitchFamily="34" charset="0"/>
                          <a:cs typeface="Times New Roman" panose="02020603050405020304" pitchFamily="18" charset="0"/>
                        </a:rPr>
                        <a:t> per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tahun</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br>
                        <a:rPr lang="en-US" sz="1200" dirty="0">
                          <a:effectLst/>
                          <a:latin typeface="Aptos" panose="020B0004020202020204" pitchFamily="34" charset="0"/>
                          <a:ea typeface="Calibri" panose="020F0502020204030204" pitchFamily="34" charset="0"/>
                          <a:cs typeface="Times New Roman" panose="02020603050405020304" pitchFamily="18" charset="0"/>
                        </a:rPr>
                      </a:br>
                      <a:r>
                        <a:rPr lang="en-US" sz="1200" dirty="0" err="1">
                          <a:effectLst/>
                          <a:latin typeface="Aptos" panose="020B0004020202020204" pitchFamily="34" charset="0"/>
                          <a:ea typeface="Calibri" panose="020F0502020204030204" pitchFamily="34" charset="0"/>
                          <a:cs typeface="Times New Roman" panose="02020603050405020304" pitchFamily="18" charset="0"/>
                        </a:rPr>
                        <a:t>Contoh</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maksimum</a:t>
                      </a:r>
                      <a:r>
                        <a:rPr lang="en-US" sz="1200" dirty="0">
                          <a:effectLst/>
                          <a:latin typeface="Aptos" panose="020B0004020202020204" pitchFamily="34" charset="0"/>
                          <a:ea typeface="Calibri" panose="020F0502020204030204" pitchFamily="34" charset="0"/>
                          <a:cs typeface="Times New Roman" panose="02020603050405020304" pitchFamily="18" charset="0"/>
                        </a:rPr>
                        <a:t> Premi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semesteran</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untuk</a:t>
                      </a:r>
                      <a:r>
                        <a:rPr lang="en-US" sz="1200" dirty="0">
                          <a:effectLst/>
                          <a:latin typeface="Aptos" panose="020B0004020202020204" pitchFamily="34" charset="0"/>
                          <a:ea typeface="Calibri" panose="020F0502020204030204" pitchFamily="34" charset="0"/>
                          <a:cs typeface="Times New Roman" panose="02020603050405020304" pitchFamily="18" charset="0"/>
                        </a:rPr>
                        <a:t> MPP 5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tahun</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adalah</a:t>
                      </a:r>
                      <a:r>
                        <a:rPr lang="en-US" sz="1200" dirty="0">
                          <a:effectLst/>
                          <a:latin typeface="Aptos" panose="020B0004020202020204" pitchFamily="34" charset="0"/>
                          <a:ea typeface="Calibri" panose="020F0502020204030204" pitchFamily="34" charset="0"/>
                          <a:cs typeface="Times New Roman" panose="02020603050405020304" pitchFamily="18" charset="0"/>
                        </a:rPr>
                        <a:t> Rp550.000.000/2 = Rp275.000.000.</a:t>
                      </a:r>
                    </a:p>
                    <a:p>
                      <a:pPr marL="171450" marR="0" indent="-171450" algn="l">
                        <a:lnSpc>
                          <a:spcPct val="107000"/>
                        </a:lnSpc>
                        <a:spcAft>
                          <a:spcPts val="0"/>
                        </a:spcAft>
                        <a:buFont typeface="Arial" panose="020B0604020202020204" pitchFamily="34" charset="0"/>
                        <a:buChar char="•"/>
                      </a:pPr>
                      <a:r>
                        <a:rPr lang="en-US" sz="1200" dirty="0" err="1">
                          <a:effectLst/>
                          <a:latin typeface="Aptos" panose="020B0004020202020204" pitchFamily="34" charset="0"/>
                          <a:ea typeface="Calibri" panose="020F0502020204030204" pitchFamily="34" charset="0"/>
                          <a:cs typeface="Times New Roman" panose="02020603050405020304" pitchFamily="18" charset="0"/>
                        </a:rPr>
                        <a:t>Untuk</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Frekuensi</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Pembayaran</a:t>
                      </a:r>
                      <a:r>
                        <a:rPr lang="en-US" sz="1200" dirty="0">
                          <a:effectLst/>
                          <a:latin typeface="Aptos" panose="020B0004020202020204" pitchFamily="34" charset="0"/>
                          <a:ea typeface="Calibri" panose="020F0502020204030204" pitchFamily="34" charset="0"/>
                          <a:cs typeface="Times New Roman" panose="02020603050405020304" pitchFamily="18" charset="0"/>
                        </a:rPr>
                        <a:t> Premi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bulanan</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maksimum</a:t>
                      </a:r>
                      <a:r>
                        <a:rPr lang="en-US" sz="1200" dirty="0">
                          <a:effectLst/>
                          <a:latin typeface="Aptos" panose="020B0004020202020204" pitchFamily="34" charset="0"/>
                          <a:ea typeface="Calibri" panose="020F0502020204030204" pitchFamily="34" charset="0"/>
                          <a:cs typeface="Times New Roman" panose="02020603050405020304" pitchFamily="18" charset="0"/>
                        </a:rPr>
                        <a:t> Premi per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Tertanggung</a:t>
                      </a:r>
                      <a:r>
                        <a:rPr lang="en-US" sz="1200" dirty="0">
                          <a:effectLst/>
                          <a:latin typeface="Aptos" panose="020B0004020202020204" pitchFamily="34" charset="0"/>
                          <a:ea typeface="Calibri" panose="020F0502020204030204" pitchFamily="34" charset="0"/>
                          <a:cs typeface="Times New Roman" panose="02020603050405020304" pitchFamily="18" charset="0"/>
                        </a:rPr>
                        <a:t>: Rp45.800.000/US$2.915 per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bulan</a:t>
                      </a:r>
                      <a:r>
                        <a:rPr lang="en-US" sz="1200" dirty="0">
                          <a:effectLst/>
                          <a:latin typeface="Aptos" panose="020B0004020202020204" pitchFamily="34" charset="0"/>
                          <a:ea typeface="Calibri" panose="020F0502020204030204" pitchFamily="34" charset="0"/>
                          <a:cs typeface="Times New Roman" panose="02020603050405020304" pitchFamily="18" charset="0"/>
                        </a:rPr>
                        <a:t>.</a:t>
                      </a:r>
                    </a:p>
                    <a:p>
                      <a:pPr marL="0" marR="0" algn="l">
                        <a:lnSpc>
                          <a:spcPct val="107000"/>
                        </a:lnSpc>
                        <a:spcAft>
                          <a:spcPts val="0"/>
                        </a:spcAft>
                        <a:buNone/>
                      </a:pPr>
                      <a:endParaRPr lang="en-US" sz="1200" dirty="0">
                        <a:effectLst/>
                        <a:latin typeface="Aptos" panose="020B0004020202020204" pitchFamily="34" charset="0"/>
                        <a:ea typeface="Calibri" panose="020F0502020204030204" pitchFamily="34" charset="0"/>
                        <a:cs typeface="Times New Roman" panose="02020603050405020304" pitchFamily="18" charset="0"/>
                      </a:endParaRPr>
                    </a:p>
                    <a:p>
                      <a:pPr marL="0" marR="0" algn="l">
                        <a:lnSpc>
                          <a:spcPct val="107000"/>
                        </a:lnSpc>
                        <a:spcAft>
                          <a:spcPts val="0"/>
                        </a:spcAft>
                        <a:buNone/>
                      </a:pPr>
                      <a:r>
                        <a:rPr lang="en-US" sz="1200" dirty="0" err="1">
                          <a:effectLst/>
                          <a:latin typeface="Aptos" panose="020B0004020202020204" pitchFamily="34" charset="0"/>
                          <a:ea typeface="Calibri" panose="020F0502020204030204" pitchFamily="34" charset="0"/>
                          <a:cs typeface="Times New Roman" panose="02020603050405020304" pitchFamily="18" charset="0"/>
                        </a:rPr>
                        <a:t>Catatan</a:t>
                      </a:r>
                      <a:r>
                        <a:rPr lang="en-US" sz="1200" dirty="0">
                          <a:effectLst/>
                          <a:latin typeface="Aptos" panose="020B0004020202020204" pitchFamily="34" charset="0"/>
                          <a:ea typeface="Calibri" panose="020F0502020204030204" pitchFamily="34" charset="0"/>
                          <a:cs typeface="Times New Roman" panose="02020603050405020304" pitchFamily="18" charset="0"/>
                        </a:rPr>
                        <a:t>: Nominal Premi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adalah</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sebagaimana</a:t>
                      </a:r>
                      <a:r>
                        <a:rPr lang="en-US" sz="1200" dirty="0">
                          <a:effectLst/>
                          <a:latin typeface="Aptos" panose="020B0004020202020204" pitchFamily="34" charset="0"/>
                          <a:ea typeface="Calibri" panose="020F0502020204030204" pitchFamily="34" charset="0"/>
                          <a:cs typeface="Times New Roman" panose="02020603050405020304" pitchFamily="18" charset="0"/>
                        </a:rPr>
                        <a:t> </a:t>
                      </a:r>
                      <a:r>
                        <a:rPr lang="en-US" sz="1200" dirty="0" err="1">
                          <a:effectLst/>
                          <a:latin typeface="Aptos" panose="020B0004020202020204" pitchFamily="34" charset="0"/>
                          <a:ea typeface="Calibri" panose="020F0502020204030204" pitchFamily="34" charset="0"/>
                          <a:cs typeface="Times New Roman" panose="02020603050405020304" pitchFamily="18" charset="0"/>
                        </a:rPr>
                        <a:t>tercantum</a:t>
                      </a:r>
                      <a:r>
                        <a:rPr lang="en-US" sz="1200" dirty="0">
                          <a:effectLst/>
                          <a:latin typeface="Aptos" panose="020B0004020202020204" pitchFamily="34" charset="0"/>
                          <a:ea typeface="Calibri" panose="020F0502020204030204" pitchFamily="34" charset="0"/>
                          <a:cs typeface="Times New Roman" panose="02020603050405020304" pitchFamily="18" charset="0"/>
                        </a:rPr>
                        <a:t> pada Polis.</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54821538"/>
                  </a:ext>
                </a:extLst>
              </a:tr>
              <a:tr h="246161">
                <a:tc>
                  <a:txBody>
                    <a:bodyPr/>
                    <a:lstStyle/>
                    <a:p>
                      <a:pPr marL="0" indent="0" algn="l">
                        <a:spcAft>
                          <a:spcPts val="0"/>
                        </a:spcAft>
                        <a:buFont typeface="Arial" panose="020B0604020202020204" pitchFamily="34" charset="0"/>
                        <a:buNone/>
                      </a:pPr>
                      <a:r>
                        <a:rPr lang="en-US" sz="1400" b="1" i="0" strike="noStrike" err="1">
                          <a:solidFill>
                            <a:schemeClr val="bg1"/>
                          </a:solidFill>
                          <a:latin typeface="Aptos" panose="020B0004020202020204" pitchFamily="34" charset="0"/>
                        </a:rPr>
                        <a:t>Frekuensi</a:t>
                      </a:r>
                      <a:r>
                        <a:rPr lang="en-US" sz="1400" b="1" i="0" strike="noStrike">
                          <a:solidFill>
                            <a:schemeClr val="bg1"/>
                          </a:solidFill>
                          <a:latin typeface="Aptos" panose="020B0004020202020204" pitchFamily="34" charset="0"/>
                        </a:rPr>
                        <a:t> </a:t>
                      </a:r>
                      <a:r>
                        <a:rPr lang="en-US" sz="1400" b="1" i="0" strike="noStrike" err="1">
                          <a:solidFill>
                            <a:schemeClr val="bg1"/>
                          </a:solidFill>
                          <a:latin typeface="Aptos" panose="020B0004020202020204" pitchFamily="34" charset="0"/>
                        </a:rPr>
                        <a:t>Pembayaran</a:t>
                      </a:r>
                      <a:r>
                        <a:rPr lang="en-US" sz="1400" b="1" i="0" strike="noStrike">
                          <a:solidFill>
                            <a:schemeClr val="bg1"/>
                          </a:solidFill>
                          <a:latin typeface="Aptos" panose="020B0004020202020204" pitchFamily="34" charset="0"/>
                        </a:rPr>
                        <a:t> Premi</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l">
                        <a:lnSpc>
                          <a:spcPct val="107000"/>
                        </a:lnSpc>
                        <a:spcAft>
                          <a:spcPts val="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Bulanan</a:t>
                      </a:r>
                      <a:r>
                        <a:rPr lang="en-US" sz="1200">
                          <a:effectLst/>
                          <a:latin typeface="Aptos" panose="020B0004020202020204" pitchFamily="34" charset="0"/>
                          <a:ea typeface="Calibri" panose="020F0502020204030204" pitchFamily="34" charset="0"/>
                          <a:cs typeface="Times New Roman" panose="02020603050405020304" pitchFamily="18" charset="0"/>
                        </a:rPr>
                        <a:t>/</a:t>
                      </a:r>
                      <a:r>
                        <a:rPr lang="en-US" sz="1200" err="1">
                          <a:effectLst/>
                          <a:latin typeface="Aptos" panose="020B0004020202020204" pitchFamily="34" charset="0"/>
                          <a:ea typeface="Calibri" panose="020F0502020204030204" pitchFamily="34" charset="0"/>
                          <a:cs typeface="Times New Roman" panose="02020603050405020304" pitchFamily="18" charset="0"/>
                        </a:rPr>
                        <a:t>Kuartalan</a:t>
                      </a:r>
                      <a:r>
                        <a:rPr lang="en-US" sz="1200">
                          <a:effectLst/>
                          <a:latin typeface="Aptos" panose="020B0004020202020204" pitchFamily="34" charset="0"/>
                          <a:ea typeface="Calibri" panose="020F0502020204030204" pitchFamily="34" charset="0"/>
                          <a:cs typeface="Times New Roman" panose="02020603050405020304" pitchFamily="18" charset="0"/>
                        </a:rPr>
                        <a:t>/Semesteran/</a:t>
                      </a:r>
                      <a:r>
                        <a:rPr lang="en-US" sz="1200" err="1">
                          <a:effectLst/>
                          <a:latin typeface="Aptos" panose="020B0004020202020204" pitchFamily="34" charset="0"/>
                          <a:ea typeface="Calibri" panose="020F0502020204030204" pitchFamily="34" charset="0"/>
                          <a:cs typeface="Times New Roman" panose="02020603050405020304" pitchFamily="18" charset="0"/>
                        </a:rPr>
                        <a:t>Tahunan</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54792678"/>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Pembayaran</a:t>
                      </a:r>
                      <a:r>
                        <a:rPr lang="en-US" sz="1400" b="1" i="0" strike="noStrike">
                          <a:solidFill>
                            <a:schemeClr val="bg1"/>
                          </a:solidFill>
                          <a:latin typeface="Aptos" panose="020B0004020202020204" pitchFamily="34" charset="0"/>
                        </a:rPr>
                        <a:t> Premi</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l">
                        <a:lnSpc>
                          <a:spcPct val="107000"/>
                        </a:lnSpc>
                        <a:spcAft>
                          <a:spcPts val="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Berkala</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dalam</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jangka</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waktu</a:t>
                      </a:r>
                      <a:r>
                        <a:rPr lang="en-US" sz="1200">
                          <a:effectLst/>
                          <a:latin typeface="Aptos" panose="020B0004020202020204" pitchFamily="34" charset="0"/>
                          <a:ea typeface="Calibri" panose="020F0502020204030204" pitchFamily="34" charset="0"/>
                          <a:cs typeface="Times New Roman" panose="02020603050405020304" pitchFamily="18" charset="0"/>
                        </a:rPr>
                        <a:t> 5 atau 10 tahun</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0447767"/>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Metode </a:t>
                      </a:r>
                      <a:r>
                        <a:rPr lang="en-US" sz="1400" b="1" i="0" strike="noStrike" err="1">
                          <a:solidFill>
                            <a:schemeClr val="bg1"/>
                          </a:solidFill>
                          <a:latin typeface="Aptos" panose="020B0004020202020204" pitchFamily="34" charset="0"/>
                        </a:rPr>
                        <a:t>Pembayaran</a:t>
                      </a:r>
                      <a:r>
                        <a:rPr lang="en-US" sz="1400" b="1" i="0" strike="noStrike">
                          <a:solidFill>
                            <a:schemeClr val="bg1"/>
                          </a:solidFill>
                          <a:latin typeface="Aptos" panose="020B0004020202020204" pitchFamily="34" charset="0"/>
                        </a:rPr>
                        <a:t> Premi</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228600" marR="0" indent="-228600" algn="l">
                        <a:lnSpc>
                          <a:spcPct val="107000"/>
                        </a:lnSpc>
                        <a:spcAft>
                          <a:spcPts val="0"/>
                        </a:spcAft>
                        <a:buAutoNum type="arabicPeriod"/>
                      </a:pPr>
                      <a:r>
                        <a:rPr lang="en-US" sz="1200" err="1">
                          <a:effectLst/>
                          <a:latin typeface="Aptos" panose="020B0004020202020204" pitchFamily="34" charset="0"/>
                          <a:ea typeface="Calibri" panose="020F0502020204030204" pitchFamily="34" charset="0"/>
                          <a:cs typeface="Times New Roman" panose="02020603050405020304" pitchFamily="18" charset="0"/>
                        </a:rPr>
                        <a:t>Pendebetan</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Rekening</a:t>
                      </a:r>
                      <a:r>
                        <a:rPr lang="en-US" sz="1200">
                          <a:effectLst/>
                          <a:latin typeface="Aptos" panose="020B0004020202020204" pitchFamily="34" charset="0"/>
                          <a:ea typeface="Calibri" panose="020F0502020204030204" pitchFamily="34" charset="0"/>
                          <a:cs typeface="Times New Roman" panose="02020603050405020304" pitchFamily="18" charset="0"/>
                        </a:rPr>
                        <a:t> Dana BCA; </a:t>
                      </a:r>
                    </a:p>
                    <a:p>
                      <a:pPr marL="228600" marR="0" indent="-228600" algn="l">
                        <a:lnSpc>
                          <a:spcPct val="107000"/>
                        </a:lnSpc>
                        <a:spcAft>
                          <a:spcPts val="0"/>
                        </a:spcAft>
                        <a:buAutoNum type="arabicPeriod"/>
                      </a:pPr>
                      <a:r>
                        <a:rPr lang="en-US" sz="1200" err="1">
                          <a:effectLst/>
                          <a:latin typeface="Aptos" panose="020B0004020202020204" pitchFamily="34" charset="0"/>
                          <a:ea typeface="Calibri" panose="020F0502020204030204" pitchFamily="34" charset="0"/>
                          <a:cs typeface="Times New Roman" panose="02020603050405020304" pitchFamily="18" charset="0"/>
                        </a:rPr>
                        <a:t>Pembebanan</a:t>
                      </a:r>
                      <a:r>
                        <a:rPr lang="en-US" sz="1200">
                          <a:effectLst/>
                          <a:latin typeface="Aptos" panose="020B0004020202020204" pitchFamily="34" charset="0"/>
                          <a:ea typeface="Calibri" panose="020F0502020204030204" pitchFamily="34" charset="0"/>
                          <a:cs typeface="Times New Roman" panose="02020603050405020304" pitchFamily="18" charset="0"/>
                        </a:rPr>
                        <a:t> Kartu </a:t>
                      </a:r>
                      <a:r>
                        <a:rPr lang="en-US" sz="1200" err="1">
                          <a:effectLst/>
                          <a:latin typeface="Aptos" panose="020B0004020202020204" pitchFamily="34" charset="0"/>
                          <a:ea typeface="Calibri" panose="020F0502020204030204" pitchFamily="34" charset="0"/>
                          <a:cs typeface="Times New Roman" panose="02020603050405020304" pitchFamily="18" charset="0"/>
                        </a:rPr>
                        <a:t>Kredit</a:t>
                      </a:r>
                      <a:r>
                        <a:rPr lang="en-US" sz="1200">
                          <a:effectLst/>
                          <a:latin typeface="Aptos" panose="020B0004020202020204" pitchFamily="34" charset="0"/>
                          <a:ea typeface="Calibri" panose="020F0502020204030204" pitchFamily="34" charset="0"/>
                          <a:cs typeface="Times New Roman" panose="02020603050405020304" pitchFamily="18" charset="0"/>
                        </a:rPr>
                        <a:t> BCA; </a:t>
                      </a:r>
                      <a:r>
                        <a:rPr lang="en-US" sz="1200" err="1">
                          <a:effectLst/>
                          <a:latin typeface="Aptos" panose="020B0004020202020204" pitchFamily="34" charset="0"/>
                          <a:ea typeface="Calibri" panose="020F0502020204030204" pitchFamily="34" charset="0"/>
                          <a:cs typeface="Times New Roman" panose="02020603050405020304" pitchFamily="18" charset="0"/>
                        </a:rPr>
                        <a:t>atau</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p>
                      <a:pPr marL="228600" marR="0" indent="-228600" algn="l">
                        <a:lnSpc>
                          <a:spcPct val="107000"/>
                        </a:lnSpc>
                        <a:spcAft>
                          <a:spcPts val="0"/>
                        </a:spcAft>
                        <a:buAutoNum type="arabicPeriod"/>
                      </a:pPr>
                      <a:r>
                        <a:rPr lang="en-US" sz="1200">
                          <a:effectLst/>
                          <a:latin typeface="Aptos" panose="020B0004020202020204" pitchFamily="34" charset="0"/>
                          <a:ea typeface="Calibri" panose="020F0502020204030204" pitchFamily="34" charset="0"/>
                          <a:cs typeface="Times New Roman" panose="02020603050405020304" pitchFamily="18" charset="0"/>
                        </a:rPr>
                        <a:t>Metode </a:t>
                      </a:r>
                      <a:r>
                        <a:rPr lang="en-US" sz="1200" err="1">
                          <a:effectLst/>
                          <a:latin typeface="Aptos" panose="020B0004020202020204" pitchFamily="34" charset="0"/>
                          <a:ea typeface="Calibri" panose="020F0502020204030204" pitchFamily="34" charset="0"/>
                          <a:cs typeface="Times New Roman" panose="02020603050405020304" pitchFamily="18" charset="0"/>
                        </a:rPr>
                        <a:t>pembayaran</a:t>
                      </a:r>
                      <a:r>
                        <a:rPr lang="en-US" sz="1200">
                          <a:effectLst/>
                          <a:latin typeface="Aptos" panose="020B0004020202020204" pitchFamily="34" charset="0"/>
                          <a:ea typeface="Calibri" panose="020F0502020204030204" pitchFamily="34" charset="0"/>
                          <a:cs typeface="Times New Roman" panose="02020603050405020304" pitchFamily="18" charset="0"/>
                        </a:rPr>
                        <a:t> lain yang </a:t>
                      </a:r>
                      <a:r>
                        <a:rPr lang="en-US" sz="1200" err="1">
                          <a:effectLst/>
                          <a:latin typeface="Aptos" panose="020B0004020202020204" pitchFamily="34" charset="0"/>
                          <a:ea typeface="Calibri" panose="020F0502020204030204" pitchFamily="34" charset="0"/>
                          <a:cs typeface="Times New Roman" panose="02020603050405020304" pitchFamily="18" charset="0"/>
                        </a:rPr>
                        <a:t>disepakati</a:t>
                      </a:r>
                      <a:r>
                        <a:rPr lang="en-US" sz="1200">
                          <a:effectLst/>
                          <a:latin typeface="Aptos" panose="020B0004020202020204" pitchFamily="34" charset="0"/>
                          <a:ea typeface="Calibri" panose="020F0502020204030204" pitchFamily="34" charset="0"/>
                          <a:cs typeface="Times New Roman" panose="02020603050405020304" pitchFamily="18" charset="0"/>
                        </a:rPr>
                        <a:t> oleh BCA dan BCA Life.</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2598291"/>
                  </a:ext>
                </a:extLst>
              </a:tr>
              <a:tr h="246161">
                <a:tc>
                  <a:txBody>
                    <a:bodyPr/>
                    <a:lstStyle/>
                    <a:p>
                      <a:pPr marL="0" indent="0" algn="l">
                        <a:spcAft>
                          <a:spcPts val="0"/>
                        </a:spcAft>
                        <a:buFont typeface="Arial" panose="020B0604020202020204" pitchFamily="34" charset="0"/>
                        <a:buNone/>
                      </a:pPr>
                      <a:r>
                        <a:rPr lang="en-US" sz="1400" b="1" i="0" strike="noStrike" err="1">
                          <a:solidFill>
                            <a:schemeClr val="bg1"/>
                          </a:solidFill>
                          <a:latin typeface="Aptos" panose="020B0004020202020204" pitchFamily="34" charset="0"/>
                        </a:rPr>
                        <a:t>Ketentuan</a:t>
                      </a:r>
                      <a:r>
                        <a:rPr lang="en-US" sz="1400" b="1" i="0" strike="noStrike">
                          <a:solidFill>
                            <a:schemeClr val="bg1"/>
                          </a:solidFill>
                          <a:latin typeface="Aptos" panose="020B0004020202020204" pitchFamily="34" charset="0"/>
                        </a:rPr>
                        <a:t> </a:t>
                      </a:r>
                      <a:r>
                        <a:rPr lang="en-US" sz="1400" b="1" i="1" strike="noStrike">
                          <a:solidFill>
                            <a:schemeClr val="bg1"/>
                          </a:solidFill>
                          <a:latin typeface="Aptos" panose="020B0004020202020204" pitchFamily="34" charset="0"/>
                        </a:rPr>
                        <a:t>Underwriting</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l">
                        <a:lnSpc>
                          <a:spcPct val="107000"/>
                        </a:lnSpc>
                        <a:spcAft>
                          <a:spcPts val="0"/>
                        </a:spcAft>
                        <a:buNone/>
                      </a:pPr>
                      <a:r>
                        <a:rPr lang="en-US" sz="1200" i="1" dirty="0">
                          <a:effectLst/>
                          <a:latin typeface="Aptos" panose="020B0004020202020204" pitchFamily="34" charset="0"/>
                          <a:ea typeface="Calibri" panose="020F0502020204030204" pitchFamily="34" charset="0"/>
                          <a:cs typeface="Times New Roman" panose="02020603050405020304" pitchFamily="18" charset="0"/>
                        </a:rPr>
                        <a:t>Guaranteed Acceptance</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21572234"/>
                  </a:ext>
                </a:extLst>
              </a:tr>
            </a:tbl>
          </a:graphicData>
        </a:graphic>
      </p:graphicFrame>
      <p:sp>
        <p:nvSpPr>
          <p:cNvPr id="2" name="Title 1">
            <a:extLst>
              <a:ext uri="{FF2B5EF4-FFF2-40B4-BE49-F238E27FC236}">
                <a16:creationId xmlns:a16="http://schemas.microsoft.com/office/drawing/2014/main" id="{92573096-9325-C956-1E0A-53C956B8226C}"/>
              </a:ext>
            </a:extLst>
          </p:cNvPr>
          <p:cNvSpPr txBox="1">
            <a:spLocks/>
          </p:cNvSpPr>
          <p:nvPr/>
        </p:nvSpPr>
        <p:spPr>
          <a:xfrm>
            <a:off x="2974975" y="-44825"/>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FITUR PRODUK Value Income Assurance (VALUE+)</a:t>
            </a:r>
          </a:p>
        </p:txBody>
      </p:sp>
      <p:graphicFrame>
        <p:nvGraphicFramePr>
          <p:cNvPr id="6" name="Table 5">
            <a:extLst>
              <a:ext uri="{FF2B5EF4-FFF2-40B4-BE49-F238E27FC236}">
                <a16:creationId xmlns:a16="http://schemas.microsoft.com/office/drawing/2014/main" id="{A04967D5-7C4A-981A-5F7E-BAF2BFE4AA65}"/>
              </a:ext>
            </a:extLst>
          </p:cNvPr>
          <p:cNvGraphicFramePr>
            <a:graphicFrameLocks noGrp="1"/>
          </p:cNvGraphicFramePr>
          <p:nvPr>
            <p:extLst>
              <p:ext uri="{D42A27DB-BD31-4B8C-83A1-F6EECF244321}">
                <p14:modId xmlns:p14="http://schemas.microsoft.com/office/powerpoint/2010/main" val="795116682"/>
              </p:ext>
            </p:extLst>
          </p:nvPr>
        </p:nvGraphicFramePr>
        <p:xfrm>
          <a:off x="3689350" y="1984129"/>
          <a:ext cx="5279233" cy="1645920"/>
        </p:xfrm>
        <a:graphic>
          <a:graphicData uri="http://schemas.openxmlformats.org/drawingml/2006/table">
            <a:tbl>
              <a:tblPr firstRow="1" bandRow="1">
                <a:tableStyleId>{5940675A-B579-460E-94D1-54222C63F5DA}</a:tableStyleId>
              </a:tblPr>
              <a:tblGrid>
                <a:gridCol w="1521619">
                  <a:extLst>
                    <a:ext uri="{9D8B030D-6E8A-4147-A177-3AD203B41FA5}">
                      <a16:colId xmlns:a16="http://schemas.microsoft.com/office/drawing/2014/main" val="2220352691"/>
                    </a:ext>
                  </a:extLst>
                </a:gridCol>
                <a:gridCol w="1878807">
                  <a:extLst>
                    <a:ext uri="{9D8B030D-6E8A-4147-A177-3AD203B41FA5}">
                      <a16:colId xmlns:a16="http://schemas.microsoft.com/office/drawing/2014/main" val="1784567634"/>
                    </a:ext>
                  </a:extLst>
                </a:gridCol>
                <a:gridCol w="1878807">
                  <a:extLst>
                    <a:ext uri="{9D8B030D-6E8A-4147-A177-3AD203B41FA5}">
                      <a16:colId xmlns:a16="http://schemas.microsoft.com/office/drawing/2014/main" val="3647926281"/>
                    </a:ext>
                  </a:extLst>
                </a:gridCol>
              </a:tblGrid>
              <a:tr h="213307">
                <a:tc rowSpan="2">
                  <a:txBody>
                    <a:bodyPr/>
                    <a:lstStyle/>
                    <a:p>
                      <a:pPr algn="ctr"/>
                      <a:r>
                        <a:rPr lang="en-US" sz="1200" err="1">
                          <a:latin typeface="Aptos" panose="020B0004020202020204" pitchFamily="34" charset="0"/>
                        </a:rPr>
                        <a:t>Frekuensi</a:t>
                      </a:r>
                      <a:r>
                        <a:rPr lang="en-US" sz="1200">
                          <a:latin typeface="Aptos" panose="020B0004020202020204" pitchFamily="34" charset="0"/>
                        </a:rPr>
                        <a:t> </a:t>
                      </a:r>
                      <a:r>
                        <a:rPr lang="en-US" sz="1200" err="1">
                          <a:latin typeface="Aptos" panose="020B0004020202020204" pitchFamily="34" charset="0"/>
                        </a:rPr>
                        <a:t>Pembayaran</a:t>
                      </a:r>
                      <a:r>
                        <a:rPr lang="en-US" sz="1200">
                          <a:latin typeface="Aptos" panose="020B0004020202020204" pitchFamily="34" charset="0"/>
                        </a:rPr>
                        <a:t> Premi</a:t>
                      </a:r>
                    </a:p>
                  </a:txBody>
                  <a:tcPr anchor="ctr"/>
                </a:tc>
                <a:tc gridSpan="2">
                  <a:txBody>
                    <a:bodyPr/>
                    <a:lstStyle/>
                    <a:p>
                      <a:pPr algn="ctr"/>
                      <a:r>
                        <a:rPr lang="en-US" sz="1200">
                          <a:latin typeface="Aptos" panose="020B0004020202020204" pitchFamily="34" charset="0"/>
                        </a:rPr>
                        <a:t>Masa </a:t>
                      </a:r>
                      <a:r>
                        <a:rPr lang="en-US" sz="1200" err="1">
                          <a:latin typeface="Aptos" panose="020B0004020202020204" pitchFamily="34" charset="0"/>
                        </a:rPr>
                        <a:t>Pembayaran</a:t>
                      </a:r>
                      <a:r>
                        <a:rPr lang="en-US" sz="1200">
                          <a:latin typeface="Aptos" panose="020B0004020202020204" pitchFamily="34" charset="0"/>
                        </a:rPr>
                        <a:t> Premi</a:t>
                      </a:r>
                    </a:p>
                  </a:txBody>
                  <a:tcPr anchor="ctr"/>
                </a:tc>
                <a:tc hMerge="1">
                  <a:txBody>
                    <a:bodyPr/>
                    <a:lstStyle/>
                    <a:p>
                      <a:endParaRPr lang="en-US" sz="1200">
                        <a:latin typeface="Aptos" panose="020B0004020202020204" pitchFamily="34" charset="0"/>
                      </a:endParaRPr>
                    </a:p>
                  </a:txBody>
                  <a:tcPr/>
                </a:tc>
                <a:extLst>
                  <a:ext uri="{0D108BD9-81ED-4DB2-BD59-A6C34878D82A}">
                    <a16:rowId xmlns:a16="http://schemas.microsoft.com/office/drawing/2014/main" val="162919497"/>
                  </a:ext>
                </a:extLst>
              </a:tr>
              <a:tr h="213307">
                <a:tc vMerge="1">
                  <a:txBody>
                    <a:bodyPr/>
                    <a:lstStyle/>
                    <a:p>
                      <a:endParaRPr lang="en-US" sz="1200">
                        <a:latin typeface="Aptos" panose="020B0004020202020204" pitchFamily="34" charset="0"/>
                      </a:endParaRPr>
                    </a:p>
                  </a:txBody>
                  <a:tcPr/>
                </a:tc>
                <a:tc>
                  <a:txBody>
                    <a:bodyPr/>
                    <a:lstStyle/>
                    <a:p>
                      <a:pPr algn="ctr"/>
                      <a:r>
                        <a:rPr lang="en-US" sz="1200">
                          <a:latin typeface="Aptos" panose="020B0004020202020204" pitchFamily="34" charset="0"/>
                        </a:rPr>
                        <a:t>5 </a:t>
                      </a:r>
                      <a:r>
                        <a:rPr lang="en-US" sz="1200" err="1">
                          <a:latin typeface="Aptos" panose="020B0004020202020204" pitchFamily="34" charset="0"/>
                        </a:rPr>
                        <a:t>tahun</a:t>
                      </a:r>
                      <a:endParaRPr lang="en-US" sz="1200">
                        <a:latin typeface="Aptos" panose="020B0004020202020204" pitchFamily="34" charset="0"/>
                      </a:endParaRPr>
                    </a:p>
                  </a:txBody>
                  <a:tcPr/>
                </a:tc>
                <a:tc>
                  <a:txBody>
                    <a:bodyPr/>
                    <a:lstStyle/>
                    <a:p>
                      <a:pPr algn="ctr"/>
                      <a:r>
                        <a:rPr lang="en-US" sz="1200">
                          <a:latin typeface="Aptos" panose="020B0004020202020204" pitchFamily="34" charset="0"/>
                        </a:rPr>
                        <a:t>10 </a:t>
                      </a:r>
                      <a:r>
                        <a:rPr lang="en-US" sz="1200" err="1">
                          <a:latin typeface="Aptos" panose="020B0004020202020204" pitchFamily="34" charset="0"/>
                        </a:rPr>
                        <a:t>tahun</a:t>
                      </a:r>
                      <a:endParaRPr lang="en-US" sz="1200">
                        <a:latin typeface="Aptos" panose="020B0004020202020204" pitchFamily="34" charset="0"/>
                      </a:endParaRPr>
                    </a:p>
                  </a:txBody>
                  <a:tcPr/>
                </a:tc>
                <a:extLst>
                  <a:ext uri="{0D108BD9-81ED-4DB2-BD59-A6C34878D82A}">
                    <a16:rowId xmlns:a16="http://schemas.microsoft.com/office/drawing/2014/main" val="3440979518"/>
                  </a:ext>
                </a:extLst>
              </a:tr>
              <a:tr h="213307">
                <a:tc>
                  <a:txBody>
                    <a:bodyPr/>
                    <a:lstStyle/>
                    <a:p>
                      <a:pPr algn="ctr"/>
                      <a:r>
                        <a:rPr lang="en-US" sz="1200" err="1">
                          <a:latin typeface="Aptos" panose="020B0004020202020204" pitchFamily="34" charset="0"/>
                        </a:rPr>
                        <a:t>Tahunan</a:t>
                      </a:r>
                      <a:endParaRPr lang="en-US" sz="1200">
                        <a:latin typeface="Aptos" panose="020B0004020202020204" pitchFamily="34" charset="0"/>
                      </a:endParaRPr>
                    </a:p>
                  </a:txBody>
                  <a:tcP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Rp50.000.000/US$5.000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Rp25.000.000/US$2.500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44740887"/>
                  </a:ext>
                </a:extLst>
              </a:tr>
              <a:tr h="213307">
                <a:tc>
                  <a:txBody>
                    <a:bodyPr/>
                    <a:lstStyle/>
                    <a:p>
                      <a:pPr algn="ctr"/>
                      <a:r>
                        <a:rPr lang="en-US" sz="1200">
                          <a:latin typeface="Aptos" panose="020B0004020202020204" pitchFamily="34" charset="0"/>
                        </a:rPr>
                        <a:t>Semesteran</a:t>
                      </a:r>
                    </a:p>
                  </a:txBody>
                  <a:tcP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Rp25.000.000/US$2.500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Rp12.500.000/US$1.250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10286831"/>
                  </a:ext>
                </a:extLst>
              </a:tr>
              <a:tr h="213307">
                <a:tc>
                  <a:txBody>
                    <a:bodyPr/>
                    <a:lstStyle/>
                    <a:p>
                      <a:pPr algn="ctr"/>
                      <a:r>
                        <a:rPr lang="en-US" sz="1200" err="1">
                          <a:latin typeface="Aptos" panose="020B0004020202020204" pitchFamily="34" charset="0"/>
                        </a:rPr>
                        <a:t>Kuartalan</a:t>
                      </a:r>
                      <a:endParaRPr lang="en-US" sz="1200">
                        <a:latin typeface="Aptos" panose="020B0004020202020204" pitchFamily="34" charset="0"/>
                      </a:endParaRPr>
                    </a:p>
                  </a:txBody>
                  <a:tcP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Rp12.500.000/US$1.250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Rp6.250.000/US$625</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85005302"/>
                  </a:ext>
                </a:extLst>
              </a:tr>
              <a:tr h="213307">
                <a:tc>
                  <a:txBody>
                    <a:bodyPr/>
                    <a:lstStyle/>
                    <a:p>
                      <a:pPr algn="ctr"/>
                      <a:r>
                        <a:rPr lang="en-US" sz="1200" err="1">
                          <a:latin typeface="Aptos" panose="020B0004020202020204" pitchFamily="34" charset="0"/>
                        </a:rPr>
                        <a:t>Bulanan</a:t>
                      </a:r>
                      <a:endParaRPr lang="en-US" sz="1200">
                        <a:latin typeface="Aptos" panose="020B0004020202020204" pitchFamily="34" charset="0"/>
                      </a:endParaRPr>
                    </a:p>
                  </a:txBody>
                  <a:tcPr/>
                </a:tc>
                <a:tc>
                  <a:txBody>
                    <a:bodyPr/>
                    <a:lstStyle/>
                    <a:p>
                      <a:pPr marL="0" marR="48895" algn="ctr">
                        <a:lnSpc>
                          <a:spcPct val="115000"/>
                        </a:lnSpc>
                        <a:spcAft>
                          <a:spcPts val="800"/>
                        </a:spcAft>
                        <a:buNone/>
                      </a:pPr>
                      <a:r>
                        <a:rPr lang="id-ID" sz="1100" kern="0">
                          <a:effectLst/>
                          <a:latin typeface="Aptos" panose="020B0004020202020204" pitchFamily="34" charset="0"/>
                          <a:ea typeface="Aptos" panose="020B0004020202020204" pitchFamily="34" charset="0"/>
                          <a:cs typeface="Arial" panose="020B0604020202020204" pitchFamily="34" charset="0"/>
                        </a:rPr>
                        <a:t>Rp4.500.000/US$450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48895" algn="ctr">
                        <a:lnSpc>
                          <a:spcPct val="115000"/>
                        </a:lnSpc>
                        <a:spcAft>
                          <a:spcPts val="800"/>
                        </a:spcAft>
                        <a:buNone/>
                      </a:pPr>
                      <a:r>
                        <a:rPr lang="id-ID" sz="1100" kern="0" dirty="0">
                          <a:effectLst/>
                          <a:latin typeface="Aptos" panose="020B0004020202020204" pitchFamily="34" charset="0"/>
                          <a:ea typeface="Aptos" panose="020B0004020202020204" pitchFamily="34" charset="0"/>
                          <a:cs typeface="Arial" panose="020B0604020202020204" pitchFamily="34" charset="0"/>
                        </a:rPr>
                        <a:t>Rp2.500.000/US$250</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94086095"/>
                  </a:ext>
                </a:extLst>
              </a:tr>
            </a:tbl>
          </a:graphicData>
        </a:graphic>
      </p:graphicFrame>
    </p:spTree>
    <p:extLst>
      <p:ext uri="{BB962C8B-B14F-4D97-AF65-F5344CB8AC3E}">
        <p14:creationId xmlns:p14="http://schemas.microsoft.com/office/powerpoint/2010/main" val="2441215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5F33E-DEB9-2075-3C32-AF4116D5481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D4BD263-C52D-55D4-18CC-CEB6B2C8275D}"/>
              </a:ext>
            </a:extLst>
          </p:cNvPr>
          <p:cNvGraphicFramePr>
            <a:graphicFrameLocks noGrp="1"/>
          </p:cNvGraphicFramePr>
          <p:nvPr>
            <p:extLst>
              <p:ext uri="{D42A27DB-BD31-4B8C-83A1-F6EECF244321}">
                <p14:modId xmlns:p14="http://schemas.microsoft.com/office/powerpoint/2010/main" val="1551601209"/>
              </p:ext>
            </p:extLst>
          </p:nvPr>
        </p:nvGraphicFramePr>
        <p:xfrm>
          <a:off x="315380" y="713146"/>
          <a:ext cx="11561240" cy="6092860"/>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307248">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Mulai </a:t>
                      </a:r>
                      <a:r>
                        <a:rPr lang="en-US" sz="1400" b="1" i="0" strike="noStrike" err="1">
                          <a:solidFill>
                            <a:schemeClr val="bg1"/>
                          </a:solidFill>
                          <a:latin typeface="Aptos" panose="020B0004020202020204" pitchFamily="34" charset="0"/>
                        </a:rPr>
                        <a:t>Asuransi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50800" indent="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Asuransi berlaku pada Tanggal  Mulai Asuransi sebagaimana tercantum dalam Data Polis dan pembayaran Premi </a:t>
                      </a: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pertama telah </a:t>
                      </a:r>
                      <a:r>
                        <a:rPr lang="sv-SE" sz="1200">
                          <a:effectLst/>
                          <a:latin typeface="Aptos" panose="020B0004020202020204" pitchFamily="34" charset="0"/>
                          <a:ea typeface="Calibri" panose="020F0502020204030204" pitchFamily="34" charset="0"/>
                          <a:cs typeface="Arial" panose="020B0604020202020204" pitchFamily="34" charset="0"/>
                        </a:rPr>
                        <a:t>diterima oleh Penanggung.</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6745962"/>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Berakhirnya</a:t>
                      </a:r>
                      <a:r>
                        <a:rPr lang="en-US" sz="1400" b="1" i="0" strike="noStrike">
                          <a:solidFill>
                            <a:schemeClr val="bg1"/>
                          </a:solidFill>
                          <a:latin typeface="Aptos" panose="020B0004020202020204" pitchFamily="34" charset="0"/>
                        </a:rPr>
                        <a:t> </a:t>
                      </a:r>
                      <a:r>
                        <a:rPr lang="en-US" sz="1400" b="1" i="0" strike="noStrike" err="1">
                          <a:solidFill>
                            <a:schemeClr val="bg1"/>
                          </a:solidFill>
                          <a:latin typeface="Aptos" panose="020B0004020202020204" pitchFamily="34" charset="0"/>
                        </a:rPr>
                        <a:t>Asuransi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50800" indent="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Masa Pertanggungan akan berakhir apabila terpenuhi salah satu dari kondisi sebagai berikut (mana yang terlebih dahulu terjadi):</a:t>
                      </a:r>
                    </a:p>
                    <a:p>
                      <a:pPr marL="3429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a.	Polis berakhir karena:</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i.	Tertanggung Meninggal Dunia;</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ii.	Telah mencapai Tanggal Berakhir Asuransi sebagaimana tercantum dalam Data Polis; </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iii.	Penanggung melakukan pengakhiran Polis dengan merujuk kepada ketentuan Polis; </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iv.	Penanggung melakukan pengakhiran Polis karena Pemegang Polis tidak menyetujui perubahan Polis sebagaimana dijelaskan pada ketentuan Polis; </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v.	Pemegang Polis melakukan Penebusan Polis (</a:t>
                      </a:r>
                      <a:r>
                        <a:rPr lang="sv-SE" sz="1200" i="1">
                          <a:effectLst/>
                          <a:latin typeface="Aptos" panose="020B0004020202020204" pitchFamily="34" charset="0"/>
                          <a:ea typeface="Calibri" panose="020F0502020204030204" pitchFamily="34" charset="0"/>
                          <a:cs typeface="Arial" panose="020B0604020202020204" pitchFamily="34" charset="0"/>
                        </a:rPr>
                        <a:t>Surrender</a:t>
                      </a:r>
                      <a:r>
                        <a:rPr lang="sv-SE" sz="1200">
                          <a:effectLst/>
                          <a:latin typeface="Aptos" panose="020B0004020202020204" pitchFamily="34" charset="0"/>
                          <a:ea typeface="Calibri" panose="020F0502020204030204" pitchFamily="34" charset="0"/>
                          <a:cs typeface="Arial" panose="020B0604020202020204" pitchFamily="34" charset="0"/>
                        </a:rPr>
                        <a:t>); </a:t>
                      </a:r>
                    </a:p>
                    <a:p>
                      <a:pPr marL="685800" marR="50800" indent="-342900" algn="just">
                        <a:lnSpc>
                          <a:spcPct val="107000"/>
                        </a:lnSpc>
                        <a:spcAft>
                          <a:spcPts val="0"/>
                        </a:spcAft>
                        <a:buFont typeface="+mj-lt"/>
                        <a:buAutoNum type="romanLcPeriod" startAt="6"/>
                      </a:pPr>
                      <a:r>
                        <a:rPr lang="sv-SE" sz="1200">
                          <a:effectLst/>
                          <a:latin typeface="Aptos" panose="020B0004020202020204" pitchFamily="34" charset="0"/>
                          <a:ea typeface="Calibri" panose="020F0502020204030204" pitchFamily="34" charset="0"/>
                          <a:cs typeface="Arial" panose="020B0604020202020204" pitchFamily="34" charset="0"/>
                        </a:rPr>
                        <a:t>Pemegang Polis tidak melakukan pembayaran Premi asuransi sampai dengan Masa Tenggang </a:t>
                      </a:r>
                      <a:r>
                        <a:rPr lang="sv-SE" sz="1200" i="1">
                          <a:effectLst/>
                          <a:latin typeface="Aptos" panose="020B0004020202020204" pitchFamily="34" charset="0"/>
                          <a:ea typeface="Calibri" panose="020F0502020204030204" pitchFamily="34" charset="0"/>
                          <a:cs typeface="Arial" panose="020B0604020202020204" pitchFamily="34" charset="0"/>
                        </a:rPr>
                        <a:t>(Grace Period) </a:t>
                      </a:r>
                      <a:r>
                        <a:rPr lang="sv-SE" sz="1200" i="0">
                          <a:effectLst/>
                          <a:latin typeface="Aptos" panose="020B0004020202020204" pitchFamily="34" charset="0"/>
                          <a:ea typeface="Calibri" panose="020F0502020204030204" pitchFamily="34" charset="0"/>
                          <a:cs typeface="Arial" panose="020B0604020202020204" pitchFamily="34" charset="0"/>
                        </a:rPr>
                        <a:t>berakhir; </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viii.	Adanya keterangan, pernyataan, pemberitahuan atau informasi lain yang tidak benar, tidak lengkap, dan tidak akurat atau tidak sesuai dengan keadaan atau kondisi sebenarnya atau sengaja dipalsukan yang diberikan oleh Nasabah kepada Penanggung setelah Masa Pertanggungan dimulai, termasuk namun tidak terbatas pada saat pengajuan klaim; atau</a:t>
                      </a:r>
                    </a:p>
                    <a:p>
                      <a:pPr marL="685800" marR="50800" indent="-342900" algn="just">
                        <a:lnSpc>
                          <a:spcPct val="107000"/>
                        </a:lnSpc>
                        <a:spcAft>
                          <a:spcPts val="0"/>
                        </a:spcAft>
                        <a:buFont typeface="+mj-lt"/>
                        <a:buNone/>
                      </a:pPr>
                      <a:endParaRPr lang="sv-SE" sz="1200">
                        <a:effectLst/>
                        <a:latin typeface="Aptos" panose="020B0004020202020204" pitchFamily="34" charset="0"/>
                        <a:ea typeface="Calibri" panose="020F0502020204030204" pitchFamily="34" charset="0"/>
                        <a:cs typeface="Arial" panose="020B0604020202020204" pitchFamily="34" charset="0"/>
                      </a:endParaRPr>
                    </a:p>
                    <a:p>
                      <a:pPr marL="3429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b.	Polis batal karena:</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i.	Penanggung melakukan pembatalan Polis dengan merujuk kepada ketentuan Polis; atau</a:t>
                      </a:r>
                    </a:p>
                    <a:p>
                      <a:pPr marL="685800" marR="50800" indent="-342900" algn="just">
                        <a:lnSpc>
                          <a:spcPct val="107000"/>
                        </a:lnSpc>
                        <a:spcAft>
                          <a:spcPts val="0"/>
                        </a:spcAft>
                        <a:buFont typeface="+mj-lt"/>
                        <a:buNone/>
                      </a:pPr>
                      <a:r>
                        <a:rPr lang="sv-SE" sz="1200">
                          <a:effectLst/>
                          <a:latin typeface="Aptos" panose="020B0004020202020204" pitchFamily="34" charset="0"/>
                          <a:ea typeface="Calibri" panose="020F0502020204030204" pitchFamily="34" charset="0"/>
                          <a:cs typeface="Arial" panose="020B0604020202020204" pitchFamily="34" charset="0"/>
                        </a:rPr>
                        <a:t>ii.	Pemegang Polis melakukan pembatalan Polis pada Masa Pemahaman Polis </a:t>
                      </a:r>
                      <a:r>
                        <a:rPr lang="sv-SE" sz="1200" i="1">
                          <a:effectLst/>
                          <a:latin typeface="Aptos" panose="020B0004020202020204" pitchFamily="34" charset="0"/>
                          <a:ea typeface="Calibri" panose="020F0502020204030204" pitchFamily="34" charset="0"/>
                          <a:cs typeface="Arial" panose="020B0604020202020204" pitchFamily="34" charset="0"/>
                        </a:rPr>
                        <a:t>(Free Look Period) </a:t>
                      </a:r>
                      <a:r>
                        <a:rPr lang="sv-SE" sz="1200">
                          <a:effectLst/>
                          <a:latin typeface="Aptos" panose="020B0004020202020204" pitchFamily="34" charset="0"/>
                          <a:ea typeface="Calibri" panose="020F0502020204030204" pitchFamily="34" charset="0"/>
                          <a:cs typeface="Arial" panose="020B0604020202020204" pitchFamily="34" charset="0"/>
                        </a:rPr>
                        <a:t>dengan merujuk kepada ketentuan Polis.</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1715734"/>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Pemahaman</a:t>
                      </a:r>
                      <a:r>
                        <a:rPr lang="en-US" sz="1400" b="1" i="0" strike="noStrike">
                          <a:solidFill>
                            <a:schemeClr val="bg1"/>
                          </a:solidFill>
                          <a:latin typeface="Aptos" panose="020B0004020202020204" pitchFamily="34" charset="0"/>
                        </a:rPr>
                        <a:t> Polis </a:t>
                      </a:r>
                      <a:r>
                        <a:rPr lang="en-US" sz="1400" b="1" i="1" strike="noStrike">
                          <a:solidFill>
                            <a:schemeClr val="bg1"/>
                          </a:solidFill>
                          <a:latin typeface="Aptos" panose="020B0004020202020204" pitchFamily="34" charset="0"/>
                        </a:rPr>
                        <a:t>(Free Look Period)</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228600" marR="50800" indent="-228600" algn="just">
                        <a:lnSpc>
                          <a:spcPct val="107000"/>
                        </a:lnSpc>
                        <a:spcAft>
                          <a:spcPts val="0"/>
                        </a:spcAft>
                        <a:buFont typeface="+mj-lt"/>
                        <a:buNone/>
                      </a:pP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14 (empat belas) Hari Kerja sejak tanggal Polis diterima.</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42934547"/>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Tunggu</a:t>
                      </a:r>
                      <a:r>
                        <a:rPr lang="en-US" sz="1400" b="1" i="0" strike="noStrike">
                          <a:solidFill>
                            <a:schemeClr val="bg1"/>
                          </a:solidFill>
                          <a:latin typeface="Aptos" panose="020B0004020202020204" pitchFamily="34" charset="0"/>
                        </a:rPr>
                        <a:t> (</a:t>
                      </a:r>
                      <a:r>
                        <a:rPr lang="en-US" sz="1400" b="1" i="1" strike="noStrike">
                          <a:solidFill>
                            <a:schemeClr val="bg1"/>
                          </a:solidFill>
                          <a:latin typeface="Aptos" panose="020B0004020202020204" pitchFamily="34" charset="0"/>
                        </a:rPr>
                        <a:t>Waiting Period</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50800" indent="0" algn="just">
                        <a:lnSpc>
                          <a:spcPct val="107000"/>
                        </a:lnSpc>
                        <a:spcAft>
                          <a:spcPts val="0"/>
                        </a:spcAft>
                        <a:buFont typeface="+mj-lt"/>
                        <a:buNone/>
                      </a:pP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Tidak terdapat Masa Tunggu (</a:t>
                      </a:r>
                      <a:r>
                        <a:rPr lang="sv-SE" sz="1200" i="1">
                          <a:solidFill>
                            <a:schemeClr val="tx1"/>
                          </a:solidFill>
                          <a:effectLst/>
                          <a:latin typeface="Aptos" panose="020B0004020202020204" pitchFamily="34" charset="0"/>
                          <a:ea typeface="Calibri" panose="020F0502020204030204" pitchFamily="34" charset="0"/>
                          <a:cs typeface="Arial" panose="020B0604020202020204" pitchFamily="34" charset="0"/>
                        </a:rPr>
                        <a:t>Waiting Period</a:t>
                      </a: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a:t>
                      </a:r>
                      <a:r>
                        <a:rPr lang="sv-SE" sz="1200" i="0">
                          <a:solidFill>
                            <a:schemeClr val="tx1"/>
                          </a:solidFill>
                          <a:effectLst/>
                          <a:latin typeface="Aptos" panose="020B0004020202020204" pitchFamily="34" charset="0"/>
                          <a:ea typeface="Calibri" panose="020F0502020204030204" pitchFamily="34" charset="0"/>
                          <a:cs typeface="Arial" panose="020B0604020202020204" pitchFamily="34" charset="0"/>
                        </a:rPr>
                        <a:t>.</a:t>
                      </a:r>
                      <a:endPar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61634863"/>
                  </a:ext>
                </a:extLst>
              </a:tr>
              <a:tr h="246161">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Tenggang</a:t>
                      </a:r>
                      <a:r>
                        <a:rPr lang="en-US" sz="1400" b="1" i="0" strike="noStrike">
                          <a:solidFill>
                            <a:schemeClr val="bg1"/>
                          </a:solidFill>
                          <a:latin typeface="Aptos" panose="020B0004020202020204" pitchFamily="34" charset="0"/>
                        </a:rPr>
                        <a:t> (</a:t>
                      </a:r>
                      <a:r>
                        <a:rPr lang="en-US" sz="1400" b="1" i="1" strike="noStrike">
                          <a:solidFill>
                            <a:schemeClr val="bg1"/>
                          </a:solidFill>
                          <a:latin typeface="Aptos" panose="020B0004020202020204" pitchFamily="34" charset="0"/>
                        </a:rPr>
                        <a:t>Grace Period</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just"/>
                      <a:r>
                        <a:rPr lang="id-ID" sz="1200" kern="1200">
                          <a:solidFill>
                            <a:schemeClr val="tx1"/>
                          </a:solidFill>
                          <a:effectLst/>
                          <a:latin typeface="Aptos" panose="020B0004020202020204" pitchFamily="34" charset="0"/>
                          <a:ea typeface="+mn-ea"/>
                          <a:cs typeface="+mn-cs"/>
                        </a:rPr>
                        <a:t>45 (empat puluh lima) Hari terhitung sejak tanggal jatuh tempo pembayaran Premi</a:t>
                      </a:r>
                      <a:r>
                        <a:rPr lang="en-US" sz="1200" kern="1200">
                          <a:solidFill>
                            <a:schemeClr val="tx1"/>
                          </a:solidFill>
                          <a:effectLst/>
                          <a:latin typeface="Aptos" panose="020B0004020202020204" pitchFamily="34" charset="0"/>
                          <a:ea typeface="+mn-ea"/>
                          <a:cs typeface="+mn-cs"/>
                        </a:rPr>
                        <a:t>.</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2468430"/>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Pemulihan</a:t>
                      </a:r>
                      <a:r>
                        <a:rPr lang="en-US" sz="1400" b="1" i="0" strike="noStrike">
                          <a:solidFill>
                            <a:schemeClr val="bg1"/>
                          </a:solidFill>
                          <a:latin typeface="Aptos" panose="020B0004020202020204" pitchFamily="34" charset="0"/>
                        </a:rPr>
                        <a:t> Polis (</a:t>
                      </a:r>
                      <a:r>
                        <a:rPr lang="en-US" sz="1400" b="1" i="1" strike="noStrike">
                          <a:solidFill>
                            <a:schemeClr val="bg1"/>
                          </a:solidFill>
                          <a:latin typeface="Aptos" panose="020B0004020202020204" pitchFamily="34" charset="0"/>
                        </a:rPr>
                        <a:t>Reinstatement</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algn="just"/>
                      <a:r>
                        <a:rPr lang="en-US" sz="1200" kern="1200" err="1">
                          <a:solidFill>
                            <a:schemeClr val="tx1"/>
                          </a:solidFill>
                          <a:effectLst/>
                          <a:latin typeface="Aptos" panose="020B0004020202020204" pitchFamily="34" charset="0"/>
                          <a:ea typeface="+mn-ea"/>
                          <a:cs typeface="+mn-cs"/>
                        </a:rPr>
                        <a:t>Pemulihan</a:t>
                      </a:r>
                      <a:r>
                        <a:rPr lang="en-US" sz="1200" kern="1200">
                          <a:solidFill>
                            <a:schemeClr val="tx1"/>
                          </a:solidFill>
                          <a:effectLst/>
                          <a:latin typeface="Aptos" panose="020B0004020202020204" pitchFamily="34" charset="0"/>
                          <a:ea typeface="+mn-ea"/>
                          <a:cs typeface="+mn-cs"/>
                        </a:rPr>
                        <a:t> Polis </a:t>
                      </a:r>
                      <a:r>
                        <a:rPr lang="en-US" sz="1200" i="1" kern="1200">
                          <a:solidFill>
                            <a:schemeClr val="tx1"/>
                          </a:solidFill>
                          <a:effectLst/>
                          <a:latin typeface="Aptos" panose="020B0004020202020204" pitchFamily="34" charset="0"/>
                          <a:ea typeface="+mn-ea"/>
                          <a:cs typeface="+mn-cs"/>
                        </a:rPr>
                        <a:t>(Reinstatement) </a:t>
                      </a:r>
                      <a:r>
                        <a:rPr lang="en-US" sz="1200" kern="1200" err="1">
                          <a:solidFill>
                            <a:schemeClr val="tx1"/>
                          </a:solidFill>
                          <a:effectLst/>
                          <a:latin typeface="Aptos" panose="020B0004020202020204" pitchFamily="34" charset="0"/>
                          <a:ea typeface="+mn-ea"/>
                          <a:cs typeface="+mn-cs"/>
                        </a:rPr>
                        <a:t>diajukan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tidak</a:t>
                      </a:r>
                      <a:r>
                        <a:rPr lang="en-US" sz="1200" kern="1200">
                          <a:solidFill>
                            <a:schemeClr val="tx1"/>
                          </a:solidFill>
                          <a:effectLst/>
                          <a:latin typeface="Aptos" panose="020B0004020202020204" pitchFamily="34" charset="0"/>
                          <a:ea typeface="+mn-ea"/>
                          <a:cs typeface="+mn-cs"/>
                        </a:rPr>
                        <a:t> lebih </a:t>
                      </a:r>
                      <a:r>
                        <a:rPr lang="en-US" sz="1200" kern="1200" err="1">
                          <a:solidFill>
                            <a:schemeClr val="tx1"/>
                          </a:solidFill>
                          <a:effectLst/>
                          <a:latin typeface="Aptos" panose="020B0004020202020204" pitchFamily="34" charset="0"/>
                          <a:ea typeface="+mn-ea"/>
                          <a:cs typeface="+mn-cs"/>
                        </a:rPr>
                        <a:t>dari</a:t>
                      </a:r>
                      <a:r>
                        <a:rPr lang="en-US" sz="1200" kern="1200">
                          <a:solidFill>
                            <a:schemeClr val="tx1"/>
                          </a:solidFill>
                          <a:effectLst/>
                          <a:latin typeface="Aptos" panose="020B0004020202020204" pitchFamily="34" charset="0"/>
                          <a:ea typeface="+mn-ea"/>
                          <a:cs typeface="+mn-cs"/>
                        </a:rPr>
                        <a:t> 180 (</a:t>
                      </a:r>
                      <a:r>
                        <a:rPr lang="en-US" sz="1200" kern="1200" err="1">
                          <a:solidFill>
                            <a:schemeClr val="tx1"/>
                          </a:solidFill>
                          <a:effectLst/>
                          <a:latin typeface="Aptos" panose="020B0004020202020204" pitchFamily="34" charset="0"/>
                          <a:ea typeface="+mn-ea"/>
                          <a:cs typeface="+mn-cs"/>
                        </a:rPr>
                        <a:t>seratus</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delapan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puluh</a:t>
                      </a:r>
                      <a:r>
                        <a:rPr lang="en-US" sz="1200" kern="1200">
                          <a:solidFill>
                            <a:schemeClr val="tx1"/>
                          </a:solidFill>
                          <a:effectLst/>
                          <a:latin typeface="Aptos" panose="020B0004020202020204" pitchFamily="34" charset="0"/>
                          <a:ea typeface="+mn-ea"/>
                          <a:cs typeface="+mn-cs"/>
                        </a:rPr>
                        <a:t>) Hari </a:t>
                      </a:r>
                      <a:r>
                        <a:rPr lang="en-US" sz="1200" kern="1200" err="1">
                          <a:solidFill>
                            <a:schemeClr val="tx1"/>
                          </a:solidFill>
                          <a:effectLst/>
                          <a:latin typeface="Aptos" panose="020B0004020202020204" pitchFamily="34" charset="0"/>
                          <a:ea typeface="+mn-ea"/>
                          <a:cs typeface="+mn-cs"/>
                        </a:rPr>
                        <a:t>dari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tanggal</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Tidak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Aktif</a:t>
                      </a:r>
                      <a:r>
                        <a:rPr lang="en-US" sz="1200" kern="1200">
                          <a:solidFill>
                            <a:schemeClr val="tx1"/>
                          </a:solidFill>
                          <a:effectLst/>
                          <a:latin typeface="Aptos" panose="020B0004020202020204" pitchFamily="34" charset="0"/>
                          <a:ea typeface="+mn-ea"/>
                          <a:cs typeface="+mn-cs"/>
                        </a:rPr>
                        <a:t> </a:t>
                      </a:r>
                      <a:r>
                        <a:rPr lang="en-US" sz="1200" i="1" kern="1200">
                          <a:solidFill>
                            <a:schemeClr val="tx1"/>
                          </a:solidFill>
                          <a:effectLst/>
                          <a:latin typeface="Aptos" panose="020B0004020202020204" pitchFamily="34" charset="0"/>
                          <a:ea typeface="+mn-ea"/>
                          <a:cs typeface="+mn-cs"/>
                        </a:rPr>
                        <a:t>(Lapse).</a:t>
                      </a:r>
                      <a:endPar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1078730"/>
                  </a:ext>
                </a:extLst>
              </a:tr>
            </a:tbl>
          </a:graphicData>
        </a:graphic>
      </p:graphicFrame>
      <p:sp>
        <p:nvSpPr>
          <p:cNvPr id="2" name="Title 1">
            <a:extLst>
              <a:ext uri="{FF2B5EF4-FFF2-40B4-BE49-F238E27FC236}">
                <a16:creationId xmlns:a16="http://schemas.microsoft.com/office/drawing/2014/main" id="{FABC9A8B-F288-9B89-F408-ADB6A8D53C14}"/>
              </a:ext>
            </a:extLst>
          </p:cNvPr>
          <p:cNvSpPr txBox="1">
            <a:spLocks/>
          </p:cNvSpPr>
          <p:nvPr/>
        </p:nvSpPr>
        <p:spPr>
          <a:xfrm>
            <a:off x="2974975" y="150810"/>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FITUR PRODUK Value Income Assurance (VALUE+)</a:t>
            </a:r>
          </a:p>
        </p:txBody>
      </p:sp>
    </p:spTree>
    <p:extLst>
      <p:ext uri="{BB962C8B-B14F-4D97-AF65-F5344CB8AC3E}">
        <p14:creationId xmlns:p14="http://schemas.microsoft.com/office/powerpoint/2010/main" val="3325540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F718-979C-6A38-90CC-2DA783B928C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81CB2E6-A2CC-2B19-F036-19D39C28B2DC}"/>
                  </a:ext>
                </a:extLst>
              </p:cNvPr>
              <p:cNvGraphicFramePr>
                <a:graphicFrameLocks noGrp="1"/>
              </p:cNvGraphicFramePr>
              <p:nvPr>
                <p:extLst>
                  <p:ext uri="{D42A27DB-BD31-4B8C-83A1-F6EECF244321}">
                    <p14:modId xmlns:p14="http://schemas.microsoft.com/office/powerpoint/2010/main" val="927518484"/>
                  </p:ext>
                </p:extLst>
              </p:nvPr>
            </p:nvGraphicFramePr>
            <p:xfrm>
              <a:off x="315380" y="984611"/>
              <a:ext cx="11561240" cy="5456146"/>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307248">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Penebusan</a:t>
                          </a:r>
                          <a:r>
                            <a:rPr lang="en-US" sz="1400" b="1" i="0" strike="noStrike">
                              <a:solidFill>
                                <a:schemeClr val="bg1"/>
                              </a:solidFill>
                              <a:latin typeface="Aptos" panose="020B0004020202020204" pitchFamily="34" charset="0"/>
                            </a:rPr>
                            <a:t> Polis (</a:t>
                          </a:r>
                          <a:r>
                            <a:rPr lang="en-US" sz="1400" b="1" i="1" strike="noStrike">
                              <a:solidFill>
                                <a:schemeClr val="bg1"/>
                              </a:solidFill>
                              <a:latin typeface="Aptos" panose="020B0004020202020204" pitchFamily="34" charset="0"/>
                            </a:rPr>
                            <a:t>Surrender</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342900" marR="50800" indent="-342900" algn="just">
                            <a:lnSpc>
                              <a:spcPct val="107000"/>
                            </a:lnSpc>
                            <a:spcAft>
                              <a:spcPts val="0"/>
                            </a:spcAft>
                            <a:buFont typeface="+mj-lt"/>
                            <a:buAutoNum type="arabicPeriod"/>
                          </a:pPr>
                          <a:r>
                            <a:rPr lang="sv-SE" sz="1200">
                              <a:effectLst/>
                              <a:latin typeface="Aptos" panose="020B0004020202020204" pitchFamily="34" charset="0"/>
                              <a:ea typeface="Calibri" panose="020F0502020204030204" pitchFamily="34" charset="0"/>
                              <a:cs typeface="Arial" panose="020B0604020202020204" pitchFamily="34" charset="0"/>
                            </a:rPr>
                            <a:t>Selama Polis aktif dan Tertanggung masih hidup, Pemegang Polis dapat mengajukan Penebusan Polis </a:t>
                          </a:r>
                          <a:r>
                            <a:rPr lang="sv-SE" sz="1200" i="1">
                              <a:effectLst/>
                              <a:latin typeface="Aptos" panose="020B0004020202020204" pitchFamily="34" charset="0"/>
                              <a:ea typeface="Calibri" panose="020F0502020204030204" pitchFamily="34" charset="0"/>
                              <a:cs typeface="Arial" panose="020B0604020202020204" pitchFamily="34" charset="0"/>
                            </a:rPr>
                            <a:t>(Surrender)</a:t>
                          </a:r>
                          <a:r>
                            <a:rPr lang="sv-SE" sz="1200">
                              <a:effectLst/>
                              <a:latin typeface="Aptos" panose="020B0004020202020204" pitchFamily="34" charset="0"/>
                              <a:ea typeface="Calibri" panose="020F0502020204030204" pitchFamily="34" charset="0"/>
                              <a:cs typeface="Arial" panose="020B0604020202020204" pitchFamily="34" charset="0"/>
                            </a:rPr>
                            <a:t>.</a:t>
                          </a:r>
                        </a:p>
                        <a:p>
                          <a:pPr marL="342900" marR="50800" indent="-342900" algn="just">
                            <a:lnSpc>
                              <a:spcPct val="107000"/>
                            </a:lnSpc>
                            <a:spcAft>
                              <a:spcPts val="0"/>
                            </a:spcAft>
                            <a:buFont typeface="+mj-lt"/>
                            <a:buAutoNum type="arabicPeriod"/>
                          </a:pPr>
                          <a:endParaRPr lang="en-US" sz="1200" kern="1200">
                            <a:solidFill>
                              <a:schemeClr val="tx1"/>
                            </a:solidFill>
                            <a:effectLst/>
                            <a:latin typeface="Aptos" panose="020B0004020202020204" pitchFamily="34" charset="0"/>
                            <a:ea typeface="+mn-ea"/>
                            <a:cs typeface="+mn-cs"/>
                          </a:endParaRPr>
                        </a:p>
                        <a:p>
                          <a:pPr marL="342900" marR="50800" indent="-342900" algn="just">
                            <a:lnSpc>
                              <a:spcPct val="107000"/>
                            </a:lnSpc>
                            <a:spcAft>
                              <a:spcPts val="0"/>
                            </a:spcAft>
                            <a:buFont typeface="+mj-lt"/>
                            <a:buAutoNum type="arabicPeriod"/>
                          </a:pPr>
                          <a:r>
                            <a:rPr lang="id-ID" sz="1200" kern="1200">
                              <a:solidFill>
                                <a:schemeClr val="tx1"/>
                              </a:solidFill>
                              <a:effectLst/>
                              <a:latin typeface="Aptos" panose="020B0004020202020204" pitchFamily="34" charset="0"/>
                              <a:ea typeface="+mn-ea"/>
                              <a:cs typeface="+mn-cs"/>
                            </a:rPr>
                            <a:t>Atas permohonan Penebusan Polis </a:t>
                          </a:r>
                          <a:r>
                            <a:rPr lang="sv-SE" sz="1200" i="1">
                              <a:effectLst/>
                              <a:latin typeface="Aptos" panose="020B0004020202020204" pitchFamily="34" charset="0"/>
                              <a:ea typeface="Calibri" panose="020F0502020204030204" pitchFamily="34" charset="0"/>
                              <a:cs typeface="Arial" panose="020B0604020202020204" pitchFamily="34" charset="0"/>
                            </a:rPr>
                            <a:t>(Surrender)</a:t>
                          </a:r>
                          <a:r>
                            <a:rPr lang="id-ID" sz="1200" kern="1200">
                              <a:solidFill>
                                <a:schemeClr val="tx1"/>
                              </a:solidFill>
                              <a:effectLst/>
                              <a:latin typeface="Aptos" panose="020B0004020202020204" pitchFamily="34" charset="0"/>
                              <a:ea typeface="+mn-ea"/>
                              <a:cs typeface="+mn-cs"/>
                            </a:rPr>
                            <a:t>, maka Penanggung akan membayarkan Nilai Tebus pada saat Penanggung menyetujui Penebusan Polis </a:t>
                          </a:r>
                          <a:r>
                            <a:rPr lang="sv-SE" sz="1200" i="1">
                              <a:effectLst/>
                              <a:latin typeface="Aptos" panose="020B0004020202020204" pitchFamily="34" charset="0"/>
                              <a:ea typeface="Calibri" panose="020F0502020204030204" pitchFamily="34" charset="0"/>
                              <a:cs typeface="Arial" panose="020B0604020202020204" pitchFamily="34" charset="0"/>
                            </a:rPr>
                            <a:t>(Surrender)</a:t>
                          </a:r>
                          <a:r>
                            <a:rPr lang="id-ID" sz="1200" kern="1200">
                              <a:solidFill>
                                <a:schemeClr val="tx1"/>
                              </a:solidFill>
                              <a:effectLst/>
                              <a:latin typeface="Aptos" panose="020B0004020202020204" pitchFamily="34" charset="0"/>
                              <a:ea typeface="+mn-ea"/>
                              <a:cs typeface="+mn-cs"/>
                            </a:rPr>
                            <a:t> dan selanjutnya Polis berakhir.</a:t>
                          </a:r>
                          <a:endParaRPr lang="en-US" sz="1200" kern="1200">
                            <a:solidFill>
                              <a:schemeClr val="tx1"/>
                            </a:solidFill>
                            <a:effectLst/>
                            <a:latin typeface="Aptos" panose="020B0004020202020204" pitchFamily="34" charset="0"/>
                            <a:ea typeface="+mn-ea"/>
                            <a:cs typeface="+mn-cs"/>
                          </a:endParaRPr>
                        </a:p>
                        <a:p>
                          <a:pPr marL="342900" marR="50800" indent="0" algn="just">
                            <a:lnSpc>
                              <a:spcPct val="107000"/>
                            </a:lnSpc>
                            <a:spcAft>
                              <a:spcPts val="0"/>
                            </a:spcAft>
                            <a:buFont typeface="+mj-lt"/>
                            <a:buNone/>
                          </a:pPr>
                          <a:r>
                            <a:rPr lang="id-ID" sz="1200" kern="1200">
                              <a:solidFill>
                                <a:schemeClr val="tx1"/>
                              </a:solidFill>
                              <a:effectLst/>
                              <a:latin typeface="Aptos" panose="020B0004020202020204" pitchFamily="34" charset="0"/>
                              <a:ea typeface="+mn-ea"/>
                              <a:cs typeface="+mn-cs"/>
                            </a:rPr>
                            <a:t>Besaran Nilai Tebus akan dihitung dengan rumusan sebagai berikut:</a:t>
                          </a:r>
                          <a:endParaRPr lang="en-US" sz="1200" kern="1200">
                            <a:solidFill>
                              <a:schemeClr val="tx1"/>
                            </a:solidFill>
                            <a:effectLst/>
                            <a:latin typeface="Aptos" panose="020B0004020202020204" pitchFamily="34" charset="0"/>
                            <a:ea typeface="+mn-ea"/>
                            <a:cs typeface="+mn-cs"/>
                          </a:endParaRPr>
                        </a:p>
                        <a:p>
                          <a:pPr marL="355600" marR="50800" lvl="0" indent="0" algn="just" defTabSz="914400" rtl="0" eaLnBrk="1" fontAlgn="auto" latinLnBrk="0" hangingPunct="1">
                            <a:lnSpc>
                              <a:spcPct val="107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r>
                                  <m:rPr>
                                    <m:sty m:val="p"/>
                                  </m:rPr>
                                  <a:rPr lang="id-ID" sz="1200" kern="1200" smtClean="0">
                                    <a:solidFill>
                                      <a:schemeClr val="tx1"/>
                                    </a:solidFill>
                                    <a:effectLst/>
                                    <a:latin typeface="Cambria Math" panose="02040503050406030204" pitchFamily="18" charset="0"/>
                                    <a:ea typeface="+mn-ea"/>
                                    <a:cs typeface="+mn-cs"/>
                                  </a:rPr>
                                  <m:t>NP</m:t>
                                </m:r>
                                <m:d>
                                  <m:dPr>
                                    <m:ctrlPr>
                                      <a:rPr lang="en-US" sz="1200" i="1" kern="1200">
                                        <a:solidFill>
                                          <a:schemeClr val="tx1"/>
                                        </a:solidFill>
                                        <a:effectLst/>
                                        <a:latin typeface="Cambria Math" panose="02040503050406030204" pitchFamily="18" charset="0"/>
                                        <a:ea typeface="+mn-ea"/>
                                        <a:cs typeface="+mn-cs"/>
                                      </a:rPr>
                                    </m:ctrlPr>
                                  </m:dPr>
                                  <m:e>
                                    <m:r>
                                      <m:rPr>
                                        <m:sty m:val="p"/>
                                      </m:rPr>
                                      <a:rPr lang="id-ID" sz="1200" kern="1200">
                                        <a:solidFill>
                                          <a:schemeClr val="tx1"/>
                                        </a:solidFill>
                                        <a:effectLst/>
                                        <a:latin typeface="Cambria Math" panose="02040503050406030204" pitchFamily="18" charset="0"/>
                                        <a:ea typeface="+mn-ea"/>
                                        <a:cs typeface="+mn-cs"/>
                                      </a:rPr>
                                      <m:t>t</m:t>
                                    </m:r>
                                  </m:e>
                                </m:d>
                                <m:r>
                                  <a:rPr lang="id-ID" sz="1200" kern="1200">
                                    <a:solidFill>
                                      <a:schemeClr val="tx1"/>
                                    </a:solidFill>
                                    <a:effectLst/>
                                    <a:latin typeface="Cambria Math" panose="02040503050406030204" pitchFamily="18" charset="0"/>
                                    <a:ea typeface="+mn-ea"/>
                                    <a:cs typeface="+mn-cs"/>
                                  </a:rPr>
                                  <m:t>=</m:t>
                                </m:r>
                                <m:d>
                                  <m:dPr>
                                    <m:begChr m:val="{"/>
                                    <m:endChr m:val="}"/>
                                    <m:ctrlPr>
                                      <a:rPr lang="en-US" sz="1200" i="1" kern="1200">
                                        <a:solidFill>
                                          <a:schemeClr val="tx1"/>
                                        </a:solidFill>
                                        <a:effectLst/>
                                        <a:latin typeface="Cambria Math" panose="02040503050406030204" pitchFamily="18" charset="0"/>
                                        <a:ea typeface="+mn-ea"/>
                                        <a:cs typeface="+mn-cs"/>
                                      </a:rPr>
                                    </m:ctrlPr>
                                  </m:dPr>
                                  <m:e>
                                    <m:r>
                                      <m:rPr>
                                        <m:sty m:val="p"/>
                                      </m:rPr>
                                      <a:rPr lang="id-ID" sz="1200" kern="1200">
                                        <a:solidFill>
                                          <a:schemeClr val="tx1"/>
                                        </a:solidFill>
                                        <a:effectLst/>
                                        <a:latin typeface="Cambria Math" panose="02040503050406030204" pitchFamily="18" charset="0"/>
                                        <a:ea typeface="+mn-ea"/>
                                        <a:cs typeface="+mn-cs"/>
                                      </a:rPr>
                                      <m:t>FP</m:t>
                                    </m:r>
                                    <m:d>
                                      <m:dPr>
                                        <m:ctrlPr>
                                          <a:rPr lang="en-US" sz="1200" i="1" kern="1200">
                                            <a:solidFill>
                                              <a:schemeClr val="tx1"/>
                                            </a:solidFill>
                                            <a:effectLst/>
                                            <a:latin typeface="Cambria Math" panose="02040503050406030204" pitchFamily="18" charset="0"/>
                                            <a:ea typeface="+mn-ea"/>
                                            <a:cs typeface="+mn-cs"/>
                                          </a:rPr>
                                        </m:ctrlPr>
                                      </m:dPr>
                                      <m:e>
                                        <m:r>
                                          <m:rPr>
                                            <m:sty m:val="p"/>
                                          </m:rPr>
                                          <a:rPr lang="id-ID" sz="1200" kern="1200">
                                            <a:solidFill>
                                              <a:schemeClr val="tx1"/>
                                            </a:solidFill>
                                            <a:effectLst/>
                                            <a:latin typeface="Cambria Math" panose="02040503050406030204" pitchFamily="18" charset="0"/>
                                            <a:ea typeface="+mn-ea"/>
                                            <a:cs typeface="+mn-cs"/>
                                          </a:rPr>
                                          <m:t>t</m:t>
                                        </m:r>
                                      </m:e>
                                    </m:d>
                                    <m:r>
                                      <a:rPr lang="id-ID" sz="1200" kern="1200">
                                        <a:solidFill>
                                          <a:schemeClr val="tx1"/>
                                        </a:solidFill>
                                        <a:effectLst/>
                                        <a:latin typeface="Cambria Math" panose="02040503050406030204" pitchFamily="18" charset="0"/>
                                        <a:ea typeface="+mn-ea"/>
                                        <a:cs typeface="+mn-cs"/>
                                      </a:rPr>
                                      <m:t>+</m:t>
                                    </m:r>
                                    <m:d>
                                      <m:dPr>
                                        <m:begChr m:val="["/>
                                        <m:endChr m:val="]"/>
                                        <m:ctrlPr>
                                          <a:rPr lang="en-US" sz="1200" i="1" kern="1200">
                                            <a:solidFill>
                                              <a:schemeClr val="tx1"/>
                                            </a:solidFill>
                                            <a:effectLst/>
                                            <a:latin typeface="Cambria Math" panose="02040503050406030204" pitchFamily="18" charset="0"/>
                                            <a:ea typeface="+mn-ea"/>
                                            <a:cs typeface="+mn-cs"/>
                                          </a:rPr>
                                        </m:ctrlPr>
                                      </m:dPr>
                                      <m:e>
                                        <m:r>
                                          <m:rPr>
                                            <m:sty m:val="p"/>
                                          </m:rPr>
                                          <a:rPr lang="id-ID" sz="1200" kern="1200">
                                            <a:solidFill>
                                              <a:schemeClr val="tx1"/>
                                            </a:solidFill>
                                            <a:effectLst/>
                                            <a:latin typeface="Cambria Math" panose="02040503050406030204" pitchFamily="18" charset="0"/>
                                            <a:ea typeface="+mn-ea"/>
                                            <a:cs typeface="+mn-cs"/>
                                          </a:rPr>
                                          <m:t>FP</m:t>
                                        </m:r>
                                        <m:d>
                                          <m:dPr>
                                            <m:ctrlPr>
                                              <a:rPr lang="en-US" sz="1200" i="1" kern="1200">
                                                <a:solidFill>
                                                  <a:schemeClr val="tx1"/>
                                                </a:solidFill>
                                                <a:effectLst/>
                                                <a:latin typeface="Cambria Math" panose="02040503050406030204" pitchFamily="18" charset="0"/>
                                                <a:ea typeface="+mn-ea"/>
                                                <a:cs typeface="+mn-cs"/>
                                              </a:rPr>
                                            </m:ctrlPr>
                                          </m:dPr>
                                          <m:e>
                                            <m:r>
                                              <m:rPr>
                                                <m:sty m:val="p"/>
                                              </m:rPr>
                                              <a:rPr lang="id-ID" sz="1200" kern="1200">
                                                <a:solidFill>
                                                  <a:schemeClr val="tx1"/>
                                                </a:solidFill>
                                                <a:effectLst/>
                                                <a:latin typeface="Cambria Math" panose="02040503050406030204" pitchFamily="18" charset="0"/>
                                                <a:ea typeface="+mn-ea"/>
                                                <a:cs typeface="+mn-cs"/>
                                              </a:rPr>
                                              <m:t>t</m:t>
                                            </m:r>
                                            <m:r>
                                              <a:rPr lang="id-ID" sz="1200" kern="1200">
                                                <a:solidFill>
                                                  <a:schemeClr val="tx1"/>
                                                </a:solidFill>
                                                <a:effectLst/>
                                                <a:latin typeface="Cambria Math" panose="02040503050406030204" pitchFamily="18" charset="0"/>
                                                <a:ea typeface="+mn-ea"/>
                                                <a:cs typeface="+mn-cs"/>
                                              </a:rPr>
                                              <m:t>+1</m:t>
                                            </m:r>
                                          </m:e>
                                        </m:d>
                                        <m:r>
                                          <a:rPr lang="id-ID" sz="1200" i="1" kern="1200">
                                            <a:solidFill>
                                              <a:schemeClr val="tx1"/>
                                            </a:solidFill>
                                            <a:effectLst/>
                                            <a:latin typeface="Cambria Math" panose="02040503050406030204" pitchFamily="18" charset="0"/>
                                            <a:ea typeface="+mn-ea"/>
                                            <a:cs typeface="+mn-cs"/>
                                          </a:rPr>
                                          <m:t>−</m:t>
                                        </m:r>
                                        <m:r>
                                          <m:rPr>
                                            <m:sty m:val="p"/>
                                          </m:rPr>
                                          <a:rPr lang="id-ID" sz="1200" kern="1200">
                                            <a:solidFill>
                                              <a:schemeClr val="tx1"/>
                                            </a:solidFill>
                                            <a:effectLst/>
                                            <a:latin typeface="Cambria Math" panose="02040503050406030204" pitchFamily="18" charset="0"/>
                                            <a:ea typeface="+mn-ea"/>
                                            <a:cs typeface="+mn-cs"/>
                                          </a:rPr>
                                          <m:t>FP</m:t>
                                        </m:r>
                                        <m:r>
                                          <a:rPr lang="id-ID" sz="1200" kern="1200">
                                            <a:solidFill>
                                              <a:schemeClr val="tx1"/>
                                            </a:solidFill>
                                            <a:effectLst/>
                                            <a:latin typeface="Cambria Math" panose="02040503050406030204" pitchFamily="18" charset="0"/>
                                            <a:ea typeface="+mn-ea"/>
                                            <a:cs typeface="+mn-cs"/>
                                          </a:rPr>
                                          <m:t>(</m:t>
                                        </m:r>
                                        <m:r>
                                          <m:rPr>
                                            <m:sty m:val="p"/>
                                          </m:rPr>
                                          <a:rPr lang="id-ID" sz="1200" kern="1200">
                                            <a:solidFill>
                                              <a:schemeClr val="tx1"/>
                                            </a:solidFill>
                                            <a:effectLst/>
                                            <a:latin typeface="Cambria Math" panose="02040503050406030204" pitchFamily="18" charset="0"/>
                                            <a:ea typeface="+mn-ea"/>
                                            <a:cs typeface="+mn-cs"/>
                                          </a:rPr>
                                          <m:t>t</m:t>
                                        </m:r>
                                        <m:r>
                                          <a:rPr lang="id-ID" sz="1200" kern="1200">
                                            <a:solidFill>
                                              <a:schemeClr val="tx1"/>
                                            </a:solidFill>
                                            <a:effectLst/>
                                            <a:latin typeface="Cambria Math" panose="02040503050406030204" pitchFamily="18" charset="0"/>
                                            <a:ea typeface="+mn-ea"/>
                                            <a:cs typeface="+mn-cs"/>
                                          </a:rPr>
                                          <m:t>)</m:t>
                                        </m:r>
                                      </m:e>
                                    </m:d>
                                    <m:r>
                                      <a:rPr lang="id-ID" sz="1200" i="1" kern="1200">
                                        <a:solidFill>
                                          <a:schemeClr val="tx1"/>
                                        </a:solidFill>
                                        <a:effectLst/>
                                        <a:latin typeface="Cambria Math" panose="02040503050406030204" pitchFamily="18" charset="0"/>
                                        <a:ea typeface="+mn-ea"/>
                                        <a:cs typeface="+mn-cs"/>
                                      </a:rPr>
                                      <m:t>∗</m:t>
                                    </m:r>
                                    <m:d>
                                      <m:dPr>
                                        <m:begChr m:val="["/>
                                        <m:endChr m:val="]"/>
                                        <m:ctrlPr>
                                          <a:rPr lang="en-US" sz="1200" i="1" kern="1200">
                                            <a:solidFill>
                                              <a:schemeClr val="tx1"/>
                                            </a:solidFill>
                                            <a:effectLst/>
                                            <a:latin typeface="Cambria Math" panose="02040503050406030204" pitchFamily="18" charset="0"/>
                                            <a:ea typeface="+mn-ea"/>
                                            <a:cs typeface="+mn-cs"/>
                                          </a:rPr>
                                        </m:ctrlPr>
                                      </m:dPr>
                                      <m:e>
                                        <m:f>
                                          <m:fPr>
                                            <m:ctrlPr>
                                              <a:rPr lang="en-US" sz="1200" i="1" kern="1200">
                                                <a:solidFill>
                                                  <a:schemeClr val="tx1"/>
                                                </a:solidFill>
                                                <a:effectLst/>
                                                <a:latin typeface="Cambria Math" panose="02040503050406030204" pitchFamily="18" charset="0"/>
                                                <a:ea typeface="+mn-ea"/>
                                                <a:cs typeface="+mn-cs"/>
                                              </a:rPr>
                                            </m:ctrlPr>
                                          </m:fPr>
                                          <m:num>
                                            <m:r>
                                              <m:rPr>
                                                <m:sty m:val="p"/>
                                              </m:rPr>
                                              <a:rPr lang="id-ID" sz="1200" kern="1200">
                                                <a:solidFill>
                                                  <a:schemeClr val="tx1"/>
                                                </a:solidFill>
                                                <a:effectLst/>
                                                <a:latin typeface="Cambria Math" panose="02040503050406030204" pitchFamily="18" charset="0"/>
                                                <a:ea typeface="+mn-ea"/>
                                                <a:cs typeface="+mn-cs"/>
                                              </a:rPr>
                                              <m:t>y</m:t>
                                            </m:r>
                                            <m:r>
                                              <a:rPr lang="id-ID" sz="1200" i="1" kern="1200">
                                                <a:solidFill>
                                                  <a:schemeClr val="tx1"/>
                                                </a:solidFill>
                                                <a:effectLst/>
                                                <a:latin typeface="Cambria Math" panose="02040503050406030204" pitchFamily="18" charset="0"/>
                                                <a:ea typeface="+mn-ea"/>
                                                <a:cs typeface="+mn-cs"/>
                                              </a:rPr>
                                              <m:t>−</m:t>
                                            </m:r>
                                            <m:r>
                                              <a:rPr lang="id-ID" sz="1200" kern="1200">
                                                <a:solidFill>
                                                  <a:schemeClr val="tx1"/>
                                                </a:solidFill>
                                                <a:effectLst/>
                                                <a:latin typeface="Cambria Math" panose="02040503050406030204" pitchFamily="18" charset="0"/>
                                                <a:ea typeface="+mn-ea"/>
                                                <a:cs typeface="+mn-cs"/>
                                              </a:rPr>
                                              <m:t>1</m:t>
                                            </m:r>
                                          </m:num>
                                          <m:den>
                                            <m:r>
                                              <a:rPr lang="id-ID" sz="1200" i="1" kern="1200">
                                                <a:solidFill>
                                                  <a:schemeClr val="tx1"/>
                                                </a:solidFill>
                                                <a:effectLst/>
                                                <a:latin typeface="Cambria Math" panose="02040503050406030204" pitchFamily="18" charset="0"/>
                                                <a:ea typeface="+mn-ea"/>
                                                <a:cs typeface="+mn-cs"/>
                                              </a:rPr>
                                              <m:t>12</m:t>
                                            </m:r>
                                          </m:den>
                                        </m:f>
                                      </m:e>
                                    </m:d>
                                  </m:e>
                                </m:d>
                                <m:r>
                                  <a:rPr lang="id-ID" sz="1200" i="1" kern="1200">
                                    <a:solidFill>
                                      <a:schemeClr val="tx1"/>
                                    </a:solidFill>
                                    <a:effectLst/>
                                    <a:latin typeface="Cambria Math" panose="02040503050406030204" pitchFamily="18" charset="0"/>
                                    <a:ea typeface="+mn-ea"/>
                                    <a:cs typeface="+mn-cs"/>
                                  </a:rPr>
                                  <m:t>∗</m:t>
                                </m:r>
                                <m:r>
                                  <m:rPr>
                                    <m:sty m:val="p"/>
                                  </m:rPr>
                                  <a:rPr lang="id-ID" sz="1200" kern="1200">
                                    <a:solidFill>
                                      <a:schemeClr val="tx1"/>
                                    </a:solidFill>
                                    <a:effectLst/>
                                    <a:latin typeface="Cambria Math" panose="02040503050406030204" pitchFamily="18" charset="0"/>
                                    <a:ea typeface="+mn-ea"/>
                                    <a:cs typeface="+mn-cs"/>
                                  </a:rPr>
                                  <m:t>Total</m:t>
                                </m:r>
                                <m:r>
                                  <a:rPr lang="id-ID" sz="1200" kern="1200">
                                    <a:solidFill>
                                      <a:schemeClr val="tx1"/>
                                    </a:solidFill>
                                    <a:effectLst/>
                                    <a:latin typeface="Cambria Math" panose="02040503050406030204" pitchFamily="18" charset="0"/>
                                    <a:ea typeface="+mn-ea"/>
                                    <a:cs typeface="+mn-cs"/>
                                  </a:rPr>
                                  <m:t> </m:t>
                                </m:r>
                                <m:r>
                                  <m:rPr>
                                    <m:sty m:val="p"/>
                                  </m:rPr>
                                  <a:rPr lang="id-ID" sz="1200" kern="1200">
                                    <a:solidFill>
                                      <a:schemeClr val="tx1"/>
                                    </a:solidFill>
                                    <a:effectLst/>
                                    <a:latin typeface="Cambria Math" panose="02040503050406030204" pitchFamily="18" charset="0"/>
                                    <a:ea typeface="+mn-ea"/>
                                    <a:cs typeface="+mn-cs"/>
                                  </a:rPr>
                                  <m:t>Premi</m:t>
                                </m:r>
                                <m:r>
                                  <a:rPr lang="id-ID" sz="1200" kern="1200">
                                    <a:solidFill>
                                      <a:schemeClr val="tx1"/>
                                    </a:solidFill>
                                    <a:effectLst/>
                                    <a:latin typeface="Cambria Math" panose="02040503050406030204" pitchFamily="18" charset="0"/>
                                    <a:ea typeface="+mn-ea"/>
                                    <a:cs typeface="+mn-cs"/>
                                  </a:rPr>
                                  <m:t> </m:t>
                                </m:r>
                                <m:r>
                                  <m:rPr>
                                    <m:sty m:val="p"/>
                                  </m:rPr>
                                  <a:rPr lang="id-ID" sz="1200" kern="1200">
                                    <a:solidFill>
                                      <a:schemeClr val="tx1"/>
                                    </a:solidFill>
                                    <a:effectLst/>
                                    <a:latin typeface="Cambria Math" panose="02040503050406030204" pitchFamily="18" charset="0"/>
                                    <a:ea typeface="+mn-ea"/>
                                    <a:cs typeface="+mn-cs"/>
                                  </a:rPr>
                                  <m:t>yang</m:t>
                                </m:r>
                                <m:r>
                                  <a:rPr lang="id-ID" sz="1200" kern="1200">
                                    <a:solidFill>
                                      <a:schemeClr val="tx1"/>
                                    </a:solidFill>
                                    <a:effectLst/>
                                    <a:latin typeface="Cambria Math" panose="02040503050406030204" pitchFamily="18" charset="0"/>
                                    <a:ea typeface="+mn-ea"/>
                                    <a:cs typeface="+mn-cs"/>
                                  </a:rPr>
                                  <m:t> </m:t>
                                </m:r>
                                <m:r>
                                  <m:rPr>
                                    <m:sty m:val="p"/>
                                  </m:rPr>
                                  <a:rPr lang="id-ID" sz="1200" kern="1200">
                                    <a:solidFill>
                                      <a:schemeClr val="tx1"/>
                                    </a:solidFill>
                                    <a:effectLst/>
                                    <a:latin typeface="Cambria Math" panose="02040503050406030204" pitchFamily="18" charset="0"/>
                                    <a:ea typeface="+mn-ea"/>
                                    <a:cs typeface="+mn-cs"/>
                                  </a:rPr>
                                  <m:t>telah</m:t>
                                </m:r>
                                <m:r>
                                  <a:rPr lang="id-ID" sz="1200" kern="1200">
                                    <a:solidFill>
                                      <a:schemeClr val="tx1"/>
                                    </a:solidFill>
                                    <a:effectLst/>
                                    <a:latin typeface="Cambria Math" panose="02040503050406030204" pitchFamily="18" charset="0"/>
                                    <a:ea typeface="+mn-ea"/>
                                    <a:cs typeface="+mn-cs"/>
                                  </a:rPr>
                                  <m:t> </m:t>
                                </m:r>
                                <m:r>
                                  <m:rPr>
                                    <m:sty m:val="p"/>
                                  </m:rPr>
                                  <a:rPr lang="id-ID" sz="1200" kern="1200">
                                    <a:solidFill>
                                      <a:schemeClr val="tx1"/>
                                    </a:solidFill>
                                    <a:effectLst/>
                                    <a:latin typeface="Cambria Math" panose="02040503050406030204" pitchFamily="18" charset="0"/>
                                    <a:ea typeface="+mn-ea"/>
                                    <a:cs typeface="+mn-cs"/>
                                  </a:rPr>
                                  <m:t>dibayarkan</m:t>
                                </m:r>
                              </m:oMath>
                            </m:oMathPara>
                          </a14:m>
                          <a:endParaRPr lang="en-US" sz="1200" kern="1200">
                            <a:solidFill>
                              <a:schemeClr val="tx1"/>
                            </a:solidFill>
                            <a:effectLst/>
                            <a:latin typeface="Aptos" panose="020B0004020202020204" pitchFamily="34" charset="0"/>
                            <a:ea typeface="+mn-ea"/>
                            <a:cs typeface="+mn-cs"/>
                          </a:endParaRPr>
                        </a:p>
                        <a:p>
                          <a:pPr marL="355600" indent="0" algn="just"/>
                          <a:r>
                            <a:rPr lang="en-US" sz="1200" kern="1200">
                              <a:solidFill>
                                <a:schemeClr val="tx1"/>
                              </a:solidFill>
                              <a:effectLst/>
                              <a:latin typeface="Aptos" panose="020B0004020202020204" pitchFamily="34" charset="0"/>
                              <a:ea typeface="+mn-ea"/>
                              <a:cs typeface="+mn-cs"/>
                            </a:rPr>
                            <a:t>NP(t)	= Nilai Tebus pada </a:t>
                          </a:r>
                          <a:r>
                            <a:rPr lang="en-US" sz="1200" kern="1200" err="1">
                              <a:solidFill>
                                <a:schemeClr val="tx1"/>
                              </a:solidFill>
                              <a:effectLst/>
                              <a:latin typeface="Aptos" panose="020B0004020202020204" pitchFamily="34" charset="0"/>
                              <a:ea typeface="+mn-ea"/>
                              <a:cs typeface="+mn-cs"/>
                            </a:rPr>
                            <a:t>saat</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pengajuan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a:t>
                          </a:r>
                          <a:r>
                            <a:rPr lang="en-US" sz="1200" i="1" kern="1200">
                              <a:solidFill>
                                <a:schemeClr val="tx1"/>
                              </a:solidFill>
                              <a:effectLst/>
                              <a:latin typeface="Aptos" panose="020B0004020202020204" pitchFamily="34" charset="0"/>
                              <a:ea typeface="+mn-ea"/>
                              <a:cs typeface="+mn-cs"/>
                            </a:rPr>
                            <a:t>(Surrender)</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disetujui</a:t>
                          </a:r>
                          <a:endParaRPr lang="en-US" sz="1200" kern="1200">
                            <a:solidFill>
                              <a:schemeClr val="tx1"/>
                            </a:solidFill>
                            <a:effectLst/>
                            <a:latin typeface="Aptos" panose="020B0004020202020204" pitchFamily="34" charset="0"/>
                            <a:ea typeface="+mn-ea"/>
                            <a:cs typeface="+mn-cs"/>
                          </a:endParaRPr>
                        </a:p>
                        <a:p>
                          <a:pPr marL="355600" indent="0" algn="just"/>
                          <a:r>
                            <a:rPr lang="en-US" sz="1200" kern="1200">
                              <a:solidFill>
                                <a:schemeClr val="tx1"/>
                              </a:solidFill>
                              <a:effectLst/>
                              <a:latin typeface="Aptos" panose="020B0004020202020204" pitchFamily="34" charset="0"/>
                              <a:ea typeface="+mn-ea"/>
                              <a:cs typeface="+mn-cs"/>
                            </a:rPr>
                            <a:t>FP(t)	= Faktor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pada </a:t>
                          </a:r>
                          <a:r>
                            <a:rPr lang="en-US" sz="1200" kern="1200" err="1">
                              <a:solidFill>
                                <a:schemeClr val="tx1"/>
                              </a:solidFill>
                              <a:effectLst/>
                              <a:latin typeface="Aptos" panose="020B0004020202020204" pitchFamily="34" charset="0"/>
                              <a:ea typeface="+mn-ea"/>
                              <a:cs typeface="+mn-cs"/>
                            </a:rPr>
                            <a:t>ulang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Tahun</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ke</a:t>
                          </a:r>
                          <a:r>
                            <a:rPr lang="en-US" sz="1200" kern="1200">
                              <a:solidFill>
                                <a:schemeClr val="tx1"/>
                              </a:solidFill>
                              <a:effectLst/>
                              <a:latin typeface="Aptos" panose="020B0004020202020204" pitchFamily="34" charset="0"/>
                              <a:ea typeface="+mn-ea"/>
                              <a:cs typeface="+mn-cs"/>
                            </a:rPr>
                            <a:t> t</a:t>
                          </a:r>
                        </a:p>
                        <a:p>
                          <a:pPr marL="355600" indent="0" algn="just"/>
                          <a:r>
                            <a:rPr lang="en-US" sz="1200" kern="1200">
                              <a:solidFill>
                                <a:schemeClr val="tx1"/>
                              </a:solidFill>
                              <a:effectLst/>
                              <a:latin typeface="Aptos" panose="020B0004020202020204" pitchFamily="34" charset="0"/>
                              <a:ea typeface="+mn-ea"/>
                              <a:cs typeface="+mn-cs"/>
                            </a:rPr>
                            <a:t>FP(t+1)	= Faktor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pada </a:t>
                          </a:r>
                          <a:r>
                            <a:rPr lang="en-US" sz="1200" kern="1200" err="1">
                              <a:solidFill>
                                <a:schemeClr val="tx1"/>
                              </a:solidFill>
                              <a:effectLst/>
                              <a:latin typeface="Aptos" panose="020B0004020202020204" pitchFamily="34" charset="0"/>
                              <a:ea typeface="+mn-ea"/>
                              <a:cs typeface="+mn-cs"/>
                            </a:rPr>
                            <a:t>ulang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Tahun</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ke</a:t>
                          </a:r>
                          <a:r>
                            <a:rPr lang="en-US" sz="1200" kern="1200">
                              <a:solidFill>
                                <a:schemeClr val="tx1"/>
                              </a:solidFill>
                              <a:effectLst/>
                              <a:latin typeface="Aptos" panose="020B0004020202020204" pitchFamily="34" charset="0"/>
                              <a:ea typeface="+mn-ea"/>
                              <a:cs typeface="+mn-cs"/>
                            </a:rPr>
                            <a:t> t+1</a:t>
                          </a:r>
                        </a:p>
                        <a:p>
                          <a:pPr marL="355600" indent="0" algn="just"/>
                          <a:r>
                            <a:rPr lang="en-US" sz="1200" kern="1200">
                              <a:solidFill>
                                <a:schemeClr val="tx1"/>
                              </a:solidFill>
                              <a:effectLst/>
                              <a:latin typeface="Aptos" panose="020B0004020202020204" pitchFamily="34" charset="0"/>
                              <a:ea typeface="+mn-ea"/>
                              <a:cs typeface="+mn-cs"/>
                            </a:rPr>
                            <a:t>t	= </a:t>
                          </a:r>
                          <a:r>
                            <a:rPr lang="en-US" sz="1200" kern="1200" err="1">
                              <a:solidFill>
                                <a:schemeClr val="tx1"/>
                              </a:solidFill>
                              <a:effectLst/>
                              <a:latin typeface="Aptos" panose="020B0004020202020204" pitchFamily="34" charset="0"/>
                              <a:ea typeface="+mn-ea"/>
                              <a:cs typeface="+mn-cs"/>
                            </a:rPr>
                            <a:t>tahun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pengajuan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a:t>
                          </a:r>
                          <a:r>
                            <a:rPr lang="en-US" sz="1200" i="1" kern="1200">
                              <a:solidFill>
                                <a:schemeClr val="tx1"/>
                              </a:solidFill>
                              <a:effectLst/>
                              <a:latin typeface="Aptos" panose="020B0004020202020204" pitchFamily="34" charset="0"/>
                              <a:ea typeface="+mn-ea"/>
                              <a:cs typeface="+mn-cs"/>
                            </a:rPr>
                            <a:t>(Surrender)</a:t>
                          </a:r>
                        </a:p>
                        <a:p>
                          <a:pPr marL="355600" indent="0" algn="just"/>
                          <a:r>
                            <a:rPr lang="en-US" sz="1200" kern="1200">
                              <a:solidFill>
                                <a:schemeClr val="tx1"/>
                              </a:solidFill>
                              <a:effectLst/>
                              <a:latin typeface="Aptos" panose="020B0004020202020204" pitchFamily="34" charset="0"/>
                              <a:ea typeface="+mn-ea"/>
                              <a:cs typeface="+mn-cs"/>
                            </a:rPr>
                            <a:t>y	= </a:t>
                          </a:r>
                          <a:r>
                            <a:rPr lang="en-US" sz="1200" kern="1200" err="1">
                              <a:solidFill>
                                <a:schemeClr val="tx1"/>
                              </a:solidFill>
                              <a:effectLst/>
                              <a:latin typeface="Aptos" panose="020B0004020202020204" pitchFamily="34" charset="0"/>
                              <a:ea typeface="+mn-ea"/>
                              <a:cs typeface="+mn-cs"/>
                            </a:rPr>
                            <a:t>bulan</a:t>
                          </a:r>
                          <a:r>
                            <a:rPr lang="en-US" sz="1200" kern="1200">
                              <a:solidFill>
                                <a:schemeClr val="tx1"/>
                              </a:solidFill>
                              <a:effectLst/>
                              <a:latin typeface="Aptos" panose="020B0004020202020204" pitchFamily="34" charset="0"/>
                              <a:ea typeface="+mn-ea"/>
                              <a:cs typeface="+mn-cs"/>
                            </a:rPr>
                            <a:t> yang </a:t>
                          </a:r>
                          <a:r>
                            <a:rPr lang="en-US" sz="1200" kern="1200" err="1">
                              <a:solidFill>
                                <a:schemeClr val="tx1"/>
                              </a:solidFill>
                              <a:effectLst/>
                              <a:latin typeface="Aptos" panose="020B0004020202020204" pitchFamily="34" charset="0"/>
                              <a:ea typeface="+mn-ea"/>
                              <a:cs typeface="+mn-cs"/>
                            </a:rPr>
                            <a:t>telah</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dilalui</a:t>
                          </a:r>
                          <a:r>
                            <a:rPr lang="en-US" sz="1200" kern="1200">
                              <a:solidFill>
                                <a:schemeClr val="tx1"/>
                              </a:solidFill>
                              <a:effectLst/>
                              <a:latin typeface="Aptos" panose="020B0004020202020204" pitchFamily="34" charset="0"/>
                              <a:ea typeface="+mn-ea"/>
                              <a:cs typeface="+mn-cs"/>
                            </a:rPr>
                            <a:t> pada </a:t>
                          </a:r>
                          <a:r>
                            <a:rPr lang="en-US" sz="1200" kern="1200" err="1">
                              <a:solidFill>
                                <a:schemeClr val="tx1"/>
                              </a:solidFill>
                              <a:effectLst/>
                              <a:latin typeface="Aptos" panose="020B0004020202020204" pitchFamily="34" charset="0"/>
                              <a:ea typeface="+mn-ea"/>
                              <a:cs typeface="+mn-cs"/>
                            </a:rPr>
                            <a:t>tahun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a:t>
                          </a:r>
                          <a:r>
                            <a:rPr lang="en-US" sz="1200" i="1" kern="1200">
                              <a:solidFill>
                                <a:schemeClr val="tx1"/>
                              </a:solidFill>
                              <a:effectLst/>
                              <a:latin typeface="Aptos" panose="020B0004020202020204" pitchFamily="34" charset="0"/>
                              <a:ea typeface="+mn-ea"/>
                              <a:cs typeface="+mn-cs"/>
                            </a:rPr>
                            <a:t>(Surrender)</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dilakukan</a:t>
                          </a:r>
                          <a:endParaRPr lang="en-US" sz="1200" kern="1200">
                            <a:solidFill>
                              <a:schemeClr val="tx1"/>
                            </a:solidFill>
                            <a:effectLst/>
                            <a:latin typeface="Aptos" panose="020B0004020202020204" pitchFamily="34" charset="0"/>
                            <a:ea typeface="+mn-ea"/>
                            <a:cs typeface="+mn-cs"/>
                          </a:endParaRPr>
                        </a:p>
                        <a:p>
                          <a:pPr marL="355600" indent="0" algn="just"/>
                          <a:endParaRPr lang="en-US" sz="800" kern="1200">
                            <a:solidFill>
                              <a:schemeClr val="tx1"/>
                            </a:solidFill>
                            <a:effectLst/>
                            <a:latin typeface="Aptos" panose="020B0004020202020204" pitchFamily="34" charset="0"/>
                            <a:ea typeface="+mn-ea"/>
                            <a:cs typeface="+mn-cs"/>
                          </a:endParaRPr>
                        </a:p>
                        <a:p>
                          <a:pPr marL="355600" indent="0" algn="just"/>
                          <a:r>
                            <a:rPr lang="en-US" sz="1200" kern="1200">
                              <a:solidFill>
                                <a:schemeClr val="tx1"/>
                              </a:solidFill>
                              <a:effectLst/>
                              <a:latin typeface="Aptos" panose="020B0004020202020204" pitchFamily="34" charset="0"/>
                              <a:ea typeface="+mn-ea"/>
                              <a:cs typeface="+mn-cs"/>
                            </a:rPr>
                            <a:t>Faktor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a:t>
                          </a:r>
                        </a:p>
                        <a:p>
                          <a:pPr marL="355600" indent="0" algn="just"/>
                          <a:endParaRPr lang="en-US" sz="9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55600" indent="0" algn="just"/>
                          <a:endParaRPr lang="en-US" sz="1200" kern="1200">
                            <a:solidFill>
                              <a:schemeClr val="tx1"/>
                            </a:solidFill>
                            <a:effectLst/>
                            <a:latin typeface="Aptos" panose="020B0004020202020204" pitchFamily="34" charset="0"/>
                            <a:ea typeface="+mn-ea"/>
                            <a:cs typeface="+mn-cs"/>
                          </a:endParaRPr>
                        </a:p>
                        <a:p>
                          <a:pPr marL="342900" indent="-228600" algn="just">
                            <a:buFont typeface="+mj-lt"/>
                            <a:buAutoNum type="arabicPeriod" startAt="3"/>
                          </a:pPr>
                          <a:endParaRPr lang="en-US" sz="1200" kern="1200">
                            <a:solidFill>
                              <a:schemeClr val="tx1"/>
                            </a:solidFill>
                            <a:effectLst/>
                            <a:latin typeface="Aptos" panose="020B0004020202020204" pitchFamily="34" charset="0"/>
                            <a:ea typeface="+mn-ea"/>
                            <a:cs typeface="+mn-cs"/>
                          </a:endParaRPr>
                        </a:p>
                        <a:p>
                          <a:pPr marL="342900" indent="-342900" algn="just">
                            <a:buFont typeface="+mj-lt"/>
                            <a:buAutoNum type="arabicPeriod" startAt="3"/>
                          </a:pPr>
                          <a:r>
                            <a:rPr lang="en-US" sz="1200" kern="1200" err="1">
                              <a:solidFill>
                                <a:schemeClr val="tx1"/>
                              </a:solidFill>
                              <a:effectLst/>
                              <a:latin typeface="Aptos" panose="020B0004020202020204" pitchFamily="34" charset="0"/>
                              <a:ea typeface="+mn-ea"/>
                              <a:cs typeface="+mn-cs"/>
                            </a:rPr>
                            <a:t>Pemegang</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tidak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dapat</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membatalkan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pengajuan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a:t>
                          </a:r>
                          <a:r>
                            <a:rPr lang="en-US" sz="1200" i="1" kern="1200">
                              <a:solidFill>
                                <a:schemeClr val="tx1"/>
                              </a:solidFill>
                              <a:effectLst/>
                              <a:latin typeface="Aptos" panose="020B0004020202020204" pitchFamily="34" charset="0"/>
                              <a:ea typeface="+mn-ea"/>
                              <a:cs typeface="+mn-cs"/>
                            </a:rPr>
                            <a:t>(Surrender)</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setelah</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permohonan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a:t>
                          </a:r>
                          <a:r>
                            <a:rPr lang="en-US" sz="1200" i="1" kern="1200">
                              <a:solidFill>
                                <a:schemeClr val="tx1"/>
                              </a:solidFill>
                              <a:effectLst/>
                              <a:latin typeface="Aptos" panose="020B0004020202020204" pitchFamily="34" charset="0"/>
                              <a:ea typeface="+mn-ea"/>
                              <a:cs typeface="+mn-cs"/>
                            </a:rPr>
                            <a:t>(Surrender)</a:t>
                          </a:r>
                          <a:r>
                            <a:rPr lang="en-US" sz="1200" kern="1200">
                              <a:solidFill>
                                <a:schemeClr val="tx1"/>
                              </a:solidFill>
                              <a:effectLst/>
                              <a:latin typeface="Aptos" panose="020B0004020202020204" pitchFamily="34" charset="0"/>
                              <a:ea typeface="+mn-ea"/>
                              <a:cs typeface="+mn-cs"/>
                            </a:rPr>
                            <a:t> yang </a:t>
                          </a:r>
                          <a:r>
                            <a:rPr lang="en-US" sz="1200" kern="1200" err="1">
                              <a:solidFill>
                                <a:schemeClr val="tx1"/>
                              </a:solidFill>
                              <a:effectLst/>
                              <a:latin typeface="Aptos" panose="020B0004020202020204" pitchFamily="34" charset="0"/>
                              <a:ea typeface="+mn-ea"/>
                              <a:cs typeface="+mn-cs"/>
                            </a:rPr>
                            <a:t>diajukan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Pemegang</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telah</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diterima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lengkap</a:t>
                          </a:r>
                          <a:r>
                            <a:rPr lang="en-US" sz="1200" kern="1200">
                              <a:solidFill>
                                <a:schemeClr val="tx1"/>
                              </a:solidFill>
                              <a:effectLst/>
                              <a:latin typeface="Aptos" panose="020B0004020202020204" pitchFamily="34" charset="0"/>
                              <a:ea typeface="+mn-ea"/>
                              <a:cs typeface="+mn-cs"/>
                            </a:rPr>
                            <a:t> oleh </a:t>
                          </a:r>
                          <a:r>
                            <a:rPr lang="en-US" sz="1200" kern="1200" err="1">
                              <a:solidFill>
                                <a:schemeClr val="tx1"/>
                              </a:solidFill>
                              <a:effectLst/>
                              <a:latin typeface="Aptos" panose="020B0004020202020204" pitchFamily="34" charset="0"/>
                              <a:ea typeface="+mn-ea"/>
                              <a:cs typeface="+mn-cs"/>
                            </a:rPr>
                            <a:t>Penanggung</a:t>
                          </a:r>
                          <a:r>
                            <a:rPr lang="en-US" sz="1200" kern="1200">
                              <a:solidFill>
                                <a:schemeClr val="tx1"/>
                              </a:solidFill>
                              <a:effectLst/>
                              <a:latin typeface="Aptos" panose="020B0004020202020204" pitchFamily="34" charset="0"/>
                              <a:ea typeface="+mn-ea"/>
                              <a:cs typeface="+mn-cs"/>
                            </a:rPr>
                            <a:t>.</a:t>
                          </a:r>
                        </a:p>
                        <a:p>
                          <a:pPr marL="114300" indent="0">
                            <a:buFont typeface="+mj-lt"/>
                            <a:buNone/>
                          </a:pPr>
                          <a:endParaRPr lang="en-US" sz="1200" kern="1200">
                            <a:solidFill>
                              <a:schemeClr val="tx1"/>
                            </a:solidFill>
                            <a:effectLst/>
                            <a:latin typeface="Aptos" panose="020B0004020202020204" pitchFamily="34" charset="0"/>
                            <a:ea typeface="+mn-ea"/>
                            <a:cs typeface="+mn-cs"/>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09245849"/>
                      </a:ext>
                    </a:extLst>
                  </a:tr>
                </a:tbl>
              </a:graphicData>
            </a:graphic>
          </p:graphicFrame>
        </mc:Choice>
        <mc:Fallback xmlns="">
          <p:graphicFrame>
            <p:nvGraphicFramePr>
              <p:cNvPr id="4" name="Table 3">
                <a:extLst>
                  <a:ext uri="{FF2B5EF4-FFF2-40B4-BE49-F238E27FC236}">
                    <a16:creationId xmlns:a16="http://schemas.microsoft.com/office/drawing/2014/main" id="{681CB2E6-A2CC-2B19-F036-19D39C28B2DC}"/>
                  </a:ext>
                </a:extLst>
              </p:cNvPr>
              <p:cNvGraphicFramePr>
                <a:graphicFrameLocks noGrp="1"/>
              </p:cNvGraphicFramePr>
              <p:nvPr>
                <p:extLst>
                  <p:ext uri="{D42A27DB-BD31-4B8C-83A1-F6EECF244321}">
                    <p14:modId xmlns:p14="http://schemas.microsoft.com/office/powerpoint/2010/main" val="927518484"/>
                  </p:ext>
                </p:extLst>
              </p:nvPr>
            </p:nvGraphicFramePr>
            <p:xfrm>
              <a:off x="315380" y="984611"/>
              <a:ext cx="11561240" cy="5392709"/>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307248">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50854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Penebusan</a:t>
                          </a:r>
                          <a:r>
                            <a:rPr lang="en-US" sz="1400" b="1" i="0" strike="noStrike">
                              <a:solidFill>
                                <a:schemeClr val="bg1"/>
                              </a:solidFill>
                              <a:latin typeface="Aptos" panose="020B0004020202020204" pitchFamily="34" charset="0"/>
                            </a:rPr>
                            <a:t> Polis (</a:t>
                          </a:r>
                          <a:r>
                            <a:rPr lang="en-US" sz="1400" b="1" i="1" strike="noStrike">
                              <a:solidFill>
                                <a:schemeClr val="bg1"/>
                              </a:solidFill>
                              <a:latin typeface="Aptos" panose="020B0004020202020204" pitchFamily="34" charset="0"/>
                            </a:rPr>
                            <a:t>Surrender</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endParaRPr lang="en-US"/>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blipFill>
                          <a:blip r:embed="rId3"/>
                          <a:stretch>
                            <a:fillRect l="-40148" t="-6100" r="-148" b="-239"/>
                          </a:stretch>
                        </a:blipFill>
                      </a:tcPr>
                    </a:tc>
                    <a:extLst>
                      <a:ext uri="{0D108BD9-81ED-4DB2-BD59-A6C34878D82A}">
                        <a16:rowId xmlns:a16="http://schemas.microsoft.com/office/drawing/2014/main" val="1709245849"/>
                      </a:ext>
                    </a:extLst>
                  </a:tr>
                </a:tbl>
              </a:graphicData>
            </a:graphic>
          </p:graphicFrame>
        </mc:Fallback>
      </mc:AlternateContent>
      <p:sp>
        <p:nvSpPr>
          <p:cNvPr id="2" name="Title 1">
            <a:extLst>
              <a:ext uri="{FF2B5EF4-FFF2-40B4-BE49-F238E27FC236}">
                <a16:creationId xmlns:a16="http://schemas.microsoft.com/office/drawing/2014/main" id="{156B6E15-24BE-DECC-6534-442A9479625D}"/>
              </a:ext>
            </a:extLst>
          </p:cNvPr>
          <p:cNvSpPr txBox="1">
            <a:spLocks/>
          </p:cNvSpPr>
          <p:nvPr/>
        </p:nvSpPr>
        <p:spPr>
          <a:xfrm>
            <a:off x="2974975" y="23653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FITUR PRODUK Value Income Assurance (VALUE+)</a:t>
            </a:r>
          </a:p>
        </p:txBody>
      </p:sp>
      <p:graphicFrame>
        <p:nvGraphicFramePr>
          <p:cNvPr id="5" name="Table 4">
            <a:extLst>
              <a:ext uri="{FF2B5EF4-FFF2-40B4-BE49-F238E27FC236}">
                <a16:creationId xmlns:a16="http://schemas.microsoft.com/office/drawing/2014/main" id="{FC60978E-FD3E-7F24-F41C-B67335187CF9}"/>
              </a:ext>
            </a:extLst>
          </p:cNvPr>
          <p:cNvGraphicFramePr>
            <a:graphicFrameLocks noGrp="1"/>
          </p:cNvGraphicFramePr>
          <p:nvPr>
            <p:extLst>
              <p:ext uri="{D42A27DB-BD31-4B8C-83A1-F6EECF244321}">
                <p14:modId xmlns:p14="http://schemas.microsoft.com/office/powerpoint/2010/main" val="1718281985"/>
              </p:ext>
            </p:extLst>
          </p:nvPr>
        </p:nvGraphicFramePr>
        <p:xfrm>
          <a:off x="4046377" y="3931646"/>
          <a:ext cx="3211672" cy="1727200"/>
        </p:xfrm>
        <a:graphic>
          <a:graphicData uri="http://schemas.openxmlformats.org/drawingml/2006/table">
            <a:tbl>
              <a:tblPr firstRow="1" firstCol="1" bandRow="1">
                <a:tableStyleId>{5940675A-B579-460E-94D1-54222C63F5DA}</a:tableStyleId>
              </a:tblPr>
              <a:tblGrid>
                <a:gridCol w="1504316">
                  <a:extLst>
                    <a:ext uri="{9D8B030D-6E8A-4147-A177-3AD203B41FA5}">
                      <a16:colId xmlns:a16="http://schemas.microsoft.com/office/drawing/2014/main" val="2722507918"/>
                    </a:ext>
                  </a:extLst>
                </a:gridCol>
                <a:gridCol w="1707356">
                  <a:extLst>
                    <a:ext uri="{9D8B030D-6E8A-4147-A177-3AD203B41FA5}">
                      <a16:colId xmlns:a16="http://schemas.microsoft.com/office/drawing/2014/main" val="1932972547"/>
                    </a:ext>
                  </a:extLst>
                </a:gridCol>
              </a:tblGrid>
              <a:tr h="0">
                <a:tc>
                  <a:txBody>
                    <a:bodyPr/>
                    <a:lstStyle/>
                    <a:p>
                      <a:pPr marL="0" marR="19685" algn="ctr">
                        <a:buNone/>
                      </a:pPr>
                      <a:r>
                        <a:rPr lang="en-ID" sz="1000" err="1">
                          <a:effectLst/>
                          <a:latin typeface="Aptos" panose="020B0004020202020204" pitchFamily="34" charset="0"/>
                        </a:rPr>
                        <a:t>Tahun</a:t>
                      </a:r>
                      <a:r>
                        <a:rPr lang="en-ID" sz="1000">
                          <a:effectLst/>
                          <a:latin typeface="Aptos" panose="020B0004020202020204" pitchFamily="34" charset="0"/>
                        </a:rPr>
                        <a:t> </a:t>
                      </a:r>
                      <a:r>
                        <a:rPr lang="en-ID" sz="1000" err="1">
                          <a:effectLst/>
                          <a:latin typeface="Aptos" panose="020B0004020202020204" pitchFamily="34" charset="0"/>
                        </a:rPr>
                        <a:t>Penebusan</a:t>
                      </a:r>
                      <a:r>
                        <a:rPr lang="en-ID" sz="1000">
                          <a:effectLst/>
                          <a:latin typeface="Aptos" panose="020B0004020202020204" pitchFamily="34" charset="0"/>
                        </a:rPr>
                        <a:t> Polis</a:t>
                      </a:r>
                      <a:endParaRPr lang="en-US" sz="16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19685" algn="ctr">
                        <a:buNone/>
                      </a:pPr>
                      <a:r>
                        <a:rPr lang="en-ID" sz="1000">
                          <a:effectLst/>
                          <a:latin typeface="Aptos" panose="020B0004020202020204" pitchFamily="34" charset="0"/>
                        </a:rPr>
                        <a:t>Faktor Penebusan Polis (FP)</a:t>
                      </a:r>
                      <a:endParaRPr lang="en-US" sz="16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94508990"/>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0%</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6148858"/>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2</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lvl="0" indent="0" algn="ctr" defTabSz="914400" rtl="0" eaLnBrk="1" fontAlgn="auto" latinLnBrk="0" hangingPunct="1">
                        <a:lnSpc>
                          <a:spcPct val="107000"/>
                        </a:lnSpc>
                        <a:spcBef>
                          <a:spcPts val="0"/>
                        </a:spcBef>
                        <a:spcAft>
                          <a:spcPts val="800"/>
                        </a:spcAft>
                        <a:buClrTx/>
                        <a:buSzTx/>
                        <a:buFontTx/>
                        <a:buNone/>
                        <a:tabLst/>
                        <a:defRPr/>
                      </a:pPr>
                      <a:r>
                        <a:rPr kumimoji="0" lang="id-ID" sz="1000" b="0" i="0" u="none" strike="noStrike" kern="1200" cap="none" spc="0" normalizeH="0" baseline="0" noProof="0">
                          <a:ln>
                            <a:noFill/>
                          </a:ln>
                          <a:solidFill>
                            <a:prstClr val="black"/>
                          </a:solidFill>
                          <a:effectLst/>
                          <a:uLnTx/>
                          <a:uFillTx/>
                          <a:latin typeface="Aptos" panose="020B0004020202020204" pitchFamily="34" charset="0"/>
                          <a:ea typeface="+mn-ea"/>
                          <a:cs typeface="+mn-cs"/>
                        </a:rPr>
                        <a:t>0%</a:t>
                      </a: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920201"/>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3</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lvl="0" indent="0" algn="ctr" defTabSz="914400" rtl="0" eaLnBrk="1" fontAlgn="auto" latinLnBrk="0" hangingPunct="1">
                        <a:lnSpc>
                          <a:spcPct val="107000"/>
                        </a:lnSpc>
                        <a:spcBef>
                          <a:spcPts val="0"/>
                        </a:spcBef>
                        <a:spcAft>
                          <a:spcPts val="800"/>
                        </a:spcAft>
                        <a:buClrTx/>
                        <a:buSzTx/>
                        <a:buFontTx/>
                        <a:buNone/>
                        <a:tabLst/>
                        <a:defRPr/>
                      </a:pPr>
                      <a:r>
                        <a:rPr kumimoji="0" lang="id-ID" sz="1000" b="0" i="0" u="none" strike="noStrike" kern="1200" cap="none" spc="0" normalizeH="0" baseline="0" noProof="0">
                          <a:ln>
                            <a:noFill/>
                          </a:ln>
                          <a:solidFill>
                            <a:prstClr val="black"/>
                          </a:solidFill>
                          <a:effectLst/>
                          <a:uLnTx/>
                          <a:uFillTx/>
                          <a:latin typeface="Aptos" panose="020B0004020202020204" pitchFamily="34" charset="0"/>
                          <a:ea typeface="+mn-ea"/>
                          <a:cs typeface="+mn-cs"/>
                        </a:rPr>
                        <a:t>0%</a:t>
                      </a: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1712685"/>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4</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2,94%</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0614466"/>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5</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5,88%</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977598"/>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6</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8,82%</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250063"/>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7</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11,76%</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6729809"/>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8</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14,71%</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9863337"/>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9</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17,65%</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0541222"/>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10</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20,59%</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4035379"/>
                  </a:ext>
                </a:extLst>
              </a:tr>
            </a:tbl>
          </a:graphicData>
        </a:graphic>
      </p:graphicFrame>
      <p:graphicFrame>
        <p:nvGraphicFramePr>
          <p:cNvPr id="6" name="Table 5">
            <a:extLst>
              <a:ext uri="{FF2B5EF4-FFF2-40B4-BE49-F238E27FC236}">
                <a16:creationId xmlns:a16="http://schemas.microsoft.com/office/drawing/2014/main" id="{E8BC8810-C242-D558-6FDC-7724FD3164A8}"/>
              </a:ext>
            </a:extLst>
          </p:cNvPr>
          <p:cNvGraphicFramePr>
            <a:graphicFrameLocks noGrp="1"/>
          </p:cNvGraphicFramePr>
          <p:nvPr>
            <p:extLst>
              <p:ext uri="{D42A27DB-BD31-4B8C-83A1-F6EECF244321}">
                <p14:modId xmlns:p14="http://schemas.microsoft.com/office/powerpoint/2010/main" val="3151144327"/>
              </p:ext>
            </p:extLst>
          </p:nvPr>
        </p:nvGraphicFramePr>
        <p:xfrm>
          <a:off x="7390077" y="3931646"/>
          <a:ext cx="3211672" cy="1727200"/>
        </p:xfrm>
        <a:graphic>
          <a:graphicData uri="http://schemas.openxmlformats.org/drawingml/2006/table">
            <a:tbl>
              <a:tblPr firstRow="1" firstCol="1" bandRow="1">
                <a:tableStyleId>{5940675A-B579-460E-94D1-54222C63F5DA}</a:tableStyleId>
              </a:tblPr>
              <a:tblGrid>
                <a:gridCol w="1504316">
                  <a:extLst>
                    <a:ext uri="{9D8B030D-6E8A-4147-A177-3AD203B41FA5}">
                      <a16:colId xmlns:a16="http://schemas.microsoft.com/office/drawing/2014/main" val="2722507918"/>
                    </a:ext>
                  </a:extLst>
                </a:gridCol>
                <a:gridCol w="1707356">
                  <a:extLst>
                    <a:ext uri="{9D8B030D-6E8A-4147-A177-3AD203B41FA5}">
                      <a16:colId xmlns:a16="http://schemas.microsoft.com/office/drawing/2014/main" val="1932972547"/>
                    </a:ext>
                  </a:extLst>
                </a:gridCol>
              </a:tblGrid>
              <a:tr h="0">
                <a:tc>
                  <a:txBody>
                    <a:bodyPr/>
                    <a:lstStyle/>
                    <a:p>
                      <a:pPr marL="0" marR="19685" algn="ctr">
                        <a:buNone/>
                      </a:pPr>
                      <a:r>
                        <a:rPr lang="en-ID" sz="1000" err="1">
                          <a:effectLst/>
                          <a:latin typeface="Aptos" panose="020B0004020202020204" pitchFamily="34" charset="0"/>
                        </a:rPr>
                        <a:t>Tahun</a:t>
                      </a:r>
                      <a:r>
                        <a:rPr lang="en-ID" sz="1000">
                          <a:effectLst/>
                          <a:latin typeface="Aptos" panose="020B0004020202020204" pitchFamily="34" charset="0"/>
                        </a:rPr>
                        <a:t> </a:t>
                      </a:r>
                      <a:r>
                        <a:rPr lang="en-ID" sz="1000" err="1">
                          <a:effectLst/>
                          <a:latin typeface="Aptos" panose="020B0004020202020204" pitchFamily="34" charset="0"/>
                        </a:rPr>
                        <a:t>Penebusan</a:t>
                      </a:r>
                      <a:r>
                        <a:rPr lang="en-ID" sz="1000">
                          <a:effectLst/>
                          <a:latin typeface="Aptos" panose="020B0004020202020204" pitchFamily="34" charset="0"/>
                        </a:rPr>
                        <a:t> Polis</a:t>
                      </a:r>
                      <a:endParaRPr lang="en-US" sz="16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19685" algn="ctr">
                        <a:buNone/>
                      </a:pPr>
                      <a:r>
                        <a:rPr lang="en-ID" sz="1000">
                          <a:effectLst/>
                          <a:latin typeface="Aptos" panose="020B0004020202020204" pitchFamily="34" charset="0"/>
                        </a:rPr>
                        <a:t>Faktor Penebusan Polis (FP)</a:t>
                      </a:r>
                      <a:endParaRPr lang="en-US" sz="16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94508990"/>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11</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23,53%</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6148858"/>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12</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26,47%</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920201"/>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13</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29,41%</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1712685"/>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14</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32,35%</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0614466"/>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15</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35,29%</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977598"/>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16</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38,24%</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250063"/>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17</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41,18%</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6729809"/>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18</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44,12%</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9863337"/>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19</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47,06%</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0541222"/>
                  </a:ext>
                </a:extLst>
              </a:tr>
              <a:tr h="0">
                <a:tc>
                  <a:txBody>
                    <a:bodyPr/>
                    <a:lstStyle/>
                    <a:p>
                      <a:pPr marL="0" marR="19685" indent="0" algn="ctr">
                        <a:lnSpc>
                          <a:spcPct val="107000"/>
                        </a:lnSpc>
                        <a:spcAft>
                          <a:spcPts val="800"/>
                        </a:spcAft>
                        <a:buNone/>
                      </a:pPr>
                      <a:r>
                        <a:rPr lang="id-ID" sz="1000">
                          <a:effectLst/>
                          <a:latin typeface="Aptos" panose="020B0004020202020204" pitchFamily="34" charset="0"/>
                        </a:rPr>
                        <a:t>20</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19685" indent="0" algn="ctr">
                        <a:lnSpc>
                          <a:spcPct val="107000"/>
                        </a:lnSpc>
                        <a:spcAft>
                          <a:spcPts val="800"/>
                        </a:spcAft>
                        <a:buNone/>
                      </a:pPr>
                      <a:r>
                        <a:rPr lang="id-ID" sz="1000">
                          <a:effectLst/>
                          <a:latin typeface="Aptos" panose="020B0004020202020204" pitchFamily="34" charset="0"/>
                        </a:rPr>
                        <a:t>50,00%</a:t>
                      </a:r>
                      <a:endParaRPr lang="en-US" sz="14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4035379"/>
                  </a:ext>
                </a:extLst>
              </a:tr>
            </a:tbl>
          </a:graphicData>
        </a:graphic>
      </p:graphicFrame>
    </p:spTree>
    <p:extLst>
      <p:ext uri="{BB962C8B-B14F-4D97-AF65-F5344CB8AC3E}">
        <p14:creationId xmlns:p14="http://schemas.microsoft.com/office/powerpoint/2010/main" val="3089034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B4FC1-957A-EFE1-1B81-E83C250B292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73400D5-4FAE-B7C5-562F-F694707DBE47}"/>
              </a:ext>
            </a:extLst>
          </p:cNvPr>
          <p:cNvGraphicFramePr>
            <a:graphicFrameLocks noGrp="1"/>
          </p:cNvGraphicFramePr>
          <p:nvPr>
            <p:extLst>
              <p:ext uri="{D42A27DB-BD31-4B8C-83A1-F6EECF244321}">
                <p14:modId xmlns:p14="http://schemas.microsoft.com/office/powerpoint/2010/main" val="2315577691"/>
              </p:ext>
            </p:extLst>
          </p:nvPr>
        </p:nvGraphicFramePr>
        <p:xfrm>
          <a:off x="315380" y="984611"/>
          <a:ext cx="11561240" cy="2867568"/>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307248">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Penebusan</a:t>
                      </a:r>
                      <a:r>
                        <a:rPr lang="en-US" sz="1400" b="1" i="0" strike="noStrike">
                          <a:solidFill>
                            <a:schemeClr val="bg1"/>
                          </a:solidFill>
                          <a:latin typeface="Aptos" panose="020B0004020202020204" pitchFamily="34" charset="0"/>
                        </a:rPr>
                        <a:t> Polis (</a:t>
                      </a:r>
                      <a:r>
                        <a:rPr lang="en-US" sz="1400" b="1" i="1" strike="noStrike">
                          <a:solidFill>
                            <a:schemeClr val="bg1"/>
                          </a:solidFill>
                          <a:latin typeface="Aptos" panose="020B0004020202020204" pitchFamily="34" charset="0"/>
                        </a:rPr>
                        <a:t>Surrender</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342900" indent="-342900" algn="just">
                        <a:buFont typeface="+mj-lt"/>
                        <a:buAutoNum type="arabicPeriod" startAt="4"/>
                      </a:pPr>
                      <a:r>
                        <a:rPr lang="en-US" sz="1200" kern="1200" err="1">
                          <a:solidFill>
                            <a:schemeClr val="tx1"/>
                          </a:solidFill>
                          <a:effectLst/>
                          <a:latin typeface="Aptos" panose="020B0004020202020204" pitchFamily="34" charset="0"/>
                          <a:ea typeface="+mn-ea"/>
                          <a:cs typeface="+mn-cs"/>
                        </a:rPr>
                        <a:t>Permohonan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a:t>
                      </a:r>
                      <a:r>
                        <a:rPr lang="en-US" sz="1200" i="1" kern="1200">
                          <a:solidFill>
                            <a:schemeClr val="tx1"/>
                          </a:solidFill>
                          <a:effectLst/>
                          <a:latin typeface="Aptos" panose="020B0004020202020204" pitchFamily="34" charset="0"/>
                          <a:ea typeface="+mn-ea"/>
                          <a:cs typeface="+mn-cs"/>
                        </a:rPr>
                        <a:t>(Surrender) </a:t>
                      </a:r>
                      <a:r>
                        <a:rPr lang="en-US" sz="1200" kern="1200" err="1">
                          <a:solidFill>
                            <a:schemeClr val="tx1"/>
                          </a:solidFill>
                          <a:effectLst/>
                          <a:latin typeface="Aptos" panose="020B0004020202020204" pitchFamily="34" charset="0"/>
                          <a:ea typeface="+mn-ea"/>
                          <a:cs typeface="+mn-cs"/>
                        </a:rPr>
                        <a:t>wajib</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diajukan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secara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tertulis</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kepada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Penanggung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dengan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cara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mengisi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formulir</a:t>
                      </a:r>
                      <a:r>
                        <a:rPr lang="en-US" sz="1200" kern="1200">
                          <a:solidFill>
                            <a:schemeClr val="tx1"/>
                          </a:solidFill>
                          <a:effectLst/>
                          <a:latin typeface="Aptos" panose="020B0004020202020204" pitchFamily="34" charset="0"/>
                          <a:ea typeface="+mn-ea"/>
                          <a:cs typeface="+mn-cs"/>
                        </a:rPr>
                        <a:t> yang </a:t>
                      </a:r>
                      <a:r>
                        <a:rPr lang="en-US" sz="1200" kern="1200" err="1">
                          <a:solidFill>
                            <a:schemeClr val="tx1"/>
                          </a:solidFill>
                          <a:effectLst/>
                          <a:latin typeface="Aptos" panose="020B0004020202020204" pitchFamily="34" charset="0"/>
                          <a:ea typeface="+mn-ea"/>
                          <a:cs typeface="+mn-cs"/>
                        </a:rPr>
                        <a:t>disediakan</a:t>
                      </a:r>
                      <a:r>
                        <a:rPr lang="en-US" sz="1200" kern="1200">
                          <a:solidFill>
                            <a:schemeClr val="tx1"/>
                          </a:solidFill>
                          <a:effectLst/>
                          <a:latin typeface="Aptos" panose="020B0004020202020204" pitchFamily="34" charset="0"/>
                          <a:ea typeface="+mn-ea"/>
                          <a:cs typeface="+mn-cs"/>
                        </a:rPr>
                        <a:t> dan </a:t>
                      </a:r>
                      <a:r>
                        <a:rPr lang="en-US" sz="1200" kern="1200" err="1">
                          <a:solidFill>
                            <a:schemeClr val="tx1"/>
                          </a:solidFill>
                          <a:effectLst/>
                          <a:latin typeface="Aptos" panose="020B0004020202020204" pitchFamily="34" charset="0"/>
                          <a:ea typeface="+mn-ea"/>
                          <a:cs typeface="+mn-cs"/>
                        </a:rPr>
                        <a:t>melengkapi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seluruh</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dokumen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sebagai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berikut</a:t>
                      </a:r>
                      <a:r>
                        <a:rPr lang="en-US" sz="1200" kern="1200">
                          <a:solidFill>
                            <a:schemeClr val="tx1"/>
                          </a:solidFill>
                          <a:effectLst/>
                          <a:latin typeface="Aptos" panose="020B0004020202020204" pitchFamily="34" charset="0"/>
                          <a:ea typeface="+mn-ea"/>
                          <a:cs typeface="+mn-cs"/>
                        </a:rPr>
                        <a:t>:</a:t>
                      </a:r>
                    </a:p>
                    <a:p>
                      <a:pPr marL="571500" indent="-228600" algn="just">
                        <a:buFont typeface="+mj-lt"/>
                        <a:buAutoNum type="alphaLcPeriod"/>
                      </a:pPr>
                      <a:r>
                        <a:rPr lang="en-US" sz="1200" kern="1200">
                          <a:solidFill>
                            <a:schemeClr val="tx1"/>
                          </a:solidFill>
                          <a:effectLst/>
                          <a:latin typeface="Aptos" panose="020B0004020202020204" pitchFamily="34" charset="0"/>
                          <a:ea typeface="+mn-ea"/>
                          <a:cs typeface="+mn-cs"/>
                        </a:rPr>
                        <a:t>Asli Polis </a:t>
                      </a:r>
                      <a:r>
                        <a:rPr lang="en-US" sz="1200" kern="1200" err="1">
                          <a:solidFill>
                            <a:schemeClr val="tx1"/>
                          </a:solidFill>
                          <a:effectLst/>
                          <a:latin typeface="Aptos" panose="020B0004020202020204" pitchFamily="34" charset="0"/>
                          <a:ea typeface="+mn-ea"/>
                          <a:cs typeface="+mn-cs"/>
                        </a:rPr>
                        <a:t>asuransi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atau</a:t>
                      </a:r>
                      <a:r>
                        <a:rPr lang="en-US" sz="1200" kern="1200">
                          <a:solidFill>
                            <a:schemeClr val="tx1"/>
                          </a:solidFill>
                          <a:effectLst/>
                          <a:latin typeface="Aptos" panose="020B0004020202020204" pitchFamily="34" charset="0"/>
                          <a:ea typeface="+mn-ea"/>
                          <a:cs typeface="+mn-cs"/>
                        </a:rPr>
                        <a:t> Surat </a:t>
                      </a:r>
                      <a:r>
                        <a:rPr lang="en-US" sz="1200" kern="1200" err="1">
                          <a:solidFill>
                            <a:schemeClr val="tx1"/>
                          </a:solidFill>
                          <a:effectLst/>
                          <a:latin typeface="Aptos" panose="020B0004020202020204" pitchFamily="34" charset="0"/>
                          <a:ea typeface="+mn-ea"/>
                          <a:cs typeface="+mn-cs"/>
                        </a:rPr>
                        <a:t>Keterangan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Kehilangan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dari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Kepolisian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jika</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asuransi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hilang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untuk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Pemegang</a:t>
                      </a:r>
                      <a:r>
                        <a:rPr lang="en-US" sz="1200" kern="1200">
                          <a:solidFill>
                            <a:schemeClr val="tx1"/>
                          </a:solidFill>
                          <a:effectLst/>
                          <a:latin typeface="Aptos" panose="020B0004020202020204" pitchFamily="34" charset="0"/>
                          <a:ea typeface="+mn-ea"/>
                          <a:cs typeface="+mn-cs"/>
                        </a:rPr>
                        <a:t> Polis yang </a:t>
                      </a:r>
                      <a:r>
                        <a:rPr lang="en-US" sz="1200" kern="1200" err="1">
                          <a:solidFill>
                            <a:schemeClr val="tx1"/>
                          </a:solidFill>
                          <a:effectLst/>
                          <a:latin typeface="Aptos" panose="020B0004020202020204" pitchFamily="34" charset="0"/>
                          <a:ea typeface="+mn-ea"/>
                          <a:cs typeface="+mn-cs"/>
                        </a:rPr>
                        <a:t>menerima</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dalam</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bentuk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fisik</a:t>
                      </a:r>
                      <a:r>
                        <a:rPr lang="en-US" sz="1200" kern="1200">
                          <a:solidFill>
                            <a:schemeClr val="tx1"/>
                          </a:solidFill>
                          <a:effectLst/>
                          <a:latin typeface="Aptos" panose="020B0004020202020204" pitchFamily="34" charset="0"/>
                          <a:ea typeface="+mn-ea"/>
                          <a:cs typeface="+mn-cs"/>
                        </a:rPr>
                        <a:t>);</a:t>
                      </a:r>
                    </a:p>
                    <a:p>
                      <a:pPr marL="571500" indent="-228600" algn="just">
                        <a:buFont typeface="+mj-lt"/>
                        <a:buAutoNum type="alphaLcPeriod"/>
                      </a:pPr>
                      <a:r>
                        <a:rPr lang="en-US" sz="1200" kern="1200">
                          <a:solidFill>
                            <a:schemeClr val="tx1"/>
                          </a:solidFill>
                          <a:effectLst/>
                          <a:latin typeface="Aptos" panose="020B0004020202020204" pitchFamily="34" charset="0"/>
                          <a:ea typeface="+mn-ea"/>
                          <a:cs typeface="+mn-cs"/>
                        </a:rPr>
                        <a:t>Asli </a:t>
                      </a:r>
                      <a:r>
                        <a:rPr lang="en-US" sz="1200" kern="1200" err="1">
                          <a:solidFill>
                            <a:schemeClr val="tx1"/>
                          </a:solidFill>
                          <a:effectLst/>
                          <a:latin typeface="Aptos" panose="020B0004020202020204" pitchFamily="34" charset="0"/>
                          <a:ea typeface="+mn-ea"/>
                          <a:cs typeface="+mn-cs"/>
                        </a:rPr>
                        <a:t>formulir</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(Surrender) yang </a:t>
                      </a:r>
                      <a:r>
                        <a:rPr lang="en-US" sz="1200" kern="1200" err="1">
                          <a:solidFill>
                            <a:schemeClr val="tx1"/>
                          </a:solidFill>
                          <a:effectLst/>
                          <a:latin typeface="Aptos" panose="020B0004020202020204" pitchFamily="34" charset="0"/>
                          <a:ea typeface="+mn-ea"/>
                          <a:cs typeface="+mn-cs"/>
                        </a:rPr>
                        <a:t>diterbitkan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Penanggung</a:t>
                      </a:r>
                      <a:r>
                        <a:rPr lang="en-US" sz="1200" kern="1200">
                          <a:solidFill>
                            <a:schemeClr val="tx1"/>
                          </a:solidFill>
                          <a:effectLst/>
                          <a:latin typeface="Aptos" panose="020B0004020202020204" pitchFamily="34" charset="0"/>
                          <a:ea typeface="+mn-ea"/>
                          <a:cs typeface="+mn-cs"/>
                        </a:rPr>
                        <a:t> yang </a:t>
                      </a:r>
                      <a:r>
                        <a:rPr lang="en-US" sz="1200" kern="1200" err="1">
                          <a:solidFill>
                            <a:schemeClr val="tx1"/>
                          </a:solidFill>
                          <a:effectLst/>
                          <a:latin typeface="Aptos" panose="020B0004020202020204" pitchFamily="34" charset="0"/>
                          <a:ea typeface="+mn-ea"/>
                          <a:cs typeface="+mn-cs"/>
                        </a:rPr>
                        <a:t>diisi</a:t>
                      </a:r>
                      <a:r>
                        <a:rPr lang="en-US" sz="1200" kern="1200">
                          <a:solidFill>
                            <a:schemeClr val="tx1"/>
                          </a:solidFill>
                          <a:effectLst/>
                          <a:latin typeface="Aptos" panose="020B0004020202020204" pitchFamily="34" charset="0"/>
                          <a:ea typeface="+mn-ea"/>
                          <a:cs typeface="+mn-cs"/>
                        </a:rPr>
                        <a:t> dan </a:t>
                      </a:r>
                      <a:r>
                        <a:rPr lang="en-US" sz="1200" kern="1200" err="1">
                          <a:solidFill>
                            <a:schemeClr val="tx1"/>
                          </a:solidFill>
                          <a:effectLst/>
                          <a:latin typeface="Aptos" panose="020B0004020202020204" pitchFamily="34" charset="0"/>
                          <a:ea typeface="+mn-ea"/>
                          <a:cs typeface="+mn-cs"/>
                        </a:rPr>
                        <a:t>dilengkapi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dengan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tanda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tangan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basah</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Pemegang</a:t>
                      </a:r>
                      <a:r>
                        <a:rPr lang="en-US" sz="1200" kern="1200">
                          <a:solidFill>
                            <a:schemeClr val="tx1"/>
                          </a:solidFill>
                          <a:effectLst/>
                          <a:latin typeface="Aptos" panose="020B0004020202020204" pitchFamily="34" charset="0"/>
                          <a:ea typeface="+mn-ea"/>
                          <a:cs typeface="+mn-cs"/>
                        </a:rPr>
                        <a:t> Polis;</a:t>
                      </a:r>
                    </a:p>
                    <a:p>
                      <a:pPr marL="571500" indent="-228600" algn="just">
                        <a:buFont typeface="+mj-lt"/>
                        <a:buAutoNum type="alphaLcPeriod"/>
                      </a:pPr>
                      <a:r>
                        <a:rPr lang="en-US" sz="1200" kern="1200" err="1">
                          <a:solidFill>
                            <a:schemeClr val="tx1"/>
                          </a:solidFill>
                          <a:effectLst/>
                          <a:latin typeface="Aptos" panose="020B0004020202020204" pitchFamily="34" charset="0"/>
                          <a:ea typeface="+mn-ea"/>
                          <a:cs typeface="+mn-cs"/>
                        </a:rPr>
                        <a:t>Fotokopi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identitas</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diri</a:t>
                      </a:r>
                      <a:r>
                        <a:rPr lang="en-US" sz="1200" kern="1200">
                          <a:solidFill>
                            <a:schemeClr val="tx1"/>
                          </a:solidFill>
                          <a:effectLst/>
                          <a:latin typeface="Aptos" panose="020B0004020202020204" pitchFamily="34" charset="0"/>
                          <a:ea typeface="+mn-ea"/>
                          <a:cs typeface="+mn-cs"/>
                        </a:rPr>
                        <a:t> (KTP/ </a:t>
                      </a:r>
                      <a:r>
                        <a:rPr lang="en-US" sz="1200" kern="1200" err="1">
                          <a:solidFill>
                            <a:schemeClr val="tx1"/>
                          </a:solidFill>
                          <a:effectLst/>
                          <a:latin typeface="Aptos" panose="020B0004020202020204" pitchFamily="34" charset="0"/>
                          <a:ea typeface="+mn-ea"/>
                          <a:cs typeface="+mn-cs"/>
                        </a:rPr>
                        <a:t>Paspor</a:t>
                      </a:r>
                      <a:r>
                        <a:rPr lang="en-US" sz="1200" kern="1200">
                          <a:solidFill>
                            <a:schemeClr val="tx1"/>
                          </a:solidFill>
                          <a:effectLst/>
                          <a:latin typeface="Aptos" panose="020B0004020202020204" pitchFamily="34" charset="0"/>
                          <a:ea typeface="+mn-ea"/>
                          <a:cs typeface="+mn-cs"/>
                        </a:rPr>
                        <a:t> dan/</a:t>
                      </a:r>
                      <a:r>
                        <a:rPr lang="en-US" sz="1200" kern="1200" err="1">
                          <a:solidFill>
                            <a:schemeClr val="tx1"/>
                          </a:solidFill>
                          <a:effectLst/>
                          <a:latin typeface="Aptos" panose="020B0004020202020204" pitchFamily="34" charset="0"/>
                          <a:ea typeface="+mn-ea"/>
                          <a:cs typeface="+mn-cs"/>
                        </a:rPr>
                        <a:t>atau</a:t>
                      </a:r>
                      <a:r>
                        <a:rPr lang="en-US" sz="1200" kern="1200">
                          <a:solidFill>
                            <a:schemeClr val="tx1"/>
                          </a:solidFill>
                          <a:effectLst/>
                          <a:latin typeface="Aptos" panose="020B0004020202020204" pitchFamily="34" charset="0"/>
                          <a:ea typeface="+mn-ea"/>
                          <a:cs typeface="+mn-cs"/>
                        </a:rPr>
                        <a:t> KITAS) </a:t>
                      </a:r>
                      <a:r>
                        <a:rPr lang="en-US" sz="1200" kern="1200" err="1">
                          <a:solidFill>
                            <a:schemeClr val="tx1"/>
                          </a:solidFill>
                          <a:effectLst/>
                          <a:latin typeface="Aptos" panose="020B0004020202020204" pitchFamily="34" charset="0"/>
                          <a:ea typeface="+mn-ea"/>
                          <a:cs typeface="+mn-cs"/>
                        </a:rPr>
                        <a:t>Pemegang</a:t>
                      </a:r>
                      <a:r>
                        <a:rPr lang="en-US" sz="1200" kern="1200">
                          <a:solidFill>
                            <a:schemeClr val="tx1"/>
                          </a:solidFill>
                          <a:effectLst/>
                          <a:latin typeface="Aptos" panose="020B0004020202020204" pitchFamily="34" charset="0"/>
                          <a:ea typeface="+mn-ea"/>
                          <a:cs typeface="+mn-cs"/>
                        </a:rPr>
                        <a:t> Polis yang </a:t>
                      </a:r>
                      <a:r>
                        <a:rPr lang="en-US" sz="1200" kern="1200" err="1">
                          <a:solidFill>
                            <a:schemeClr val="tx1"/>
                          </a:solidFill>
                          <a:effectLst/>
                          <a:latin typeface="Aptos" panose="020B0004020202020204" pitchFamily="34" charset="0"/>
                          <a:ea typeface="+mn-ea"/>
                          <a:cs typeface="+mn-cs"/>
                        </a:rPr>
                        <a:t>dikeluarkan</a:t>
                      </a:r>
                      <a:r>
                        <a:rPr lang="en-US" sz="1200" kern="1200">
                          <a:solidFill>
                            <a:schemeClr val="tx1"/>
                          </a:solidFill>
                          <a:effectLst/>
                          <a:latin typeface="Aptos" panose="020B0004020202020204" pitchFamily="34" charset="0"/>
                          <a:ea typeface="+mn-ea"/>
                          <a:cs typeface="+mn-cs"/>
                        </a:rPr>
                        <a:t> oleh </a:t>
                      </a:r>
                      <a:r>
                        <a:rPr lang="en-US" sz="1200" kern="1200" err="1">
                          <a:solidFill>
                            <a:schemeClr val="tx1"/>
                          </a:solidFill>
                          <a:effectLst/>
                          <a:latin typeface="Aptos" panose="020B0004020202020204" pitchFamily="34" charset="0"/>
                          <a:ea typeface="+mn-ea"/>
                          <a:cs typeface="+mn-cs"/>
                        </a:rPr>
                        <a:t>lembaga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atau</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instansi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berwenang</a:t>
                      </a:r>
                      <a:r>
                        <a:rPr lang="en-US" sz="1200" kern="1200">
                          <a:solidFill>
                            <a:schemeClr val="tx1"/>
                          </a:solidFill>
                          <a:effectLst/>
                          <a:latin typeface="Aptos" panose="020B0004020202020204" pitchFamily="34" charset="0"/>
                          <a:ea typeface="+mn-ea"/>
                          <a:cs typeface="+mn-cs"/>
                        </a:rPr>
                        <a:t> dan </a:t>
                      </a:r>
                      <a:r>
                        <a:rPr lang="en-US" sz="1200" kern="1200" err="1">
                          <a:solidFill>
                            <a:schemeClr val="tx1"/>
                          </a:solidFill>
                          <a:effectLst/>
                          <a:latin typeface="Aptos" panose="020B0004020202020204" pitchFamily="34" charset="0"/>
                          <a:ea typeface="+mn-ea"/>
                          <a:cs typeface="+mn-cs"/>
                        </a:rPr>
                        <a:t>masih</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berlaku</a:t>
                      </a:r>
                      <a:r>
                        <a:rPr lang="en-US" sz="1200" kern="1200">
                          <a:solidFill>
                            <a:schemeClr val="tx1"/>
                          </a:solidFill>
                          <a:effectLst/>
                          <a:latin typeface="Aptos" panose="020B0004020202020204" pitchFamily="34" charset="0"/>
                          <a:ea typeface="+mn-ea"/>
                          <a:cs typeface="+mn-cs"/>
                        </a:rPr>
                        <a:t>;</a:t>
                      </a:r>
                    </a:p>
                    <a:p>
                      <a:pPr marL="571500" indent="-228600" algn="just">
                        <a:buFont typeface="+mj-lt"/>
                        <a:buAutoNum type="alphaLcPeriod"/>
                      </a:pPr>
                      <a:r>
                        <a:rPr lang="en-US" sz="1200" kern="1200" err="1">
                          <a:solidFill>
                            <a:schemeClr val="tx1"/>
                          </a:solidFill>
                          <a:effectLst/>
                          <a:latin typeface="Aptos" panose="020B0004020202020204" pitchFamily="34" charset="0"/>
                          <a:ea typeface="+mn-ea"/>
                          <a:cs typeface="+mn-cs"/>
                        </a:rPr>
                        <a:t>Fotokopi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buku</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tabungan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rekening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koran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atau</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dokumen</a:t>
                      </a:r>
                      <a:r>
                        <a:rPr lang="en-US" sz="1200" kern="1200">
                          <a:solidFill>
                            <a:schemeClr val="tx1"/>
                          </a:solidFill>
                          <a:effectLst/>
                          <a:latin typeface="Aptos" panose="020B0004020202020204" pitchFamily="34" charset="0"/>
                          <a:ea typeface="+mn-ea"/>
                          <a:cs typeface="+mn-cs"/>
                        </a:rPr>
                        <a:t> lain yang </a:t>
                      </a:r>
                      <a:r>
                        <a:rPr lang="en-US" sz="1200" kern="1200" err="1">
                          <a:solidFill>
                            <a:schemeClr val="tx1"/>
                          </a:solidFill>
                          <a:effectLst/>
                          <a:latin typeface="Aptos" panose="020B0004020202020204" pitchFamily="34" charset="0"/>
                          <a:ea typeface="+mn-ea"/>
                          <a:cs typeface="+mn-cs"/>
                        </a:rPr>
                        <a:t>dikeluarkan</a:t>
                      </a:r>
                      <a:r>
                        <a:rPr lang="en-US" sz="1200" kern="1200">
                          <a:solidFill>
                            <a:schemeClr val="tx1"/>
                          </a:solidFill>
                          <a:effectLst/>
                          <a:latin typeface="Aptos" panose="020B0004020202020204" pitchFamily="34" charset="0"/>
                          <a:ea typeface="+mn-ea"/>
                          <a:cs typeface="+mn-cs"/>
                        </a:rPr>
                        <a:t> oleh bank </a:t>
                      </a:r>
                      <a:r>
                        <a:rPr lang="en-US" sz="1200" kern="1200" err="1">
                          <a:solidFill>
                            <a:schemeClr val="tx1"/>
                          </a:solidFill>
                          <a:effectLst/>
                          <a:latin typeface="Aptos" panose="020B0004020202020204" pitchFamily="34" charset="0"/>
                          <a:ea typeface="+mn-ea"/>
                          <a:cs typeface="+mn-cs"/>
                        </a:rPr>
                        <a:t>milik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Pemegang</a:t>
                      </a:r>
                      <a:r>
                        <a:rPr lang="en-US" sz="1200" kern="1200">
                          <a:solidFill>
                            <a:schemeClr val="tx1"/>
                          </a:solidFill>
                          <a:effectLst/>
                          <a:latin typeface="Aptos" panose="020B0004020202020204" pitchFamily="34" charset="0"/>
                          <a:ea typeface="+mn-ea"/>
                          <a:cs typeface="+mn-cs"/>
                        </a:rPr>
                        <a:t> Polis yang </a:t>
                      </a:r>
                      <a:r>
                        <a:rPr lang="en-US" sz="1200" kern="1200" err="1">
                          <a:solidFill>
                            <a:schemeClr val="tx1"/>
                          </a:solidFill>
                          <a:effectLst/>
                          <a:latin typeface="Aptos" panose="020B0004020202020204" pitchFamily="34" charset="0"/>
                          <a:ea typeface="+mn-ea"/>
                          <a:cs typeface="+mn-cs"/>
                        </a:rPr>
                        <a:t>memuat</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informasi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nomor</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rekening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Pemegang</a:t>
                      </a:r>
                      <a:r>
                        <a:rPr lang="en-US" sz="1200" kern="1200">
                          <a:solidFill>
                            <a:schemeClr val="tx1"/>
                          </a:solidFill>
                          <a:effectLst/>
                          <a:latin typeface="Aptos" panose="020B0004020202020204" pitchFamily="34" charset="0"/>
                          <a:ea typeface="+mn-ea"/>
                          <a:cs typeface="+mn-cs"/>
                        </a:rPr>
                        <a:t> Polis </a:t>
                      </a:r>
                      <a:r>
                        <a:rPr lang="en-US" sz="1200" kern="1200" err="1">
                          <a:solidFill>
                            <a:schemeClr val="tx1"/>
                          </a:solidFill>
                          <a:effectLst/>
                          <a:latin typeface="Aptos" panose="020B0004020202020204" pitchFamily="34" charset="0"/>
                          <a:ea typeface="+mn-ea"/>
                          <a:cs typeface="+mn-cs"/>
                        </a:rPr>
                        <a:t>dimana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nomor</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rekening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ini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akan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menjadi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nomor</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rekening</a:t>
                      </a:r>
                      <a:r>
                        <a:rPr lang="en-US" sz="1200" kern="1200">
                          <a:solidFill>
                            <a:schemeClr val="tx1"/>
                          </a:solidFill>
                          <a:effectLst/>
                          <a:latin typeface="Aptos" panose="020B0004020202020204" pitchFamily="34" charset="0"/>
                          <a:ea typeface="+mn-ea"/>
                          <a:cs typeface="+mn-cs"/>
                        </a:rPr>
                        <a:t> yang </a:t>
                      </a:r>
                      <a:r>
                        <a:rPr lang="en-US" sz="1200" kern="1200" err="1">
                          <a:solidFill>
                            <a:schemeClr val="tx1"/>
                          </a:solidFill>
                          <a:effectLst/>
                          <a:latin typeface="Aptos" panose="020B0004020202020204" pitchFamily="34" charset="0"/>
                          <a:ea typeface="+mn-ea"/>
                          <a:cs typeface="+mn-cs"/>
                        </a:rPr>
                        <a:t>sah</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untuk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digunakan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sebagai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pembayaran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(Surrender); dan</a:t>
                      </a:r>
                    </a:p>
                    <a:p>
                      <a:pPr marL="571500" indent="-228600" algn="just">
                        <a:buFont typeface="+mj-lt"/>
                        <a:buAutoNum type="alphaLcPeriod"/>
                      </a:pPr>
                      <a:r>
                        <a:rPr lang="en-US" sz="1200" kern="1200" err="1">
                          <a:solidFill>
                            <a:schemeClr val="tx1"/>
                          </a:solidFill>
                          <a:effectLst/>
                          <a:latin typeface="Aptos" panose="020B0004020202020204" pitchFamily="34" charset="0"/>
                          <a:ea typeface="+mn-ea"/>
                          <a:cs typeface="+mn-cs"/>
                        </a:rPr>
                        <a:t>Dokumen</a:t>
                      </a:r>
                      <a:r>
                        <a:rPr lang="en-US" sz="1200" kern="1200">
                          <a:solidFill>
                            <a:schemeClr val="tx1"/>
                          </a:solidFill>
                          <a:effectLst/>
                          <a:latin typeface="Aptos" panose="020B0004020202020204" pitchFamily="34" charset="0"/>
                          <a:ea typeface="+mn-ea"/>
                          <a:cs typeface="+mn-cs"/>
                        </a:rPr>
                        <a:t> lain yang </a:t>
                      </a:r>
                      <a:r>
                        <a:rPr lang="en-US" sz="1200" kern="1200" err="1">
                          <a:solidFill>
                            <a:schemeClr val="tx1"/>
                          </a:solidFill>
                          <a:effectLst/>
                          <a:latin typeface="Aptos" panose="020B0004020202020204" pitchFamily="34" charset="0"/>
                          <a:ea typeface="+mn-ea"/>
                          <a:cs typeface="+mn-cs"/>
                        </a:rPr>
                        <a:t>diperlukan</a:t>
                      </a:r>
                      <a:r>
                        <a:rPr lang="en-US" sz="1200" kern="1200">
                          <a:solidFill>
                            <a:schemeClr val="tx1"/>
                          </a:solidFill>
                          <a:effectLst/>
                          <a:latin typeface="Aptos" panose="020B0004020202020204" pitchFamily="34" charset="0"/>
                          <a:ea typeface="+mn-ea"/>
                          <a:cs typeface="+mn-cs"/>
                        </a:rPr>
                        <a:t> oleh </a:t>
                      </a:r>
                      <a:r>
                        <a:rPr lang="en-US" sz="1200" kern="1200" err="1">
                          <a:solidFill>
                            <a:schemeClr val="tx1"/>
                          </a:solidFill>
                          <a:effectLst/>
                          <a:latin typeface="Aptos" panose="020B0004020202020204" pitchFamily="34" charset="0"/>
                          <a:ea typeface="+mn-ea"/>
                          <a:cs typeface="+mn-cs"/>
                        </a:rPr>
                        <a:t>Penanggung</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termasuk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namun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tidak</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terbatas</a:t>
                      </a:r>
                      <a:r>
                        <a:rPr lang="en-US" sz="1200" kern="1200">
                          <a:solidFill>
                            <a:schemeClr val="tx1"/>
                          </a:solidFill>
                          <a:effectLst/>
                          <a:latin typeface="Aptos" panose="020B0004020202020204" pitchFamily="34" charset="0"/>
                          <a:ea typeface="+mn-ea"/>
                          <a:cs typeface="+mn-cs"/>
                        </a:rPr>
                        <a:t> pada </a:t>
                      </a:r>
                      <a:r>
                        <a:rPr lang="en-US" sz="1200" kern="1200" err="1">
                          <a:solidFill>
                            <a:schemeClr val="tx1"/>
                          </a:solidFill>
                          <a:effectLst/>
                          <a:latin typeface="Aptos" panose="020B0004020202020204" pitchFamily="34" charset="0"/>
                          <a:ea typeface="+mn-ea"/>
                          <a:cs typeface="+mn-cs"/>
                        </a:rPr>
                        <a:t>dokumen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seperti</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surat</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kuasa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jika</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diperlukan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sehubungan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dengan</a:t>
                      </a:r>
                      <a:r>
                        <a:rPr lang="en-US" sz="1200" kern="1200">
                          <a:solidFill>
                            <a:schemeClr val="tx1"/>
                          </a:solidFill>
                          <a:effectLst/>
                          <a:latin typeface="Aptos" panose="020B0004020202020204" pitchFamily="34" charset="0"/>
                          <a:ea typeface="+mn-ea"/>
                          <a:cs typeface="+mn-cs"/>
                        </a:rPr>
                        <a:t> proses </a:t>
                      </a:r>
                      <a:r>
                        <a:rPr lang="en-US" sz="1200" kern="1200" err="1">
                          <a:solidFill>
                            <a:schemeClr val="tx1"/>
                          </a:solidFill>
                          <a:effectLst/>
                          <a:latin typeface="Aptos" panose="020B0004020202020204" pitchFamily="34" charset="0"/>
                          <a:ea typeface="+mn-ea"/>
                          <a:cs typeface="+mn-cs"/>
                        </a:rPr>
                        <a:t>permohonan</a:t>
                      </a:r>
                      <a:r>
                        <a:rPr lang="en-US" sz="1200" kern="1200">
                          <a:solidFill>
                            <a:schemeClr val="tx1"/>
                          </a:solidFill>
                          <a:effectLst/>
                          <a:latin typeface="Aptos" panose="020B0004020202020204" pitchFamily="34" charset="0"/>
                          <a:ea typeface="+mn-ea"/>
                          <a:cs typeface="+mn-cs"/>
                        </a:rPr>
                        <a:t> </a:t>
                      </a:r>
                      <a:r>
                        <a:rPr lang="en-US" sz="1200" kern="1200" err="1">
                          <a:solidFill>
                            <a:schemeClr val="tx1"/>
                          </a:solidFill>
                          <a:effectLst/>
                          <a:latin typeface="Aptos" panose="020B0004020202020204" pitchFamily="34" charset="0"/>
                          <a:ea typeface="+mn-ea"/>
                          <a:cs typeface="+mn-cs"/>
                        </a:rPr>
                        <a:t>Penebusan</a:t>
                      </a:r>
                      <a:r>
                        <a:rPr lang="en-US" sz="1200" kern="1200">
                          <a:solidFill>
                            <a:schemeClr val="tx1"/>
                          </a:solidFill>
                          <a:effectLst/>
                          <a:latin typeface="Aptos" panose="020B0004020202020204" pitchFamily="34" charset="0"/>
                          <a:ea typeface="+mn-ea"/>
                          <a:cs typeface="+mn-cs"/>
                        </a:rPr>
                        <a:t> Polis (Surrender).</a:t>
                      </a:r>
                    </a:p>
                    <a:p>
                      <a:pPr marL="342900" indent="-228600">
                        <a:buFont typeface="+mj-lt"/>
                        <a:buAutoNum type="arabicPeriod" startAt="4"/>
                      </a:pPr>
                      <a:endParaRPr lang="en-US" sz="1200" kern="1200">
                        <a:solidFill>
                          <a:schemeClr val="tx1"/>
                        </a:solidFill>
                        <a:effectLst/>
                        <a:latin typeface="Aptos" panose="020B0004020202020204" pitchFamily="34" charset="0"/>
                        <a:ea typeface="+mn-ea"/>
                        <a:cs typeface="+mn-cs"/>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09245849"/>
                  </a:ext>
                </a:extLst>
              </a:tr>
            </a:tbl>
          </a:graphicData>
        </a:graphic>
      </p:graphicFrame>
      <p:sp>
        <p:nvSpPr>
          <p:cNvPr id="2" name="Title 1">
            <a:extLst>
              <a:ext uri="{FF2B5EF4-FFF2-40B4-BE49-F238E27FC236}">
                <a16:creationId xmlns:a16="http://schemas.microsoft.com/office/drawing/2014/main" id="{87F0307A-3AC5-CA03-E141-F1BC31A1A20A}"/>
              </a:ext>
            </a:extLst>
          </p:cNvPr>
          <p:cNvSpPr txBox="1">
            <a:spLocks/>
          </p:cNvSpPr>
          <p:nvPr/>
        </p:nvSpPr>
        <p:spPr>
          <a:xfrm>
            <a:off x="2974975" y="23653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FITUR PRODUK Value Income Assurance (VALUE+)</a:t>
            </a:r>
          </a:p>
        </p:txBody>
      </p:sp>
    </p:spTree>
    <p:extLst>
      <p:ext uri="{BB962C8B-B14F-4D97-AF65-F5344CB8AC3E}">
        <p14:creationId xmlns:p14="http://schemas.microsoft.com/office/powerpoint/2010/main" val="2628915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AFF05-C67D-30DC-F780-704550F5431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87A5A3B-0382-A252-576D-B6889EE29FBA}"/>
              </a:ext>
            </a:extLst>
          </p:cNvPr>
          <p:cNvSpPr/>
          <p:nvPr/>
        </p:nvSpPr>
        <p:spPr>
          <a:xfrm>
            <a:off x="9344025" y="5829300"/>
            <a:ext cx="2728913" cy="9644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F4F18781-49A3-C3EA-4565-EF8E212DE4BE}"/>
              </a:ext>
            </a:extLst>
          </p:cNvPr>
          <p:cNvGraphicFramePr>
            <a:graphicFrameLocks noGrp="1"/>
          </p:cNvGraphicFramePr>
          <p:nvPr>
            <p:extLst>
              <p:ext uri="{D42A27DB-BD31-4B8C-83A1-F6EECF244321}">
                <p14:modId xmlns:p14="http://schemas.microsoft.com/office/powerpoint/2010/main" val="1117407639"/>
              </p:ext>
            </p:extLst>
          </p:nvPr>
        </p:nvGraphicFramePr>
        <p:xfrm>
          <a:off x="315380" y="984611"/>
          <a:ext cx="11561240" cy="5190744"/>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246161">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246161">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Perubahan</a:t>
                      </a:r>
                      <a:r>
                        <a:rPr lang="en-US" sz="1400" b="1" i="0" strike="noStrike">
                          <a:solidFill>
                            <a:schemeClr val="bg1"/>
                          </a:solidFill>
                          <a:latin typeface="Aptos" panose="020B0004020202020204" pitchFamily="34" charset="0"/>
                        </a:rPr>
                        <a:t> Polis oleh</a:t>
                      </a:r>
                    </a:p>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Pemegang</a:t>
                      </a:r>
                      <a:r>
                        <a:rPr lang="en-US" sz="1400" b="1" i="0" strike="noStrike">
                          <a:solidFill>
                            <a:schemeClr val="bg1"/>
                          </a:solidFill>
                          <a:latin typeface="Aptos" panose="020B0004020202020204" pitchFamily="34" charset="0"/>
                        </a:rPr>
                        <a:t> Polis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228600" marR="50800" lvl="0" indent="-228600" algn="just" defTabSz="914400" rtl="0" eaLnBrk="1" fontAlgn="auto" latinLnBrk="0" hangingPunct="1">
                        <a:lnSpc>
                          <a:spcPct val="107000"/>
                        </a:lnSpc>
                        <a:spcBef>
                          <a:spcPts val="0"/>
                        </a:spcBef>
                        <a:spcAft>
                          <a:spcPts val="0"/>
                        </a:spcAft>
                        <a:buClrTx/>
                        <a:buSzTx/>
                        <a:buFont typeface="+mj-lt"/>
                        <a:buAutoNum type="arabi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Polis dapat diubah berdasarkan permohonan dari Pemegang Polis kepada Penanggung dengan mengikuti ketentuan yang berlaku dan menyampaikan persyaratan dokumen yang ditetapkan oleh Penanggung. </a:t>
                      </a:r>
                    </a:p>
                    <a:p>
                      <a:pPr marL="228600" marR="50800" lvl="0" indent="-228600" algn="just" defTabSz="914400" rtl="0" eaLnBrk="1" fontAlgn="auto" latinLnBrk="0" hangingPunct="1">
                        <a:lnSpc>
                          <a:spcPct val="107000"/>
                        </a:lnSpc>
                        <a:spcBef>
                          <a:spcPts val="0"/>
                        </a:spcBef>
                        <a:spcAft>
                          <a:spcPts val="0"/>
                        </a:spcAft>
                        <a:buClrTx/>
                        <a:buSzTx/>
                        <a:buFont typeface="+mj-lt"/>
                        <a:buAutoNum type="arabicPeriod"/>
                        <a:tabLst/>
                        <a:defRPr/>
                      </a:pPr>
                      <a:endParaRPr lang="sv-SE" sz="1200">
                        <a:effectLst/>
                        <a:latin typeface="Aptos" panose="020B0004020202020204" pitchFamily="34" charset="0"/>
                        <a:ea typeface="Calibri" panose="020F0502020204030204" pitchFamily="34" charset="0"/>
                        <a:cs typeface="Arial" panose="020B0604020202020204" pitchFamily="34" charset="0"/>
                      </a:endParaRPr>
                    </a:p>
                    <a:p>
                      <a:pPr marL="228600" marR="50800" lvl="0" indent="-228600" algn="just" defTabSz="914400" rtl="0" eaLnBrk="1" fontAlgn="auto" latinLnBrk="0" hangingPunct="1">
                        <a:lnSpc>
                          <a:spcPct val="107000"/>
                        </a:lnSpc>
                        <a:spcBef>
                          <a:spcPts val="0"/>
                        </a:spcBef>
                        <a:spcAft>
                          <a:spcPts val="0"/>
                        </a:spcAft>
                        <a:buClrTx/>
                        <a:buSzTx/>
                        <a:buFont typeface="+mj-lt"/>
                        <a:buAutoNum type="arabi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Sepanjang Pemegang Polis masih hidup, Pemegang Polis berhak mengajukan perubahan Polis, yaitu:</a:t>
                      </a:r>
                    </a:p>
                    <a:p>
                      <a:pPr marL="4572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Perubahan Pemegang Polis, dengan ketentuan Pemegang Polis yang baru tersebut mempunyai hubungan Kepentingan Yang Dipertanggungkan </a:t>
                      </a:r>
                      <a:r>
                        <a:rPr lang="sv-SE" sz="1200" i="1">
                          <a:effectLst/>
                          <a:latin typeface="Aptos" panose="020B0004020202020204" pitchFamily="34" charset="0"/>
                          <a:ea typeface="Calibri" panose="020F0502020204030204" pitchFamily="34" charset="0"/>
                          <a:cs typeface="Arial" panose="020B0604020202020204" pitchFamily="34" charset="0"/>
                        </a:rPr>
                        <a:t>(Insurable Interest)</a:t>
                      </a:r>
                      <a:r>
                        <a:rPr lang="sv-SE" sz="1200">
                          <a:effectLst/>
                          <a:latin typeface="Aptos" panose="020B0004020202020204" pitchFamily="34" charset="0"/>
                          <a:ea typeface="Calibri" panose="020F0502020204030204" pitchFamily="34" charset="0"/>
                          <a:cs typeface="Arial" panose="020B0604020202020204" pitchFamily="34" charset="0"/>
                        </a:rPr>
                        <a:t> terhadap Tertanggung;</a:t>
                      </a:r>
                    </a:p>
                    <a:p>
                      <a:pPr marL="4572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Perubahan alamat, email, nomor telepon Pemegang Polis;</a:t>
                      </a:r>
                    </a:p>
                    <a:p>
                      <a:pPr marL="4572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Perubahan Penerima Manfaat, dengan ketentuan Penerima Manfaat yang baru tersebut mempunyai hubungan Kepentingan Yang Dipertanggungkan </a:t>
                      </a:r>
                      <a:r>
                        <a:rPr lang="sv-SE" sz="1200" i="1">
                          <a:effectLst/>
                          <a:latin typeface="Aptos" panose="020B0004020202020204" pitchFamily="34" charset="0"/>
                          <a:ea typeface="Calibri" panose="020F0502020204030204" pitchFamily="34" charset="0"/>
                          <a:cs typeface="Arial" panose="020B0604020202020204" pitchFamily="34" charset="0"/>
                        </a:rPr>
                        <a:t>(Insurable </a:t>
                      </a:r>
                      <a:r>
                        <a:rPr lang="sv-SE" sz="1200" i="1">
                          <a:solidFill>
                            <a:schemeClr val="tx1"/>
                          </a:solidFill>
                          <a:effectLst/>
                          <a:latin typeface="Aptos" panose="020B0004020202020204" pitchFamily="34" charset="0"/>
                          <a:ea typeface="Calibri" panose="020F0502020204030204" pitchFamily="34" charset="0"/>
                          <a:cs typeface="Arial" panose="020B0604020202020204" pitchFamily="34" charset="0"/>
                        </a:rPr>
                        <a:t>Interest)</a:t>
                      </a: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 terhadap Tertanggung;</a:t>
                      </a:r>
                    </a:p>
                    <a:p>
                      <a:pPr marL="4572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Perubahan frekuensi pembayaran Premi, dengan tetap mengacu pada ketentuan minimum Premi pada Penanggung;</a:t>
                      </a:r>
                    </a:p>
                    <a:p>
                      <a:pPr marL="4572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Hal-hal lain yang tidak mempengaruhi faktor risiko, baik secara langsung maupun tidak langsung, sebagaimana yang ditetapkan Penanggung dari waktu ke waktu.</a:t>
                      </a:r>
                      <a:endParaRPr lang="sv-SE" sz="1200" strike="noStrike">
                        <a:solidFill>
                          <a:schemeClr val="tx1"/>
                        </a:solidFill>
                        <a:effectLst/>
                        <a:latin typeface="Aptos" panose="020B0004020202020204" pitchFamily="34" charset="0"/>
                        <a:ea typeface="Calibri" panose="020F0502020204030204" pitchFamily="34" charset="0"/>
                        <a:cs typeface="Arial" panose="020B0604020202020204" pitchFamily="34" charset="0"/>
                      </a:endParaRPr>
                    </a:p>
                    <a:p>
                      <a:pPr marL="228600" marR="50800" lvl="0" indent="0" algn="just" defTabSz="914400" rtl="0" eaLnBrk="1" fontAlgn="auto" latinLnBrk="0" hangingPunct="1">
                        <a:lnSpc>
                          <a:spcPct val="107000"/>
                        </a:lnSpc>
                        <a:spcBef>
                          <a:spcPts val="0"/>
                        </a:spcBef>
                        <a:spcAft>
                          <a:spcPts val="0"/>
                        </a:spcAft>
                        <a:buClrTx/>
                        <a:buSzTx/>
                        <a:buFont typeface="+mj-lt"/>
                        <a:buNone/>
                        <a:tabLst/>
                        <a:defRPr/>
                      </a:pPr>
                      <a:r>
                        <a:rPr lang="sv-SE" sz="1200" b="1" strike="noStrike">
                          <a:solidFill>
                            <a:schemeClr val="tx1"/>
                          </a:solidFill>
                          <a:effectLst/>
                          <a:latin typeface="Aptos" panose="020B0004020202020204" pitchFamily="34" charset="0"/>
                          <a:ea typeface="Calibri" panose="020F0502020204030204" pitchFamily="34" charset="0"/>
                          <a:cs typeface="Arial" panose="020B0604020202020204" pitchFamily="34" charset="0"/>
                        </a:rPr>
                        <a:t>Khusus untuk produk ini, Pemegang Polis tidak diperkenankan untuk mengajukan perubahan nominal Premi, Masa Pembayaran Premi, dan jenis Plan sepanjang Masa Pertanggungan.</a:t>
                      </a:r>
                    </a:p>
                    <a:p>
                      <a:pPr marL="228600" marR="50800" lvl="0" indent="0" algn="just" defTabSz="914400" rtl="0" eaLnBrk="1" fontAlgn="auto" latinLnBrk="0" hangingPunct="1">
                        <a:lnSpc>
                          <a:spcPct val="107000"/>
                        </a:lnSpc>
                        <a:spcBef>
                          <a:spcPts val="0"/>
                        </a:spcBef>
                        <a:spcAft>
                          <a:spcPts val="0"/>
                        </a:spcAft>
                        <a:buClrTx/>
                        <a:buSzTx/>
                        <a:buFont typeface="+mj-lt"/>
                        <a:buNone/>
                        <a:tabLst/>
                        <a:defRPr/>
                      </a:pPr>
                      <a:endParaRPr lang="sv-SE" sz="1200" strike="noStrike">
                        <a:solidFill>
                          <a:schemeClr val="tx1"/>
                        </a:solidFill>
                        <a:effectLst/>
                        <a:latin typeface="Aptos" panose="020B0004020202020204" pitchFamily="34" charset="0"/>
                        <a:ea typeface="Calibri" panose="020F0502020204030204" pitchFamily="34" charset="0"/>
                        <a:cs typeface="Arial" panose="020B0604020202020204" pitchFamily="34" charset="0"/>
                      </a:endParaRPr>
                    </a:p>
                    <a:p>
                      <a:pPr marL="228600" marR="50800" lvl="0" indent="-228600" algn="just" defTabSz="914400" rtl="0" eaLnBrk="1" fontAlgn="auto" latinLnBrk="0" hangingPunct="1">
                        <a:lnSpc>
                          <a:spcPct val="107000"/>
                        </a:lnSpc>
                        <a:spcBef>
                          <a:spcPts val="0"/>
                        </a:spcBef>
                        <a:spcAft>
                          <a:spcPts val="0"/>
                        </a:spcAft>
                        <a:buClrTx/>
                        <a:buSzTx/>
                        <a:buFont typeface="+mj-lt"/>
                        <a:buAutoNum type="arabicPeriod" startAt="3"/>
                        <a:tabLst/>
                        <a:defRPr/>
                      </a:pP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Apabila Pemegang Polis Meninggal Dunia atau dalam keadaan tidak dapat melakukan tindakan hukum sesuai dengan peraturan perundang-undangan yang berlaku, maka yang berhak mengajukan perubahan Polis adalah:</a:t>
                      </a:r>
                    </a:p>
                    <a:p>
                      <a:pPr marL="4572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Tertanggung, dengan ketentuan telah mencapai Usia 21 (dua puluh satu) tahun dan cakap secara hukum, dan selanjutnya Tertanggung tersebut yang akan menjadi Pemegang Polis;</a:t>
                      </a:r>
                    </a:p>
                    <a:p>
                      <a:pPr marL="4572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solidFill>
                            <a:schemeClr val="tx1"/>
                          </a:solidFill>
                          <a:effectLst/>
                          <a:latin typeface="Aptos" panose="020B0004020202020204" pitchFamily="34" charset="0"/>
                          <a:ea typeface="Calibri" panose="020F0502020204030204" pitchFamily="34" charset="0"/>
                          <a:cs typeface="Arial" panose="020B0604020202020204" pitchFamily="34" charset="0"/>
                        </a:rPr>
                        <a:t>Jika Tertanggung belum mencapai Usia 21 (dua puluh satu) tahun atau tidak cakap secara hukum, maka yang berhak mengajukan perubahan Polis adalah seorang wali/pengampu yang sah </a:t>
                      </a:r>
                      <a:r>
                        <a:rPr lang="sv-SE" sz="1200">
                          <a:effectLst/>
                          <a:latin typeface="Aptos" panose="020B0004020202020204" pitchFamily="34" charset="0"/>
                          <a:ea typeface="Calibri" panose="020F0502020204030204" pitchFamily="34" charset="0"/>
                          <a:cs typeface="Arial" panose="020B0604020202020204" pitchFamily="34" charset="0"/>
                        </a:rPr>
                        <a:t>dari Tertanggung yang ditunjuk oleh Pengadilan yang berwenang, dan selanjutnya wali/pengampu yang sah tersebut yang akan menjadi Pemegang Polis.</a:t>
                      </a:r>
                    </a:p>
                    <a:p>
                      <a:pPr marL="228600" marR="50800" lvl="0" indent="-228600" algn="just" defTabSz="914400" rtl="0" eaLnBrk="1" fontAlgn="auto" latinLnBrk="0" hangingPunct="1">
                        <a:lnSpc>
                          <a:spcPct val="107000"/>
                        </a:lnSpc>
                        <a:spcBef>
                          <a:spcPts val="0"/>
                        </a:spcBef>
                        <a:spcAft>
                          <a:spcPts val="0"/>
                        </a:spcAft>
                        <a:buClrTx/>
                        <a:buSzTx/>
                        <a:buFont typeface="+mj-lt"/>
                        <a:buAutoNum type="arabicPeriod" startAt="4"/>
                        <a:tabLst/>
                        <a:defRPr/>
                      </a:pPr>
                      <a:endParaRPr lang="sv-SE" sz="1200">
                        <a:effectLst/>
                        <a:latin typeface="Aptos" panose="020B0004020202020204" pitchFamily="34" charset="0"/>
                        <a:ea typeface="Calibri" panose="020F0502020204030204" pitchFamily="34" charset="0"/>
                        <a:cs typeface="Arial" panose="020B0604020202020204" pitchFamily="34" charset="0"/>
                      </a:endParaRPr>
                    </a:p>
                    <a:p>
                      <a:pPr marL="228600" marR="50800" lvl="0" indent="-228600" algn="just" defTabSz="914400" rtl="0" eaLnBrk="1" fontAlgn="auto" latinLnBrk="0" hangingPunct="1">
                        <a:lnSpc>
                          <a:spcPct val="107000"/>
                        </a:lnSpc>
                        <a:spcBef>
                          <a:spcPts val="0"/>
                        </a:spcBef>
                        <a:spcAft>
                          <a:spcPts val="0"/>
                        </a:spcAft>
                        <a:buClrTx/>
                        <a:buSzTx/>
                        <a:buFont typeface="+mj-lt"/>
                        <a:buAutoNum type="arabicPeriod" startAt="4"/>
                        <a:tabLst/>
                        <a:defRPr/>
                      </a:pPr>
                      <a:r>
                        <a:rPr lang="sv-SE" sz="1200">
                          <a:effectLst/>
                          <a:latin typeface="Aptos" panose="020B0004020202020204" pitchFamily="34" charset="0"/>
                          <a:ea typeface="Calibri" panose="020F0502020204030204" pitchFamily="34" charset="0"/>
                          <a:cs typeface="Arial" panose="020B0604020202020204" pitchFamily="34" charset="0"/>
                        </a:rPr>
                        <a:t>Perubahan terhadap Polis dianggap sah apabila disetujui oleh Penanggung dan persetujuan tersebut selanjutnya disahkan dan dinyatakan dalam bentuk Endorsemen.</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6745962"/>
                  </a:ext>
                </a:extLst>
              </a:tr>
            </a:tbl>
          </a:graphicData>
        </a:graphic>
      </p:graphicFrame>
      <p:sp>
        <p:nvSpPr>
          <p:cNvPr id="2" name="Title 1">
            <a:extLst>
              <a:ext uri="{FF2B5EF4-FFF2-40B4-BE49-F238E27FC236}">
                <a16:creationId xmlns:a16="http://schemas.microsoft.com/office/drawing/2014/main" id="{E8438B3F-5718-446A-A71F-B408F41D2247}"/>
              </a:ext>
            </a:extLst>
          </p:cNvPr>
          <p:cNvSpPr txBox="1">
            <a:spLocks/>
          </p:cNvSpPr>
          <p:nvPr/>
        </p:nvSpPr>
        <p:spPr>
          <a:xfrm>
            <a:off x="2974975" y="23653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FITUR PRODUK Value Income Assurance (VALUE+)</a:t>
            </a:r>
          </a:p>
        </p:txBody>
      </p:sp>
    </p:spTree>
    <p:extLst>
      <p:ext uri="{BB962C8B-B14F-4D97-AF65-F5344CB8AC3E}">
        <p14:creationId xmlns:p14="http://schemas.microsoft.com/office/powerpoint/2010/main" val="2117409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F1763-D448-004C-353F-3AABD48450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B773BDA-D06A-EA9A-22E7-F04A3BD437D2}"/>
              </a:ext>
            </a:extLst>
          </p:cNvPr>
          <p:cNvSpPr/>
          <p:nvPr/>
        </p:nvSpPr>
        <p:spPr>
          <a:xfrm>
            <a:off x="9344025" y="5829300"/>
            <a:ext cx="2728913" cy="9644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D55F4359-204E-1C98-4B4C-D9E4A23433E1}"/>
              </a:ext>
            </a:extLst>
          </p:cNvPr>
          <p:cNvGraphicFramePr>
            <a:graphicFrameLocks noGrp="1"/>
          </p:cNvGraphicFramePr>
          <p:nvPr>
            <p:extLst>
              <p:ext uri="{D42A27DB-BD31-4B8C-83A1-F6EECF244321}">
                <p14:modId xmlns:p14="http://schemas.microsoft.com/office/powerpoint/2010/main" val="1945930553"/>
              </p:ext>
            </p:extLst>
          </p:nvPr>
        </p:nvGraphicFramePr>
        <p:xfrm>
          <a:off x="315380" y="984611"/>
          <a:ext cx="11561240" cy="2929021"/>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350213">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2578808">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Perubahan</a:t>
                      </a:r>
                      <a:r>
                        <a:rPr lang="en-US" sz="1400" b="1" i="0" strike="noStrike">
                          <a:solidFill>
                            <a:schemeClr val="bg1"/>
                          </a:solidFill>
                          <a:latin typeface="Aptos" panose="020B0004020202020204" pitchFamily="34" charset="0"/>
                        </a:rPr>
                        <a:t> Polis oleh</a:t>
                      </a:r>
                    </a:p>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Penanggung</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342900" marR="50800" lvl="0" indent="-342900" algn="just" defTabSz="914400" rtl="0" eaLnBrk="1" fontAlgn="auto" latinLnBrk="0" hangingPunct="1">
                        <a:lnSpc>
                          <a:spcPct val="107000"/>
                        </a:lnSpc>
                        <a:spcBef>
                          <a:spcPts val="0"/>
                        </a:spcBef>
                        <a:spcAft>
                          <a:spcPts val="0"/>
                        </a:spcAft>
                        <a:buClrTx/>
                        <a:buSzTx/>
                        <a:buFont typeface="+mj-lt"/>
                        <a:buAutoNum type="arabi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Apabila terdapat atau terjadi perubahan selama Masa Pertanggungan pada manfaat, biaya, risiko, syarat dan ketentuan Polis maka Penanggung wajib memberitahukan secara tertulis kepada alamat terkini Pemegang Polis yang tercatat pada Penanggung paling lambat 60 (enam puluh) Hari sebelum perubahan tersebut berlaku. Endorsemen atas perubahan tersebut merupakan satu kesatuan dan bagian yang tidak terpisahkan dari Polis. </a:t>
                      </a:r>
                    </a:p>
                    <a:p>
                      <a:pPr marL="342900" marR="50800" lvl="0" indent="-342900" algn="just" defTabSz="914400" rtl="0" eaLnBrk="1" fontAlgn="auto" latinLnBrk="0" hangingPunct="1">
                        <a:lnSpc>
                          <a:spcPct val="107000"/>
                        </a:lnSpc>
                        <a:spcBef>
                          <a:spcPts val="0"/>
                        </a:spcBef>
                        <a:spcAft>
                          <a:spcPts val="0"/>
                        </a:spcAft>
                        <a:buClrTx/>
                        <a:buSzTx/>
                        <a:buFont typeface="+mj-lt"/>
                        <a:buAutoNum type="arabicPeriod"/>
                        <a:tabLst/>
                        <a:defRPr/>
                      </a:pPr>
                      <a:endParaRPr lang="sv-SE" sz="1200">
                        <a:effectLst/>
                        <a:latin typeface="Aptos" panose="020B0004020202020204" pitchFamily="34" charset="0"/>
                        <a:ea typeface="Calibri" panose="020F0502020204030204" pitchFamily="34" charset="0"/>
                        <a:cs typeface="Arial" panose="020B0604020202020204" pitchFamily="34" charset="0"/>
                      </a:endParaRPr>
                    </a:p>
                    <a:p>
                      <a:pPr marL="342900" marR="50800" lvl="0" indent="-342900" algn="just" defTabSz="914400" rtl="0" eaLnBrk="1" fontAlgn="auto" latinLnBrk="0" hangingPunct="1">
                        <a:lnSpc>
                          <a:spcPct val="107000"/>
                        </a:lnSpc>
                        <a:spcBef>
                          <a:spcPts val="0"/>
                        </a:spcBef>
                        <a:spcAft>
                          <a:spcPts val="0"/>
                        </a:spcAft>
                        <a:buClrTx/>
                        <a:buSzTx/>
                        <a:buFont typeface="+mj-lt"/>
                        <a:buAutoNum type="arabi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Apabila Pemegang Polis tidak menyetujui perubahan yang disebutkan pada poin 1, maka Pemegang Polis dapat mengajukan Penebusan Polis </a:t>
                      </a:r>
                      <a:r>
                        <a:rPr lang="sv-SE" sz="1200" i="1">
                          <a:effectLst/>
                          <a:latin typeface="Aptos" panose="020B0004020202020204" pitchFamily="34" charset="0"/>
                          <a:ea typeface="Calibri" panose="020F0502020204030204" pitchFamily="34" charset="0"/>
                          <a:cs typeface="Arial" panose="020B0604020202020204" pitchFamily="34" charset="0"/>
                        </a:rPr>
                        <a:t>(Surrender)</a:t>
                      </a:r>
                      <a:r>
                        <a:rPr lang="sv-SE" sz="1200" i="0">
                          <a:effectLst/>
                          <a:latin typeface="Aptos" panose="020B0004020202020204" pitchFamily="34" charset="0"/>
                          <a:ea typeface="Calibri" panose="020F0502020204030204" pitchFamily="34" charset="0"/>
                          <a:cs typeface="Arial" panose="020B0604020202020204" pitchFamily="34" charset="0"/>
                        </a:rPr>
                        <a:t> kepada Penanggung dan Penanggung akan membayarkan Nilai Tebus sesuai dengan ketentuan yang berlaku pada Penanggung.</a:t>
                      </a:r>
                    </a:p>
                    <a:p>
                      <a:pPr marL="342900" marR="50800" lvl="0" indent="-342900" algn="just" defTabSz="914400" rtl="0" eaLnBrk="1" fontAlgn="auto" latinLnBrk="0" hangingPunct="1">
                        <a:lnSpc>
                          <a:spcPct val="107000"/>
                        </a:lnSpc>
                        <a:spcBef>
                          <a:spcPts val="0"/>
                        </a:spcBef>
                        <a:spcAft>
                          <a:spcPts val="0"/>
                        </a:spcAft>
                        <a:buClrTx/>
                        <a:buSzTx/>
                        <a:buFont typeface="+mj-lt"/>
                        <a:buAutoNum type="arabicPeriod"/>
                        <a:tabLst/>
                        <a:defRPr/>
                      </a:pPr>
                      <a:endParaRPr lang="sv-SE" sz="1200">
                        <a:effectLst/>
                        <a:latin typeface="Aptos" panose="020B0004020202020204" pitchFamily="34" charset="0"/>
                        <a:ea typeface="Calibri" panose="020F0502020204030204" pitchFamily="34" charset="0"/>
                        <a:cs typeface="Arial" panose="020B0604020202020204" pitchFamily="34" charset="0"/>
                      </a:endParaRPr>
                    </a:p>
                    <a:p>
                      <a:pPr marL="342900" marR="50800" lvl="0" indent="-342900" algn="just" defTabSz="914400" rtl="0" eaLnBrk="1" fontAlgn="auto" latinLnBrk="0" hangingPunct="1">
                        <a:lnSpc>
                          <a:spcPct val="107000"/>
                        </a:lnSpc>
                        <a:spcBef>
                          <a:spcPts val="0"/>
                        </a:spcBef>
                        <a:spcAft>
                          <a:spcPts val="0"/>
                        </a:spcAft>
                        <a:buClrTx/>
                        <a:buSzTx/>
                        <a:buFont typeface="+mj-lt"/>
                        <a:buAutoNum type="arabi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Apabila Pemegang Polis tidak memberikan tanggapan kepada Penanggung setelah pemberitahuan diberikan oleh Penanggung sampai dengan tanggal berlakunya perubahan tersebut, maka Penanggung menganggap perubahan tersebut telah disetujui oleh Pemegang Polis dan perubahan akan diberlakukan.</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1715734"/>
                  </a:ext>
                </a:extLst>
              </a:tr>
            </a:tbl>
          </a:graphicData>
        </a:graphic>
      </p:graphicFrame>
      <p:sp>
        <p:nvSpPr>
          <p:cNvPr id="2" name="Title 1">
            <a:extLst>
              <a:ext uri="{FF2B5EF4-FFF2-40B4-BE49-F238E27FC236}">
                <a16:creationId xmlns:a16="http://schemas.microsoft.com/office/drawing/2014/main" id="{28EA800B-3722-6EB0-A939-505F39A2AED9}"/>
              </a:ext>
            </a:extLst>
          </p:cNvPr>
          <p:cNvSpPr txBox="1">
            <a:spLocks/>
          </p:cNvSpPr>
          <p:nvPr/>
        </p:nvSpPr>
        <p:spPr>
          <a:xfrm>
            <a:off x="2974975" y="23653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FITUR PRODUK Value Income Assurance (VALUE+)</a:t>
            </a:r>
          </a:p>
        </p:txBody>
      </p:sp>
    </p:spTree>
    <p:extLst>
      <p:ext uri="{BB962C8B-B14F-4D97-AF65-F5344CB8AC3E}">
        <p14:creationId xmlns:p14="http://schemas.microsoft.com/office/powerpoint/2010/main" val="233167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FC09C-A9D5-ED20-2679-9C2650A36ABC}"/>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228DA7E8-BC2A-DF5C-8287-41225BEF1432}"/>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74AC50D-8579-E103-BB83-FC3D3CDACA00}"/>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43CE0DF-A5E4-F9D9-6A88-2456ACBE401C}"/>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C5C2E599-3B68-C300-30F2-239990D77759}"/>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4B881CF2-6E95-EE40-916B-73989135A8B4}"/>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
        <p:nvSpPr>
          <p:cNvPr id="3" name="Content Placeholder 4">
            <a:extLst>
              <a:ext uri="{FF2B5EF4-FFF2-40B4-BE49-F238E27FC236}">
                <a16:creationId xmlns:a16="http://schemas.microsoft.com/office/drawing/2014/main" id="{7F5A14ED-3110-2959-3288-3062015A98D0}"/>
              </a:ext>
            </a:extLst>
          </p:cNvPr>
          <p:cNvSpPr txBox="1">
            <a:spLocks/>
          </p:cNvSpPr>
          <p:nvPr/>
        </p:nvSpPr>
        <p:spPr>
          <a:xfrm>
            <a:off x="250031" y="1678848"/>
            <a:ext cx="10515600" cy="63817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a:solidFill>
                  <a:schemeClr val="bg1"/>
                </a:solidFill>
                <a:latin typeface="Aptos" panose="020B0004020202020204" pitchFamily="34" charset="0"/>
                <a:ea typeface="Calibri" panose="020F0502020204030204" pitchFamily="34" charset="0"/>
                <a:cs typeface="Calibri" panose="020F0502020204030204" pitchFamily="34" charset="0"/>
              </a:rPr>
              <a:t>PENGECUALIAN</a:t>
            </a:r>
          </a:p>
        </p:txBody>
      </p:sp>
    </p:spTree>
    <p:extLst>
      <p:ext uri="{BB962C8B-B14F-4D97-AF65-F5344CB8AC3E}">
        <p14:creationId xmlns:p14="http://schemas.microsoft.com/office/powerpoint/2010/main" val="3929987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C7C9EC0-E132-1914-D905-032CC18D5C3D}"/>
              </a:ext>
            </a:extLst>
          </p:cNvPr>
          <p:cNvSpPr/>
          <p:nvPr/>
        </p:nvSpPr>
        <p:spPr>
          <a:xfrm>
            <a:off x="450321" y="1079902"/>
            <a:ext cx="11291358" cy="4135036"/>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Preplay" panose="02000503000000020004" pitchFamily="50" charset="0"/>
            </a:endParaRPr>
          </a:p>
        </p:txBody>
      </p:sp>
      <p:sp>
        <p:nvSpPr>
          <p:cNvPr id="8" name="Rectangle 7">
            <a:extLst>
              <a:ext uri="{FF2B5EF4-FFF2-40B4-BE49-F238E27FC236}">
                <a16:creationId xmlns:a16="http://schemas.microsoft.com/office/drawing/2014/main" id="{0ADE06F2-82F1-F523-A8E1-20895F3D7C6A}"/>
              </a:ext>
            </a:extLst>
          </p:cNvPr>
          <p:cNvSpPr/>
          <p:nvPr/>
        </p:nvSpPr>
        <p:spPr>
          <a:xfrm>
            <a:off x="589788" y="1101208"/>
            <a:ext cx="11012424" cy="315023"/>
          </a:xfrm>
          <a:prstGeom prst="rect">
            <a:avLst/>
          </a:prstGeom>
        </p:spPr>
        <p:txBody>
          <a:bodyPr wrap="square">
            <a:spAutoFit/>
          </a:bodyPr>
          <a:lstStyle/>
          <a:p>
            <a:pPr marL="0" marR="50800" lvl="0" indent="0" algn="l" defTabSz="914400" rtl="0" eaLnBrk="1" fontAlgn="auto" latinLnBrk="0" hangingPunct="1">
              <a:lnSpc>
                <a:spcPct val="107000"/>
              </a:lnSpc>
              <a:spcBef>
                <a:spcPts val="0"/>
              </a:spcBef>
              <a:spcAft>
                <a:spcPts val="600"/>
              </a:spcAft>
              <a:buClrTx/>
              <a:buSzTx/>
              <a:buFont typeface="+mj-lt"/>
              <a:buNone/>
              <a:tabLst/>
              <a:defRPr/>
            </a:pPr>
            <a:r>
              <a:rPr lang="sv-SE" sz="1400" b="1" i="1">
                <a:effectLst/>
                <a:latin typeface="Aptos" panose="020B0004020202020204" pitchFamily="34" charset="0"/>
                <a:ea typeface="Calibri" panose="020F0502020204030204" pitchFamily="34" charset="0"/>
                <a:cs typeface="Arial" panose="020B0604020202020204" pitchFamily="34" charset="0"/>
              </a:rPr>
              <a:t>Penanggung berhak menolak membayar klaim atas Manfaat Meninggal Dunia yang disebabkan oleh atau berhubungan dengan:</a:t>
            </a:r>
          </a:p>
        </p:txBody>
      </p:sp>
      <p:pic>
        <p:nvPicPr>
          <p:cNvPr id="9" name="Picture 2" descr="http://fonctioncommerciale.fr/wp-content/uploads/2014/03/1Objections1.png">
            <a:extLst>
              <a:ext uri="{FF2B5EF4-FFF2-40B4-BE49-F238E27FC236}">
                <a16:creationId xmlns:a16="http://schemas.microsoft.com/office/drawing/2014/main" id="{E07AED07-833B-641D-05EB-9B7348AEC2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598" b="3563"/>
          <a:stretch/>
        </p:blipFill>
        <p:spPr bwMode="auto">
          <a:xfrm>
            <a:off x="8555849" y="2255157"/>
            <a:ext cx="3100684" cy="185465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E59BAB5-1D5F-051B-F2FD-DC18C525CF17}"/>
              </a:ext>
            </a:extLst>
          </p:cNvPr>
          <p:cNvSpPr txBox="1">
            <a:spLocks/>
          </p:cNvSpPr>
          <p:nvPr/>
        </p:nvSpPr>
        <p:spPr>
          <a:xfrm>
            <a:off x="625781" y="1401077"/>
            <a:ext cx="7844922" cy="3771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50800" lvl="0" indent="-342900" algn="just" defTabSz="914400" rtl="0" eaLnBrk="1" fontAlgn="auto" latinLnBrk="0" hangingPunct="1">
              <a:lnSpc>
                <a:spcPct val="107000"/>
              </a:lnSpc>
              <a:spcBef>
                <a:spcPts val="0"/>
              </a:spcBef>
              <a:spcAft>
                <a:spcPts val="600"/>
              </a:spcAft>
              <a:buClrTx/>
              <a:buSzTx/>
              <a:buFont typeface="+mj-lt"/>
              <a:buAutoNum type="arabicPeriod"/>
              <a:tabLst/>
              <a:defRPr/>
            </a:pPr>
            <a:r>
              <a:rPr lang="sv-SE" sz="1400" b="0" i="1">
                <a:effectLst/>
                <a:latin typeface="Aptos" panose="020B0004020202020204" pitchFamily="34" charset="0"/>
                <a:ea typeface="Calibri" panose="020F0502020204030204" pitchFamily="34" charset="0"/>
                <a:cs typeface="Arial" panose="020B0604020202020204" pitchFamily="34" charset="0"/>
              </a:rPr>
              <a:t>Bunuh diri, percobaan bunuh diri, atau kesengajaan melukai diri sendiri baik dalam keadaan waras atau tidak waras sebagai akibat dari kesengajaan yang dilakukan atau disertai atau dibantu atau dibujuk (disuruh lakukan) yang dibuktikan berdasarkan keterangan dari pihak yang berwenang dan/atau Dokter yang menangani Tertanggung; </a:t>
            </a:r>
          </a:p>
          <a:p>
            <a:pPr marL="342900" marR="50800" lvl="0" indent="-342900" algn="just" defTabSz="914400" rtl="0" eaLnBrk="1" fontAlgn="auto" latinLnBrk="0" hangingPunct="1">
              <a:lnSpc>
                <a:spcPct val="107000"/>
              </a:lnSpc>
              <a:spcBef>
                <a:spcPts val="0"/>
              </a:spcBef>
              <a:spcAft>
                <a:spcPts val="600"/>
              </a:spcAft>
              <a:buClrTx/>
              <a:buSzTx/>
              <a:buFont typeface="+mj-lt"/>
              <a:buAutoNum type="arabicPeriod"/>
              <a:tabLst/>
              <a:defRPr/>
            </a:pPr>
            <a:r>
              <a:rPr lang="sv-SE" sz="1400" b="0" i="1">
                <a:effectLst/>
                <a:latin typeface="Aptos" panose="020B0004020202020204" pitchFamily="34" charset="0"/>
                <a:ea typeface="Calibri" panose="020F0502020204030204" pitchFamily="34" charset="0"/>
                <a:cs typeface="Arial" panose="020B0604020202020204" pitchFamily="34" charset="0"/>
              </a:rPr>
              <a:t>Perang (dideklarasikan atau tidak), invasi oleh negara lain, operasi permusuhan atau seperti perang (dinyatakan atau tidak), terorisme, pemberontakan, pemogokan, keikutsertaan langsung dalam kerusuhan atau huru hara, kudeta, perlawanan, revolusi militer atau angkatan bersenjata, atau partisipasi dalam aksi/kegiatan militer, perang sipil; </a:t>
            </a:r>
          </a:p>
          <a:p>
            <a:pPr marL="342900" marR="50800" lvl="0" indent="-342900" algn="just" defTabSz="914400" rtl="0" eaLnBrk="1" fontAlgn="auto" latinLnBrk="0" hangingPunct="1">
              <a:lnSpc>
                <a:spcPct val="107000"/>
              </a:lnSpc>
              <a:spcBef>
                <a:spcPts val="0"/>
              </a:spcBef>
              <a:spcAft>
                <a:spcPts val="600"/>
              </a:spcAft>
              <a:buClrTx/>
              <a:buSzTx/>
              <a:buFont typeface="+mj-lt"/>
              <a:buAutoNum type="arabicPeriod"/>
              <a:tabLst/>
              <a:defRPr/>
            </a:pPr>
            <a:r>
              <a:rPr lang="sv-SE" sz="1400" b="0" i="1">
                <a:effectLst/>
                <a:latin typeface="Aptos" panose="020B0004020202020204" pitchFamily="34" charset="0"/>
                <a:ea typeface="Calibri" panose="020F0502020204030204" pitchFamily="34" charset="0"/>
                <a:cs typeface="Arial" panose="020B0604020202020204" pitchFamily="34" charset="0"/>
              </a:rPr>
              <a:t>Keterlibatan Tertanggung dalam perbuatan melawan/melanggar hukum (sengaja maupun tidak sengaja), termasuk kejahatan perasuransian yang dilakukan oleh pihak yang berkepentingan dengan asuransi ini, baik aktif maupun tidak; </a:t>
            </a:r>
          </a:p>
          <a:p>
            <a:pPr marL="342900" marR="50800" lvl="0" indent="-342900" algn="just" defTabSz="914400" rtl="0" eaLnBrk="1" fontAlgn="auto" latinLnBrk="0" hangingPunct="1">
              <a:lnSpc>
                <a:spcPct val="107000"/>
              </a:lnSpc>
              <a:spcBef>
                <a:spcPts val="0"/>
              </a:spcBef>
              <a:spcAft>
                <a:spcPts val="600"/>
              </a:spcAft>
              <a:buClrTx/>
              <a:buSzTx/>
              <a:buFont typeface="+mj-lt"/>
              <a:buAutoNum type="arabicPeriod"/>
              <a:tabLst/>
              <a:defRPr/>
            </a:pPr>
            <a:r>
              <a:rPr lang="sv-SE" sz="1400" b="0" i="1">
                <a:effectLst/>
                <a:latin typeface="Aptos" panose="020B0004020202020204" pitchFamily="34" charset="0"/>
                <a:ea typeface="Calibri" panose="020F0502020204030204" pitchFamily="34" charset="0"/>
                <a:cs typeface="Arial" panose="020B0604020202020204" pitchFamily="34" charset="0"/>
              </a:rPr>
              <a:t>Tertanggung di bawah pengaruh (sengaja maupun tidak sengaja) atau terlibat dalam penyalahgunaan narkotika, psikotropika, alkohol, racun, gas atau zat-zat sejenisnya, atau obat-obatan termasuk untuk tujuan rehabilitasi (kecuali obat-obatan atau zat-zat tersebut digunakan berdasarkan rekomendasi oleh Dokter).</a:t>
            </a:r>
          </a:p>
        </p:txBody>
      </p:sp>
      <p:sp>
        <p:nvSpPr>
          <p:cNvPr id="4" name="Title 1">
            <a:extLst>
              <a:ext uri="{FF2B5EF4-FFF2-40B4-BE49-F238E27FC236}">
                <a16:creationId xmlns:a16="http://schemas.microsoft.com/office/drawing/2014/main" id="{45D8E70D-5115-2EEF-6991-DC9A28E70DCE}"/>
              </a:ext>
            </a:extLst>
          </p:cNvPr>
          <p:cNvSpPr txBox="1">
            <a:spLocks/>
          </p:cNvSpPr>
          <p:nvPr/>
        </p:nvSpPr>
        <p:spPr>
          <a:xfrm>
            <a:off x="2974975" y="23653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800" b="1">
                <a:solidFill>
                  <a:srgbClr val="002060"/>
                </a:solidFill>
                <a:latin typeface="Aptos" panose="020B0004020202020204" pitchFamily="34" charset="0"/>
              </a:rPr>
              <a:t>PENGECUALIAN</a:t>
            </a:r>
            <a:endParaRPr lang="en-GB" sz="28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2875648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D980A-5621-B369-5A3B-BF415FAB3D4F}"/>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224A9D61-40C5-116A-8627-E16A68509E00}"/>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4CC6B02-BE47-1954-C917-CA4EA96731AD}"/>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18BDF83-5B00-5434-DE1D-5975645163DF}"/>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FAE3B8E4-0C1A-E043-E228-5C10DC248D92}"/>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767D94F3-E57F-D9C0-B53D-9772212B368C}"/>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
        <p:nvSpPr>
          <p:cNvPr id="3" name="Content Placeholder 4">
            <a:extLst>
              <a:ext uri="{FF2B5EF4-FFF2-40B4-BE49-F238E27FC236}">
                <a16:creationId xmlns:a16="http://schemas.microsoft.com/office/drawing/2014/main" id="{C5AF262D-B0BD-FDE0-9B80-DB732044D91C}"/>
              </a:ext>
            </a:extLst>
          </p:cNvPr>
          <p:cNvSpPr txBox="1">
            <a:spLocks/>
          </p:cNvSpPr>
          <p:nvPr/>
        </p:nvSpPr>
        <p:spPr>
          <a:xfrm>
            <a:off x="250031" y="1678848"/>
            <a:ext cx="10515600" cy="63817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a:solidFill>
                  <a:schemeClr val="bg1"/>
                </a:solidFill>
                <a:latin typeface="Aptos" panose="020B0004020202020204" pitchFamily="34" charset="0"/>
                <a:ea typeface="Calibri" panose="020F0502020204030204" pitchFamily="34" charset="0"/>
                <a:cs typeface="Calibri" panose="020F0502020204030204" pitchFamily="34" charset="0"/>
              </a:rPr>
              <a:t>KETENTUAN KLAIM</a:t>
            </a:r>
          </a:p>
        </p:txBody>
      </p:sp>
    </p:spTree>
    <p:extLst>
      <p:ext uri="{BB962C8B-B14F-4D97-AF65-F5344CB8AC3E}">
        <p14:creationId xmlns:p14="http://schemas.microsoft.com/office/powerpoint/2010/main" val="1657219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Утверждать Free Stock Photos, Images, and Pictures of Утверждать">
            <a:extLst>
              <a:ext uri="{FF2B5EF4-FFF2-40B4-BE49-F238E27FC236}">
                <a16:creationId xmlns:a16="http://schemas.microsoft.com/office/drawing/2014/main" id="{74DAAABB-D7FE-BA30-0D17-103DF5D9E4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007" r="7232"/>
          <a:stretch/>
        </p:blipFill>
        <p:spPr bwMode="auto">
          <a:xfrm>
            <a:off x="9224010" y="1550932"/>
            <a:ext cx="2745482" cy="25548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D8C7C0F-2761-74C2-55F6-ABBD0724F870}"/>
              </a:ext>
            </a:extLst>
          </p:cNvPr>
          <p:cNvSpPr/>
          <p:nvPr/>
        </p:nvSpPr>
        <p:spPr>
          <a:xfrm>
            <a:off x="92864" y="999447"/>
            <a:ext cx="9127560" cy="5421228"/>
          </a:xfrm>
          <a:prstGeom prst="rect">
            <a:avLst/>
          </a:prstGeom>
        </p:spPr>
        <p:txBody>
          <a:bodyPr wrap="square">
            <a:spAutoFit/>
          </a:bodyPr>
          <a:lstStyle/>
          <a:p>
            <a:pPr marL="342900" marR="50800" lvl="0" indent="-228600" algn="just" defTabSz="914400" rtl="0" eaLnBrk="1" fontAlgn="auto" latinLnBrk="0" hangingPunct="1">
              <a:lnSpc>
                <a:spcPct val="107000"/>
              </a:lnSpc>
              <a:spcBef>
                <a:spcPts val="0"/>
              </a:spcBef>
              <a:spcAft>
                <a:spcPts val="0"/>
              </a:spcAft>
              <a:buClrTx/>
              <a:buSzTx/>
              <a:buFont typeface="+mj-lt"/>
              <a:buAutoNum type="arabi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Dokumen untuk klaim Manfaat Meninggal Dunia adalah sebagai berikut:</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Asli formulir klaim yang diterbitkan Penanggung yang diisi dengan lengkap oleh Pihak Yang Mengajukan Klaim; </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Asli formulir klaim yang diterbitkan Penanggung yang diisi dan dilengkapi dengan tanda tangan oleh Dokter disertai stempel/cap Dokter jika Tertanggung Meninggal Dunia di Rumah Sakit; </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Fotokopi identitas diri (KTP/ Paspor dan/atau KITAS) Pihak Yang Mengajukan Klaim yang dikeluarkan oleh lembaga atau instansi berwenang dan masih berlaku;</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Fotokopi identitas diri (KTP/ Paspor dan/atau KITAS) Tertanggung yang dikeluarkan oleh lembaga atau instansi berwenang dan masih berlaku;</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Fotokopi bukti hubungan kepentingan langsung secara nilai ekonomi antara Penerima Manfaat dengan Tertanggung berupa Kartu Keluarga atau Akta Lahir atau Akta Nikah atau dokumen lain sesuai perundang-undangan yang berlaku;</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Asli atau fotokopi legalisir Surat Keterangan Kematian dari fasilitas layanan kesehatan jika meninggal di fasilitas layanan kesehatan;</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Asli atau fotokopi legalisir Akta Kematian dari Catatan Sipil;</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Asli atau fotokopi legalisir Surat Keterangan Kematian dari Kepolisian apabila Meninggal Dunia karena Kecelakaan;</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Fotokopi Surat Izin Mengemudi (SIM) sesuai dengan jenis kendaraan yang dikendarai Tertanggung, jika Tertanggung sebagai pengemudi dan Meninggal Dunia karena Kecelakaan lalu lintas;</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Fotokopi buku tabungan, rekening koran atau dokumen lain yang dikeluarkan oleh bank milik Penerima Manfaat yang memuat informasi nomor rekening Penerima Manfaat dimana nomor rekening ini akan menjadi nomor rekening yang sah untuk digunakan sebagai pembayaran Manfaat Asuransi; dan</a:t>
            </a:r>
          </a:p>
          <a:p>
            <a:pPr marL="571500" marR="50800" lvl="0" indent="-228600" algn="just" defTabSz="914400" rtl="0" eaLnBrk="1" fontAlgn="auto" latinLnBrk="0" hangingPunct="1">
              <a:lnSpc>
                <a:spcPct val="107000"/>
              </a:lnSpc>
              <a:spcBef>
                <a:spcPts val="0"/>
              </a:spcBef>
              <a:spcAft>
                <a:spcPts val="0"/>
              </a:spcAft>
              <a:buClrTx/>
              <a:buSzTx/>
              <a:buFont typeface="+mj-lt"/>
              <a:buAutoNum type="alpha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Dokumen lain yang diperlukan oleh Penanggung selama dokumen tersebut:</a:t>
            </a:r>
          </a:p>
          <a:p>
            <a:pPr marL="857250" marR="50800" lvl="0" indent="-285750" algn="just" defTabSz="914400" rtl="0" eaLnBrk="1" fontAlgn="auto" latinLnBrk="0" hangingPunct="1">
              <a:lnSpc>
                <a:spcPct val="107000"/>
              </a:lnSpc>
              <a:spcBef>
                <a:spcPts val="0"/>
              </a:spcBef>
              <a:spcAft>
                <a:spcPts val="0"/>
              </a:spcAft>
              <a:buClrTx/>
              <a:buSzTx/>
              <a:buFont typeface="+mj-lt"/>
              <a:buAutoNum type="roman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Relevan dengan pertanggungan,</a:t>
            </a:r>
          </a:p>
          <a:p>
            <a:pPr marL="857250" marR="50800" lvl="0" indent="-285750" algn="just" defTabSz="914400" rtl="0" eaLnBrk="1" fontAlgn="auto" latinLnBrk="0" hangingPunct="1">
              <a:lnSpc>
                <a:spcPct val="107000"/>
              </a:lnSpc>
              <a:spcBef>
                <a:spcPts val="0"/>
              </a:spcBef>
              <a:spcAft>
                <a:spcPts val="0"/>
              </a:spcAft>
              <a:buClrTx/>
              <a:buSzTx/>
              <a:buFont typeface="+mj-lt"/>
              <a:buAutoNum type="roman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Wajar dalam proses penyelesaian klaim, dan</a:t>
            </a:r>
          </a:p>
          <a:p>
            <a:pPr marL="857250" marR="50800" lvl="0" indent="-285750" algn="just" defTabSz="914400" rtl="0" eaLnBrk="1" fontAlgn="auto" latinLnBrk="0" hangingPunct="1">
              <a:lnSpc>
                <a:spcPct val="107000"/>
              </a:lnSpc>
              <a:spcBef>
                <a:spcPts val="0"/>
              </a:spcBef>
              <a:spcAft>
                <a:spcPts val="0"/>
              </a:spcAft>
              <a:buClrTx/>
              <a:buSzTx/>
              <a:buFont typeface="+mj-lt"/>
              <a:buAutoNum type="romanLcPeriod"/>
              <a:tabLst/>
              <a:defRPr/>
            </a:pPr>
            <a:r>
              <a:rPr lang="sv-SE" sz="1200">
                <a:effectLst/>
                <a:latin typeface="Aptos" panose="020B0004020202020204" pitchFamily="34" charset="0"/>
                <a:ea typeface="Calibri" panose="020F0502020204030204" pitchFamily="34" charset="0"/>
                <a:cs typeface="Arial" panose="020B0604020202020204" pitchFamily="34" charset="0"/>
              </a:rPr>
              <a:t>Sesuai dengan ketentuan hukum yang berlaku.</a:t>
            </a:r>
          </a:p>
          <a:p>
            <a:pPr marL="571500" marR="50800" lvl="0" algn="just" defTabSz="914400" rtl="0" eaLnBrk="1" fontAlgn="auto" latinLnBrk="0" hangingPunct="1">
              <a:lnSpc>
                <a:spcPct val="107000"/>
              </a:lnSpc>
              <a:spcBef>
                <a:spcPts val="0"/>
              </a:spcBef>
              <a:spcAft>
                <a:spcPts val="0"/>
              </a:spcAft>
              <a:buClrTx/>
              <a:buSzTx/>
              <a:tabLst/>
              <a:defRPr/>
            </a:pPr>
            <a:r>
              <a:rPr lang="sv-SE" sz="1200">
                <a:effectLst/>
                <a:latin typeface="Aptos" panose="020B0004020202020204" pitchFamily="34" charset="0"/>
                <a:ea typeface="Calibri" panose="020F0502020204030204" pitchFamily="34" charset="0"/>
                <a:cs typeface="Arial" panose="020B0604020202020204" pitchFamily="34" charset="0"/>
              </a:rPr>
              <a:t>Yang dimaksud dokumen lain pada ayat ini adalah termasuk namun tidak terbatas pada dokumen laporan dari KBRI (dalam hal terjadi risiko Meninggal Dunia di luar negeri), kronologis Kecelakaan, kuesioner Sakit/Penyakit, laporan visum et repertum, dan laporan operasi.</a:t>
            </a:r>
          </a:p>
        </p:txBody>
      </p:sp>
      <p:sp>
        <p:nvSpPr>
          <p:cNvPr id="3" name="Title 1">
            <a:extLst>
              <a:ext uri="{FF2B5EF4-FFF2-40B4-BE49-F238E27FC236}">
                <a16:creationId xmlns:a16="http://schemas.microsoft.com/office/drawing/2014/main" id="{B96A8BC7-F033-FCE0-5923-0224D816FADB}"/>
              </a:ext>
            </a:extLst>
          </p:cNvPr>
          <p:cNvSpPr txBox="1">
            <a:spLocks/>
          </p:cNvSpPr>
          <p:nvPr/>
        </p:nvSpPr>
        <p:spPr>
          <a:xfrm>
            <a:off x="2974975" y="23653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800" b="1">
                <a:solidFill>
                  <a:srgbClr val="002060"/>
                </a:solidFill>
                <a:latin typeface="Aptos" panose="020B0004020202020204" pitchFamily="34" charset="0"/>
              </a:rPr>
              <a:t>KETENTUAN KLAIM</a:t>
            </a:r>
            <a:endParaRPr lang="en-GB" sz="28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552082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37DE6-F941-AF9C-C590-6FCFF9F2EABC}"/>
            </a:ext>
          </a:extLst>
        </p:cNvPr>
        <p:cNvGrpSpPr/>
        <p:nvPr/>
      </p:nvGrpSpPr>
      <p:grpSpPr>
        <a:xfrm>
          <a:off x="0" y="0"/>
          <a:ext cx="0" cy="0"/>
          <a:chOff x="0" y="0"/>
          <a:chExt cx="0" cy="0"/>
        </a:xfrm>
      </p:grpSpPr>
      <p:pic>
        <p:nvPicPr>
          <p:cNvPr id="1026" name="Picture 2" descr="Утверждать Free Stock Photos, Images, and Pictures of Утверждать">
            <a:extLst>
              <a:ext uri="{FF2B5EF4-FFF2-40B4-BE49-F238E27FC236}">
                <a16:creationId xmlns:a16="http://schemas.microsoft.com/office/drawing/2014/main" id="{E244F127-C58F-E219-A0F3-DBC7AADF83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007" r="7232"/>
          <a:stretch/>
        </p:blipFill>
        <p:spPr bwMode="auto">
          <a:xfrm>
            <a:off x="9263162" y="1634277"/>
            <a:ext cx="2745482" cy="25548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A6A2C39-5FAE-5027-A8B4-17FFF4E29A56}"/>
              </a:ext>
            </a:extLst>
          </p:cNvPr>
          <p:cNvSpPr/>
          <p:nvPr/>
        </p:nvSpPr>
        <p:spPr>
          <a:xfrm>
            <a:off x="118376" y="701573"/>
            <a:ext cx="9101823" cy="6370975"/>
          </a:xfrm>
          <a:prstGeom prst="rect">
            <a:avLst/>
          </a:prstGeom>
        </p:spPr>
        <p:txBody>
          <a:bodyPr wrap="square">
            <a:spAutoFit/>
          </a:bodyPr>
          <a:lstStyle/>
          <a:p>
            <a:pPr marL="228600" indent="-228600" algn="just">
              <a:buFont typeface="+mj-lt"/>
              <a:buAutoNum type="arabicPeriod" startAt="2"/>
            </a:pP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harus</a:t>
            </a:r>
            <a:r>
              <a:rPr lang="en-US" sz="1200" dirty="0">
                <a:latin typeface="Aptos" panose="020B0004020202020204" pitchFamily="34" charset="0"/>
              </a:rPr>
              <a:t> </a:t>
            </a:r>
            <a:r>
              <a:rPr lang="en-US" sz="1200" dirty="0" err="1">
                <a:latin typeface="Aptos" panose="020B0004020202020204" pitchFamily="34" charset="0"/>
              </a:rPr>
              <a:t>diserahkan</a:t>
            </a:r>
            <a:r>
              <a:rPr lang="en-US" sz="1200" dirty="0">
                <a:latin typeface="Aptos" panose="020B0004020202020204" pitchFamily="34" charset="0"/>
              </a:rPr>
              <a:t> </a:t>
            </a:r>
            <a:r>
              <a:rPr lang="en-US" sz="1200" dirty="0" err="1">
                <a:latin typeface="Aptos" panose="020B0004020202020204" pitchFamily="34" charset="0"/>
              </a:rPr>
              <a:t>kepada</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90 (</a:t>
            </a:r>
            <a:r>
              <a:rPr lang="en-US" sz="1200" dirty="0" err="1">
                <a:latin typeface="Aptos" panose="020B0004020202020204" pitchFamily="34" charset="0"/>
              </a:rPr>
              <a:t>sembilan</a:t>
            </a:r>
            <a:r>
              <a:rPr lang="en-US" sz="1200" dirty="0">
                <a:latin typeface="Aptos" panose="020B0004020202020204" pitchFamily="34" charset="0"/>
              </a:rPr>
              <a:t> </a:t>
            </a:r>
            <a:r>
              <a:rPr lang="en-US" sz="1200" dirty="0" err="1">
                <a:latin typeface="Aptos" panose="020B0004020202020204" pitchFamily="34" charset="0"/>
              </a:rPr>
              <a:t>puluh</a:t>
            </a:r>
            <a:r>
              <a:rPr lang="en-US" sz="1200" dirty="0">
                <a:latin typeface="Aptos" panose="020B0004020202020204" pitchFamily="34" charset="0"/>
              </a:rPr>
              <a:t>) Hari </a:t>
            </a:r>
            <a:r>
              <a:rPr lang="en-US" sz="1200" dirty="0" err="1">
                <a:latin typeface="Aptos" panose="020B0004020202020204" pitchFamily="34" charset="0"/>
              </a:rPr>
              <a:t>sejak</a:t>
            </a:r>
            <a:r>
              <a:rPr lang="en-US" sz="1200" dirty="0">
                <a:latin typeface="Aptos" panose="020B0004020202020204" pitchFamily="34" charset="0"/>
              </a:rPr>
              <a:t> </a:t>
            </a:r>
            <a:r>
              <a:rPr lang="en-US" sz="1200" dirty="0" err="1">
                <a:latin typeface="Aptos" panose="020B0004020202020204" pitchFamily="34" charset="0"/>
              </a:rPr>
              <a:t>terjadinya</a:t>
            </a:r>
            <a:r>
              <a:rPr lang="en-US" sz="1200" dirty="0">
                <a:latin typeface="Aptos" panose="020B0004020202020204" pitchFamily="34" charset="0"/>
              </a:rPr>
              <a:t> </a:t>
            </a:r>
            <a:r>
              <a:rPr lang="en-US" sz="1200" dirty="0" err="1">
                <a:latin typeface="Aptos" panose="020B0004020202020204" pitchFamily="34" charset="0"/>
              </a:rPr>
              <a:t>Peristiwa</a:t>
            </a:r>
            <a:r>
              <a:rPr lang="en-US" sz="1200" dirty="0">
                <a:latin typeface="Aptos" panose="020B0004020202020204" pitchFamily="34" charset="0"/>
              </a:rPr>
              <a:t> Yang </a:t>
            </a:r>
            <a:r>
              <a:rPr lang="en-US" sz="1200" dirty="0" err="1">
                <a:latin typeface="Aptos" panose="020B0004020202020204" pitchFamily="34" charset="0"/>
              </a:rPr>
              <a:t>Dipertanggungkan</a:t>
            </a:r>
            <a:r>
              <a:rPr lang="en-US" sz="1200" dirty="0">
                <a:latin typeface="Aptos" panose="020B0004020202020204" pitchFamily="34" charset="0"/>
              </a:rPr>
              <a:t>. </a:t>
            </a:r>
            <a:r>
              <a:rPr lang="en-US" sz="1200" dirty="0" err="1">
                <a:latin typeface="Aptos" panose="020B0004020202020204" pitchFamily="34" charset="0"/>
              </a:rPr>
              <a:t>Apabila</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memerlukan</a:t>
            </a:r>
            <a:r>
              <a:rPr lang="en-US" sz="1200" dirty="0">
                <a:latin typeface="Aptos" panose="020B0004020202020204" pitchFamily="34" charset="0"/>
              </a:rPr>
              <a:t> </a:t>
            </a: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tambahan</a:t>
            </a:r>
            <a:r>
              <a:rPr lang="en-US" sz="1200" dirty="0">
                <a:latin typeface="Aptos" panose="020B0004020202020204" pitchFamily="34" charset="0"/>
              </a:rPr>
              <a:t> </a:t>
            </a:r>
            <a:r>
              <a:rPr lang="en-US" sz="1200" dirty="0" err="1">
                <a:latin typeface="Aptos" panose="020B0004020202020204" pitchFamily="34" charset="0"/>
              </a:rPr>
              <a:t>untuk</a:t>
            </a:r>
            <a:r>
              <a:rPr lang="en-US" sz="1200" dirty="0">
                <a:latin typeface="Aptos" panose="020B0004020202020204" pitchFamily="34" charset="0"/>
              </a:rPr>
              <a:t> </a:t>
            </a:r>
            <a:r>
              <a:rPr lang="en-US" sz="1200" dirty="0" err="1">
                <a:latin typeface="Aptos" panose="020B0004020202020204" pitchFamily="34" charset="0"/>
              </a:rPr>
              <a:t>kebutuhan</a:t>
            </a:r>
            <a:r>
              <a:rPr lang="en-US" sz="1200" dirty="0">
                <a:latin typeface="Aptos" panose="020B0004020202020204" pitchFamily="34" charset="0"/>
              </a:rPr>
              <a:t> </a:t>
            </a:r>
            <a:r>
              <a:rPr lang="en-US" sz="1200" dirty="0" err="1">
                <a:latin typeface="Aptos" panose="020B0004020202020204" pitchFamily="34" charset="0"/>
              </a:rPr>
              <a:t>investigasi</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akan</a:t>
            </a:r>
            <a:r>
              <a:rPr lang="en-US" sz="1200" dirty="0">
                <a:latin typeface="Aptos" panose="020B0004020202020204" pitchFamily="34" charset="0"/>
              </a:rPr>
              <a:t> </a:t>
            </a:r>
            <a:r>
              <a:rPr lang="en-US" sz="1200" dirty="0" err="1">
                <a:latin typeface="Aptos" panose="020B0004020202020204" pitchFamily="34" charset="0"/>
              </a:rPr>
              <a:t>menginformasikan</a:t>
            </a:r>
            <a:r>
              <a:rPr lang="en-US" sz="1200" dirty="0">
                <a:latin typeface="Aptos" panose="020B0004020202020204" pitchFamily="34" charset="0"/>
              </a:rPr>
              <a:t> </a:t>
            </a:r>
            <a:r>
              <a:rPr lang="en-US" sz="1200" dirty="0" err="1">
                <a:latin typeface="Aptos" panose="020B0004020202020204" pitchFamily="34" charset="0"/>
              </a:rPr>
              <a:t>permintaan</a:t>
            </a:r>
            <a:r>
              <a:rPr lang="en-US" sz="1200" dirty="0">
                <a:latin typeface="Aptos" panose="020B0004020202020204" pitchFamily="34" charset="0"/>
              </a:rPr>
              <a:t> </a:t>
            </a: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dimaksud</a:t>
            </a:r>
            <a:r>
              <a:rPr lang="en-US" sz="1200" dirty="0">
                <a:latin typeface="Aptos" panose="020B0004020202020204" pitchFamily="34" charset="0"/>
              </a:rPr>
              <a:t> </a:t>
            </a:r>
            <a:r>
              <a:rPr lang="en-US" sz="1200" dirty="0" err="1">
                <a:latin typeface="Aptos" panose="020B0004020202020204" pitchFamily="34" charset="0"/>
              </a:rPr>
              <a:t>kepada</a:t>
            </a:r>
            <a:r>
              <a:rPr lang="en-US" sz="1200" dirty="0">
                <a:latin typeface="Aptos" panose="020B0004020202020204" pitchFamily="34" charset="0"/>
              </a:rPr>
              <a:t> </a:t>
            </a:r>
            <a:r>
              <a:rPr lang="en-US" sz="1200" dirty="0" err="1">
                <a:latin typeface="Aptos" panose="020B0004020202020204" pitchFamily="34" charset="0"/>
              </a:rPr>
              <a:t>Pihak</a:t>
            </a:r>
            <a:r>
              <a:rPr lang="en-US" sz="1200" dirty="0">
                <a:latin typeface="Aptos" panose="020B0004020202020204" pitchFamily="34" charset="0"/>
              </a:rPr>
              <a:t> Yang </a:t>
            </a:r>
            <a:r>
              <a:rPr lang="en-US" sz="1200" dirty="0" err="1">
                <a:latin typeface="Aptos" panose="020B0004020202020204" pitchFamily="34" charset="0"/>
              </a:rPr>
              <a:t>Mengajukan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dan </a:t>
            </a:r>
            <a:r>
              <a:rPr lang="en-US" sz="1200" dirty="0" err="1">
                <a:latin typeface="Aptos" panose="020B0004020202020204" pitchFamily="34" charset="0"/>
              </a:rPr>
              <a:t>wajib</a:t>
            </a:r>
            <a:r>
              <a:rPr lang="en-US" sz="1200" dirty="0">
                <a:latin typeface="Aptos" panose="020B0004020202020204" pitchFamily="34" charset="0"/>
              </a:rPr>
              <a:t> </a:t>
            </a:r>
            <a:r>
              <a:rPr lang="en-US" sz="1200" dirty="0" err="1">
                <a:latin typeface="Aptos" panose="020B0004020202020204" pitchFamily="34" charset="0"/>
              </a:rPr>
              <a:t>dilengkapi</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jangka</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a:t>
            </a:r>
            <a:r>
              <a:rPr lang="en-US" sz="1200" dirty="0" err="1">
                <a:latin typeface="Aptos" panose="020B0004020202020204" pitchFamily="34" charset="0"/>
              </a:rPr>
              <a:t>sesuai</a:t>
            </a:r>
            <a:r>
              <a:rPr lang="en-US" sz="1200" dirty="0">
                <a:latin typeface="Aptos" panose="020B0004020202020204" pitchFamily="34" charset="0"/>
              </a:rPr>
              <a:t> yang </a:t>
            </a:r>
            <a:r>
              <a:rPr lang="en-US" sz="1200" dirty="0" err="1">
                <a:latin typeface="Aptos" panose="020B0004020202020204" pitchFamily="34" charset="0"/>
              </a:rPr>
              <a:t>disampaikan</a:t>
            </a:r>
            <a:r>
              <a:rPr lang="en-US" sz="1200" dirty="0">
                <a:latin typeface="Aptos" panose="020B0004020202020204" pitchFamily="34" charset="0"/>
              </a:rPr>
              <a:t> oleh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bentuk</a:t>
            </a:r>
            <a:r>
              <a:rPr lang="en-US" sz="1200" dirty="0">
                <a:latin typeface="Aptos" panose="020B0004020202020204" pitchFamily="34" charset="0"/>
              </a:rPr>
              <a:t> dan </a:t>
            </a:r>
            <a:r>
              <a:rPr lang="en-US" sz="1200" dirty="0" err="1">
                <a:latin typeface="Aptos" panose="020B0004020202020204" pitchFamily="34" charset="0"/>
              </a:rPr>
              <a:t>melalui</a:t>
            </a:r>
            <a:r>
              <a:rPr lang="en-US" sz="1200" dirty="0">
                <a:latin typeface="Aptos" panose="020B0004020202020204" pitchFamily="34" charset="0"/>
              </a:rPr>
              <a:t> </a:t>
            </a:r>
            <a:r>
              <a:rPr lang="en-US" sz="1200" dirty="0" err="1">
                <a:latin typeface="Aptos" panose="020B0004020202020204" pitchFamily="34" charset="0"/>
              </a:rPr>
              <a:t>sarana</a:t>
            </a:r>
            <a:r>
              <a:rPr lang="en-US" sz="1200" dirty="0">
                <a:latin typeface="Aptos" panose="020B0004020202020204" pitchFamily="34" charset="0"/>
              </a:rPr>
              <a:t> </a:t>
            </a:r>
            <a:r>
              <a:rPr lang="en-US" sz="1200" dirty="0" err="1">
                <a:latin typeface="Aptos" panose="020B0004020202020204" pitchFamily="34" charset="0"/>
              </a:rPr>
              <a:t>sesuai</a:t>
            </a:r>
            <a:r>
              <a:rPr lang="en-US" sz="1200" dirty="0">
                <a:latin typeface="Aptos" panose="020B0004020202020204" pitchFamily="34" charset="0"/>
              </a:rPr>
              <a:t> </a:t>
            </a:r>
            <a:r>
              <a:rPr lang="en-US" sz="1200" dirty="0" err="1">
                <a:latin typeface="Aptos" panose="020B0004020202020204" pitchFamily="34" charset="0"/>
              </a:rPr>
              <a:t>ketentuan</a:t>
            </a:r>
            <a:r>
              <a:rPr lang="en-US" sz="1200" dirty="0">
                <a:latin typeface="Aptos" panose="020B0004020202020204" pitchFamily="34" charset="0"/>
              </a:rPr>
              <a:t> yang </a:t>
            </a:r>
            <a:r>
              <a:rPr lang="en-US" sz="1200" dirty="0" err="1">
                <a:latin typeface="Aptos" panose="020B0004020202020204" pitchFamily="34" charset="0"/>
              </a:rPr>
              <a:t>berlaku</a:t>
            </a:r>
            <a:r>
              <a:rPr lang="en-US" sz="1200" dirty="0">
                <a:latin typeface="Aptos" panose="020B0004020202020204" pitchFamily="34" charset="0"/>
              </a:rPr>
              <a:t> pada </a:t>
            </a:r>
            <a:r>
              <a:rPr lang="en-US" sz="1200" dirty="0" err="1">
                <a:latin typeface="Aptos" panose="020B0004020202020204" pitchFamily="34" charset="0"/>
              </a:rPr>
              <a:t>Penanggung</a:t>
            </a:r>
            <a:r>
              <a:rPr lang="en-US" sz="1200" dirty="0">
                <a:latin typeface="Aptos" panose="020B0004020202020204" pitchFamily="34" charset="0"/>
              </a:rPr>
              <a:t>.</a:t>
            </a:r>
          </a:p>
          <a:p>
            <a:pPr marL="228600" indent="-228600" algn="just">
              <a:buFont typeface="+mj-lt"/>
              <a:buAutoNum type="arabicPeriod" startAt="2"/>
            </a:pPr>
            <a:r>
              <a:rPr lang="en-US" sz="1200" dirty="0" err="1">
                <a:latin typeface="Aptos" panose="020B0004020202020204" pitchFamily="34" charset="0"/>
              </a:rPr>
              <a:t>Keterlambatan</a:t>
            </a:r>
            <a:r>
              <a:rPr lang="en-US" sz="1200" dirty="0">
                <a:latin typeface="Aptos" panose="020B0004020202020204" pitchFamily="34" charset="0"/>
              </a:rPr>
              <a:t> </a:t>
            </a:r>
            <a:r>
              <a:rPr lang="en-US" sz="1200" dirty="0" err="1">
                <a:latin typeface="Aptos" panose="020B0004020202020204" pitchFamily="34" charset="0"/>
              </a:rPr>
              <a:t>pengajuan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dan </a:t>
            </a: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periode</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a:t>
            </a:r>
            <a:r>
              <a:rPr lang="en-US" sz="1200" dirty="0" err="1">
                <a:latin typeface="Aptos" panose="020B0004020202020204" pitchFamily="34" charset="0"/>
              </a:rPr>
              <a:t>sebagaimana</a:t>
            </a:r>
            <a:r>
              <a:rPr lang="en-US" sz="1200" dirty="0">
                <a:latin typeface="Aptos" panose="020B0004020202020204" pitchFamily="34" charset="0"/>
              </a:rPr>
              <a:t> </a:t>
            </a:r>
            <a:r>
              <a:rPr lang="en-US" sz="1200" dirty="0" err="1">
                <a:latin typeface="Aptos" panose="020B0004020202020204" pitchFamily="34" charset="0"/>
              </a:rPr>
              <a:t>dimaksud</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poin</a:t>
            </a:r>
            <a:r>
              <a:rPr lang="en-US" sz="1200" dirty="0">
                <a:latin typeface="Aptos" panose="020B0004020202020204" pitchFamily="34" charset="0"/>
              </a:rPr>
              <a:t> 2 di </a:t>
            </a:r>
            <a:r>
              <a:rPr lang="en-US" sz="1200" dirty="0" err="1">
                <a:latin typeface="Aptos" panose="020B0004020202020204" pitchFamily="34" charset="0"/>
              </a:rPr>
              <a:t>atas</a:t>
            </a:r>
            <a:r>
              <a:rPr lang="en-US" sz="1200" dirty="0">
                <a:latin typeface="Aptos" panose="020B0004020202020204" pitchFamily="34" charset="0"/>
              </a:rPr>
              <a:t> </a:t>
            </a:r>
            <a:r>
              <a:rPr lang="en-US" sz="1200" dirty="0" err="1">
                <a:latin typeface="Aptos" panose="020B0004020202020204" pitchFamily="34" charset="0"/>
              </a:rPr>
              <a:t>akan</a:t>
            </a:r>
            <a:r>
              <a:rPr lang="en-US" sz="1200" dirty="0">
                <a:latin typeface="Aptos" panose="020B0004020202020204" pitchFamily="34" charset="0"/>
              </a:rPr>
              <a:t> </a:t>
            </a:r>
            <a:r>
              <a:rPr lang="en-US" sz="1200" dirty="0" err="1">
                <a:latin typeface="Aptos" panose="020B0004020202020204" pitchFamily="34" charset="0"/>
              </a:rPr>
              <a:t>mengakibatkan</a:t>
            </a:r>
            <a:r>
              <a:rPr lang="en-US" sz="1200" dirty="0">
                <a:latin typeface="Aptos" panose="020B0004020202020204" pitchFamily="34" charset="0"/>
              </a:rPr>
              <a:t> Manfaat Asuransi </a:t>
            </a:r>
            <a:r>
              <a:rPr lang="en-US" sz="1200" dirty="0" err="1">
                <a:latin typeface="Aptos" panose="020B0004020202020204" pitchFamily="34" charset="0"/>
              </a:rPr>
              <a:t>tidak</a:t>
            </a:r>
            <a:r>
              <a:rPr lang="en-US" sz="1200" dirty="0">
                <a:latin typeface="Aptos" panose="020B0004020202020204" pitchFamily="34" charset="0"/>
              </a:rPr>
              <a:t> </a:t>
            </a:r>
            <a:r>
              <a:rPr lang="en-US" sz="1200" dirty="0" err="1">
                <a:latin typeface="Aptos" panose="020B0004020202020204" pitchFamily="34" charset="0"/>
              </a:rPr>
              <a:t>dapat</a:t>
            </a:r>
            <a:r>
              <a:rPr lang="en-US" sz="1200" dirty="0">
                <a:latin typeface="Aptos" panose="020B0004020202020204" pitchFamily="34" charset="0"/>
              </a:rPr>
              <a:t> </a:t>
            </a:r>
            <a:r>
              <a:rPr lang="en-US" sz="1200" dirty="0" err="1">
                <a:latin typeface="Aptos" panose="020B0004020202020204" pitchFamily="34" charset="0"/>
              </a:rPr>
              <a:t>dibayarkan</a:t>
            </a:r>
            <a:r>
              <a:rPr lang="en-US" sz="1200" dirty="0">
                <a:latin typeface="Aptos" panose="020B0004020202020204" pitchFamily="34" charset="0"/>
              </a:rPr>
              <a:t>.</a:t>
            </a:r>
          </a:p>
          <a:p>
            <a:pPr marL="228600" indent="-228600" algn="just">
              <a:buFont typeface="+mj-lt"/>
              <a:buAutoNum type="arabicPeriod" startAt="2"/>
            </a:pP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yang </a:t>
            </a:r>
            <a:r>
              <a:rPr lang="en-US" sz="1200" dirty="0" err="1">
                <a:latin typeface="Aptos" panose="020B0004020202020204" pitchFamily="34" charset="0"/>
              </a:rPr>
              <a:t>dapat</a:t>
            </a:r>
            <a:r>
              <a:rPr lang="en-US" sz="1200" dirty="0">
                <a:latin typeface="Aptos" panose="020B0004020202020204" pitchFamily="34" charset="0"/>
              </a:rPr>
              <a:t> </a:t>
            </a:r>
            <a:r>
              <a:rPr lang="en-US" sz="1200" dirty="0" err="1">
                <a:latin typeface="Aptos" panose="020B0004020202020204" pitchFamily="34" charset="0"/>
              </a:rPr>
              <a:t>diterima</a:t>
            </a:r>
            <a:r>
              <a:rPr lang="en-US" sz="1200" dirty="0">
                <a:latin typeface="Aptos" panose="020B0004020202020204" pitchFamily="34" charset="0"/>
              </a:rPr>
              <a:t> </a:t>
            </a:r>
            <a:r>
              <a:rPr lang="en-US" sz="1200" dirty="0" err="1">
                <a:latin typeface="Aptos" panose="020B0004020202020204" pitchFamily="34" charset="0"/>
              </a:rPr>
              <a:t>hanyalah</a:t>
            </a:r>
            <a:r>
              <a:rPr lang="en-US" sz="1200" dirty="0">
                <a:latin typeface="Aptos" panose="020B0004020202020204" pitchFamily="34" charset="0"/>
              </a:rPr>
              <a:t> </a:t>
            </a: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bahasa</a:t>
            </a:r>
            <a:r>
              <a:rPr lang="en-US" sz="1200" dirty="0">
                <a:latin typeface="Aptos" panose="020B0004020202020204" pitchFamily="34" charset="0"/>
              </a:rPr>
              <a:t> Indonesia </a:t>
            </a:r>
            <a:r>
              <a:rPr lang="en-US" sz="1200" dirty="0" err="1">
                <a:latin typeface="Aptos" panose="020B0004020202020204" pitchFamily="34" charset="0"/>
              </a:rPr>
              <a:t>atau</a:t>
            </a:r>
            <a:r>
              <a:rPr lang="en-US" sz="1200" dirty="0">
                <a:latin typeface="Aptos" panose="020B0004020202020204" pitchFamily="34" charset="0"/>
              </a:rPr>
              <a:t> </a:t>
            </a:r>
            <a:r>
              <a:rPr lang="en-US" sz="1200" dirty="0" err="1">
                <a:latin typeface="Aptos" panose="020B0004020202020204" pitchFamily="34" charset="0"/>
              </a:rPr>
              <a:t>bahasa</a:t>
            </a:r>
            <a:r>
              <a:rPr lang="en-US" sz="1200" dirty="0">
                <a:latin typeface="Aptos" panose="020B0004020202020204" pitchFamily="34" charset="0"/>
              </a:rPr>
              <a:t> </a:t>
            </a:r>
            <a:r>
              <a:rPr lang="en-US" sz="1200" dirty="0" err="1">
                <a:latin typeface="Aptos" panose="020B0004020202020204" pitchFamily="34" charset="0"/>
              </a:rPr>
              <a:t>Inggris</a:t>
            </a:r>
            <a:r>
              <a:rPr lang="en-US" sz="1200" dirty="0">
                <a:latin typeface="Aptos" panose="020B0004020202020204" pitchFamily="34" charset="0"/>
              </a:rPr>
              <a:t>. </a:t>
            </a:r>
            <a:r>
              <a:rPr lang="en-US" sz="1200" dirty="0" err="1">
                <a:latin typeface="Aptos" panose="020B0004020202020204" pitchFamily="34" charset="0"/>
              </a:rPr>
              <a:t>Apabila</a:t>
            </a:r>
            <a:r>
              <a:rPr lang="en-US" sz="1200" dirty="0">
                <a:latin typeface="Aptos" panose="020B0004020202020204" pitchFamily="34" charset="0"/>
              </a:rPr>
              <a:t> </a:t>
            </a:r>
            <a:r>
              <a:rPr lang="en-US" sz="1200" dirty="0" err="1">
                <a:latin typeface="Aptos" panose="020B0004020202020204" pitchFamily="34" charset="0"/>
              </a:rPr>
              <a:t>dokumen</a:t>
            </a:r>
            <a:r>
              <a:rPr lang="en-US" sz="1200" dirty="0">
                <a:latin typeface="Aptos" panose="020B0004020202020204" pitchFamily="34" charset="0"/>
              </a:rPr>
              <a:t> yang </a:t>
            </a:r>
            <a:r>
              <a:rPr lang="en-US" sz="1200" dirty="0" err="1">
                <a:latin typeface="Aptos" panose="020B0004020202020204" pitchFamily="34" charset="0"/>
              </a:rPr>
              <a:t>diterima</a:t>
            </a:r>
            <a:r>
              <a:rPr lang="en-US" sz="1200" dirty="0">
                <a:latin typeface="Aptos" panose="020B0004020202020204" pitchFamily="34" charset="0"/>
              </a:rPr>
              <a:t> </a:t>
            </a:r>
            <a:r>
              <a:rPr lang="en-US" sz="1200" dirty="0" err="1">
                <a:latin typeface="Aptos" panose="020B0004020202020204" pitchFamily="34" charset="0"/>
              </a:rPr>
              <a:t>diluar</a:t>
            </a:r>
            <a:r>
              <a:rPr lang="en-US" sz="1200" dirty="0">
                <a:latin typeface="Aptos" panose="020B0004020202020204" pitchFamily="34" charset="0"/>
              </a:rPr>
              <a:t> </a:t>
            </a:r>
            <a:r>
              <a:rPr lang="en-US" sz="1200" dirty="0" err="1">
                <a:latin typeface="Aptos" panose="020B0004020202020204" pitchFamily="34" charset="0"/>
              </a:rPr>
              <a:t>dari</a:t>
            </a:r>
            <a:r>
              <a:rPr lang="en-US" sz="1200" dirty="0">
                <a:latin typeface="Aptos" panose="020B0004020202020204" pitchFamily="34" charset="0"/>
              </a:rPr>
              <a:t> </a:t>
            </a:r>
            <a:r>
              <a:rPr lang="en-US" sz="1200" dirty="0" err="1">
                <a:latin typeface="Aptos" panose="020B0004020202020204" pitchFamily="34" charset="0"/>
              </a:rPr>
              <a:t>bahasa</a:t>
            </a:r>
            <a:r>
              <a:rPr lang="en-US" sz="1200" dirty="0">
                <a:latin typeface="Aptos" panose="020B0004020202020204" pitchFamily="34" charset="0"/>
              </a:rPr>
              <a:t> Indonesia </a:t>
            </a:r>
            <a:r>
              <a:rPr lang="en-US" sz="1200" dirty="0" err="1">
                <a:latin typeface="Aptos" panose="020B0004020202020204" pitchFamily="34" charset="0"/>
              </a:rPr>
              <a:t>atau</a:t>
            </a:r>
            <a:r>
              <a:rPr lang="en-US" sz="1200" dirty="0">
                <a:latin typeface="Aptos" panose="020B0004020202020204" pitchFamily="34" charset="0"/>
              </a:rPr>
              <a:t> </a:t>
            </a:r>
            <a:r>
              <a:rPr lang="en-US" sz="1200" dirty="0" err="1">
                <a:latin typeface="Aptos" panose="020B0004020202020204" pitchFamily="34" charset="0"/>
              </a:rPr>
              <a:t>bahasa</a:t>
            </a:r>
            <a:r>
              <a:rPr lang="en-US" sz="1200" dirty="0">
                <a:latin typeface="Aptos" panose="020B0004020202020204" pitchFamily="34" charset="0"/>
              </a:rPr>
              <a:t> </a:t>
            </a:r>
            <a:r>
              <a:rPr lang="en-US" sz="1200" dirty="0" err="1">
                <a:latin typeface="Aptos" panose="020B0004020202020204" pitchFamily="34" charset="0"/>
              </a:rPr>
              <a:t>Inggris</a:t>
            </a:r>
            <a:r>
              <a:rPr lang="en-US" sz="1200" dirty="0">
                <a:latin typeface="Aptos" panose="020B0004020202020204" pitchFamily="34" charset="0"/>
              </a:rPr>
              <a:t>, </a:t>
            </a:r>
            <a:r>
              <a:rPr lang="en-US" sz="1200" dirty="0" err="1">
                <a:latin typeface="Aptos" panose="020B0004020202020204" pitchFamily="34" charset="0"/>
              </a:rPr>
              <a:t>maka</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berhak</a:t>
            </a:r>
            <a:r>
              <a:rPr lang="en-US" sz="1200" dirty="0">
                <a:latin typeface="Aptos" panose="020B0004020202020204" pitchFamily="34" charset="0"/>
              </a:rPr>
              <a:t> </a:t>
            </a:r>
            <a:r>
              <a:rPr lang="en-US" sz="1200" dirty="0" err="1">
                <a:latin typeface="Aptos" panose="020B0004020202020204" pitchFamily="34" charset="0"/>
              </a:rPr>
              <a:t>untuk</a:t>
            </a:r>
            <a:r>
              <a:rPr lang="en-US" sz="1200" dirty="0">
                <a:latin typeface="Aptos" panose="020B0004020202020204" pitchFamily="34" charset="0"/>
              </a:rPr>
              <a:t> </a:t>
            </a:r>
            <a:r>
              <a:rPr lang="en-US" sz="1200" dirty="0" err="1">
                <a:latin typeface="Aptos" panose="020B0004020202020204" pitchFamily="34" charset="0"/>
              </a:rPr>
              <a:t>tidak</a:t>
            </a:r>
            <a:r>
              <a:rPr lang="en-US" sz="1200" dirty="0">
                <a:latin typeface="Aptos" panose="020B0004020202020204" pitchFamily="34" charset="0"/>
              </a:rPr>
              <a:t> </a:t>
            </a:r>
            <a:r>
              <a:rPr lang="en-US" sz="1200" dirty="0" err="1">
                <a:latin typeface="Aptos" panose="020B0004020202020204" pitchFamily="34" charset="0"/>
              </a:rPr>
              <a:t>melanjutkan</a:t>
            </a:r>
            <a:r>
              <a:rPr lang="en-US" sz="1200" dirty="0">
                <a:latin typeface="Aptos" panose="020B0004020202020204" pitchFamily="34" charset="0"/>
              </a:rPr>
              <a:t> proses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Pemegang</a:t>
            </a:r>
            <a:r>
              <a:rPr lang="en-US" sz="1200" dirty="0">
                <a:latin typeface="Aptos" panose="020B0004020202020204" pitchFamily="34" charset="0"/>
              </a:rPr>
              <a:t> Polis </a:t>
            </a:r>
            <a:r>
              <a:rPr lang="en-US" sz="1200" dirty="0" err="1">
                <a:latin typeface="Aptos" panose="020B0004020202020204" pitchFamily="34" charset="0"/>
              </a:rPr>
              <a:t>atau</a:t>
            </a:r>
            <a:r>
              <a:rPr lang="en-US" sz="1200" dirty="0">
                <a:latin typeface="Aptos" panose="020B0004020202020204" pitchFamily="34" charset="0"/>
              </a:rPr>
              <a:t> </a:t>
            </a:r>
            <a:r>
              <a:rPr lang="en-US" sz="1200" dirty="0" err="1">
                <a:latin typeface="Aptos" panose="020B0004020202020204" pitchFamily="34" charset="0"/>
              </a:rPr>
              <a:t>Pihak</a:t>
            </a:r>
            <a:r>
              <a:rPr lang="en-US" sz="1200" dirty="0">
                <a:latin typeface="Aptos" panose="020B0004020202020204" pitchFamily="34" charset="0"/>
              </a:rPr>
              <a:t> Yang </a:t>
            </a:r>
            <a:r>
              <a:rPr lang="en-US" sz="1200" dirty="0" err="1">
                <a:latin typeface="Aptos" panose="020B0004020202020204" pitchFamily="34" charset="0"/>
              </a:rPr>
              <a:t>Mengajukan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wajib</a:t>
            </a:r>
            <a:r>
              <a:rPr lang="en-US" sz="1200" dirty="0">
                <a:latin typeface="Aptos" panose="020B0004020202020204" pitchFamily="34" charset="0"/>
              </a:rPr>
              <a:t> </a:t>
            </a:r>
            <a:r>
              <a:rPr lang="en-US" sz="1200" dirty="0" err="1">
                <a:latin typeface="Aptos" panose="020B0004020202020204" pitchFamily="34" charset="0"/>
              </a:rPr>
              <a:t>menerjemahkan</a:t>
            </a:r>
            <a:r>
              <a:rPr lang="en-US" sz="1200" dirty="0">
                <a:latin typeface="Aptos" panose="020B0004020202020204" pitchFamily="34" charset="0"/>
              </a:rPr>
              <a:t> </a:t>
            </a: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ke</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bahasa</a:t>
            </a:r>
            <a:r>
              <a:rPr lang="en-US" sz="1200" dirty="0">
                <a:latin typeface="Aptos" panose="020B0004020202020204" pitchFamily="34" charset="0"/>
              </a:rPr>
              <a:t> Indonesia </a:t>
            </a:r>
            <a:r>
              <a:rPr lang="en-US" sz="1200" dirty="0" err="1">
                <a:latin typeface="Aptos" panose="020B0004020202020204" pitchFamily="34" charset="0"/>
              </a:rPr>
              <a:t>atau</a:t>
            </a:r>
            <a:r>
              <a:rPr lang="en-US" sz="1200" dirty="0">
                <a:latin typeface="Aptos" panose="020B0004020202020204" pitchFamily="34" charset="0"/>
              </a:rPr>
              <a:t> </a:t>
            </a:r>
            <a:r>
              <a:rPr lang="en-US" sz="1200" dirty="0" err="1">
                <a:latin typeface="Aptos" panose="020B0004020202020204" pitchFamily="34" charset="0"/>
              </a:rPr>
              <a:t>bahasa</a:t>
            </a:r>
            <a:r>
              <a:rPr lang="en-US" sz="1200" dirty="0">
                <a:latin typeface="Aptos" panose="020B0004020202020204" pitchFamily="34" charset="0"/>
              </a:rPr>
              <a:t> </a:t>
            </a:r>
            <a:r>
              <a:rPr lang="en-US" sz="1200" dirty="0" err="1">
                <a:latin typeface="Aptos" panose="020B0004020202020204" pitchFamily="34" charset="0"/>
              </a:rPr>
              <a:t>Inggris</a:t>
            </a:r>
            <a:r>
              <a:rPr lang="en-US" sz="1200" dirty="0">
                <a:latin typeface="Aptos" panose="020B0004020202020204" pitchFamily="34" charset="0"/>
              </a:rPr>
              <a:t>, dan </a:t>
            </a:r>
            <a:r>
              <a:rPr lang="en-US" sz="1200" dirty="0" err="1">
                <a:latin typeface="Aptos" panose="020B0004020202020204" pitchFamily="34" charset="0"/>
              </a:rPr>
              <a:t>penerjemahan</a:t>
            </a:r>
            <a:r>
              <a:rPr lang="en-US" sz="1200" dirty="0">
                <a:latin typeface="Aptos" panose="020B0004020202020204" pitchFamily="34" charset="0"/>
              </a:rPr>
              <a:t> </a:t>
            </a:r>
            <a:r>
              <a:rPr lang="en-US" sz="1200" dirty="0" err="1">
                <a:latin typeface="Aptos" panose="020B0004020202020204" pitchFamily="34" charset="0"/>
              </a:rPr>
              <a:t>tersebut</a:t>
            </a:r>
            <a:r>
              <a:rPr lang="en-US" sz="1200" dirty="0">
                <a:latin typeface="Aptos" panose="020B0004020202020204" pitchFamily="34" charset="0"/>
              </a:rPr>
              <a:t> </a:t>
            </a:r>
            <a:r>
              <a:rPr lang="en-US" sz="1200" dirty="0" err="1">
                <a:latin typeface="Aptos" panose="020B0004020202020204" pitchFamily="34" charset="0"/>
              </a:rPr>
              <a:t>harus</a:t>
            </a:r>
            <a:r>
              <a:rPr lang="en-US" sz="1200" dirty="0">
                <a:latin typeface="Aptos" panose="020B0004020202020204" pitchFamily="34" charset="0"/>
              </a:rPr>
              <a:t> </a:t>
            </a:r>
            <a:r>
              <a:rPr lang="en-US" sz="1200" dirty="0" err="1">
                <a:latin typeface="Aptos" panose="020B0004020202020204" pitchFamily="34" charset="0"/>
              </a:rPr>
              <a:t>dilakukan</a:t>
            </a:r>
            <a:r>
              <a:rPr lang="en-US" sz="1200" dirty="0">
                <a:latin typeface="Aptos" panose="020B0004020202020204" pitchFamily="34" charset="0"/>
              </a:rPr>
              <a:t> oleh </a:t>
            </a:r>
            <a:r>
              <a:rPr lang="en-US" sz="1200" dirty="0" err="1">
                <a:latin typeface="Aptos" panose="020B0004020202020204" pitchFamily="34" charset="0"/>
              </a:rPr>
              <a:t>penerjemah</a:t>
            </a:r>
            <a:r>
              <a:rPr lang="en-US" sz="1200" dirty="0">
                <a:latin typeface="Aptos" panose="020B0004020202020204" pitchFamily="34" charset="0"/>
              </a:rPr>
              <a:t> </a:t>
            </a:r>
            <a:r>
              <a:rPr lang="en-US" sz="1200" dirty="0" err="1">
                <a:latin typeface="Aptos" panose="020B0004020202020204" pitchFamily="34" charset="0"/>
              </a:rPr>
              <a:t>tersumpah</a:t>
            </a:r>
            <a:r>
              <a:rPr lang="en-US" sz="1200" dirty="0">
                <a:latin typeface="Aptos" panose="020B0004020202020204" pitchFamily="34" charset="0"/>
              </a:rPr>
              <a:t>, </a:t>
            </a:r>
            <a:r>
              <a:rPr lang="en-US" sz="1200" dirty="0" err="1">
                <a:latin typeface="Aptos" panose="020B0004020202020204" pitchFamily="34" charset="0"/>
              </a:rPr>
              <a:t>atas</a:t>
            </a:r>
            <a:r>
              <a:rPr lang="en-US" sz="1200" dirty="0">
                <a:latin typeface="Aptos" panose="020B0004020202020204" pitchFamily="34" charset="0"/>
              </a:rPr>
              <a:t> </a:t>
            </a:r>
            <a:r>
              <a:rPr lang="en-US" sz="1200" dirty="0" err="1">
                <a:latin typeface="Aptos" panose="020B0004020202020204" pitchFamily="34" charset="0"/>
              </a:rPr>
              <a:t>biaya</a:t>
            </a:r>
            <a:r>
              <a:rPr lang="en-US" sz="1200" dirty="0">
                <a:latin typeface="Aptos" panose="020B0004020202020204" pitchFamily="34" charset="0"/>
              </a:rPr>
              <a:t> </a:t>
            </a:r>
            <a:r>
              <a:rPr lang="en-US" sz="1200" dirty="0" err="1">
                <a:latin typeface="Aptos" panose="020B0004020202020204" pitchFamily="34" charset="0"/>
              </a:rPr>
              <a:t>Pemegang</a:t>
            </a:r>
            <a:r>
              <a:rPr lang="en-US" sz="1200" dirty="0">
                <a:latin typeface="Aptos" panose="020B0004020202020204" pitchFamily="34" charset="0"/>
              </a:rPr>
              <a:t> Polis </a:t>
            </a:r>
            <a:r>
              <a:rPr lang="en-US" sz="1200" dirty="0" err="1">
                <a:latin typeface="Aptos" panose="020B0004020202020204" pitchFamily="34" charset="0"/>
              </a:rPr>
              <a:t>atau</a:t>
            </a:r>
            <a:r>
              <a:rPr lang="en-US" sz="1200" dirty="0">
                <a:latin typeface="Aptos" panose="020B0004020202020204" pitchFamily="34" charset="0"/>
              </a:rPr>
              <a:t> </a:t>
            </a:r>
            <a:r>
              <a:rPr lang="en-US" sz="1200" dirty="0" err="1">
                <a:latin typeface="Aptos" panose="020B0004020202020204" pitchFamily="34" charset="0"/>
              </a:rPr>
              <a:t>Pihak</a:t>
            </a:r>
            <a:r>
              <a:rPr lang="en-US" sz="1200" dirty="0">
                <a:latin typeface="Aptos" panose="020B0004020202020204" pitchFamily="34" charset="0"/>
              </a:rPr>
              <a:t> Yang </a:t>
            </a:r>
            <a:r>
              <a:rPr lang="en-US" sz="1200" dirty="0" err="1">
                <a:latin typeface="Aptos" panose="020B0004020202020204" pitchFamily="34" charset="0"/>
              </a:rPr>
              <a:t>Mengajukan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a:t>
            </a:r>
          </a:p>
          <a:p>
            <a:pPr marL="228600" indent="-228600" algn="just">
              <a:buFont typeface="+mj-lt"/>
              <a:buAutoNum type="arabicPeriod" startAt="2"/>
            </a:pP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berhak</a:t>
            </a:r>
            <a:r>
              <a:rPr lang="en-US" sz="1200" dirty="0">
                <a:latin typeface="Aptos" panose="020B0004020202020204" pitchFamily="34" charset="0"/>
              </a:rPr>
              <a:t> </a:t>
            </a:r>
            <a:r>
              <a:rPr lang="en-US" sz="1200" dirty="0" err="1">
                <a:latin typeface="Aptos" panose="020B0004020202020204" pitchFamily="34" charset="0"/>
              </a:rPr>
              <a:t>untuk</a:t>
            </a:r>
            <a:r>
              <a:rPr lang="en-US" sz="1200" dirty="0">
                <a:latin typeface="Aptos" panose="020B0004020202020204" pitchFamily="34" charset="0"/>
              </a:rPr>
              <a:t> </a:t>
            </a:r>
            <a:r>
              <a:rPr lang="en-US" sz="1200" dirty="0" err="1">
                <a:latin typeface="Aptos" panose="020B0004020202020204" pitchFamily="34" charset="0"/>
              </a:rPr>
              <a:t>mengadakan</a:t>
            </a:r>
            <a:r>
              <a:rPr lang="en-US" sz="1200" dirty="0">
                <a:latin typeface="Aptos" panose="020B0004020202020204" pitchFamily="34" charset="0"/>
              </a:rPr>
              <a:t> </a:t>
            </a:r>
            <a:r>
              <a:rPr lang="en-US" sz="1200" dirty="0" err="1">
                <a:latin typeface="Aptos" panose="020B0004020202020204" pitchFamily="34" charset="0"/>
              </a:rPr>
              <a:t>penyelidikan</a:t>
            </a:r>
            <a:r>
              <a:rPr lang="en-US" sz="1200" dirty="0">
                <a:latin typeface="Aptos" panose="020B0004020202020204" pitchFamily="34" charset="0"/>
              </a:rPr>
              <a:t> </a:t>
            </a:r>
            <a:r>
              <a:rPr lang="en-US" sz="1200" dirty="0" err="1">
                <a:latin typeface="Aptos" panose="020B0004020202020204" pitchFamily="34" charset="0"/>
              </a:rPr>
              <a:t>atas</a:t>
            </a:r>
            <a:r>
              <a:rPr lang="en-US" sz="1200" dirty="0">
                <a:latin typeface="Aptos" panose="020B0004020202020204" pitchFamily="34" charset="0"/>
              </a:rPr>
              <a:t> </a:t>
            </a:r>
            <a:r>
              <a:rPr lang="en-US" sz="1200" dirty="0" err="1">
                <a:latin typeface="Aptos" panose="020B0004020202020204" pitchFamily="34" charset="0"/>
              </a:rPr>
              <a:t>sebab-sebab</a:t>
            </a:r>
            <a:r>
              <a:rPr lang="en-US" sz="1200" dirty="0">
                <a:latin typeface="Aptos" panose="020B0004020202020204" pitchFamily="34" charset="0"/>
              </a:rPr>
              <a:t> </a:t>
            </a:r>
            <a:r>
              <a:rPr lang="en-US" sz="1200" dirty="0" err="1">
                <a:latin typeface="Aptos" panose="020B0004020202020204" pitchFamily="34" charset="0"/>
              </a:rPr>
              <a:t>Peristiwa</a:t>
            </a:r>
            <a:r>
              <a:rPr lang="en-US" sz="1200" dirty="0">
                <a:latin typeface="Aptos" panose="020B0004020202020204" pitchFamily="34" charset="0"/>
              </a:rPr>
              <a:t> Yang </a:t>
            </a:r>
            <a:r>
              <a:rPr lang="en-US" sz="1200" dirty="0" err="1">
                <a:latin typeface="Aptos" panose="020B0004020202020204" pitchFamily="34" charset="0"/>
              </a:rPr>
              <a:t>Dipertanggungkan</a:t>
            </a:r>
            <a:r>
              <a:rPr lang="en-US" sz="1200" dirty="0">
                <a:latin typeface="Aptos" panose="020B0004020202020204" pitchFamily="34" charset="0"/>
              </a:rPr>
              <a:t> </a:t>
            </a:r>
            <a:r>
              <a:rPr lang="en-US" sz="1200" dirty="0" err="1">
                <a:latin typeface="Aptos" panose="020B0004020202020204" pitchFamily="34" charset="0"/>
              </a:rPr>
              <a:t>serta</a:t>
            </a:r>
            <a:r>
              <a:rPr lang="en-US" sz="1200" dirty="0">
                <a:latin typeface="Aptos" panose="020B0004020202020204" pitchFamily="34" charset="0"/>
              </a:rPr>
              <a:t> </a:t>
            </a:r>
            <a:r>
              <a:rPr lang="en-US" sz="1200" dirty="0" err="1">
                <a:latin typeface="Aptos" panose="020B0004020202020204" pitchFamily="34" charset="0"/>
              </a:rPr>
              <a:t>menunjuk</a:t>
            </a:r>
            <a:r>
              <a:rPr lang="en-US" sz="1200" dirty="0">
                <a:latin typeface="Aptos" panose="020B0004020202020204" pitchFamily="34" charset="0"/>
              </a:rPr>
              <a:t> Dokter </a:t>
            </a:r>
            <a:r>
              <a:rPr lang="en-US" sz="1200" dirty="0" err="1">
                <a:latin typeface="Aptos" panose="020B0004020202020204" pitchFamily="34" charset="0"/>
              </a:rPr>
              <a:t>independen</a:t>
            </a:r>
            <a:r>
              <a:rPr lang="en-US" sz="1200" dirty="0">
                <a:latin typeface="Aptos" panose="020B0004020202020204" pitchFamily="34" charset="0"/>
              </a:rPr>
              <a:t> </a:t>
            </a:r>
            <a:r>
              <a:rPr lang="en-US" sz="1200" dirty="0" err="1">
                <a:latin typeface="Aptos" panose="020B0004020202020204" pitchFamily="34" charset="0"/>
              </a:rPr>
              <a:t>untuk</a:t>
            </a:r>
            <a:r>
              <a:rPr lang="en-US" sz="1200" dirty="0">
                <a:latin typeface="Aptos" panose="020B0004020202020204" pitchFamily="34" charset="0"/>
              </a:rPr>
              <a:t> </a:t>
            </a:r>
            <a:r>
              <a:rPr lang="en-US" sz="1200" dirty="0" err="1">
                <a:latin typeface="Aptos" panose="020B0004020202020204" pitchFamily="34" charset="0"/>
              </a:rPr>
              <a:t>melakukan</a:t>
            </a:r>
            <a:r>
              <a:rPr lang="en-US" sz="1200" dirty="0">
                <a:latin typeface="Aptos" panose="020B0004020202020204" pitchFamily="34" charset="0"/>
              </a:rPr>
              <a:t> </a:t>
            </a:r>
            <a:r>
              <a:rPr lang="en-US" sz="1200" dirty="0" err="1">
                <a:latin typeface="Aptos" panose="020B0004020202020204" pitchFamily="34" charset="0"/>
              </a:rPr>
              <a:t>penyelidikan</a:t>
            </a:r>
            <a:r>
              <a:rPr lang="en-US" sz="1200" dirty="0">
                <a:latin typeface="Aptos" panose="020B0004020202020204" pitchFamily="34" charset="0"/>
              </a:rPr>
              <a:t> </a:t>
            </a:r>
            <a:r>
              <a:rPr lang="en-US" sz="1200" dirty="0" err="1">
                <a:latin typeface="Aptos" panose="020B0004020202020204" pitchFamily="34" charset="0"/>
              </a:rPr>
              <a:t>secara</a:t>
            </a:r>
            <a:r>
              <a:rPr lang="en-US" sz="1200" dirty="0">
                <a:latin typeface="Aptos" panose="020B0004020202020204" pitchFamily="34" charset="0"/>
              </a:rPr>
              <a:t> </a:t>
            </a:r>
            <a:r>
              <a:rPr lang="en-US" sz="1200" dirty="0" err="1">
                <a:latin typeface="Aptos" panose="020B0004020202020204" pitchFamily="34" charset="0"/>
              </a:rPr>
              <a:t>medis</a:t>
            </a:r>
            <a:r>
              <a:rPr lang="en-US" sz="1200" dirty="0">
                <a:latin typeface="Aptos" panose="020B0004020202020204" pitchFamily="34" charset="0"/>
              </a:rPr>
              <a:t> dan </a:t>
            </a:r>
            <a:r>
              <a:rPr lang="en-US" sz="1200" dirty="0" err="1">
                <a:latin typeface="Aptos" panose="020B0004020202020204" pitchFamily="34" charset="0"/>
              </a:rPr>
              <a:t>memberikan</a:t>
            </a:r>
            <a:r>
              <a:rPr lang="en-US" sz="1200" dirty="0">
                <a:latin typeface="Aptos" panose="020B0004020202020204" pitchFamily="34" charset="0"/>
              </a:rPr>
              <a:t> </a:t>
            </a:r>
            <a:r>
              <a:rPr lang="en-US" sz="1200" dirty="0" err="1">
                <a:latin typeface="Aptos" panose="020B0004020202020204" pitchFamily="34" charset="0"/>
              </a:rPr>
              <a:t>rekomendasi</a:t>
            </a:r>
            <a:r>
              <a:rPr lang="en-US" sz="1200" dirty="0">
                <a:latin typeface="Aptos" panose="020B0004020202020204" pitchFamily="34" charset="0"/>
              </a:rPr>
              <a:t> </a:t>
            </a:r>
            <a:r>
              <a:rPr lang="en-US" sz="1200" dirty="0" err="1">
                <a:latin typeface="Aptos" panose="020B0004020202020204" pitchFamily="34" charset="0"/>
              </a:rPr>
              <a:t>kepada</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dengan</a:t>
            </a:r>
            <a:r>
              <a:rPr lang="en-US" sz="1200" dirty="0">
                <a:latin typeface="Aptos" panose="020B0004020202020204" pitchFamily="34" charset="0"/>
              </a:rPr>
              <a:t> </a:t>
            </a:r>
            <a:r>
              <a:rPr lang="en-US" sz="1200" dirty="0" err="1">
                <a:latin typeface="Aptos" panose="020B0004020202020204" pitchFamily="34" charset="0"/>
              </a:rPr>
              <a:t>biaya</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p>
          <a:p>
            <a:pPr marL="228600" indent="-228600" algn="just">
              <a:buFont typeface="+mj-lt"/>
              <a:buAutoNum type="arabicPeriod" startAt="2"/>
            </a:pPr>
            <a:r>
              <a:rPr lang="en-US" sz="1200" b="1" dirty="0" err="1">
                <a:latin typeface="Aptos" panose="020B0004020202020204" pitchFamily="34" charset="0"/>
              </a:rPr>
              <a:t>Apabila</a:t>
            </a:r>
            <a:r>
              <a:rPr lang="en-US" sz="1200" b="1" dirty="0">
                <a:latin typeface="Aptos" panose="020B0004020202020204" pitchFamily="34" charset="0"/>
              </a:rPr>
              <a:t> pada </a:t>
            </a:r>
            <a:r>
              <a:rPr lang="en-US" sz="1200" b="1" dirty="0" err="1">
                <a:latin typeface="Aptos" panose="020B0004020202020204" pitchFamily="34" charset="0"/>
              </a:rPr>
              <a:t>saat</a:t>
            </a:r>
            <a:r>
              <a:rPr lang="en-US" sz="1200" b="1" dirty="0">
                <a:latin typeface="Aptos" panose="020B0004020202020204" pitchFamily="34" charset="0"/>
              </a:rPr>
              <a:t> </a:t>
            </a:r>
            <a:r>
              <a:rPr lang="en-US" sz="1200" b="1" dirty="0" err="1">
                <a:latin typeface="Aptos" panose="020B0004020202020204" pitchFamily="34" charset="0"/>
              </a:rPr>
              <a:t>dilakukan</a:t>
            </a:r>
            <a:r>
              <a:rPr lang="en-US" sz="1200" b="1" dirty="0">
                <a:latin typeface="Aptos" panose="020B0004020202020204" pitchFamily="34" charset="0"/>
              </a:rPr>
              <a:t> </a:t>
            </a:r>
            <a:r>
              <a:rPr lang="en-US" sz="1200" b="1" dirty="0" err="1">
                <a:latin typeface="Aptos" panose="020B0004020202020204" pitchFamily="34" charset="0"/>
              </a:rPr>
              <a:t>penyelidikan</a:t>
            </a:r>
            <a:r>
              <a:rPr lang="en-US" sz="1200" b="1" dirty="0">
                <a:latin typeface="Aptos" panose="020B0004020202020204" pitchFamily="34" charset="0"/>
              </a:rPr>
              <a:t> </a:t>
            </a:r>
            <a:r>
              <a:rPr lang="en-US" sz="1200" b="1" dirty="0" err="1">
                <a:latin typeface="Aptos" panose="020B0004020202020204" pitchFamily="34" charset="0"/>
              </a:rPr>
              <a:t>klaim</a:t>
            </a:r>
            <a:r>
              <a:rPr lang="en-US" sz="1200" b="1" dirty="0">
                <a:latin typeface="Aptos" panose="020B0004020202020204" pitchFamily="34" charset="0"/>
              </a:rPr>
              <a:t>, </a:t>
            </a:r>
            <a:r>
              <a:rPr lang="en-US" sz="1200" b="1" dirty="0" err="1">
                <a:latin typeface="Aptos" panose="020B0004020202020204" pitchFamily="34" charset="0"/>
              </a:rPr>
              <a:t>Penanggung</a:t>
            </a:r>
            <a:r>
              <a:rPr lang="en-US" sz="1200" b="1" dirty="0">
                <a:latin typeface="Aptos" panose="020B0004020202020204" pitchFamily="34" charset="0"/>
              </a:rPr>
              <a:t> </a:t>
            </a:r>
            <a:r>
              <a:rPr lang="en-US" sz="1200" b="1" dirty="0" err="1">
                <a:latin typeface="Aptos" panose="020B0004020202020204" pitchFamily="34" charset="0"/>
              </a:rPr>
              <a:t>menemukan</a:t>
            </a:r>
            <a:r>
              <a:rPr lang="en-US" sz="1200" b="1" dirty="0">
                <a:latin typeface="Aptos" panose="020B0004020202020204" pitchFamily="34" charset="0"/>
              </a:rPr>
              <a:t> </a:t>
            </a:r>
            <a:r>
              <a:rPr lang="en-US" sz="1200" b="1" dirty="0" err="1">
                <a:latin typeface="Aptos" panose="020B0004020202020204" pitchFamily="34" charset="0"/>
              </a:rPr>
              <a:t>bahwa</a:t>
            </a:r>
            <a:r>
              <a:rPr lang="en-US" sz="1200" b="1" dirty="0">
                <a:latin typeface="Aptos" panose="020B0004020202020204" pitchFamily="34" charset="0"/>
              </a:rPr>
              <a:t> </a:t>
            </a:r>
            <a:r>
              <a:rPr lang="en-US" sz="1200" b="1" dirty="0" err="1">
                <a:latin typeface="Aptos" panose="020B0004020202020204" pitchFamily="34" charset="0"/>
              </a:rPr>
              <a:t>penyebab</a:t>
            </a:r>
            <a:r>
              <a:rPr lang="en-US" sz="1200" b="1" dirty="0">
                <a:latin typeface="Aptos" panose="020B0004020202020204" pitchFamily="34" charset="0"/>
              </a:rPr>
              <a:t> </a:t>
            </a:r>
            <a:r>
              <a:rPr lang="en-US" sz="1200" b="1" dirty="0" err="1">
                <a:latin typeface="Aptos" panose="020B0004020202020204" pitchFamily="34" charset="0"/>
              </a:rPr>
              <a:t>terjadinya</a:t>
            </a:r>
            <a:r>
              <a:rPr lang="en-US" sz="1200" b="1" dirty="0">
                <a:latin typeface="Aptos" panose="020B0004020202020204" pitchFamily="34" charset="0"/>
              </a:rPr>
              <a:t> </a:t>
            </a:r>
            <a:r>
              <a:rPr lang="en-US" sz="1200" b="1" dirty="0" err="1">
                <a:latin typeface="Aptos" panose="020B0004020202020204" pitchFamily="34" charset="0"/>
              </a:rPr>
              <a:t>Peristiwa</a:t>
            </a:r>
            <a:r>
              <a:rPr lang="en-US" sz="1200" b="1" dirty="0">
                <a:latin typeface="Aptos" panose="020B0004020202020204" pitchFamily="34" charset="0"/>
              </a:rPr>
              <a:t> Yang </a:t>
            </a:r>
            <a:r>
              <a:rPr lang="en-US" sz="1200" b="1" dirty="0" err="1">
                <a:latin typeface="Aptos" panose="020B0004020202020204" pitchFamily="34" charset="0"/>
              </a:rPr>
              <a:t>Dipertanggungkan</a:t>
            </a:r>
            <a:r>
              <a:rPr lang="en-US" sz="1200" b="1" dirty="0">
                <a:latin typeface="Aptos" panose="020B0004020202020204" pitchFamily="34" charset="0"/>
              </a:rPr>
              <a:t> </a:t>
            </a:r>
            <a:r>
              <a:rPr lang="en-US" sz="1200" b="1" dirty="0" err="1">
                <a:latin typeface="Aptos" panose="020B0004020202020204" pitchFamily="34" charset="0"/>
              </a:rPr>
              <a:t>termasuk</a:t>
            </a:r>
            <a:r>
              <a:rPr lang="en-US" sz="1200" b="1" dirty="0">
                <a:latin typeface="Aptos" panose="020B0004020202020204" pitchFamily="34" charset="0"/>
              </a:rPr>
              <a:t> </a:t>
            </a:r>
            <a:r>
              <a:rPr lang="en-US" sz="1200" b="1" dirty="0" err="1">
                <a:latin typeface="Aptos" panose="020B0004020202020204" pitchFamily="34" charset="0"/>
              </a:rPr>
              <a:t>dalam</a:t>
            </a:r>
            <a:r>
              <a:rPr lang="en-US" sz="1200" b="1" dirty="0">
                <a:latin typeface="Aptos" panose="020B0004020202020204" pitchFamily="34" charset="0"/>
              </a:rPr>
              <a:t> </a:t>
            </a:r>
            <a:r>
              <a:rPr lang="en-US" sz="1200" b="1" dirty="0" err="1">
                <a:latin typeface="Aptos" panose="020B0004020202020204" pitchFamily="34" charset="0"/>
              </a:rPr>
              <a:t>Pengecualian</a:t>
            </a:r>
            <a:r>
              <a:rPr lang="en-US" sz="1200" b="1" dirty="0">
                <a:latin typeface="Aptos" panose="020B0004020202020204" pitchFamily="34" charset="0"/>
              </a:rPr>
              <a:t>, </a:t>
            </a:r>
            <a:r>
              <a:rPr lang="en-US" sz="1200" b="1" dirty="0" err="1">
                <a:latin typeface="Aptos" panose="020B0004020202020204" pitchFamily="34" charset="0"/>
              </a:rPr>
              <a:t>maka</a:t>
            </a:r>
            <a:r>
              <a:rPr lang="en-US" sz="1200" b="1" dirty="0">
                <a:latin typeface="Aptos" panose="020B0004020202020204" pitchFamily="34" charset="0"/>
              </a:rPr>
              <a:t> </a:t>
            </a:r>
            <a:r>
              <a:rPr lang="en-US" sz="1200" b="1" dirty="0" err="1">
                <a:latin typeface="Aptos" panose="020B0004020202020204" pitchFamily="34" charset="0"/>
              </a:rPr>
              <a:t>Penanggung</a:t>
            </a:r>
            <a:r>
              <a:rPr lang="en-US" sz="1200" b="1" dirty="0">
                <a:latin typeface="Aptos" panose="020B0004020202020204" pitchFamily="34" charset="0"/>
              </a:rPr>
              <a:t> </a:t>
            </a:r>
            <a:r>
              <a:rPr lang="en-US" sz="1200" b="1" dirty="0" err="1">
                <a:latin typeface="Aptos" panose="020B0004020202020204" pitchFamily="34" charset="0"/>
              </a:rPr>
              <a:t>berhak</a:t>
            </a:r>
            <a:r>
              <a:rPr lang="en-US" sz="1200" b="1" dirty="0">
                <a:latin typeface="Aptos" panose="020B0004020202020204" pitchFamily="34" charset="0"/>
              </a:rPr>
              <a:t> </a:t>
            </a:r>
            <a:r>
              <a:rPr lang="en-US" sz="1200" b="1" dirty="0" err="1">
                <a:latin typeface="Aptos" panose="020B0004020202020204" pitchFamily="34" charset="0"/>
              </a:rPr>
              <a:t>menolak</a:t>
            </a:r>
            <a:r>
              <a:rPr lang="en-US" sz="1200" b="1" dirty="0">
                <a:latin typeface="Aptos" panose="020B0004020202020204" pitchFamily="34" charset="0"/>
              </a:rPr>
              <a:t> </a:t>
            </a:r>
            <a:r>
              <a:rPr lang="en-US" sz="1200" b="1" dirty="0" err="1">
                <a:latin typeface="Aptos" panose="020B0004020202020204" pitchFamily="34" charset="0"/>
              </a:rPr>
              <a:t>klaim</a:t>
            </a:r>
            <a:r>
              <a:rPr lang="en-US" sz="1200" b="1" dirty="0">
                <a:latin typeface="Aptos" panose="020B0004020202020204" pitchFamily="34" charset="0"/>
              </a:rPr>
              <a:t> </a:t>
            </a:r>
            <a:r>
              <a:rPr lang="en-US" sz="1200" b="1" dirty="0" err="1">
                <a:latin typeface="Aptos" panose="020B0004020202020204" pitchFamily="34" charset="0"/>
              </a:rPr>
              <a:t>dengan</a:t>
            </a:r>
            <a:r>
              <a:rPr lang="en-US" sz="1200" b="1" dirty="0">
                <a:latin typeface="Aptos" panose="020B0004020202020204" pitchFamily="34" charset="0"/>
              </a:rPr>
              <a:t> </a:t>
            </a:r>
            <a:r>
              <a:rPr lang="en-US" sz="1200" b="1" dirty="0" err="1">
                <a:latin typeface="Aptos" panose="020B0004020202020204" pitchFamily="34" charset="0"/>
              </a:rPr>
              <a:t>disertai</a:t>
            </a:r>
            <a:r>
              <a:rPr lang="en-US" sz="1200" b="1" dirty="0">
                <a:latin typeface="Aptos" panose="020B0004020202020204" pitchFamily="34" charset="0"/>
              </a:rPr>
              <a:t> </a:t>
            </a:r>
            <a:r>
              <a:rPr lang="en-US" sz="1200" b="1" dirty="0" err="1">
                <a:latin typeface="Aptos" panose="020B0004020202020204" pitchFamily="34" charset="0"/>
              </a:rPr>
              <a:t>alasan</a:t>
            </a:r>
            <a:r>
              <a:rPr lang="en-US" sz="1200" b="1" dirty="0">
                <a:latin typeface="Aptos" panose="020B0004020202020204" pitchFamily="34" charset="0"/>
              </a:rPr>
              <a:t> </a:t>
            </a:r>
            <a:r>
              <a:rPr lang="en-US" sz="1200" b="1" dirty="0" err="1">
                <a:latin typeface="Aptos" panose="020B0004020202020204" pitchFamily="34" charset="0"/>
              </a:rPr>
              <a:t>penolakan</a:t>
            </a:r>
            <a:r>
              <a:rPr lang="en-US" sz="1200" b="1" dirty="0">
                <a:latin typeface="Aptos" panose="020B0004020202020204" pitchFamily="34" charset="0"/>
              </a:rPr>
              <a:t> </a:t>
            </a:r>
            <a:r>
              <a:rPr lang="en-US" sz="1200" b="1" dirty="0" err="1">
                <a:latin typeface="Aptos" panose="020B0004020202020204" pitchFamily="34" charset="0"/>
              </a:rPr>
              <a:t>secara</a:t>
            </a:r>
            <a:r>
              <a:rPr lang="en-US" sz="1200" b="1" dirty="0">
                <a:latin typeface="Aptos" panose="020B0004020202020204" pitchFamily="34" charset="0"/>
              </a:rPr>
              <a:t> </a:t>
            </a:r>
            <a:r>
              <a:rPr lang="en-US" sz="1200" b="1" dirty="0" err="1">
                <a:latin typeface="Aptos" panose="020B0004020202020204" pitchFamily="34" charset="0"/>
              </a:rPr>
              <a:t>tertulis</a:t>
            </a:r>
            <a:r>
              <a:rPr lang="en-US" sz="1200" b="1" dirty="0">
                <a:latin typeface="Aptos" panose="020B0004020202020204" pitchFamily="34" charset="0"/>
              </a:rPr>
              <a:t> </a:t>
            </a:r>
            <a:r>
              <a:rPr lang="en-US" sz="1200" b="1" dirty="0" err="1">
                <a:latin typeface="Aptos" panose="020B0004020202020204" pitchFamily="34" charset="0"/>
              </a:rPr>
              <a:t>kepada</a:t>
            </a:r>
            <a:r>
              <a:rPr lang="en-US" sz="1200" b="1" dirty="0">
                <a:latin typeface="Aptos" panose="020B0004020202020204" pitchFamily="34" charset="0"/>
              </a:rPr>
              <a:t> </a:t>
            </a:r>
            <a:r>
              <a:rPr lang="en-US" sz="1200" b="1" dirty="0" err="1">
                <a:latin typeface="Aptos" panose="020B0004020202020204" pitchFamily="34" charset="0"/>
              </a:rPr>
              <a:t>Pihak</a:t>
            </a:r>
            <a:r>
              <a:rPr lang="en-US" sz="1200" b="1" dirty="0">
                <a:latin typeface="Aptos" panose="020B0004020202020204" pitchFamily="34" charset="0"/>
              </a:rPr>
              <a:t> Yang </a:t>
            </a:r>
            <a:r>
              <a:rPr lang="en-US" sz="1200" b="1" dirty="0" err="1">
                <a:latin typeface="Aptos" panose="020B0004020202020204" pitchFamily="34" charset="0"/>
              </a:rPr>
              <a:t>Mengajukan</a:t>
            </a:r>
            <a:r>
              <a:rPr lang="en-US" sz="1200" b="1" dirty="0">
                <a:latin typeface="Aptos" panose="020B0004020202020204" pitchFamily="34" charset="0"/>
              </a:rPr>
              <a:t> </a:t>
            </a:r>
            <a:r>
              <a:rPr lang="en-US" sz="1200" b="1" dirty="0" err="1">
                <a:latin typeface="Aptos" panose="020B0004020202020204" pitchFamily="34" charset="0"/>
              </a:rPr>
              <a:t>Klaim</a:t>
            </a:r>
            <a:r>
              <a:rPr lang="en-US" sz="1200" b="1" dirty="0">
                <a:latin typeface="Aptos" panose="020B0004020202020204" pitchFamily="34" charset="0"/>
              </a:rPr>
              <a:t> dan </a:t>
            </a:r>
            <a:r>
              <a:rPr lang="en-US" sz="1200" b="1" dirty="0" err="1">
                <a:latin typeface="Aptos" panose="020B0004020202020204" pitchFamily="34" charset="0"/>
              </a:rPr>
              <a:t>hanya</a:t>
            </a:r>
            <a:r>
              <a:rPr lang="en-US" sz="1200" b="1" dirty="0">
                <a:latin typeface="Aptos" panose="020B0004020202020204" pitchFamily="34" charset="0"/>
              </a:rPr>
              <a:t> </a:t>
            </a:r>
            <a:r>
              <a:rPr lang="en-US" sz="1200" b="1" dirty="0" err="1">
                <a:latin typeface="Aptos" panose="020B0004020202020204" pitchFamily="34" charset="0"/>
              </a:rPr>
              <a:t>akan</a:t>
            </a:r>
            <a:r>
              <a:rPr lang="en-US" sz="1200" b="1" dirty="0">
                <a:latin typeface="Aptos" panose="020B0004020202020204" pitchFamily="34" charset="0"/>
              </a:rPr>
              <a:t> </a:t>
            </a:r>
            <a:r>
              <a:rPr lang="en-US" sz="1200" b="1" dirty="0" err="1">
                <a:latin typeface="Aptos" panose="020B0004020202020204" pitchFamily="34" charset="0"/>
              </a:rPr>
              <a:t>membayarkan</a:t>
            </a:r>
            <a:r>
              <a:rPr lang="en-US" sz="1200" b="1" dirty="0">
                <a:latin typeface="Aptos" panose="020B0004020202020204" pitchFamily="34" charset="0"/>
              </a:rPr>
              <a:t> Nilai Tebus pada </a:t>
            </a:r>
            <a:r>
              <a:rPr lang="en-US" sz="1200" b="1" dirty="0" err="1">
                <a:latin typeface="Aptos" panose="020B0004020202020204" pitchFamily="34" charset="0"/>
              </a:rPr>
              <a:t>saat</a:t>
            </a:r>
            <a:r>
              <a:rPr lang="en-US" sz="1200" b="1" dirty="0">
                <a:latin typeface="Aptos" panose="020B0004020202020204" pitchFamily="34" charset="0"/>
              </a:rPr>
              <a:t> </a:t>
            </a:r>
            <a:r>
              <a:rPr lang="en-US" sz="1200" b="1" dirty="0" err="1">
                <a:latin typeface="Aptos" panose="020B0004020202020204" pitchFamily="34" charset="0"/>
              </a:rPr>
              <a:t>dokumen</a:t>
            </a:r>
            <a:r>
              <a:rPr lang="en-US" sz="1200" b="1" dirty="0">
                <a:latin typeface="Aptos" panose="020B0004020202020204" pitchFamily="34" charset="0"/>
              </a:rPr>
              <a:t> </a:t>
            </a:r>
            <a:r>
              <a:rPr lang="en-US" sz="1200" b="1" dirty="0" err="1">
                <a:latin typeface="Aptos" panose="020B0004020202020204" pitchFamily="34" charset="0"/>
              </a:rPr>
              <a:t>klaim</a:t>
            </a:r>
            <a:r>
              <a:rPr lang="en-US" sz="1200" b="1" dirty="0">
                <a:latin typeface="Aptos" panose="020B0004020202020204" pitchFamily="34" charset="0"/>
              </a:rPr>
              <a:t> </a:t>
            </a:r>
            <a:r>
              <a:rPr lang="en-US" sz="1200" b="1" dirty="0" err="1">
                <a:latin typeface="Aptos" panose="020B0004020202020204" pitchFamily="34" charset="0"/>
              </a:rPr>
              <a:t>diterima</a:t>
            </a:r>
            <a:r>
              <a:rPr lang="en-US" sz="1200" b="1" dirty="0">
                <a:latin typeface="Aptos" panose="020B0004020202020204" pitchFamily="34" charset="0"/>
              </a:rPr>
              <a:t> </a:t>
            </a:r>
            <a:r>
              <a:rPr lang="en-US" sz="1200" b="1" dirty="0" err="1">
                <a:latin typeface="Aptos" panose="020B0004020202020204" pitchFamily="34" charset="0"/>
              </a:rPr>
              <a:t>lengkap</a:t>
            </a:r>
            <a:r>
              <a:rPr lang="en-US" sz="1200" b="1" dirty="0">
                <a:latin typeface="Aptos" panose="020B0004020202020204" pitchFamily="34" charset="0"/>
              </a:rPr>
              <a:t> oleh </a:t>
            </a:r>
            <a:r>
              <a:rPr lang="en-US" sz="1200" b="1" dirty="0" err="1">
                <a:latin typeface="Aptos" panose="020B0004020202020204" pitchFamily="34" charset="0"/>
              </a:rPr>
              <a:t>Penanggung</a:t>
            </a:r>
            <a:r>
              <a:rPr lang="en-US" sz="1200" b="1" dirty="0">
                <a:latin typeface="Aptos" panose="020B0004020202020204" pitchFamily="34" charset="0"/>
              </a:rPr>
              <a:t> </a:t>
            </a:r>
            <a:r>
              <a:rPr lang="en-US" sz="1200" b="1" dirty="0" err="1">
                <a:latin typeface="Aptos" panose="020B0004020202020204" pitchFamily="34" charset="0"/>
              </a:rPr>
              <a:t>serta</a:t>
            </a:r>
            <a:r>
              <a:rPr lang="en-US" sz="1200" b="1" dirty="0">
                <a:latin typeface="Aptos" panose="020B0004020202020204" pitchFamily="34" charset="0"/>
              </a:rPr>
              <a:t> </a:t>
            </a:r>
            <a:r>
              <a:rPr lang="en-US" sz="1200" b="1" dirty="0" err="1">
                <a:latin typeface="Aptos" panose="020B0004020202020204" pitchFamily="34" charset="0"/>
              </a:rPr>
              <a:t>selanjutnya</a:t>
            </a:r>
            <a:r>
              <a:rPr lang="en-US" sz="1200" b="1" dirty="0">
                <a:latin typeface="Aptos" panose="020B0004020202020204" pitchFamily="34" charset="0"/>
              </a:rPr>
              <a:t> Polis </a:t>
            </a:r>
            <a:r>
              <a:rPr lang="en-US" sz="1200" b="1" dirty="0" err="1">
                <a:latin typeface="Aptos" panose="020B0004020202020204" pitchFamily="34" charset="0"/>
              </a:rPr>
              <a:t>berakhir</a:t>
            </a:r>
            <a:r>
              <a:rPr lang="en-US" sz="1200" b="1" dirty="0">
                <a:latin typeface="Aptos" panose="020B0004020202020204" pitchFamily="34" charset="0"/>
              </a:rPr>
              <a:t>.</a:t>
            </a:r>
          </a:p>
          <a:p>
            <a:pPr marL="228600" algn="just"/>
            <a:r>
              <a:rPr lang="en-US" sz="1200" b="1" dirty="0" err="1">
                <a:latin typeface="Aptos" panose="020B0004020202020204" pitchFamily="34" charset="0"/>
              </a:rPr>
              <a:t>Sedangkan</a:t>
            </a:r>
            <a:r>
              <a:rPr lang="en-US" sz="1200" b="1" dirty="0">
                <a:latin typeface="Aptos" panose="020B0004020202020204" pitchFamily="34" charset="0"/>
              </a:rPr>
              <a:t>, </a:t>
            </a:r>
            <a:r>
              <a:rPr lang="en-US" sz="1200" b="1" dirty="0" err="1">
                <a:latin typeface="Aptos" panose="020B0004020202020204" pitchFamily="34" charset="0"/>
              </a:rPr>
              <a:t>jika</a:t>
            </a:r>
            <a:r>
              <a:rPr lang="en-US" sz="1200" b="1" dirty="0">
                <a:latin typeface="Aptos" panose="020B0004020202020204" pitchFamily="34" charset="0"/>
              </a:rPr>
              <a:t> pada </a:t>
            </a:r>
            <a:r>
              <a:rPr lang="en-US" sz="1200" b="1" dirty="0" err="1">
                <a:latin typeface="Aptos" panose="020B0004020202020204" pitchFamily="34" charset="0"/>
              </a:rPr>
              <a:t>saat</a:t>
            </a:r>
            <a:r>
              <a:rPr lang="en-US" sz="1200" b="1" dirty="0">
                <a:latin typeface="Aptos" panose="020B0004020202020204" pitchFamily="34" charset="0"/>
              </a:rPr>
              <a:t> </a:t>
            </a:r>
            <a:r>
              <a:rPr lang="en-US" sz="1200" b="1" dirty="0" err="1">
                <a:latin typeface="Aptos" panose="020B0004020202020204" pitchFamily="34" charset="0"/>
              </a:rPr>
              <a:t>penyelidikan</a:t>
            </a:r>
            <a:r>
              <a:rPr lang="en-US" sz="1200" b="1" dirty="0">
                <a:latin typeface="Aptos" panose="020B0004020202020204" pitchFamily="34" charset="0"/>
              </a:rPr>
              <a:t> </a:t>
            </a:r>
            <a:r>
              <a:rPr lang="en-US" sz="1200" b="1" dirty="0" err="1">
                <a:latin typeface="Aptos" panose="020B0004020202020204" pitchFamily="34" charset="0"/>
              </a:rPr>
              <a:t>klaim</a:t>
            </a:r>
            <a:r>
              <a:rPr lang="en-US" sz="1200" b="1" dirty="0">
                <a:latin typeface="Aptos" panose="020B0004020202020204" pitchFamily="34" charset="0"/>
              </a:rPr>
              <a:t>, </a:t>
            </a:r>
            <a:r>
              <a:rPr lang="en-US" sz="1200" b="1" dirty="0" err="1">
                <a:latin typeface="Aptos" panose="020B0004020202020204" pitchFamily="34" charset="0"/>
              </a:rPr>
              <a:t>Penanggung</a:t>
            </a:r>
            <a:r>
              <a:rPr lang="en-US" sz="1200" b="1" dirty="0">
                <a:latin typeface="Aptos" panose="020B0004020202020204" pitchFamily="34" charset="0"/>
              </a:rPr>
              <a:t> </a:t>
            </a:r>
            <a:r>
              <a:rPr lang="en-US" sz="1200" b="1" dirty="0" err="1">
                <a:latin typeface="Aptos" panose="020B0004020202020204" pitchFamily="34" charset="0"/>
              </a:rPr>
              <a:t>menemukan</a:t>
            </a:r>
            <a:r>
              <a:rPr lang="en-US" sz="1200" b="1" dirty="0">
                <a:latin typeface="Aptos" panose="020B0004020202020204" pitchFamily="34" charset="0"/>
              </a:rPr>
              <a:t> </a:t>
            </a:r>
            <a:r>
              <a:rPr lang="en-US" sz="1200" b="1" dirty="0" err="1">
                <a:latin typeface="Aptos" panose="020B0004020202020204" pitchFamily="34" charset="0"/>
              </a:rPr>
              <a:t>bahwa</a:t>
            </a:r>
            <a:r>
              <a:rPr lang="en-US" sz="1200" b="1" dirty="0">
                <a:latin typeface="Aptos" panose="020B0004020202020204" pitchFamily="34" charset="0"/>
              </a:rPr>
              <a:t> </a:t>
            </a:r>
            <a:r>
              <a:rPr lang="en-US" sz="1200" b="1" dirty="0" err="1">
                <a:latin typeface="Aptos" panose="020B0004020202020204" pitchFamily="34" charset="0"/>
              </a:rPr>
              <a:t>terdapat</a:t>
            </a:r>
            <a:r>
              <a:rPr lang="en-US" sz="1200" b="1" dirty="0">
                <a:latin typeface="Aptos" panose="020B0004020202020204" pitchFamily="34" charset="0"/>
              </a:rPr>
              <a:t> </a:t>
            </a:r>
            <a:r>
              <a:rPr lang="en-US" sz="1200" b="1" dirty="0" err="1">
                <a:latin typeface="Aptos" panose="020B0004020202020204" pitchFamily="34" charset="0"/>
              </a:rPr>
              <a:t>pemalsuan</a:t>
            </a:r>
            <a:r>
              <a:rPr lang="en-US" sz="1200" b="1" dirty="0">
                <a:latin typeface="Aptos" panose="020B0004020202020204" pitchFamily="34" charset="0"/>
              </a:rPr>
              <a:t> </a:t>
            </a:r>
            <a:r>
              <a:rPr lang="en-US" sz="1200" b="1" dirty="0" err="1">
                <a:latin typeface="Aptos" panose="020B0004020202020204" pitchFamily="34" charset="0"/>
              </a:rPr>
              <a:t>dalam</a:t>
            </a:r>
            <a:r>
              <a:rPr lang="en-US" sz="1200" b="1" dirty="0">
                <a:latin typeface="Aptos" panose="020B0004020202020204" pitchFamily="34" charset="0"/>
              </a:rPr>
              <a:t> </a:t>
            </a:r>
            <a:r>
              <a:rPr lang="en-US" sz="1200" b="1" dirty="0" err="1">
                <a:latin typeface="Aptos" panose="020B0004020202020204" pitchFamily="34" charset="0"/>
              </a:rPr>
              <a:t>informasi</a:t>
            </a:r>
            <a:r>
              <a:rPr lang="en-US" sz="1200" b="1" dirty="0">
                <a:latin typeface="Aptos" panose="020B0004020202020204" pitchFamily="34" charset="0"/>
              </a:rPr>
              <a:t>, </a:t>
            </a:r>
            <a:r>
              <a:rPr lang="en-US" sz="1200" b="1" dirty="0" err="1">
                <a:latin typeface="Aptos" panose="020B0004020202020204" pitchFamily="34" charset="0"/>
              </a:rPr>
              <a:t>dokumen</a:t>
            </a:r>
            <a:r>
              <a:rPr lang="en-US" sz="1200" b="1" dirty="0">
                <a:latin typeface="Aptos" panose="020B0004020202020204" pitchFamily="34" charset="0"/>
              </a:rPr>
              <a:t>, </a:t>
            </a:r>
            <a:r>
              <a:rPr lang="en-US" sz="1200" b="1" dirty="0" err="1">
                <a:latin typeface="Aptos" panose="020B0004020202020204" pitchFamily="34" charset="0"/>
              </a:rPr>
              <a:t>atau</a:t>
            </a:r>
            <a:r>
              <a:rPr lang="en-US" sz="1200" b="1" dirty="0">
                <a:latin typeface="Aptos" panose="020B0004020202020204" pitchFamily="34" charset="0"/>
              </a:rPr>
              <a:t> </a:t>
            </a:r>
            <a:r>
              <a:rPr lang="en-US" sz="1200" b="1" dirty="0" err="1">
                <a:latin typeface="Aptos" panose="020B0004020202020204" pitchFamily="34" charset="0"/>
              </a:rPr>
              <a:t>keterangan</a:t>
            </a:r>
            <a:r>
              <a:rPr lang="en-US" sz="1200" b="1" dirty="0">
                <a:latin typeface="Aptos" panose="020B0004020202020204" pitchFamily="34" charset="0"/>
              </a:rPr>
              <a:t> yang </a:t>
            </a:r>
            <a:r>
              <a:rPr lang="en-US" sz="1200" b="1" dirty="0" err="1">
                <a:latin typeface="Aptos" panose="020B0004020202020204" pitchFamily="34" charset="0"/>
              </a:rPr>
              <a:t>diberikan</a:t>
            </a:r>
            <a:r>
              <a:rPr lang="en-US" sz="1200" b="1" dirty="0">
                <a:latin typeface="Aptos" panose="020B0004020202020204" pitchFamily="34" charset="0"/>
              </a:rPr>
              <a:t> </a:t>
            </a:r>
            <a:r>
              <a:rPr lang="en-US" sz="1200" b="1" dirty="0" err="1">
                <a:latin typeface="Aptos" panose="020B0004020202020204" pitchFamily="34" charset="0"/>
              </a:rPr>
              <a:t>kepada</a:t>
            </a:r>
            <a:r>
              <a:rPr lang="en-US" sz="1200" b="1" dirty="0">
                <a:latin typeface="Aptos" panose="020B0004020202020204" pitchFamily="34" charset="0"/>
              </a:rPr>
              <a:t> </a:t>
            </a:r>
            <a:r>
              <a:rPr lang="en-US" sz="1200" b="1" dirty="0" err="1">
                <a:latin typeface="Aptos" panose="020B0004020202020204" pitchFamily="34" charset="0"/>
              </a:rPr>
              <a:t>Penanggung</a:t>
            </a:r>
            <a:r>
              <a:rPr lang="en-US" sz="1200" b="1" dirty="0">
                <a:latin typeface="Aptos" panose="020B0004020202020204" pitchFamily="34" charset="0"/>
              </a:rPr>
              <a:t> </a:t>
            </a:r>
            <a:r>
              <a:rPr lang="en-US" sz="1200" b="1" dirty="0" err="1">
                <a:latin typeface="Aptos" panose="020B0004020202020204" pitchFamily="34" charset="0"/>
              </a:rPr>
              <a:t>sehubungan</a:t>
            </a:r>
            <a:r>
              <a:rPr lang="en-US" sz="1200" b="1" dirty="0">
                <a:latin typeface="Aptos" panose="020B0004020202020204" pitchFamily="34" charset="0"/>
              </a:rPr>
              <a:t> </a:t>
            </a:r>
            <a:r>
              <a:rPr lang="en-US" sz="1200" b="1" dirty="0" err="1">
                <a:latin typeface="Aptos" panose="020B0004020202020204" pitchFamily="34" charset="0"/>
              </a:rPr>
              <a:t>dengan</a:t>
            </a:r>
            <a:r>
              <a:rPr lang="en-US" sz="1200" b="1" dirty="0">
                <a:latin typeface="Aptos" panose="020B0004020202020204" pitchFamily="34" charset="0"/>
              </a:rPr>
              <a:t> </a:t>
            </a:r>
            <a:r>
              <a:rPr lang="en-US" sz="1200" b="1" dirty="0" err="1">
                <a:latin typeface="Aptos" panose="020B0004020202020204" pitchFamily="34" charset="0"/>
              </a:rPr>
              <a:t>klaim</a:t>
            </a:r>
            <a:r>
              <a:rPr lang="en-US" sz="1200" b="1" dirty="0">
                <a:latin typeface="Aptos" panose="020B0004020202020204" pitchFamily="34" charset="0"/>
              </a:rPr>
              <a:t> (fraud </a:t>
            </a:r>
            <a:r>
              <a:rPr lang="en-US" sz="1200" b="1" dirty="0" err="1">
                <a:latin typeface="Aptos" panose="020B0004020202020204" pitchFamily="34" charset="0"/>
              </a:rPr>
              <a:t>klaim</a:t>
            </a:r>
            <a:r>
              <a:rPr lang="en-US" sz="1200" b="1" dirty="0">
                <a:latin typeface="Aptos" panose="020B0004020202020204" pitchFamily="34" charset="0"/>
              </a:rPr>
              <a:t>), </a:t>
            </a:r>
            <a:r>
              <a:rPr lang="en-US" sz="1200" b="1" dirty="0" err="1">
                <a:latin typeface="Aptos" panose="020B0004020202020204" pitchFamily="34" charset="0"/>
              </a:rPr>
              <a:t>maka</a:t>
            </a:r>
            <a:r>
              <a:rPr lang="en-US" sz="1200" b="1" dirty="0">
                <a:latin typeface="Aptos" panose="020B0004020202020204" pitchFamily="34" charset="0"/>
              </a:rPr>
              <a:t> </a:t>
            </a:r>
            <a:r>
              <a:rPr lang="en-US" sz="1200" b="1" dirty="0" err="1">
                <a:latin typeface="Aptos" panose="020B0004020202020204" pitchFamily="34" charset="0"/>
              </a:rPr>
              <a:t>Penanggung</a:t>
            </a:r>
            <a:r>
              <a:rPr lang="en-US" sz="1200" b="1" dirty="0">
                <a:latin typeface="Aptos" panose="020B0004020202020204" pitchFamily="34" charset="0"/>
              </a:rPr>
              <a:t> </a:t>
            </a:r>
            <a:r>
              <a:rPr lang="en-US" sz="1200" b="1" dirty="0" err="1">
                <a:latin typeface="Aptos" panose="020B0004020202020204" pitchFamily="34" charset="0"/>
              </a:rPr>
              <a:t>berhak</a:t>
            </a:r>
            <a:r>
              <a:rPr lang="en-US" sz="1200" b="1" dirty="0">
                <a:latin typeface="Aptos" panose="020B0004020202020204" pitchFamily="34" charset="0"/>
              </a:rPr>
              <a:t> </a:t>
            </a:r>
            <a:r>
              <a:rPr lang="en-US" sz="1200" b="1" dirty="0" err="1">
                <a:latin typeface="Aptos" panose="020B0004020202020204" pitchFamily="34" charset="0"/>
              </a:rPr>
              <a:t>untuk</a:t>
            </a:r>
            <a:r>
              <a:rPr lang="en-US" sz="1200" b="1" dirty="0">
                <a:latin typeface="Aptos" panose="020B0004020202020204" pitchFamily="34" charset="0"/>
              </a:rPr>
              <a:t> </a:t>
            </a:r>
            <a:r>
              <a:rPr lang="en-US" sz="1200" b="1" dirty="0" err="1">
                <a:latin typeface="Aptos" panose="020B0004020202020204" pitchFamily="34" charset="0"/>
              </a:rPr>
              <a:t>mengakhiri</a:t>
            </a:r>
            <a:r>
              <a:rPr lang="en-US" sz="1200" b="1" dirty="0">
                <a:latin typeface="Aptos" panose="020B0004020202020204" pitchFamily="34" charset="0"/>
              </a:rPr>
              <a:t> Polis dan </a:t>
            </a:r>
            <a:r>
              <a:rPr lang="en-US" sz="1200" b="1" dirty="0" err="1">
                <a:latin typeface="Aptos" panose="020B0004020202020204" pitchFamily="34" charset="0"/>
              </a:rPr>
              <a:t>tidak</a:t>
            </a:r>
            <a:r>
              <a:rPr lang="en-US" sz="1200" b="1" dirty="0">
                <a:latin typeface="Aptos" panose="020B0004020202020204" pitchFamily="34" charset="0"/>
              </a:rPr>
              <a:t> </a:t>
            </a:r>
            <a:r>
              <a:rPr lang="en-US" sz="1200" b="1" dirty="0" err="1">
                <a:latin typeface="Aptos" panose="020B0004020202020204" pitchFamily="34" charset="0"/>
              </a:rPr>
              <a:t>akan</a:t>
            </a:r>
            <a:r>
              <a:rPr lang="en-US" sz="1200" b="1" dirty="0">
                <a:latin typeface="Aptos" panose="020B0004020202020204" pitchFamily="34" charset="0"/>
              </a:rPr>
              <a:t> </a:t>
            </a:r>
            <a:r>
              <a:rPr lang="en-US" sz="1200" b="1" dirty="0" err="1">
                <a:latin typeface="Aptos" panose="020B0004020202020204" pitchFamily="34" charset="0"/>
              </a:rPr>
              <a:t>membayarkan</a:t>
            </a:r>
            <a:r>
              <a:rPr lang="en-US" sz="1200" b="1" dirty="0">
                <a:latin typeface="Aptos" panose="020B0004020202020204" pitchFamily="34" charset="0"/>
              </a:rPr>
              <a:t> Manfaat Asuransi </a:t>
            </a:r>
            <a:r>
              <a:rPr lang="en-US" sz="1200" b="1" dirty="0" err="1">
                <a:latin typeface="Aptos" panose="020B0004020202020204" pitchFamily="34" charset="0"/>
              </a:rPr>
              <a:t>serta</a:t>
            </a:r>
            <a:r>
              <a:rPr lang="en-US" sz="1200" b="1" dirty="0">
                <a:latin typeface="Aptos" panose="020B0004020202020204" pitchFamily="34" charset="0"/>
              </a:rPr>
              <a:t> </a:t>
            </a:r>
            <a:r>
              <a:rPr lang="en-US" sz="1200" b="1" dirty="0" err="1">
                <a:latin typeface="Aptos" panose="020B0004020202020204" pitchFamily="34" charset="0"/>
              </a:rPr>
              <a:t>tidak</a:t>
            </a:r>
            <a:r>
              <a:rPr lang="en-US" sz="1200" b="1" dirty="0">
                <a:latin typeface="Aptos" panose="020B0004020202020204" pitchFamily="34" charset="0"/>
              </a:rPr>
              <a:t> </a:t>
            </a:r>
            <a:r>
              <a:rPr lang="en-US" sz="1200" b="1" dirty="0" err="1">
                <a:latin typeface="Aptos" panose="020B0004020202020204" pitchFamily="34" charset="0"/>
              </a:rPr>
              <a:t>akan</a:t>
            </a:r>
            <a:r>
              <a:rPr lang="en-US" sz="1200" b="1" dirty="0">
                <a:latin typeface="Aptos" panose="020B0004020202020204" pitchFamily="34" charset="0"/>
              </a:rPr>
              <a:t> </a:t>
            </a:r>
            <a:r>
              <a:rPr lang="en-US" sz="1200" b="1" dirty="0" err="1">
                <a:latin typeface="Aptos" panose="020B0004020202020204" pitchFamily="34" charset="0"/>
              </a:rPr>
              <a:t>melakukan</a:t>
            </a:r>
            <a:r>
              <a:rPr lang="en-US" sz="1200" b="1" dirty="0">
                <a:latin typeface="Aptos" panose="020B0004020202020204" pitchFamily="34" charset="0"/>
              </a:rPr>
              <a:t> </a:t>
            </a:r>
            <a:r>
              <a:rPr lang="en-US" sz="1200" b="1" dirty="0" err="1">
                <a:latin typeface="Aptos" panose="020B0004020202020204" pitchFamily="34" charset="0"/>
              </a:rPr>
              <a:t>pengembalian</a:t>
            </a:r>
            <a:r>
              <a:rPr lang="en-US" sz="1200" b="1" dirty="0">
                <a:latin typeface="Aptos" panose="020B0004020202020204" pitchFamily="34" charset="0"/>
              </a:rPr>
              <a:t> Premi </a:t>
            </a:r>
            <a:r>
              <a:rPr lang="en-US" sz="1200" b="1" dirty="0" err="1">
                <a:latin typeface="Aptos" panose="020B0004020202020204" pitchFamily="34" charset="0"/>
              </a:rPr>
              <a:t>ataupun</a:t>
            </a:r>
            <a:r>
              <a:rPr lang="en-US" sz="1200" b="1" dirty="0">
                <a:latin typeface="Aptos" panose="020B0004020202020204" pitchFamily="34" charset="0"/>
              </a:rPr>
              <a:t> </a:t>
            </a:r>
            <a:r>
              <a:rPr lang="en-US" sz="1200" b="1" dirty="0" err="1">
                <a:latin typeface="Aptos" panose="020B0004020202020204" pitchFamily="34" charset="0"/>
              </a:rPr>
              <a:t>pembayaran</a:t>
            </a:r>
            <a:r>
              <a:rPr lang="en-US" sz="1200" b="1" dirty="0">
                <a:latin typeface="Aptos" panose="020B0004020202020204" pitchFamily="34" charset="0"/>
              </a:rPr>
              <a:t> Nilai Tebus </a:t>
            </a:r>
            <a:r>
              <a:rPr lang="en-US" sz="1200" b="1" dirty="0" err="1">
                <a:latin typeface="Aptos" panose="020B0004020202020204" pitchFamily="34" charset="0"/>
              </a:rPr>
              <a:t>kepada</a:t>
            </a:r>
            <a:r>
              <a:rPr lang="en-US" sz="1200" b="1" dirty="0">
                <a:latin typeface="Aptos" panose="020B0004020202020204" pitchFamily="34" charset="0"/>
              </a:rPr>
              <a:t> </a:t>
            </a:r>
            <a:r>
              <a:rPr lang="en-US" sz="1200" b="1" dirty="0" err="1">
                <a:latin typeface="Aptos" panose="020B0004020202020204" pitchFamily="34" charset="0"/>
              </a:rPr>
              <a:t>Pemegang</a:t>
            </a:r>
            <a:r>
              <a:rPr lang="en-US" sz="1200" b="1" dirty="0">
                <a:latin typeface="Aptos" panose="020B0004020202020204" pitchFamily="34" charset="0"/>
              </a:rPr>
              <a:t> Polis </a:t>
            </a:r>
            <a:r>
              <a:rPr lang="en-US" sz="1200" b="1" dirty="0" err="1">
                <a:latin typeface="Aptos" panose="020B0004020202020204" pitchFamily="34" charset="0"/>
              </a:rPr>
              <a:t>atau</a:t>
            </a:r>
            <a:r>
              <a:rPr lang="en-US" sz="1200" b="1" dirty="0">
                <a:latin typeface="Aptos" panose="020B0004020202020204" pitchFamily="34" charset="0"/>
              </a:rPr>
              <a:t> </a:t>
            </a:r>
            <a:r>
              <a:rPr lang="en-US" sz="1200" b="1" dirty="0" err="1">
                <a:latin typeface="Aptos" panose="020B0004020202020204" pitchFamily="34" charset="0"/>
              </a:rPr>
              <a:t>Pihak</a:t>
            </a:r>
            <a:r>
              <a:rPr lang="en-US" sz="1200" b="1" dirty="0">
                <a:latin typeface="Aptos" panose="020B0004020202020204" pitchFamily="34" charset="0"/>
              </a:rPr>
              <a:t> Yang </a:t>
            </a:r>
            <a:r>
              <a:rPr lang="en-US" sz="1200" b="1" dirty="0" err="1">
                <a:latin typeface="Aptos" panose="020B0004020202020204" pitchFamily="34" charset="0"/>
              </a:rPr>
              <a:t>Mengajukan</a:t>
            </a:r>
            <a:r>
              <a:rPr lang="en-US" sz="1200" b="1" dirty="0">
                <a:latin typeface="Aptos" panose="020B0004020202020204" pitchFamily="34" charset="0"/>
              </a:rPr>
              <a:t> </a:t>
            </a:r>
            <a:r>
              <a:rPr lang="en-US" sz="1200" b="1" dirty="0" err="1">
                <a:latin typeface="Aptos" panose="020B0004020202020204" pitchFamily="34" charset="0"/>
              </a:rPr>
              <a:t>Klaim</a:t>
            </a:r>
            <a:r>
              <a:rPr lang="en-US" sz="1200" b="1" dirty="0">
                <a:latin typeface="Aptos" panose="020B0004020202020204" pitchFamily="34" charset="0"/>
              </a:rPr>
              <a:t>.</a:t>
            </a:r>
          </a:p>
          <a:p>
            <a:pPr marL="228600" indent="-228600" algn="just">
              <a:buFont typeface="+mj-lt"/>
              <a:buAutoNum type="arabicPeriod" startAt="7"/>
            </a:pPr>
            <a:r>
              <a:rPr lang="en-US" sz="1200" dirty="0">
                <a:latin typeface="Aptos" panose="020B0004020202020204" pitchFamily="34" charset="0"/>
              </a:rPr>
              <a:t>Bila </a:t>
            </a:r>
            <a:r>
              <a:rPr lang="en-US" sz="1200" dirty="0" err="1">
                <a:latin typeface="Aptos" panose="020B0004020202020204" pitchFamily="34" charset="0"/>
              </a:rPr>
              <a:t>disetujui</a:t>
            </a:r>
            <a:r>
              <a:rPr lang="en-US" sz="1200" dirty="0">
                <a:latin typeface="Aptos" panose="020B0004020202020204" pitchFamily="34" charset="0"/>
              </a:rPr>
              <a:t>, Manfaat </a:t>
            </a:r>
            <a:r>
              <a:rPr lang="en-US" sz="1200" dirty="0" err="1">
                <a:latin typeface="Aptos" panose="020B0004020202020204" pitchFamily="34" charset="0"/>
              </a:rPr>
              <a:t>Meninggal</a:t>
            </a:r>
            <a:r>
              <a:rPr lang="en-US" sz="1200" dirty="0">
                <a:latin typeface="Aptos" panose="020B0004020202020204" pitchFamily="34" charset="0"/>
              </a:rPr>
              <a:t> Dunia </a:t>
            </a:r>
            <a:r>
              <a:rPr lang="en-US" sz="1200" dirty="0" err="1">
                <a:latin typeface="Aptos" panose="020B0004020202020204" pitchFamily="34" charset="0"/>
              </a:rPr>
              <a:t>akan</a:t>
            </a:r>
            <a:r>
              <a:rPr lang="en-US" sz="1200" dirty="0">
                <a:latin typeface="Aptos" panose="020B0004020202020204" pitchFamily="34" charset="0"/>
              </a:rPr>
              <a:t> </a:t>
            </a:r>
            <a:r>
              <a:rPr lang="en-US" sz="1200" dirty="0" err="1">
                <a:latin typeface="Aptos" panose="020B0004020202020204" pitchFamily="34" charset="0"/>
              </a:rPr>
              <a:t>dibayarkan</a:t>
            </a:r>
            <a:r>
              <a:rPr lang="en-US" sz="1200" dirty="0">
                <a:latin typeface="Aptos" panose="020B0004020202020204" pitchFamily="34" charset="0"/>
              </a:rPr>
              <a:t> </a:t>
            </a:r>
            <a:r>
              <a:rPr lang="en-US" sz="1200" dirty="0" err="1">
                <a:latin typeface="Aptos" panose="020B0004020202020204" pitchFamily="34" charset="0"/>
              </a:rPr>
              <a:t>ke</a:t>
            </a:r>
            <a:r>
              <a:rPr lang="en-US" sz="1200" dirty="0">
                <a:latin typeface="Aptos" panose="020B0004020202020204" pitchFamily="34" charset="0"/>
              </a:rPr>
              <a:t> </a:t>
            </a:r>
            <a:r>
              <a:rPr lang="en-US" sz="1200" dirty="0" err="1">
                <a:latin typeface="Aptos" panose="020B0004020202020204" pitchFamily="34" charset="0"/>
              </a:rPr>
              <a:t>rekening</a:t>
            </a:r>
            <a:r>
              <a:rPr lang="en-US" sz="1200" dirty="0">
                <a:latin typeface="Aptos" panose="020B0004020202020204" pitchFamily="34" charset="0"/>
              </a:rPr>
              <a:t> yang </a:t>
            </a:r>
            <a:r>
              <a:rPr lang="en-US" sz="1200" dirty="0" err="1">
                <a:latin typeface="Aptos" panose="020B0004020202020204" pitchFamily="34" charset="0"/>
              </a:rPr>
              <a:t>didaftarkan</a:t>
            </a:r>
            <a:r>
              <a:rPr lang="en-US" sz="1200" dirty="0">
                <a:latin typeface="Aptos" panose="020B0004020202020204" pitchFamily="34" charset="0"/>
              </a:rPr>
              <a:t> pada </a:t>
            </a:r>
            <a:r>
              <a:rPr lang="en-US" sz="1200" dirty="0" err="1">
                <a:latin typeface="Aptos" panose="020B0004020202020204" pitchFamily="34" charset="0"/>
              </a:rPr>
              <a:t>saat</a:t>
            </a:r>
            <a:r>
              <a:rPr lang="en-US" sz="1200" dirty="0">
                <a:latin typeface="Aptos" panose="020B0004020202020204" pitchFamily="34" charset="0"/>
              </a:rPr>
              <a:t> </a:t>
            </a:r>
            <a:r>
              <a:rPr lang="en-US" sz="1200" dirty="0" err="1">
                <a:latin typeface="Aptos" panose="020B0004020202020204" pitchFamily="34" charset="0"/>
              </a:rPr>
              <a:t>pengajuan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a:t>
            </a:r>
          </a:p>
          <a:p>
            <a:pPr marL="457200" indent="-228600" algn="just">
              <a:buAutoNum type="alphaLcPeriod"/>
            </a:pP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a:t>
            </a:r>
            <a:r>
              <a:rPr lang="en-US" sz="1200" dirty="0" err="1">
                <a:latin typeface="Aptos" panose="020B0004020202020204" pitchFamily="34" charset="0"/>
              </a:rPr>
              <a:t>maksimum</a:t>
            </a:r>
            <a:r>
              <a:rPr lang="en-US" sz="1200" dirty="0">
                <a:latin typeface="Aptos" panose="020B0004020202020204" pitchFamily="34" charset="0"/>
              </a:rPr>
              <a:t> 10 (</a:t>
            </a:r>
            <a:r>
              <a:rPr lang="en-US" sz="1200" dirty="0" err="1">
                <a:latin typeface="Aptos" panose="020B0004020202020204" pitchFamily="34" charset="0"/>
              </a:rPr>
              <a:t>sepuluh</a:t>
            </a:r>
            <a:r>
              <a:rPr lang="en-US" sz="1200" dirty="0">
                <a:latin typeface="Aptos" panose="020B0004020202020204" pitchFamily="34" charset="0"/>
              </a:rPr>
              <a:t>) Hari </a:t>
            </a:r>
            <a:r>
              <a:rPr lang="en-US" sz="1200" dirty="0" err="1">
                <a:latin typeface="Aptos" panose="020B0004020202020204" pitchFamily="34" charset="0"/>
              </a:rPr>
              <a:t>Kerja</a:t>
            </a:r>
            <a:r>
              <a:rPr lang="en-US" sz="1200" dirty="0">
                <a:latin typeface="Aptos" panose="020B0004020202020204" pitchFamily="34" charset="0"/>
              </a:rPr>
              <a:t> </a:t>
            </a:r>
            <a:r>
              <a:rPr lang="en-US" sz="1200" dirty="0" err="1">
                <a:latin typeface="Aptos" panose="020B0004020202020204" pitchFamily="34" charset="0"/>
              </a:rPr>
              <a:t>terhitung</a:t>
            </a:r>
            <a:r>
              <a:rPr lang="en-US" sz="1200" dirty="0">
                <a:latin typeface="Aptos" panose="020B0004020202020204" pitchFamily="34" charset="0"/>
              </a:rPr>
              <a:t> </a:t>
            </a:r>
            <a:r>
              <a:rPr lang="en-US" sz="1200" dirty="0" err="1">
                <a:latin typeface="Aptos" panose="020B0004020202020204" pitchFamily="34" charset="0"/>
              </a:rPr>
              <a:t>dari</a:t>
            </a:r>
            <a:r>
              <a:rPr lang="en-US" sz="1200" dirty="0">
                <a:latin typeface="Aptos" panose="020B0004020202020204" pitchFamily="34" charset="0"/>
              </a:rPr>
              <a:t> </a:t>
            </a:r>
            <a:r>
              <a:rPr lang="en-US" sz="1200" dirty="0" err="1">
                <a:latin typeface="Aptos" panose="020B0004020202020204" pitchFamily="34" charset="0"/>
              </a:rPr>
              <a:t>tanggal</a:t>
            </a:r>
            <a:r>
              <a:rPr lang="en-US" sz="1200" dirty="0">
                <a:latin typeface="Aptos" panose="020B0004020202020204" pitchFamily="34" charset="0"/>
              </a:rPr>
              <a:t> </a:t>
            </a: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pengajuan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diterima</a:t>
            </a:r>
            <a:r>
              <a:rPr lang="en-US" sz="1200" dirty="0">
                <a:latin typeface="Aptos" panose="020B0004020202020204" pitchFamily="34" charset="0"/>
              </a:rPr>
              <a:t> </a:t>
            </a:r>
            <a:r>
              <a:rPr lang="en-US" sz="1200" dirty="0" err="1">
                <a:latin typeface="Aptos" panose="020B0004020202020204" pitchFamily="34" charset="0"/>
              </a:rPr>
              <a:t>lengkap</a:t>
            </a:r>
            <a:r>
              <a:rPr lang="en-US" sz="1200" dirty="0">
                <a:latin typeface="Aptos" panose="020B0004020202020204" pitchFamily="34" charset="0"/>
              </a:rPr>
              <a:t>, </a:t>
            </a:r>
            <a:r>
              <a:rPr lang="en-US" sz="1200" dirty="0" err="1">
                <a:latin typeface="Aptos" panose="020B0004020202020204" pitchFamily="34" charset="0"/>
              </a:rPr>
              <a:t>jika</a:t>
            </a:r>
            <a:r>
              <a:rPr lang="en-US" sz="1200" dirty="0">
                <a:latin typeface="Aptos" panose="020B0004020202020204" pitchFamily="34" charset="0"/>
              </a:rPr>
              <a:t> </a:t>
            </a:r>
            <a:r>
              <a:rPr lang="en-US" sz="1200" dirty="0" err="1">
                <a:latin typeface="Aptos" panose="020B0004020202020204" pitchFamily="34" charset="0"/>
              </a:rPr>
              <a:t>tidak</a:t>
            </a:r>
            <a:r>
              <a:rPr lang="en-US" sz="1200" dirty="0">
                <a:latin typeface="Aptos" panose="020B0004020202020204" pitchFamily="34" charset="0"/>
              </a:rPr>
              <a:t> </a:t>
            </a:r>
            <a:r>
              <a:rPr lang="en-US" sz="1200" dirty="0" err="1">
                <a:latin typeface="Aptos" panose="020B0004020202020204" pitchFamily="34" charset="0"/>
              </a:rPr>
              <a:t>diperlukan</a:t>
            </a:r>
            <a:r>
              <a:rPr lang="en-US" sz="1200" dirty="0">
                <a:latin typeface="Aptos" panose="020B0004020202020204" pitchFamily="34" charset="0"/>
              </a:rPr>
              <a:t> </a:t>
            </a:r>
            <a:r>
              <a:rPr lang="en-US" sz="1200" dirty="0" err="1">
                <a:latin typeface="Aptos" panose="020B0004020202020204" pitchFamily="34" charset="0"/>
              </a:rPr>
              <a:t>investigasi</a:t>
            </a:r>
            <a:r>
              <a:rPr lang="en-US" sz="1200" dirty="0">
                <a:latin typeface="Aptos" panose="020B0004020202020204" pitchFamily="34" charset="0"/>
              </a:rPr>
              <a:t>, dan </a:t>
            </a:r>
            <a:r>
              <a:rPr lang="en-US" sz="1200" dirty="0" err="1">
                <a:latin typeface="Aptos" panose="020B0004020202020204" pitchFamily="34" charset="0"/>
              </a:rPr>
              <a:t>disetujui</a:t>
            </a:r>
            <a:r>
              <a:rPr lang="en-US" sz="1200" dirty="0">
                <a:latin typeface="Aptos" panose="020B0004020202020204" pitchFamily="34" charset="0"/>
              </a:rPr>
              <a:t> oleh </a:t>
            </a:r>
            <a:r>
              <a:rPr lang="en-US" sz="1200" dirty="0" err="1">
                <a:latin typeface="Aptos" panose="020B0004020202020204" pitchFamily="34" charset="0"/>
              </a:rPr>
              <a:t>Penanggung</a:t>
            </a:r>
            <a:r>
              <a:rPr lang="en-US" sz="1200" dirty="0">
                <a:latin typeface="Aptos" panose="020B0004020202020204" pitchFamily="34" charset="0"/>
              </a:rPr>
              <a:t>.</a:t>
            </a:r>
          </a:p>
          <a:p>
            <a:pPr marL="457200" indent="-228600" algn="just">
              <a:buAutoNum type="alphaLcPeriod"/>
            </a:pPr>
            <a:r>
              <a:rPr lang="en-US" sz="1200" dirty="0">
                <a:latin typeface="Aptos" panose="020B0004020202020204" pitchFamily="34" charset="0"/>
              </a:rPr>
              <a:t>Bila </a:t>
            </a:r>
            <a:r>
              <a:rPr lang="en-US" sz="1200" dirty="0" err="1">
                <a:latin typeface="Aptos" panose="020B0004020202020204" pitchFamily="34" charset="0"/>
              </a:rPr>
              <a:t>diperlukan</a:t>
            </a:r>
            <a:r>
              <a:rPr lang="en-US" sz="1200" dirty="0">
                <a:latin typeface="Aptos" panose="020B0004020202020204" pitchFamily="34" charset="0"/>
              </a:rPr>
              <a:t> </a:t>
            </a:r>
            <a:r>
              <a:rPr lang="en-US" sz="1200" dirty="0" err="1">
                <a:latin typeface="Aptos" panose="020B0004020202020204" pitchFamily="34" charset="0"/>
              </a:rPr>
              <a:t>investigasi</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akan</a:t>
            </a:r>
            <a:r>
              <a:rPr lang="en-US" sz="1200" dirty="0">
                <a:latin typeface="Aptos" panose="020B0004020202020204" pitchFamily="34" charset="0"/>
              </a:rPr>
              <a:t> </a:t>
            </a:r>
            <a:r>
              <a:rPr lang="en-US" sz="1200" dirty="0" err="1">
                <a:latin typeface="Aptos" panose="020B0004020202020204" pitchFamily="34" charset="0"/>
              </a:rPr>
              <a:t>melakukan</a:t>
            </a:r>
            <a:r>
              <a:rPr lang="en-US" sz="1200" dirty="0">
                <a:latin typeface="Aptos" panose="020B0004020202020204" pitchFamily="34" charset="0"/>
              </a:rPr>
              <a:t> proses </a:t>
            </a:r>
            <a:r>
              <a:rPr lang="en-US" sz="1200" dirty="0" err="1">
                <a:latin typeface="Aptos" panose="020B0004020202020204" pitchFamily="34" charset="0"/>
              </a:rPr>
              <a:t>investigasi</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jangka</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a:t>
            </a:r>
            <a:r>
              <a:rPr lang="en-US" sz="1200" dirty="0" err="1">
                <a:latin typeface="Aptos" panose="020B0004020202020204" pitchFamily="34" charset="0"/>
              </a:rPr>
              <a:t>maksimum</a:t>
            </a:r>
            <a:r>
              <a:rPr lang="en-US" sz="1200" dirty="0">
                <a:latin typeface="Aptos" panose="020B0004020202020204" pitchFamily="34" charset="0"/>
              </a:rPr>
              <a:t> 60 (</a:t>
            </a:r>
            <a:r>
              <a:rPr lang="en-US" sz="1200" dirty="0" err="1">
                <a:latin typeface="Aptos" panose="020B0004020202020204" pitchFamily="34" charset="0"/>
              </a:rPr>
              <a:t>enam</a:t>
            </a:r>
            <a:r>
              <a:rPr lang="en-US" sz="1200" dirty="0">
                <a:latin typeface="Aptos" panose="020B0004020202020204" pitchFamily="34" charset="0"/>
              </a:rPr>
              <a:t> </a:t>
            </a:r>
            <a:r>
              <a:rPr lang="en-US" sz="1200" dirty="0" err="1">
                <a:latin typeface="Aptos" panose="020B0004020202020204" pitchFamily="34" charset="0"/>
              </a:rPr>
              <a:t>puluh</a:t>
            </a:r>
            <a:r>
              <a:rPr lang="en-US" sz="1200" dirty="0">
                <a:latin typeface="Aptos" panose="020B0004020202020204" pitchFamily="34" charset="0"/>
              </a:rPr>
              <a:t>) Hari </a:t>
            </a:r>
            <a:r>
              <a:rPr lang="en-US" sz="1200" dirty="0" err="1">
                <a:latin typeface="Aptos" panose="020B0004020202020204" pitchFamily="34" charset="0"/>
              </a:rPr>
              <a:t>sejak</a:t>
            </a:r>
            <a:r>
              <a:rPr lang="en-US" sz="1200" dirty="0">
                <a:latin typeface="Aptos" panose="020B0004020202020204" pitchFamily="34" charset="0"/>
              </a:rPr>
              <a:t> </a:t>
            </a:r>
            <a:r>
              <a:rPr lang="en-US" sz="1200" dirty="0" err="1">
                <a:latin typeface="Aptos" panose="020B0004020202020204" pitchFamily="34" charset="0"/>
              </a:rPr>
              <a:t>dokumen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diterima</a:t>
            </a:r>
            <a:r>
              <a:rPr lang="en-US" sz="1200" dirty="0">
                <a:latin typeface="Aptos" panose="020B0004020202020204" pitchFamily="34" charset="0"/>
              </a:rPr>
              <a:t> </a:t>
            </a:r>
            <a:r>
              <a:rPr lang="en-US" sz="1200" dirty="0" err="1">
                <a:latin typeface="Aptos" panose="020B0004020202020204" pitchFamily="34" charset="0"/>
              </a:rPr>
              <a:t>lengkap</a:t>
            </a:r>
            <a:r>
              <a:rPr lang="en-US" sz="1200" dirty="0">
                <a:latin typeface="Aptos" panose="020B0004020202020204" pitchFamily="34" charset="0"/>
              </a:rPr>
              <a:t>.</a:t>
            </a:r>
          </a:p>
          <a:p>
            <a:pPr marL="457200" indent="-228600" algn="just">
              <a:buAutoNum type="alphaLcPeriod"/>
            </a:pP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hal</a:t>
            </a:r>
            <a:r>
              <a:rPr lang="en-US" sz="1200" dirty="0">
                <a:latin typeface="Aptos" panose="020B0004020202020204" pitchFamily="34" charset="0"/>
              </a:rPr>
              <a:t> </a:t>
            </a:r>
            <a:r>
              <a:rPr lang="en-US" sz="1200" dirty="0" err="1">
                <a:latin typeface="Aptos" panose="020B0004020202020204" pitchFamily="34" charset="0"/>
              </a:rPr>
              <a:t>telah</a:t>
            </a:r>
            <a:r>
              <a:rPr lang="en-US" sz="1200" dirty="0">
                <a:latin typeface="Aptos" panose="020B0004020202020204" pitchFamily="34" charset="0"/>
              </a:rPr>
              <a:t> </a:t>
            </a:r>
            <a:r>
              <a:rPr lang="en-US" sz="1200" dirty="0" err="1">
                <a:latin typeface="Aptos" panose="020B0004020202020204" pitchFamily="34" charset="0"/>
              </a:rPr>
              <a:t>terdapat</a:t>
            </a:r>
            <a:r>
              <a:rPr lang="en-US" sz="1200" dirty="0">
                <a:latin typeface="Aptos" panose="020B0004020202020204" pitchFamily="34" charset="0"/>
              </a:rPr>
              <a:t> </a:t>
            </a:r>
            <a:r>
              <a:rPr lang="en-US" sz="1200" dirty="0" err="1">
                <a:latin typeface="Aptos" panose="020B0004020202020204" pitchFamily="34" charset="0"/>
              </a:rPr>
              <a:t>keputusan</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dari</a:t>
            </a:r>
            <a:r>
              <a:rPr lang="en-US" sz="1200" dirty="0">
                <a:latin typeface="Aptos" panose="020B0004020202020204" pitchFamily="34" charset="0"/>
              </a:rPr>
              <a:t>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jangka</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a:t>
            </a:r>
            <a:r>
              <a:rPr lang="en-US" sz="1200" dirty="0" err="1">
                <a:latin typeface="Aptos" panose="020B0004020202020204" pitchFamily="34" charset="0"/>
              </a:rPr>
              <a:t>sebagaimana</a:t>
            </a:r>
            <a:r>
              <a:rPr lang="en-US" sz="1200" dirty="0">
                <a:latin typeface="Aptos" panose="020B0004020202020204" pitchFamily="34" charset="0"/>
              </a:rPr>
              <a:t> </a:t>
            </a:r>
            <a:r>
              <a:rPr lang="en-US" sz="1200" dirty="0" err="1">
                <a:latin typeface="Aptos" panose="020B0004020202020204" pitchFamily="34" charset="0"/>
              </a:rPr>
              <a:t>dimaksud</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poin</a:t>
            </a:r>
            <a:r>
              <a:rPr lang="en-US" sz="1200" dirty="0">
                <a:latin typeface="Aptos" panose="020B0004020202020204" pitchFamily="34" charset="0"/>
              </a:rPr>
              <a:t> 7.b di </a:t>
            </a:r>
            <a:r>
              <a:rPr lang="en-US" sz="1200" dirty="0" err="1">
                <a:latin typeface="Aptos" panose="020B0004020202020204" pitchFamily="34" charset="0"/>
              </a:rPr>
              <a:t>atas</a:t>
            </a:r>
            <a:r>
              <a:rPr lang="en-US" sz="1200" dirty="0">
                <a:latin typeface="Aptos" panose="020B0004020202020204" pitchFamily="34" charset="0"/>
              </a:rPr>
              <a:t>, </a:t>
            </a:r>
            <a:r>
              <a:rPr lang="en-US" sz="1200" dirty="0" err="1">
                <a:latin typeface="Aptos" panose="020B0004020202020204" pitchFamily="34" charset="0"/>
              </a:rPr>
              <a:t>maka</a:t>
            </a:r>
            <a:r>
              <a:rPr lang="en-US" sz="1200" dirty="0">
                <a:latin typeface="Aptos" panose="020B0004020202020204" pitchFamily="34" charset="0"/>
              </a:rPr>
              <a:t> proses </a:t>
            </a:r>
            <a:r>
              <a:rPr lang="en-US" sz="1200" dirty="0" err="1">
                <a:latin typeface="Aptos" panose="020B0004020202020204" pitchFamily="34" charset="0"/>
              </a:rPr>
              <a:t>pembayaran</a:t>
            </a:r>
            <a:r>
              <a:rPr lang="en-US" sz="1200" dirty="0">
                <a:latin typeface="Aptos" panose="020B0004020202020204" pitchFamily="34" charset="0"/>
              </a:rPr>
              <a:t> Manfaat Asuransi </a:t>
            </a:r>
            <a:r>
              <a:rPr lang="en-US" sz="1200" dirty="0" err="1">
                <a:latin typeface="Aptos" panose="020B0004020202020204" pitchFamily="34" charset="0"/>
              </a:rPr>
              <a:t>akan</a:t>
            </a:r>
            <a:r>
              <a:rPr lang="en-US" sz="1200" dirty="0">
                <a:latin typeface="Aptos" panose="020B0004020202020204" pitchFamily="34" charset="0"/>
              </a:rPr>
              <a:t> </a:t>
            </a:r>
            <a:r>
              <a:rPr lang="en-US" sz="1200" dirty="0" err="1">
                <a:latin typeface="Aptos" panose="020B0004020202020204" pitchFamily="34" charset="0"/>
              </a:rPr>
              <a:t>dilakukan</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jangka</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2 (dua) Hari </a:t>
            </a:r>
            <a:r>
              <a:rPr lang="en-US" sz="1200" dirty="0" err="1">
                <a:latin typeface="Aptos" panose="020B0004020202020204" pitchFamily="34" charset="0"/>
              </a:rPr>
              <a:t>Kerja</a:t>
            </a:r>
            <a:r>
              <a:rPr lang="en-US" sz="1200" dirty="0">
                <a:latin typeface="Aptos" panose="020B0004020202020204" pitchFamily="34" charset="0"/>
              </a:rPr>
              <a:t> </a:t>
            </a:r>
            <a:r>
              <a:rPr lang="en-US" sz="1200" dirty="0" err="1">
                <a:latin typeface="Aptos" panose="020B0004020202020204" pitchFamily="34" charset="0"/>
              </a:rPr>
              <a:t>sejak</a:t>
            </a:r>
            <a:r>
              <a:rPr lang="en-US" sz="1200" dirty="0">
                <a:latin typeface="Aptos" panose="020B0004020202020204" pitchFamily="34" charset="0"/>
              </a:rPr>
              <a:t> </a:t>
            </a:r>
            <a:r>
              <a:rPr lang="en-US" sz="1200" dirty="0" err="1">
                <a:latin typeface="Aptos" panose="020B0004020202020204" pitchFamily="34" charset="0"/>
              </a:rPr>
              <a:t>klaim</a:t>
            </a:r>
            <a:r>
              <a:rPr lang="en-US" sz="1200" dirty="0">
                <a:latin typeface="Aptos" panose="020B0004020202020204" pitchFamily="34" charset="0"/>
              </a:rPr>
              <a:t> </a:t>
            </a:r>
            <a:r>
              <a:rPr lang="en-US" sz="1200" dirty="0" err="1">
                <a:latin typeface="Aptos" panose="020B0004020202020204" pitchFamily="34" charset="0"/>
              </a:rPr>
              <a:t>tersebut</a:t>
            </a:r>
            <a:r>
              <a:rPr lang="en-US" sz="1200" dirty="0">
                <a:latin typeface="Aptos" panose="020B0004020202020204" pitchFamily="34" charset="0"/>
              </a:rPr>
              <a:t> </a:t>
            </a:r>
            <a:r>
              <a:rPr lang="en-US" sz="1200" dirty="0" err="1">
                <a:latin typeface="Aptos" panose="020B0004020202020204" pitchFamily="34" charset="0"/>
              </a:rPr>
              <a:t>disetujui</a:t>
            </a:r>
            <a:r>
              <a:rPr lang="en-US" sz="1200" dirty="0">
                <a:latin typeface="Aptos" panose="020B0004020202020204" pitchFamily="34" charset="0"/>
              </a:rPr>
              <a:t> oleh </a:t>
            </a:r>
            <a:r>
              <a:rPr lang="en-US" sz="1200" dirty="0" err="1">
                <a:latin typeface="Aptos" panose="020B0004020202020204" pitchFamily="34" charset="0"/>
              </a:rPr>
              <a:t>Penanggung</a:t>
            </a:r>
            <a:r>
              <a:rPr lang="en-US" sz="1200" dirty="0">
                <a:latin typeface="Aptos" panose="020B0004020202020204" pitchFamily="34" charset="0"/>
              </a:rPr>
              <a:t>.</a:t>
            </a:r>
          </a:p>
          <a:p>
            <a:pPr marL="228600" indent="-228600" algn="just">
              <a:buFont typeface="+mj-lt"/>
              <a:buAutoNum type="arabicPeriod" startAt="8"/>
            </a:pPr>
            <a:r>
              <a:rPr lang="en-US" sz="1200" dirty="0" err="1">
                <a:latin typeface="Aptos" panose="020B0004020202020204" pitchFamily="34" charset="0"/>
              </a:rPr>
              <a:t>Untuk</a:t>
            </a:r>
            <a:r>
              <a:rPr lang="en-US" sz="1200" dirty="0">
                <a:latin typeface="Aptos" panose="020B0004020202020204" pitchFamily="34" charset="0"/>
              </a:rPr>
              <a:t> Manfaat </a:t>
            </a:r>
            <a:r>
              <a:rPr lang="en-US" sz="1200" dirty="0" err="1">
                <a:latin typeface="Aptos" panose="020B0004020202020204" pitchFamily="34" charset="0"/>
              </a:rPr>
              <a:t>Tunai</a:t>
            </a:r>
            <a:r>
              <a:rPr lang="en-US" sz="1200" dirty="0">
                <a:latin typeface="Aptos" panose="020B0004020202020204" pitchFamily="34" charset="0"/>
              </a:rPr>
              <a:t> </a:t>
            </a:r>
            <a:r>
              <a:rPr lang="en-US" sz="1200" dirty="0" err="1">
                <a:latin typeface="Aptos" panose="020B0004020202020204" pitchFamily="34" charset="0"/>
              </a:rPr>
              <a:t>Tahunan</a:t>
            </a:r>
            <a:r>
              <a:rPr lang="en-US" sz="1200" dirty="0">
                <a:latin typeface="Aptos" panose="020B0004020202020204" pitchFamily="34" charset="0"/>
              </a:rPr>
              <a:t> dan Manfaat Akhir Masa </a:t>
            </a:r>
            <a:r>
              <a:rPr lang="en-US" sz="1200" dirty="0" err="1">
                <a:latin typeface="Aptos" panose="020B0004020202020204" pitchFamily="34" charset="0"/>
              </a:rPr>
              <a:t>Pertanggungan</a:t>
            </a:r>
            <a:r>
              <a:rPr lang="en-US" sz="1200" dirty="0">
                <a:latin typeface="Aptos" panose="020B0004020202020204" pitchFamily="34" charset="0"/>
              </a:rPr>
              <a:t> </a:t>
            </a:r>
            <a:r>
              <a:rPr lang="en-US" sz="1200" dirty="0" err="1">
                <a:latin typeface="Aptos" panose="020B0004020202020204" pitchFamily="34" charset="0"/>
              </a:rPr>
              <a:t>akan</a:t>
            </a:r>
            <a:r>
              <a:rPr lang="en-US" sz="1200" dirty="0">
                <a:latin typeface="Aptos" panose="020B0004020202020204" pitchFamily="34" charset="0"/>
              </a:rPr>
              <a:t> </a:t>
            </a:r>
            <a:r>
              <a:rPr lang="en-US" sz="1200" dirty="0" err="1">
                <a:latin typeface="Aptos" panose="020B0004020202020204" pitchFamily="34" charset="0"/>
              </a:rPr>
              <a:t>dibayarkan</a:t>
            </a:r>
            <a:r>
              <a:rPr lang="en-US" sz="1200" dirty="0">
                <a:latin typeface="Aptos" panose="020B0004020202020204" pitchFamily="34" charset="0"/>
              </a:rPr>
              <a:t> </a:t>
            </a:r>
            <a:r>
              <a:rPr lang="en-US" sz="1200" dirty="0" err="1">
                <a:latin typeface="Aptos" panose="020B0004020202020204" pitchFamily="34" charset="0"/>
              </a:rPr>
              <a:t>ke</a:t>
            </a:r>
            <a:r>
              <a:rPr lang="en-US" sz="1200" dirty="0">
                <a:latin typeface="Aptos" panose="020B0004020202020204" pitchFamily="34" charset="0"/>
              </a:rPr>
              <a:t> </a:t>
            </a:r>
            <a:r>
              <a:rPr lang="en-US" sz="1200" dirty="0" err="1">
                <a:latin typeface="Aptos" panose="020B0004020202020204" pitchFamily="34" charset="0"/>
              </a:rPr>
              <a:t>rekening</a:t>
            </a:r>
            <a:r>
              <a:rPr lang="en-US" sz="1200" dirty="0">
                <a:latin typeface="Aptos" panose="020B0004020202020204" pitchFamily="34" charset="0"/>
              </a:rPr>
              <a:t> yang </a:t>
            </a:r>
            <a:r>
              <a:rPr lang="en-US" sz="1200" dirty="0" err="1">
                <a:latin typeface="Aptos" panose="020B0004020202020204" pitchFamily="34" charset="0"/>
              </a:rPr>
              <a:t>terdaftar</a:t>
            </a:r>
            <a:r>
              <a:rPr lang="en-US" sz="1200" dirty="0">
                <a:latin typeface="Aptos" panose="020B0004020202020204" pitchFamily="34" charset="0"/>
              </a:rPr>
              <a:t> pada </a:t>
            </a:r>
            <a:r>
              <a:rPr lang="en-US" sz="1200" dirty="0" err="1">
                <a:latin typeface="Aptos" panose="020B0004020202020204" pitchFamily="34" charset="0"/>
              </a:rPr>
              <a:t>Penanggung</a:t>
            </a:r>
            <a:r>
              <a:rPr lang="en-US" sz="1200" dirty="0">
                <a:latin typeface="Aptos" panose="020B0004020202020204" pitchFamily="34" charset="0"/>
              </a:rPr>
              <a:t> </a:t>
            </a:r>
            <a:r>
              <a:rPr lang="en-US" sz="1200" dirty="0" err="1">
                <a:latin typeface="Aptos" panose="020B0004020202020204" pitchFamily="34" charset="0"/>
              </a:rPr>
              <a:t>dalam</a:t>
            </a:r>
            <a:r>
              <a:rPr lang="en-US" sz="1200" dirty="0">
                <a:latin typeface="Aptos" panose="020B0004020202020204" pitchFamily="34" charset="0"/>
              </a:rPr>
              <a:t> </a:t>
            </a:r>
            <a:r>
              <a:rPr lang="en-US" sz="1200" dirty="0" err="1">
                <a:latin typeface="Aptos" panose="020B0004020202020204" pitchFamily="34" charset="0"/>
              </a:rPr>
              <a:t>waktu</a:t>
            </a:r>
            <a:r>
              <a:rPr lang="en-US" sz="1200" dirty="0">
                <a:latin typeface="Aptos" panose="020B0004020202020204" pitchFamily="34" charset="0"/>
              </a:rPr>
              <a:t> </a:t>
            </a:r>
            <a:r>
              <a:rPr lang="en-US" sz="1200" dirty="0" err="1">
                <a:latin typeface="Aptos" panose="020B0004020202020204" pitchFamily="34" charset="0"/>
              </a:rPr>
              <a:t>maksimum</a:t>
            </a:r>
            <a:r>
              <a:rPr lang="en-US" sz="1200" dirty="0">
                <a:latin typeface="Aptos" panose="020B0004020202020204" pitchFamily="34" charset="0"/>
              </a:rPr>
              <a:t> 10 (</a:t>
            </a:r>
            <a:r>
              <a:rPr lang="en-US" sz="1200" dirty="0" err="1">
                <a:latin typeface="Aptos" panose="020B0004020202020204" pitchFamily="34" charset="0"/>
              </a:rPr>
              <a:t>sepuluh</a:t>
            </a:r>
            <a:r>
              <a:rPr lang="en-US" sz="1200" dirty="0">
                <a:latin typeface="Aptos" panose="020B0004020202020204" pitchFamily="34" charset="0"/>
              </a:rPr>
              <a:t>) Hari </a:t>
            </a:r>
            <a:r>
              <a:rPr lang="en-US" sz="1200" dirty="0" err="1">
                <a:latin typeface="Aptos" panose="020B0004020202020204" pitchFamily="34" charset="0"/>
              </a:rPr>
              <a:t>Kerja</a:t>
            </a:r>
            <a:r>
              <a:rPr lang="en-US" sz="1200" dirty="0">
                <a:latin typeface="Aptos" panose="020B0004020202020204" pitchFamily="34" charset="0"/>
              </a:rPr>
              <a:t> </a:t>
            </a:r>
            <a:r>
              <a:rPr lang="en-US" sz="1200" dirty="0" err="1">
                <a:latin typeface="Aptos" panose="020B0004020202020204" pitchFamily="34" charset="0"/>
              </a:rPr>
              <a:t>terhitung</a:t>
            </a:r>
            <a:r>
              <a:rPr lang="en-US" sz="1200" dirty="0">
                <a:latin typeface="Aptos" panose="020B0004020202020204" pitchFamily="34" charset="0"/>
              </a:rPr>
              <a:t> </a:t>
            </a:r>
            <a:r>
              <a:rPr lang="en-US" sz="1200" dirty="0" err="1">
                <a:latin typeface="Aptos" panose="020B0004020202020204" pitchFamily="34" charset="0"/>
              </a:rPr>
              <a:t>sejak</a:t>
            </a:r>
            <a:r>
              <a:rPr lang="en-US" sz="1200" dirty="0">
                <a:latin typeface="Aptos" panose="020B0004020202020204" pitchFamily="34" charset="0"/>
              </a:rPr>
              <a:t> </a:t>
            </a:r>
            <a:r>
              <a:rPr lang="en-US" sz="1200" dirty="0" err="1">
                <a:latin typeface="Aptos" panose="020B0004020202020204" pitchFamily="34" charset="0"/>
              </a:rPr>
              <a:t>tanggal</a:t>
            </a:r>
            <a:r>
              <a:rPr lang="en-US" sz="1200" dirty="0">
                <a:latin typeface="Aptos" panose="020B0004020202020204" pitchFamily="34" charset="0"/>
              </a:rPr>
              <a:t> </a:t>
            </a:r>
            <a:r>
              <a:rPr lang="en-US" sz="1200" dirty="0" err="1">
                <a:latin typeface="Aptos" panose="020B0004020202020204" pitchFamily="34" charset="0"/>
              </a:rPr>
              <a:t>jatuh</a:t>
            </a:r>
            <a:r>
              <a:rPr lang="en-US" sz="1200" dirty="0">
                <a:latin typeface="Aptos" panose="020B0004020202020204" pitchFamily="34" charset="0"/>
              </a:rPr>
              <a:t> tempo </a:t>
            </a:r>
            <a:r>
              <a:rPr lang="en-US" sz="1200" dirty="0" err="1">
                <a:latin typeface="Aptos" panose="020B0004020202020204" pitchFamily="34" charset="0"/>
              </a:rPr>
              <a:t>pembayaran</a:t>
            </a:r>
            <a:r>
              <a:rPr lang="en-US" sz="1200" dirty="0">
                <a:latin typeface="Aptos" panose="020B0004020202020204" pitchFamily="34" charset="0"/>
              </a:rPr>
              <a:t> </a:t>
            </a:r>
            <a:r>
              <a:rPr lang="en-US" sz="1200" dirty="0" err="1">
                <a:latin typeface="Aptos" panose="020B0004020202020204" pitchFamily="34" charset="0"/>
              </a:rPr>
              <a:t>manfaat</a:t>
            </a:r>
            <a:r>
              <a:rPr lang="en-US" sz="1200" dirty="0">
                <a:latin typeface="Aptos" panose="020B0004020202020204" pitchFamily="34" charset="0"/>
              </a:rPr>
              <a:t> </a:t>
            </a:r>
            <a:r>
              <a:rPr lang="en-US" sz="1200" dirty="0" err="1">
                <a:latin typeface="Aptos" panose="020B0004020202020204" pitchFamily="34" charset="0"/>
              </a:rPr>
              <a:t>atau</a:t>
            </a:r>
            <a:r>
              <a:rPr lang="en-US" sz="1200" dirty="0">
                <a:latin typeface="Aptos" panose="020B0004020202020204" pitchFamily="34" charset="0"/>
              </a:rPr>
              <a:t> </a:t>
            </a:r>
            <a:r>
              <a:rPr lang="en-US" sz="1200" dirty="0" err="1">
                <a:latin typeface="Aptos" panose="020B0004020202020204" pitchFamily="34" charset="0"/>
              </a:rPr>
              <a:t>Tanggal</a:t>
            </a:r>
            <a:r>
              <a:rPr lang="en-US" sz="1200" dirty="0">
                <a:latin typeface="Aptos" panose="020B0004020202020204" pitchFamily="34" charset="0"/>
              </a:rPr>
              <a:t> </a:t>
            </a:r>
            <a:r>
              <a:rPr lang="en-US" sz="1200" dirty="0" err="1">
                <a:latin typeface="Aptos" panose="020B0004020202020204" pitchFamily="34" charset="0"/>
              </a:rPr>
              <a:t>Berakhir</a:t>
            </a:r>
            <a:r>
              <a:rPr lang="en-US" sz="1200" dirty="0">
                <a:latin typeface="Aptos" panose="020B0004020202020204" pitchFamily="34" charset="0"/>
              </a:rPr>
              <a:t> Asuransi.</a:t>
            </a:r>
          </a:p>
        </p:txBody>
      </p:sp>
      <p:sp>
        <p:nvSpPr>
          <p:cNvPr id="4" name="Title 1">
            <a:extLst>
              <a:ext uri="{FF2B5EF4-FFF2-40B4-BE49-F238E27FC236}">
                <a16:creationId xmlns:a16="http://schemas.microsoft.com/office/drawing/2014/main" id="{4E7C8A77-7692-023E-69F1-77AF0A81BF46}"/>
              </a:ext>
            </a:extLst>
          </p:cNvPr>
          <p:cNvSpPr txBox="1">
            <a:spLocks/>
          </p:cNvSpPr>
          <p:nvPr/>
        </p:nvSpPr>
        <p:spPr>
          <a:xfrm>
            <a:off x="2974975" y="23653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800" b="1">
                <a:solidFill>
                  <a:srgbClr val="002060"/>
                </a:solidFill>
                <a:latin typeface="Aptos" panose="020B0004020202020204" pitchFamily="34" charset="0"/>
              </a:rPr>
              <a:t>KETENTUAN KLAIM</a:t>
            </a:r>
            <a:endParaRPr lang="en-GB" sz="28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1288994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A9B9-F820-9D4F-6938-914890963053}"/>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C497F5B9-95AF-A118-C170-2C2BBC1BF980}"/>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75CD990-C95D-0183-527E-B3D5041C65A7}"/>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2DA9C45-A9E0-B327-683D-A691A77E6C70}"/>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38E0422F-02DC-D4B4-5883-B69F5A7BB742}"/>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3E3E8525-652B-B662-6704-467DB6774663}"/>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
        <p:nvSpPr>
          <p:cNvPr id="3" name="Content Placeholder 4">
            <a:extLst>
              <a:ext uri="{FF2B5EF4-FFF2-40B4-BE49-F238E27FC236}">
                <a16:creationId xmlns:a16="http://schemas.microsoft.com/office/drawing/2014/main" id="{8EF85970-DE04-4B5B-BA4C-1EEED1546C33}"/>
              </a:ext>
            </a:extLst>
          </p:cNvPr>
          <p:cNvSpPr txBox="1">
            <a:spLocks/>
          </p:cNvSpPr>
          <p:nvPr/>
        </p:nvSpPr>
        <p:spPr>
          <a:xfrm>
            <a:off x="250031" y="1678848"/>
            <a:ext cx="10515600" cy="63817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a:solidFill>
                  <a:schemeClr val="bg1"/>
                </a:solidFill>
                <a:latin typeface="Aptos" panose="020B0004020202020204" pitchFamily="34" charset="0"/>
                <a:ea typeface="Calibri" panose="020F0502020204030204" pitchFamily="34" charset="0"/>
                <a:cs typeface="Calibri" panose="020F0502020204030204" pitchFamily="34" charset="0"/>
              </a:rPr>
              <a:t>SPESIFIKASI PRODUK ASURANSI TAMBAHAN TERM LIFE</a:t>
            </a:r>
          </a:p>
        </p:txBody>
      </p:sp>
    </p:spTree>
    <p:extLst>
      <p:ext uri="{BB962C8B-B14F-4D97-AF65-F5344CB8AC3E}">
        <p14:creationId xmlns:p14="http://schemas.microsoft.com/office/powerpoint/2010/main" val="1026519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1370C-B66B-F0DC-2CB5-34460BAF9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6EC22-A28F-61BC-D507-F14B1FFC74A1}"/>
              </a:ext>
            </a:extLst>
          </p:cNvPr>
          <p:cNvSpPr>
            <a:spLocks noGrp="1"/>
          </p:cNvSpPr>
          <p:nvPr>
            <p:ph type="title" idx="4294967295"/>
          </p:nvPr>
        </p:nvSpPr>
        <p:spPr>
          <a:xfrm>
            <a:off x="2974975" y="236538"/>
            <a:ext cx="8901645" cy="620712"/>
          </a:xfrm>
        </p:spPr>
        <p:txBody>
          <a:bodyPr>
            <a:normAutofit/>
          </a:bodyPr>
          <a:lstStyle/>
          <a:p>
            <a:pPr algn="r"/>
            <a:r>
              <a:rPr lang="en-GB" sz="2400" b="1">
                <a:solidFill>
                  <a:srgbClr val="002060"/>
                </a:solidFill>
                <a:latin typeface="Aptos" panose="020B0004020202020204" pitchFamily="34" charset="0"/>
              </a:rPr>
              <a:t>Asuransi Tambahan Term Life</a:t>
            </a:r>
          </a:p>
        </p:txBody>
      </p:sp>
      <p:graphicFrame>
        <p:nvGraphicFramePr>
          <p:cNvPr id="3" name="Table 2">
            <a:extLst>
              <a:ext uri="{FF2B5EF4-FFF2-40B4-BE49-F238E27FC236}">
                <a16:creationId xmlns:a16="http://schemas.microsoft.com/office/drawing/2014/main" id="{21152FAA-529C-0662-15A5-B0F0E9BB28C9}"/>
              </a:ext>
            </a:extLst>
          </p:cNvPr>
          <p:cNvGraphicFramePr>
            <a:graphicFrameLocks noGrp="1"/>
          </p:cNvGraphicFramePr>
          <p:nvPr>
            <p:extLst>
              <p:ext uri="{D42A27DB-BD31-4B8C-83A1-F6EECF244321}">
                <p14:modId xmlns:p14="http://schemas.microsoft.com/office/powerpoint/2010/main" val="2770477176"/>
              </p:ext>
            </p:extLst>
          </p:nvPr>
        </p:nvGraphicFramePr>
        <p:xfrm>
          <a:off x="315380" y="806811"/>
          <a:ext cx="11561240" cy="5803099"/>
        </p:xfrm>
        <a:graphic>
          <a:graphicData uri="http://schemas.openxmlformats.org/drawingml/2006/table">
            <a:tbl>
              <a:tblPr firstRow="1" bandRow="1">
                <a:tableStyleId>{5940675A-B579-460E-94D1-54222C63F5DA}</a:tableStyleId>
              </a:tblPr>
              <a:tblGrid>
                <a:gridCol w="3309938">
                  <a:extLst>
                    <a:ext uri="{9D8B030D-6E8A-4147-A177-3AD203B41FA5}">
                      <a16:colId xmlns:a16="http://schemas.microsoft.com/office/drawing/2014/main" val="20000"/>
                    </a:ext>
                  </a:extLst>
                </a:gridCol>
                <a:gridCol w="8251302">
                  <a:extLst>
                    <a:ext uri="{9D8B030D-6E8A-4147-A177-3AD203B41FA5}">
                      <a16:colId xmlns:a16="http://schemas.microsoft.com/office/drawing/2014/main" val="3539388463"/>
                    </a:ext>
                  </a:extLst>
                </a:gridCol>
              </a:tblGrid>
              <a:tr h="356734">
                <a:tc>
                  <a:txBody>
                    <a:bodyPr/>
                    <a:lstStyle/>
                    <a:p>
                      <a:pPr marL="0" indent="0" algn="ctr">
                        <a:buFont typeface="Arial" panose="020B0604020202020204" pitchFamily="34" charset="0"/>
                        <a:buNone/>
                      </a:pPr>
                      <a:r>
                        <a:rPr lang="en-US" sz="1400" b="1" i="0" strike="noStrike" err="1">
                          <a:solidFill>
                            <a:schemeClr val="bg1"/>
                          </a:solidFill>
                          <a:latin typeface="Aptos" panose="020B0004020202020204" pitchFamily="34" charset="0"/>
                        </a:rPr>
                        <a:t>Spesifikasi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a:buFont typeface="Wingdings" panose="05000000000000000000" pitchFamily="2" charset="2"/>
                        <a:buNone/>
                      </a:pPr>
                      <a:r>
                        <a:rPr lang="en-US" sz="1400" b="1" i="0" strike="noStrike" err="1">
                          <a:solidFill>
                            <a:schemeClr val="bg1"/>
                          </a:solidFill>
                          <a:latin typeface="Aptos" panose="020B0004020202020204" pitchFamily="34" charset="0"/>
                        </a:rPr>
                        <a:t>Deskripsi</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9183343"/>
                  </a:ext>
                </a:extLst>
              </a:tr>
              <a:tr h="356734">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Pemegang</a:t>
                      </a:r>
                      <a:r>
                        <a:rPr lang="en-US" sz="1400" b="1" i="0" strike="noStrike">
                          <a:solidFill>
                            <a:schemeClr val="bg1"/>
                          </a:solidFill>
                          <a:latin typeface="Aptos" panose="020B0004020202020204" pitchFamily="34" charset="0"/>
                        </a:rPr>
                        <a:t> Polis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algn="just"/>
                      <a:r>
                        <a:rPr lang="en-ID" sz="1200" b="0" i="0" u="none" strike="noStrike" baseline="0" err="1">
                          <a:latin typeface="Aptos" panose="020B0004020202020204" pitchFamily="34" charset="0"/>
                        </a:rPr>
                        <a:t>Mengikuti</a:t>
                      </a:r>
                      <a:r>
                        <a:rPr lang="en-ID" sz="1200" b="0" i="0" u="none" strike="noStrike" baseline="0">
                          <a:latin typeface="Aptos" panose="020B0004020202020204" pitchFamily="34" charset="0"/>
                        </a:rPr>
                        <a:t> </a:t>
                      </a:r>
                      <a:r>
                        <a:rPr lang="en-ID" sz="1200" b="0" i="0" u="none" strike="noStrike" baseline="0" err="1">
                          <a:latin typeface="Aptos" panose="020B0004020202020204" pitchFamily="34" charset="0"/>
                        </a:rPr>
                        <a:t>ketentuan</a:t>
                      </a:r>
                      <a:r>
                        <a:rPr lang="en-ID" sz="1200" b="0" i="0" u="none" strike="noStrike" baseline="0">
                          <a:latin typeface="Aptos" panose="020B0004020202020204" pitchFamily="34" charset="0"/>
                        </a:rPr>
                        <a:t> Asuransi Dasar</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6745962"/>
                  </a:ext>
                </a:extLst>
              </a:tr>
              <a:tr h="356734">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Tertanggung</a:t>
                      </a:r>
                      <a:r>
                        <a:rPr lang="en-US" sz="1400" b="1" i="0" strike="noStrike">
                          <a:solidFill>
                            <a:schemeClr val="bg1"/>
                          </a:solidFill>
                          <a:latin typeface="Aptos" panose="020B0004020202020204" pitchFamily="34" charset="0"/>
                        </a:rPr>
                        <a:t> Tambahan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algn="just"/>
                      <a:r>
                        <a:rPr lang="en-US" sz="1200" b="0" i="0" strike="noStrike" err="1">
                          <a:latin typeface="Aptos" panose="020B0004020202020204" pitchFamily="34" charset="0"/>
                        </a:rPr>
                        <a:t>Tertanggung</a:t>
                      </a:r>
                      <a:r>
                        <a:rPr lang="en-US" sz="1200" b="0" i="0" strike="noStrike">
                          <a:latin typeface="Aptos" panose="020B0004020202020204" pitchFamily="34" charset="0"/>
                        </a:rPr>
                        <a:t> pada Asuransi Dasar</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92730854"/>
                  </a:ext>
                </a:extLst>
              </a:tr>
              <a:tr h="535102">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Manfaat Asuransi Tambahan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algn="just"/>
                      <a:r>
                        <a:rPr lang="en-US" sz="1200" b="0" i="0" strike="noStrike" err="1">
                          <a:latin typeface="Aptos" panose="020B0004020202020204" pitchFamily="34" charset="0"/>
                        </a:rPr>
                        <a:t>Apabila</a:t>
                      </a:r>
                      <a:r>
                        <a:rPr lang="en-US" sz="1200" b="0" i="0" strike="noStrike">
                          <a:latin typeface="Aptos" panose="020B0004020202020204" pitchFamily="34" charset="0"/>
                        </a:rPr>
                        <a:t> </a:t>
                      </a:r>
                      <a:r>
                        <a:rPr lang="en-US" sz="1200" b="0" i="0" strike="noStrike" err="1">
                          <a:latin typeface="Aptos" panose="020B0004020202020204" pitchFamily="34" charset="0"/>
                        </a:rPr>
                        <a:t>Tertanggung</a:t>
                      </a:r>
                      <a:r>
                        <a:rPr lang="en-US" sz="1200" b="0" i="0" strike="noStrike">
                          <a:latin typeface="Aptos" panose="020B0004020202020204" pitchFamily="34" charset="0"/>
                        </a:rPr>
                        <a:t> Tambahan </a:t>
                      </a:r>
                      <a:r>
                        <a:rPr lang="en-US" sz="1200" b="0" i="0" strike="noStrike" err="1">
                          <a:latin typeface="Aptos" panose="020B0004020202020204" pitchFamily="34" charset="0"/>
                        </a:rPr>
                        <a:t>Meninggal</a:t>
                      </a:r>
                      <a:r>
                        <a:rPr lang="en-US" sz="1200" b="0" i="0" strike="noStrike">
                          <a:latin typeface="Aptos" panose="020B0004020202020204" pitchFamily="34" charset="0"/>
                        </a:rPr>
                        <a:t> Dunia </a:t>
                      </a:r>
                      <a:r>
                        <a:rPr lang="en-US" sz="1200" b="0" i="0" strike="noStrike" err="1">
                          <a:latin typeface="Aptos" panose="020B0004020202020204" pitchFamily="34" charset="0"/>
                        </a:rPr>
                        <a:t>dalam</a:t>
                      </a:r>
                      <a:r>
                        <a:rPr lang="en-US" sz="1200" b="0" i="0" strike="noStrike">
                          <a:latin typeface="Aptos" panose="020B0004020202020204" pitchFamily="34" charset="0"/>
                        </a:rPr>
                        <a:t> Masa </a:t>
                      </a:r>
                      <a:r>
                        <a:rPr lang="en-US" sz="1200" b="0" i="0" strike="noStrike" err="1">
                          <a:latin typeface="Aptos" panose="020B0004020202020204" pitchFamily="34" charset="0"/>
                        </a:rPr>
                        <a:t>Pertanggungan</a:t>
                      </a:r>
                      <a:r>
                        <a:rPr lang="en-US" sz="1200" b="0" i="0" strike="noStrike">
                          <a:latin typeface="Aptos" panose="020B0004020202020204" pitchFamily="34" charset="0"/>
                        </a:rPr>
                        <a:t>, </a:t>
                      </a:r>
                      <a:r>
                        <a:rPr lang="en-US" sz="1200" b="0" i="0" strike="noStrike" err="1">
                          <a:latin typeface="Aptos" panose="020B0004020202020204" pitchFamily="34" charset="0"/>
                        </a:rPr>
                        <a:t>maka</a:t>
                      </a:r>
                      <a:r>
                        <a:rPr lang="en-US" sz="1200" b="0" i="0" strike="noStrike">
                          <a:latin typeface="Aptos" panose="020B0004020202020204" pitchFamily="34" charset="0"/>
                        </a:rPr>
                        <a:t> </a:t>
                      </a:r>
                      <a:r>
                        <a:rPr lang="en-US" sz="1200" b="0" i="0" strike="noStrike" err="1">
                          <a:latin typeface="Aptos" panose="020B0004020202020204" pitchFamily="34" charset="0"/>
                        </a:rPr>
                        <a:t>Penanggung</a:t>
                      </a:r>
                      <a:r>
                        <a:rPr lang="en-US" sz="1200" b="0" i="0" strike="noStrike">
                          <a:latin typeface="Aptos" panose="020B0004020202020204" pitchFamily="34" charset="0"/>
                        </a:rPr>
                        <a:t> </a:t>
                      </a:r>
                      <a:r>
                        <a:rPr lang="en-US" sz="1200" b="0" i="0" strike="noStrike" err="1">
                          <a:latin typeface="Aptos" panose="020B0004020202020204" pitchFamily="34" charset="0"/>
                        </a:rPr>
                        <a:t>akan</a:t>
                      </a:r>
                      <a:r>
                        <a:rPr lang="en-US" sz="1200" b="0" i="0" strike="noStrike">
                          <a:latin typeface="Aptos" panose="020B0004020202020204" pitchFamily="34" charset="0"/>
                        </a:rPr>
                        <a:t> </a:t>
                      </a:r>
                      <a:r>
                        <a:rPr lang="en-US" sz="1200" b="0" i="0" strike="noStrike" err="1">
                          <a:latin typeface="Aptos" panose="020B0004020202020204" pitchFamily="34" charset="0"/>
                        </a:rPr>
                        <a:t>membayarkan</a:t>
                      </a:r>
                      <a:r>
                        <a:rPr lang="en-US" sz="1200" b="0" i="0" strike="noStrike">
                          <a:latin typeface="Aptos" panose="020B0004020202020204" pitchFamily="34" charset="0"/>
                        </a:rPr>
                        <a:t> Manfaat Asuransi </a:t>
                      </a:r>
                      <a:r>
                        <a:rPr lang="en-US" sz="1200" b="0" i="0" strike="noStrike" err="1">
                          <a:latin typeface="Aptos" panose="020B0004020202020204" pitchFamily="34" charset="0"/>
                        </a:rPr>
                        <a:t>sebesar</a:t>
                      </a:r>
                      <a:r>
                        <a:rPr lang="en-US" sz="1200" b="0" i="0" strike="noStrike">
                          <a:latin typeface="Aptos" panose="020B0004020202020204" pitchFamily="34" charset="0"/>
                        </a:rPr>
                        <a:t> </a:t>
                      </a:r>
                      <a:r>
                        <a:rPr lang="en-US" sz="1200" b="1" i="0" strike="noStrike">
                          <a:latin typeface="Aptos" panose="020B0004020202020204" pitchFamily="34" charset="0"/>
                        </a:rPr>
                        <a:t>100% Uang </a:t>
                      </a:r>
                      <a:r>
                        <a:rPr lang="en-US" sz="1200" b="1" i="0" strike="noStrike" err="1">
                          <a:latin typeface="Aptos" panose="020B0004020202020204" pitchFamily="34" charset="0"/>
                        </a:rPr>
                        <a:t>Pertanggungan</a:t>
                      </a:r>
                      <a:r>
                        <a:rPr lang="en-US" sz="1200" b="1" i="0" strike="noStrike">
                          <a:latin typeface="Aptos" panose="020B0004020202020204" pitchFamily="34" charset="0"/>
                        </a:rPr>
                        <a:t> Manfaat Asuransi Tambahan Term Life.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49367451"/>
                  </a:ext>
                </a:extLst>
              </a:tr>
              <a:tr h="535102">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Uang </a:t>
                      </a:r>
                      <a:r>
                        <a:rPr lang="en-US" sz="1400" b="1" i="0" strike="noStrike" err="1">
                          <a:solidFill>
                            <a:schemeClr val="bg1"/>
                          </a:solidFill>
                          <a:latin typeface="Aptos" panose="020B0004020202020204" pitchFamily="34" charset="0"/>
                        </a:rPr>
                        <a:t>Pertanggungan</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just">
                        <a:buFont typeface="+mj-lt"/>
                        <a:buNone/>
                      </a:pPr>
                      <a:r>
                        <a:rPr lang="en-US" sz="1200" b="0" i="0" strike="noStrike">
                          <a:solidFill>
                            <a:schemeClr val="tx1"/>
                          </a:solidFill>
                          <a:latin typeface="Aptos" panose="020B0004020202020204" pitchFamily="34" charset="0"/>
                        </a:rPr>
                        <a:t>Minimum: Rp500.000.000 </a:t>
                      </a:r>
                      <a:r>
                        <a:rPr lang="en-US" sz="1200" b="0" i="0" strike="noStrike" err="1">
                          <a:solidFill>
                            <a:schemeClr val="tx1"/>
                          </a:solidFill>
                          <a:latin typeface="Aptos" panose="020B0004020202020204" pitchFamily="34" charset="0"/>
                        </a:rPr>
                        <a:t>atau</a:t>
                      </a:r>
                      <a:r>
                        <a:rPr lang="en-US" sz="1200" b="0" i="0" strike="noStrike">
                          <a:solidFill>
                            <a:schemeClr val="tx1"/>
                          </a:solidFill>
                          <a:latin typeface="Aptos" panose="020B0004020202020204" pitchFamily="34" charset="0"/>
                        </a:rPr>
                        <a:t> US$35.000</a:t>
                      </a:r>
                    </a:p>
                    <a:p>
                      <a:pPr marL="0" indent="0" algn="just">
                        <a:buFont typeface="+mj-lt"/>
                        <a:buNone/>
                      </a:pPr>
                      <a:r>
                        <a:rPr lang="en-US" sz="1200" b="0" i="0" strike="noStrike" err="1">
                          <a:solidFill>
                            <a:schemeClr val="tx1"/>
                          </a:solidFill>
                          <a:latin typeface="Aptos" panose="020B0004020202020204" pitchFamily="34" charset="0"/>
                        </a:rPr>
                        <a:t>Maksimum</a:t>
                      </a:r>
                      <a:r>
                        <a:rPr lang="en-US" sz="1200" b="0" i="0" strike="noStrike">
                          <a:solidFill>
                            <a:schemeClr val="tx1"/>
                          </a:solidFill>
                          <a:latin typeface="Aptos" panose="020B0004020202020204" pitchFamily="34" charset="0"/>
                        </a:rPr>
                        <a:t>: </a:t>
                      </a:r>
                      <a:r>
                        <a:rPr lang="en-US" sz="1200" b="0" i="0" strike="noStrike" err="1">
                          <a:solidFill>
                            <a:schemeClr val="tx1"/>
                          </a:solidFill>
                          <a:latin typeface="Aptos" panose="020B0004020202020204" pitchFamily="34" charset="0"/>
                        </a:rPr>
                        <a:t>merujuk</a:t>
                      </a:r>
                      <a:r>
                        <a:rPr lang="en-US" sz="1200" b="0" i="0" strike="noStrike">
                          <a:solidFill>
                            <a:schemeClr val="tx1"/>
                          </a:solidFill>
                          <a:latin typeface="Aptos" panose="020B0004020202020204" pitchFamily="34" charset="0"/>
                        </a:rPr>
                        <a:t> pada </a:t>
                      </a:r>
                      <a:r>
                        <a:rPr lang="en-US" sz="1200" b="0" i="0" strike="noStrike" err="1">
                          <a:solidFill>
                            <a:schemeClr val="tx1"/>
                          </a:solidFill>
                          <a:latin typeface="Aptos" panose="020B0004020202020204" pitchFamily="34" charset="0"/>
                        </a:rPr>
                        <a:t>keputusan</a:t>
                      </a:r>
                      <a:r>
                        <a:rPr lang="en-US" sz="1200" b="0" i="0" strike="noStrike">
                          <a:solidFill>
                            <a:schemeClr val="tx1"/>
                          </a:solidFill>
                          <a:latin typeface="Aptos" panose="020B0004020202020204" pitchFamily="34" charset="0"/>
                        </a:rPr>
                        <a:t> </a:t>
                      </a:r>
                      <a:r>
                        <a:rPr lang="en-US" sz="1200" b="0" i="1" strike="noStrike">
                          <a:solidFill>
                            <a:schemeClr val="tx1"/>
                          </a:solidFill>
                          <a:latin typeface="Aptos" panose="020B0004020202020204" pitchFamily="34" charset="0"/>
                        </a:rPr>
                        <a:t>underwriting</a:t>
                      </a:r>
                    </a:p>
                    <a:p>
                      <a:pPr marL="0" indent="0" algn="just">
                        <a:buFont typeface="+mj-lt"/>
                        <a:buNone/>
                      </a:pPr>
                      <a:endParaRPr lang="en-US" sz="1200" b="0" i="1" strike="noStrike">
                        <a:solidFill>
                          <a:schemeClr val="tx1"/>
                        </a:solidFill>
                        <a:latin typeface="Aptos" panose="020B0004020202020204" pitchFamily="34" charset="0"/>
                      </a:endParaRPr>
                    </a:p>
                    <a:p>
                      <a:pPr marL="0" indent="0" algn="just">
                        <a:buFont typeface="+mj-lt"/>
                        <a:buNone/>
                      </a:pPr>
                      <a:r>
                        <a:rPr lang="en-US" sz="1200" b="0" i="1" strike="noStrike">
                          <a:solidFill>
                            <a:schemeClr val="tx1"/>
                          </a:solidFill>
                          <a:latin typeface="Aptos" panose="020B0004020202020204" pitchFamily="34" charset="0"/>
                        </a:rPr>
                        <a:t>Uang </a:t>
                      </a:r>
                      <a:r>
                        <a:rPr lang="en-US" sz="1200" b="0" i="1" strike="noStrike" err="1">
                          <a:solidFill>
                            <a:schemeClr val="tx1"/>
                          </a:solidFill>
                          <a:latin typeface="Aptos" panose="020B0004020202020204" pitchFamily="34" charset="0"/>
                        </a:rPr>
                        <a:t>Pertanggungan</a:t>
                      </a:r>
                      <a:r>
                        <a:rPr lang="en-US" sz="1200" b="0" i="1" strike="noStrike">
                          <a:solidFill>
                            <a:schemeClr val="tx1"/>
                          </a:solidFill>
                          <a:latin typeface="Aptos" panose="020B0004020202020204" pitchFamily="34" charset="0"/>
                        </a:rPr>
                        <a:t> </a:t>
                      </a:r>
                      <a:r>
                        <a:rPr lang="en-US" sz="1200" b="0" i="1" strike="noStrike" err="1">
                          <a:solidFill>
                            <a:schemeClr val="tx1"/>
                          </a:solidFill>
                          <a:latin typeface="Aptos" panose="020B0004020202020204" pitchFamily="34" charset="0"/>
                        </a:rPr>
                        <a:t>tidak</a:t>
                      </a:r>
                      <a:r>
                        <a:rPr lang="en-US" sz="1200" b="0" i="1" strike="noStrike">
                          <a:solidFill>
                            <a:schemeClr val="tx1"/>
                          </a:solidFill>
                          <a:latin typeface="Aptos" panose="020B0004020202020204" pitchFamily="34" charset="0"/>
                        </a:rPr>
                        <a:t> </a:t>
                      </a:r>
                      <a:r>
                        <a:rPr lang="en-US" sz="1200" b="0" i="1" strike="noStrike" err="1">
                          <a:solidFill>
                            <a:schemeClr val="tx1"/>
                          </a:solidFill>
                          <a:latin typeface="Aptos" panose="020B0004020202020204" pitchFamily="34" charset="0"/>
                        </a:rPr>
                        <a:t>dapat</a:t>
                      </a:r>
                      <a:r>
                        <a:rPr lang="en-US" sz="1200" b="0" i="1" strike="noStrike">
                          <a:solidFill>
                            <a:schemeClr val="tx1"/>
                          </a:solidFill>
                          <a:latin typeface="Aptos" panose="020B0004020202020204" pitchFamily="34" charset="0"/>
                        </a:rPr>
                        <a:t> </a:t>
                      </a:r>
                      <a:r>
                        <a:rPr lang="en-US" sz="1200" b="0" i="1" strike="noStrike" err="1">
                          <a:solidFill>
                            <a:schemeClr val="tx1"/>
                          </a:solidFill>
                          <a:latin typeface="Aptos" panose="020B0004020202020204" pitchFamily="34" charset="0"/>
                        </a:rPr>
                        <a:t>diubah</a:t>
                      </a:r>
                      <a:r>
                        <a:rPr lang="en-US" sz="1200" b="0" i="1" strike="noStrike">
                          <a:solidFill>
                            <a:schemeClr val="tx1"/>
                          </a:solidFill>
                          <a:latin typeface="Aptos" panose="020B0004020202020204" pitchFamily="34" charset="0"/>
                        </a:rPr>
                        <a:t> </a:t>
                      </a:r>
                      <a:r>
                        <a:rPr lang="en-US" sz="1200" b="0" i="1" strike="noStrike" err="1">
                          <a:solidFill>
                            <a:schemeClr val="tx1"/>
                          </a:solidFill>
                          <a:latin typeface="Aptos" panose="020B0004020202020204" pitchFamily="34" charset="0"/>
                        </a:rPr>
                        <a:t>selama</a:t>
                      </a:r>
                      <a:r>
                        <a:rPr lang="en-US" sz="1200" b="0" i="1" strike="noStrike">
                          <a:solidFill>
                            <a:schemeClr val="tx1"/>
                          </a:solidFill>
                          <a:latin typeface="Aptos" panose="020B0004020202020204" pitchFamily="34" charset="0"/>
                        </a:rPr>
                        <a:t> Masa </a:t>
                      </a:r>
                      <a:r>
                        <a:rPr lang="en-US" sz="1200" b="0" i="1" strike="noStrike" err="1">
                          <a:solidFill>
                            <a:schemeClr val="tx1"/>
                          </a:solidFill>
                          <a:latin typeface="Aptos" panose="020B0004020202020204" pitchFamily="34" charset="0"/>
                        </a:rPr>
                        <a:t>Pertanggungan</a:t>
                      </a:r>
                      <a:endParaRPr lang="en-US" sz="1200" b="0" i="0" strike="sngStrike">
                        <a:solidFill>
                          <a:schemeClr val="tx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85428374"/>
                  </a:ext>
                </a:extLst>
              </a:tr>
              <a:tr h="356734">
                <a:tc>
                  <a:txBody>
                    <a:bodyPr/>
                    <a:lstStyle/>
                    <a:p>
                      <a:pPr marL="0" indent="0" algn="l">
                        <a:buFont typeface="Arial" panose="020B0604020202020204" pitchFamily="34" charset="0"/>
                        <a:buNone/>
                      </a:pPr>
                      <a:r>
                        <a:rPr lang="en-US" sz="1400" b="1" i="0" strike="noStrike" err="1">
                          <a:solidFill>
                            <a:schemeClr val="bg1"/>
                          </a:solidFill>
                          <a:latin typeface="Aptos" panose="020B0004020202020204" pitchFamily="34" charset="0"/>
                        </a:rPr>
                        <a:t>Ketentuan</a:t>
                      </a:r>
                      <a:r>
                        <a:rPr lang="en-US" sz="1400" b="1" i="0" strike="noStrike">
                          <a:solidFill>
                            <a:schemeClr val="bg1"/>
                          </a:solidFill>
                          <a:latin typeface="Aptos" panose="020B0004020202020204" pitchFamily="34" charset="0"/>
                        </a:rPr>
                        <a:t> </a:t>
                      </a:r>
                      <a:r>
                        <a:rPr lang="en-US" sz="1400" b="1" i="1" strike="noStrike">
                          <a:solidFill>
                            <a:schemeClr val="bg1"/>
                          </a:solidFill>
                          <a:latin typeface="Aptos" panose="020B0004020202020204" pitchFamily="34" charset="0"/>
                        </a:rPr>
                        <a:t>Underwriting</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just">
                        <a:buFont typeface="+mj-lt"/>
                        <a:buNone/>
                      </a:pPr>
                      <a:r>
                        <a:rPr lang="en-US" sz="1200" b="0" i="1" u="none" strike="noStrike">
                          <a:solidFill>
                            <a:schemeClr val="tx1"/>
                          </a:solidFill>
                          <a:latin typeface="Aptos" panose="020B0004020202020204" pitchFamily="34" charset="0"/>
                        </a:rPr>
                        <a:t>Full underwriting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450418"/>
                  </a:ext>
                </a:extLst>
              </a:tr>
              <a:tr h="356734">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Tunggu</a:t>
                      </a:r>
                      <a:r>
                        <a:rPr lang="en-US" sz="1400" b="1" i="0" strike="noStrike">
                          <a:solidFill>
                            <a:schemeClr val="bg1"/>
                          </a:solidFill>
                          <a:latin typeface="Aptos" panose="020B0004020202020204" pitchFamily="34" charset="0"/>
                        </a:rPr>
                        <a:t> (</a:t>
                      </a:r>
                      <a:r>
                        <a:rPr lang="en-US" sz="1400" b="1" i="1" strike="noStrike">
                          <a:solidFill>
                            <a:schemeClr val="bg1"/>
                          </a:solidFill>
                          <a:latin typeface="Aptos" panose="020B0004020202020204" pitchFamily="34" charset="0"/>
                        </a:rPr>
                        <a:t>Waiting Period</a:t>
                      </a:r>
                      <a:r>
                        <a:rPr lang="en-US" sz="1400" b="1" i="0" strike="noStrike">
                          <a:solidFill>
                            <a:schemeClr val="bg1"/>
                          </a:solidFill>
                          <a:latin typeface="Aptos" panose="020B0004020202020204" pitchFamily="34" charset="0"/>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just">
                        <a:lnSpc>
                          <a:spcPct val="107000"/>
                        </a:lnSpc>
                        <a:spcAft>
                          <a:spcPts val="800"/>
                        </a:spcAft>
                        <a:buNone/>
                      </a:pPr>
                      <a:r>
                        <a:rPr lang="en-US" sz="1200">
                          <a:effectLst/>
                          <a:latin typeface="Aptos" panose="020B0004020202020204" pitchFamily="34" charset="0"/>
                          <a:ea typeface="Calibri" panose="020F0502020204030204" pitchFamily="34" charset="0"/>
                          <a:cs typeface="Times New Roman" panose="02020603050405020304" pitchFamily="18" charset="0"/>
                        </a:rPr>
                        <a:t>Tidak </a:t>
                      </a:r>
                      <a:r>
                        <a:rPr lang="en-US" sz="1200" err="1">
                          <a:effectLst/>
                          <a:latin typeface="Aptos" panose="020B0004020202020204" pitchFamily="34" charset="0"/>
                          <a:ea typeface="Calibri" panose="020F0502020204030204" pitchFamily="34" charset="0"/>
                          <a:cs typeface="Times New Roman" panose="02020603050405020304" pitchFamily="18" charset="0"/>
                        </a:rPr>
                        <a:t>terdapat</a:t>
                      </a:r>
                      <a:r>
                        <a:rPr lang="en-US" sz="1200">
                          <a:effectLst/>
                          <a:latin typeface="Aptos" panose="020B0004020202020204" pitchFamily="34" charset="0"/>
                          <a:ea typeface="Calibri" panose="020F0502020204030204" pitchFamily="34" charset="0"/>
                          <a:cs typeface="Times New Roman" panose="02020603050405020304" pitchFamily="18" charset="0"/>
                        </a:rPr>
                        <a:t> Masa </a:t>
                      </a:r>
                      <a:r>
                        <a:rPr lang="en-US" sz="1200" err="1">
                          <a:effectLst/>
                          <a:latin typeface="Aptos" panose="020B0004020202020204" pitchFamily="34" charset="0"/>
                          <a:ea typeface="Calibri" panose="020F0502020204030204" pitchFamily="34" charset="0"/>
                          <a:cs typeface="Times New Roman" panose="02020603050405020304" pitchFamily="18" charset="0"/>
                        </a:rPr>
                        <a:t>Tunggu</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i="1">
                          <a:effectLst/>
                          <a:latin typeface="Aptos" panose="020B0004020202020204" pitchFamily="34" charset="0"/>
                          <a:ea typeface="Calibri" panose="020F0502020204030204" pitchFamily="34" charset="0"/>
                          <a:cs typeface="Times New Roman" panose="02020603050405020304" pitchFamily="18" charset="0"/>
                        </a:rPr>
                        <a:t>Waiting Period</a:t>
                      </a:r>
                      <a:r>
                        <a:rPr lang="en-US" sz="1200" i="0">
                          <a:effectLst/>
                          <a:latin typeface="Aptos" panose="020B0004020202020204" pitchFamily="34" charset="0"/>
                          <a:ea typeface="Calibri" panose="020F0502020204030204" pitchFamily="34" charset="0"/>
                          <a:cs typeface="Times New Roman" panose="02020603050405020304" pitchFamily="18" charset="0"/>
                        </a:rPr>
                        <a:t>)</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74128976"/>
                  </a:ext>
                </a:extLst>
              </a:tr>
              <a:tr h="356734">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Usia Masuk</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indent="0" algn="just">
                        <a:lnSpc>
                          <a:spcPct val="100000"/>
                        </a:lnSpc>
                        <a:spcAft>
                          <a:spcPts val="0"/>
                        </a:spcAft>
                        <a:buNone/>
                      </a:pPr>
                      <a:r>
                        <a:rPr lang="en-US" sz="1200" err="1">
                          <a:solidFill>
                            <a:schemeClr val="tx1"/>
                          </a:solidFill>
                          <a:effectLst/>
                          <a:latin typeface="Aptos" panose="020B0004020202020204" pitchFamily="34" charset="0"/>
                          <a:ea typeface="Calibri" panose="020F0502020204030204" pitchFamily="34" charset="0"/>
                          <a:cs typeface="Times New Roman" panose="02020603050405020304" pitchFamily="18" charset="0"/>
                        </a:rPr>
                        <a:t>Mengikuti</a:t>
                      </a:r>
                      <a:r>
                        <a:rPr lang="en-US" sz="1200">
                          <a:solidFill>
                            <a:schemeClr val="tx1"/>
                          </a:solidFill>
                          <a:effectLst/>
                          <a:latin typeface="Aptos" panose="020B0004020202020204" pitchFamily="34" charset="0"/>
                          <a:ea typeface="Calibri" panose="020F0502020204030204" pitchFamily="34" charset="0"/>
                          <a:cs typeface="Times New Roman" panose="02020603050405020304" pitchFamily="18" charset="0"/>
                        </a:rPr>
                        <a:t> </a:t>
                      </a:r>
                      <a:r>
                        <a:rPr lang="en-US" sz="1200" err="1">
                          <a:solidFill>
                            <a:schemeClr val="tx1"/>
                          </a:solidFill>
                          <a:effectLst/>
                          <a:latin typeface="Aptos" panose="020B0004020202020204" pitchFamily="34" charset="0"/>
                          <a:ea typeface="Calibri" panose="020F0502020204030204" pitchFamily="34" charset="0"/>
                          <a:cs typeface="Times New Roman" panose="02020603050405020304" pitchFamily="18" charset="0"/>
                        </a:rPr>
                        <a:t>ketentuan</a:t>
                      </a:r>
                      <a:r>
                        <a:rPr lang="en-US" sz="1200">
                          <a:solidFill>
                            <a:schemeClr val="tx1"/>
                          </a:solidFill>
                          <a:effectLst/>
                          <a:latin typeface="Aptos" panose="020B0004020202020204" pitchFamily="34" charset="0"/>
                          <a:ea typeface="Calibri" panose="020F0502020204030204" pitchFamily="34" charset="0"/>
                          <a:cs typeface="Times New Roman" panose="02020603050405020304" pitchFamily="18" charset="0"/>
                        </a:rPr>
                        <a:t> Asuransi Dasar</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2121138"/>
                  </a:ext>
                </a:extLst>
              </a:tr>
              <a:tr h="356734">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Pertanggungan</a:t>
                      </a:r>
                      <a:endParaRPr lang="en-US" sz="1400" b="1" i="0" strike="noStrike">
                        <a:solidFill>
                          <a:schemeClr val="bg1"/>
                        </a:solidFill>
                        <a:latin typeface="Aptos" panose="020B000402020202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just">
                        <a:lnSpc>
                          <a:spcPct val="107000"/>
                        </a:lnSpc>
                        <a:spcAft>
                          <a:spcPts val="80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Mengikuti</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ketentuan</a:t>
                      </a:r>
                      <a:r>
                        <a:rPr lang="en-US" sz="1200">
                          <a:effectLst/>
                          <a:latin typeface="Aptos" panose="020B0004020202020204" pitchFamily="34" charset="0"/>
                          <a:ea typeface="Calibri" panose="020F0502020204030204" pitchFamily="34" charset="0"/>
                          <a:cs typeface="Times New Roman" panose="02020603050405020304" pitchFamily="18" charset="0"/>
                        </a:rPr>
                        <a:t> Asuransi Dasar</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3025147"/>
                  </a:ext>
                </a:extLst>
              </a:tr>
              <a:tr h="356734">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Mata Uang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just">
                        <a:lnSpc>
                          <a:spcPct val="107000"/>
                        </a:lnSpc>
                        <a:spcAft>
                          <a:spcPts val="80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Mengikuti</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ketentuan</a:t>
                      </a:r>
                      <a:r>
                        <a:rPr lang="en-US" sz="1200">
                          <a:effectLst/>
                          <a:latin typeface="Aptos" panose="020B0004020202020204" pitchFamily="34" charset="0"/>
                          <a:ea typeface="Calibri" panose="020F0502020204030204" pitchFamily="34" charset="0"/>
                          <a:cs typeface="Times New Roman" panose="02020603050405020304" pitchFamily="18" charset="0"/>
                        </a:rPr>
                        <a:t> Asuransi Dasar</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81238402"/>
                  </a:ext>
                </a:extLst>
              </a:tr>
              <a:tr h="356734">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Masa </a:t>
                      </a:r>
                      <a:r>
                        <a:rPr lang="en-US" sz="1400" b="1" i="0" strike="noStrike" err="1">
                          <a:solidFill>
                            <a:schemeClr val="bg1"/>
                          </a:solidFill>
                          <a:latin typeface="Aptos" panose="020B0004020202020204" pitchFamily="34" charset="0"/>
                        </a:rPr>
                        <a:t>Pembayaran</a:t>
                      </a:r>
                      <a:r>
                        <a:rPr lang="en-US" sz="1400" b="1" i="0" strike="noStrike">
                          <a:solidFill>
                            <a:schemeClr val="bg1"/>
                          </a:solidFill>
                          <a:latin typeface="Aptos" panose="020B0004020202020204" pitchFamily="34" charset="0"/>
                        </a:rPr>
                        <a:t> Premi</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just">
                        <a:lnSpc>
                          <a:spcPct val="107000"/>
                        </a:lnSpc>
                        <a:spcAft>
                          <a:spcPts val="80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Mengikuti</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ketentuan</a:t>
                      </a:r>
                      <a:r>
                        <a:rPr lang="en-US" sz="1200">
                          <a:effectLst/>
                          <a:latin typeface="Aptos" panose="020B0004020202020204" pitchFamily="34" charset="0"/>
                          <a:ea typeface="Calibri" panose="020F0502020204030204" pitchFamily="34" charset="0"/>
                          <a:cs typeface="Times New Roman" panose="02020603050405020304" pitchFamily="18" charset="0"/>
                        </a:rPr>
                        <a:t> Asuransi Dasar</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61605391"/>
                  </a:ext>
                </a:extLst>
              </a:tr>
              <a:tr h="356734">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Frekuensi Pembayaran Premi</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marR="0" algn="just">
                        <a:lnSpc>
                          <a:spcPct val="107000"/>
                        </a:lnSpc>
                        <a:spcAft>
                          <a:spcPts val="800"/>
                        </a:spcAft>
                        <a:buNone/>
                      </a:pPr>
                      <a:r>
                        <a:rPr lang="en-US" sz="1200" err="1">
                          <a:effectLst/>
                          <a:latin typeface="Aptos" panose="020B0004020202020204" pitchFamily="34" charset="0"/>
                          <a:ea typeface="Calibri" panose="020F0502020204030204" pitchFamily="34" charset="0"/>
                          <a:cs typeface="Times New Roman" panose="02020603050405020304" pitchFamily="18" charset="0"/>
                        </a:rPr>
                        <a:t>Mengikuti</a:t>
                      </a:r>
                      <a:r>
                        <a:rPr lang="en-US" sz="1200">
                          <a:effectLst/>
                          <a:latin typeface="Aptos" panose="020B0004020202020204" pitchFamily="34" charset="0"/>
                          <a:ea typeface="Calibri" panose="020F0502020204030204" pitchFamily="34" charset="0"/>
                          <a:cs typeface="Times New Roman" panose="02020603050405020304" pitchFamily="18" charset="0"/>
                        </a:rPr>
                        <a:t> </a:t>
                      </a:r>
                      <a:r>
                        <a:rPr lang="en-US" sz="1200" err="1">
                          <a:effectLst/>
                          <a:latin typeface="Aptos" panose="020B0004020202020204" pitchFamily="34" charset="0"/>
                          <a:ea typeface="Calibri" panose="020F0502020204030204" pitchFamily="34" charset="0"/>
                          <a:cs typeface="Times New Roman" panose="02020603050405020304" pitchFamily="18" charset="0"/>
                        </a:rPr>
                        <a:t>ketentuan</a:t>
                      </a:r>
                      <a:r>
                        <a:rPr lang="en-US" sz="1200">
                          <a:effectLst/>
                          <a:latin typeface="Aptos" panose="020B0004020202020204" pitchFamily="34" charset="0"/>
                          <a:ea typeface="Calibri" panose="020F0502020204030204" pitchFamily="34" charset="0"/>
                          <a:cs typeface="Times New Roman" panose="02020603050405020304" pitchFamily="18" charset="0"/>
                        </a:rPr>
                        <a:t> Asuransi Dasar</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65005722"/>
                  </a:ext>
                </a:extLst>
              </a:tr>
              <a:tr h="356734">
                <a:tc>
                  <a:txBody>
                    <a:bodyPr/>
                    <a:lstStyle/>
                    <a:p>
                      <a:pPr marL="0" indent="0" algn="l">
                        <a:buFont typeface="Arial" panose="020B0604020202020204" pitchFamily="34" charset="0"/>
                        <a:buNone/>
                      </a:pPr>
                      <a:r>
                        <a:rPr lang="en-US" sz="1400" b="1" i="0" strike="noStrike">
                          <a:solidFill>
                            <a:schemeClr val="bg1"/>
                          </a:solidFill>
                          <a:latin typeface="Aptos" panose="020B0004020202020204" pitchFamily="34" charset="0"/>
                        </a:rPr>
                        <a:t>Premi</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a:txBody>
                    <a:bodyPr/>
                    <a:lstStyle/>
                    <a:p>
                      <a:pPr marL="171450" marR="0" lvl="0" indent="-171450" algn="just"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id-ID" sz="1200" kern="1200">
                          <a:solidFill>
                            <a:schemeClr val="tx1"/>
                          </a:solidFill>
                          <a:effectLst/>
                          <a:latin typeface="Aptos" panose="020B0004020202020204" pitchFamily="34" charset="0"/>
                          <a:ea typeface="+mn-ea"/>
                          <a:cs typeface="Times New Roman" panose="02020603050405020304" pitchFamily="18" charset="0"/>
                        </a:rPr>
                        <a:t>Besarnya Premi tetap selama Masa Pembayaran Premi.</a:t>
                      </a:r>
                    </a:p>
                    <a:p>
                      <a:pPr marL="171450" marR="0" lvl="0" indent="-171450" algn="just"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id-ID" sz="1200" kern="1200">
                          <a:solidFill>
                            <a:schemeClr val="tx1"/>
                          </a:solidFill>
                          <a:effectLst/>
                          <a:latin typeface="Aptos" panose="020B0004020202020204" pitchFamily="34" charset="0"/>
                          <a:ea typeface="+mn-ea"/>
                          <a:cs typeface="Times New Roman" panose="02020603050405020304" pitchFamily="18" charset="0"/>
                        </a:rPr>
                        <a:t>Penanggung dapat mengenakan Ekstra Premi kepada Pemegang Polis sebagai biaya tambahan atas proses seleksi risiko terhadap kondisi atau riwayat kesehatan/pekerjaan/hobi Tertanggung Tambahan, sesuai ketentuan yang berlaku pada Penanggung.</a:t>
                      </a:r>
                    </a:p>
                  </a:txBody>
                  <a:tcPr marL="68580" marR="6858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58034208"/>
                  </a:ext>
                </a:extLst>
              </a:tr>
            </a:tbl>
          </a:graphicData>
        </a:graphic>
      </p:graphicFrame>
    </p:spTree>
    <p:extLst>
      <p:ext uri="{BB962C8B-B14F-4D97-AF65-F5344CB8AC3E}">
        <p14:creationId xmlns:p14="http://schemas.microsoft.com/office/powerpoint/2010/main" val="503852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C0878-D6F0-1FEC-A3AF-E1C553C466D4}"/>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23E20D35-09BF-5CC0-996C-DC26A3D9990F}"/>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EFD8F46-811F-B276-0C8D-E26F59C75639}"/>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32069F4-E4C0-56D8-2DAB-600EA482F028}"/>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AF5D07E1-4CAA-32E7-599E-85673C29E101}"/>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F1F01139-3026-C761-48E3-C6B55B8BCA85}"/>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
        <p:nvSpPr>
          <p:cNvPr id="3" name="Content Placeholder 4">
            <a:extLst>
              <a:ext uri="{FF2B5EF4-FFF2-40B4-BE49-F238E27FC236}">
                <a16:creationId xmlns:a16="http://schemas.microsoft.com/office/drawing/2014/main" id="{F5408464-6C66-1B56-1BB8-A427E523A02C}"/>
              </a:ext>
            </a:extLst>
          </p:cNvPr>
          <p:cNvSpPr txBox="1">
            <a:spLocks/>
          </p:cNvSpPr>
          <p:nvPr/>
        </p:nvSpPr>
        <p:spPr>
          <a:xfrm>
            <a:off x="250031" y="1678848"/>
            <a:ext cx="10515600" cy="63817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dirty="0">
                <a:solidFill>
                  <a:schemeClr val="bg1"/>
                </a:solidFill>
                <a:latin typeface="Aptos" panose="020B0004020202020204" pitchFamily="34" charset="0"/>
                <a:ea typeface="Calibri" panose="020F0502020204030204" pitchFamily="34" charset="0"/>
                <a:cs typeface="Calibri" panose="020F0502020204030204" pitchFamily="34" charset="0"/>
              </a:rPr>
              <a:t>TAMBAHAN INFORMASI</a:t>
            </a:r>
          </a:p>
        </p:txBody>
      </p:sp>
    </p:spTree>
    <p:extLst>
      <p:ext uri="{BB962C8B-B14F-4D97-AF65-F5344CB8AC3E}">
        <p14:creationId xmlns:p14="http://schemas.microsoft.com/office/powerpoint/2010/main" val="4023052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F9321-1B3B-68A1-C828-9A9BA459E5A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A66255A-C2FB-4FEB-8334-0BA8B55E9C63}"/>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TAMBAHAN INFORMASI – KETENTUAN UNDERWRITING</a:t>
            </a:r>
            <a:endParaRPr lang="en-GB" sz="2400" b="1">
              <a:solidFill>
                <a:srgbClr val="002060"/>
              </a:solidFill>
              <a:highlight>
                <a:srgbClr val="FFFF00"/>
              </a:highlight>
              <a:latin typeface="Aptos" panose="020B0004020202020204" pitchFamily="34" charset="0"/>
            </a:endParaRPr>
          </a:p>
        </p:txBody>
      </p:sp>
      <p:sp>
        <p:nvSpPr>
          <p:cNvPr id="3" name="TextBox 2">
            <a:extLst>
              <a:ext uri="{FF2B5EF4-FFF2-40B4-BE49-F238E27FC236}">
                <a16:creationId xmlns:a16="http://schemas.microsoft.com/office/drawing/2014/main" id="{D86319F6-55FB-D1C2-AC64-3713186B6A84}"/>
              </a:ext>
            </a:extLst>
          </p:cNvPr>
          <p:cNvSpPr txBox="1"/>
          <p:nvPr/>
        </p:nvSpPr>
        <p:spPr>
          <a:xfrm>
            <a:off x="477774" y="1008716"/>
            <a:ext cx="11162538" cy="1477328"/>
          </a:xfrm>
          <a:prstGeom prst="rect">
            <a:avLst/>
          </a:prstGeom>
          <a:noFill/>
        </p:spPr>
        <p:txBody>
          <a:bodyPr wrap="square">
            <a:spAutoFit/>
          </a:bodyPr>
          <a:lstStyle/>
          <a:p>
            <a:pPr marL="0" marR="48895" algn="just">
              <a:buNone/>
            </a:pPr>
            <a:r>
              <a:rPr lang="en-US" sz="1800" i="1" dirty="0">
                <a:effectLst/>
                <a:latin typeface="Aptos" panose="020B0004020202020204" pitchFamily="34" charset="0"/>
                <a:ea typeface="Times New Roman" panose="02020603050405020304" pitchFamily="18" charset="0"/>
              </a:rPr>
              <a:t>Guaranteed Acceptance</a:t>
            </a:r>
            <a:endParaRPr lang="id-ID" sz="2800" dirty="0">
              <a:effectLst/>
              <a:latin typeface="Aptos" panose="020B0004020202020204" pitchFamily="34" charset="0"/>
              <a:ea typeface="Times New Roman" panose="02020603050405020304" pitchFamily="18" charset="0"/>
            </a:endParaRPr>
          </a:p>
          <a:p>
            <a:pPr marL="0" marR="48895" algn="just">
              <a:buNone/>
            </a:pPr>
            <a:r>
              <a:rPr lang="en-US" sz="1800" dirty="0">
                <a:effectLst/>
                <a:latin typeface="Aptos" panose="020B0004020202020204" pitchFamily="34" charset="0"/>
                <a:ea typeface="Times New Roman" panose="02020603050405020304" pitchFamily="18" charset="0"/>
              </a:rPr>
              <a:t> </a:t>
            </a:r>
            <a:endParaRPr lang="id-ID" sz="2800" dirty="0">
              <a:effectLst/>
              <a:latin typeface="Aptos" panose="020B0004020202020204" pitchFamily="34" charset="0"/>
              <a:ea typeface="Times New Roman" panose="02020603050405020304" pitchFamily="18" charset="0"/>
            </a:endParaRPr>
          </a:p>
          <a:p>
            <a:pPr marL="0" marR="48895" algn="just">
              <a:buNone/>
            </a:pPr>
            <a:r>
              <a:rPr lang="en-US" sz="1800" dirty="0" err="1">
                <a:effectLst/>
                <a:latin typeface="Aptos" panose="020B0004020202020204" pitchFamily="34" charset="0"/>
                <a:ea typeface="Times New Roman" panose="02020603050405020304" pitchFamily="18" charset="0"/>
              </a:rPr>
              <a:t>Syarat</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tambahan</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dari</a:t>
            </a:r>
            <a:r>
              <a:rPr lang="en-US" sz="1800" dirty="0">
                <a:effectLst/>
                <a:latin typeface="Aptos" panose="020B0004020202020204" pitchFamily="34" charset="0"/>
                <a:ea typeface="Times New Roman" panose="02020603050405020304" pitchFamily="18" charset="0"/>
              </a:rPr>
              <a:t> Reas:</a:t>
            </a:r>
            <a:endParaRPr lang="id-ID" sz="2800" dirty="0">
              <a:effectLst/>
              <a:latin typeface="Aptos" panose="020B0004020202020204" pitchFamily="34" charset="0"/>
              <a:ea typeface="Times New Roman" panose="02020603050405020304" pitchFamily="18" charset="0"/>
            </a:endParaRPr>
          </a:p>
          <a:p>
            <a:pPr algn="just">
              <a:buNone/>
            </a:pPr>
            <a:r>
              <a:rPr lang="en-US" sz="1800" dirty="0">
                <a:effectLst/>
                <a:latin typeface="Aptos" panose="020B0004020202020204" pitchFamily="34" charset="0"/>
                <a:ea typeface="Times New Roman" panose="02020603050405020304" pitchFamily="18" charset="0"/>
              </a:rPr>
              <a:t>Calon </a:t>
            </a:r>
            <a:r>
              <a:rPr lang="en-US" sz="1800" dirty="0" err="1">
                <a:effectLst/>
                <a:latin typeface="Aptos" panose="020B0004020202020204" pitchFamily="34" charset="0"/>
                <a:ea typeface="Times New Roman" panose="02020603050405020304" pitchFamily="18" charset="0"/>
              </a:rPr>
              <a:t>Tertanggung</a:t>
            </a:r>
            <a:r>
              <a:rPr lang="en-US" sz="1800" dirty="0">
                <a:effectLst/>
                <a:latin typeface="Aptos" panose="020B0004020202020204" pitchFamily="34" charset="0"/>
                <a:ea typeface="Times New Roman" panose="02020603050405020304" pitchFamily="18" charset="0"/>
              </a:rPr>
              <a:t> yang </a:t>
            </a:r>
            <a:r>
              <a:rPr lang="en-US" sz="1800" dirty="0" err="1">
                <a:effectLst/>
                <a:latin typeface="Aptos" panose="020B0004020202020204" pitchFamily="34" charset="0"/>
                <a:ea typeface="Times New Roman" panose="02020603050405020304" pitchFamily="18" charset="0"/>
              </a:rPr>
              <a:t>pernah</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mengajukan</a:t>
            </a:r>
            <a:r>
              <a:rPr lang="en-US" sz="1800" dirty="0">
                <a:effectLst/>
                <a:latin typeface="Aptos" panose="020B0004020202020204" pitchFamily="34" charset="0"/>
                <a:ea typeface="Times New Roman" panose="02020603050405020304" pitchFamily="18" charset="0"/>
              </a:rPr>
              <a:t> polis di BCA Life (</a:t>
            </a:r>
            <a:r>
              <a:rPr lang="en-US" sz="1800" dirty="0" err="1">
                <a:effectLst/>
                <a:latin typeface="Aptos" panose="020B0004020202020204" pitchFamily="34" charset="0"/>
                <a:ea typeface="Times New Roman" panose="02020603050405020304" pitchFamily="18" charset="0"/>
              </a:rPr>
              <a:t>semua</a:t>
            </a:r>
            <a:r>
              <a:rPr lang="en-US" dirty="0">
                <a:latin typeface="Aptos" panose="020B0004020202020204" pitchFamily="34" charset="0"/>
                <a:ea typeface="Times New Roman" panose="02020603050405020304" pitchFamily="18" charset="0"/>
              </a:rPr>
              <a:t> </a:t>
            </a:r>
            <a:r>
              <a:rPr lang="en-US" i="1" dirty="0">
                <a:latin typeface="Aptos" panose="020B0004020202020204" pitchFamily="34" charset="0"/>
                <a:ea typeface="Times New Roman" panose="02020603050405020304" pitchFamily="18" charset="0"/>
              </a:rPr>
              <a:t>channel</a:t>
            </a:r>
            <a:r>
              <a:rPr lang="en-US" dirty="0">
                <a:latin typeface="Aptos" panose="020B0004020202020204" pitchFamily="34" charset="0"/>
                <a:ea typeface="Times New Roman" panose="02020603050405020304" pitchFamily="18" charset="0"/>
              </a:rPr>
              <a:t>)</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tetapi</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ditolak</a:t>
            </a:r>
            <a:r>
              <a:rPr lang="en-US" sz="1800" dirty="0">
                <a:effectLst/>
                <a:latin typeface="Aptos" panose="020B0004020202020204" pitchFamily="34" charset="0"/>
                <a:ea typeface="Times New Roman" panose="02020603050405020304" pitchFamily="18" charset="0"/>
              </a:rPr>
              <a:t>/postponed dan </a:t>
            </a:r>
            <a:r>
              <a:rPr lang="en-US" sz="1800" dirty="0" err="1">
                <a:effectLst/>
                <a:latin typeface="Aptos" panose="020B0004020202020204" pitchFamily="34" charset="0"/>
                <a:ea typeface="Times New Roman" panose="02020603050405020304" pitchFamily="18" charset="0"/>
              </a:rPr>
              <a:t>pernah</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mengajukan</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klaim</a:t>
            </a:r>
            <a:r>
              <a:rPr lang="en-US" sz="1800" dirty="0">
                <a:effectLst/>
                <a:latin typeface="Aptos" panose="020B0004020202020204" pitchFamily="34" charset="0"/>
                <a:ea typeface="Times New Roman" panose="02020603050405020304" pitchFamily="18" charset="0"/>
              </a:rPr>
              <a:t> (register claim) </a:t>
            </a:r>
            <a:r>
              <a:rPr lang="en-US" sz="1800" dirty="0" err="1">
                <a:effectLst/>
                <a:latin typeface="Aptos" panose="020B0004020202020204" pitchFamily="34" charset="0"/>
                <a:ea typeface="Times New Roman" panose="02020603050405020304" pitchFamily="18" charset="0"/>
              </a:rPr>
              <a:t>atas</a:t>
            </a:r>
            <a:r>
              <a:rPr lang="en-US" sz="1800" dirty="0">
                <a:effectLst/>
                <a:latin typeface="Aptos" panose="020B0004020202020204" pitchFamily="34" charset="0"/>
                <a:ea typeface="Times New Roman" panose="02020603050405020304" pitchFamily="18" charset="0"/>
              </a:rPr>
              <a:t> TPD dan CI (</a:t>
            </a:r>
            <a:r>
              <a:rPr lang="en-US" sz="1800" dirty="0" err="1">
                <a:effectLst/>
                <a:latin typeface="Aptos" panose="020B0004020202020204" pitchFamily="34" charset="0"/>
                <a:ea typeface="Times New Roman" panose="02020603050405020304" pitchFamily="18" charset="0"/>
              </a:rPr>
              <a:t>Penyakit</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Kritis</a:t>
            </a:r>
            <a:r>
              <a:rPr lang="en-US" sz="1800" dirty="0">
                <a:effectLst/>
                <a:latin typeface="Aptos" panose="020B0004020202020204" pitchFamily="34" charset="0"/>
                <a:ea typeface="Times New Roman" panose="02020603050405020304" pitchFamily="18" charset="0"/>
              </a:rPr>
              <a:t>) </a:t>
            </a:r>
            <a:r>
              <a:rPr lang="en-US" sz="1800" b="1" dirty="0">
                <a:effectLst/>
                <a:latin typeface="Aptos" panose="020B0004020202020204" pitchFamily="34" charset="0"/>
                <a:ea typeface="Times New Roman" panose="02020603050405020304" pitchFamily="18" charset="0"/>
              </a:rPr>
              <a:t>TIDAK</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dapat</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membeli</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produk</a:t>
            </a:r>
            <a:r>
              <a:rPr lang="en-US" sz="1800" dirty="0">
                <a:effectLst/>
                <a:latin typeface="Aptos" panose="020B0004020202020204" pitchFamily="34" charset="0"/>
                <a:ea typeface="Times New Roman" panose="02020603050405020304" pitchFamily="18" charset="0"/>
              </a:rPr>
              <a:t> </a:t>
            </a:r>
            <a:r>
              <a:rPr lang="en-US" sz="1800" dirty="0" err="1">
                <a:effectLst/>
                <a:latin typeface="Aptos" panose="020B0004020202020204" pitchFamily="34" charset="0"/>
                <a:ea typeface="Times New Roman" panose="02020603050405020304" pitchFamily="18" charset="0"/>
              </a:rPr>
              <a:t>ini</a:t>
            </a:r>
            <a:r>
              <a:rPr lang="en-US" sz="1800" dirty="0">
                <a:effectLst/>
                <a:latin typeface="Aptos" panose="020B0004020202020204" pitchFamily="34" charset="0"/>
                <a:ea typeface="Times New Roman" panose="02020603050405020304" pitchFamily="18" charset="0"/>
              </a:rPr>
              <a:t>.</a:t>
            </a:r>
            <a:r>
              <a:rPr lang="id-ID" dirty="0">
                <a:effectLst/>
                <a:latin typeface="Aptos" panose="020B0004020202020204" pitchFamily="34" charset="0"/>
              </a:rPr>
              <a:t> </a:t>
            </a:r>
          </a:p>
        </p:txBody>
      </p:sp>
    </p:spTree>
    <p:extLst>
      <p:ext uri="{BB962C8B-B14F-4D97-AF65-F5344CB8AC3E}">
        <p14:creationId xmlns:p14="http://schemas.microsoft.com/office/powerpoint/2010/main" val="3627984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E04F5-0A93-C6F2-FDDD-E073BAD7A80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E8665B0-8941-E628-1067-FD911C17AFB1}"/>
              </a:ext>
            </a:extLst>
          </p:cNvPr>
          <p:cNvSpPr txBox="1">
            <a:spLocks/>
          </p:cNvSpPr>
          <p:nvPr/>
        </p:nvSpPr>
        <p:spPr>
          <a:xfrm>
            <a:off x="2551177" y="190818"/>
            <a:ext cx="9325444" cy="62071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TAMBAHAN INFORMASI – PERUBAHAN FREKUENSI PEMBAYARAN PREMI</a:t>
            </a:r>
            <a:endParaRPr lang="en-GB" sz="2400" b="1">
              <a:solidFill>
                <a:srgbClr val="002060"/>
              </a:solidFill>
              <a:highlight>
                <a:srgbClr val="FFFF00"/>
              </a:highlight>
              <a:latin typeface="Aptos" panose="020B0004020202020204" pitchFamily="34" charset="0"/>
            </a:endParaRPr>
          </a:p>
        </p:txBody>
      </p:sp>
      <p:sp>
        <p:nvSpPr>
          <p:cNvPr id="3" name="TextBox 2">
            <a:extLst>
              <a:ext uri="{FF2B5EF4-FFF2-40B4-BE49-F238E27FC236}">
                <a16:creationId xmlns:a16="http://schemas.microsoft.com/office/drawing/2014/main" id="{20A5DC47-CDF7-6A7B-A10D-6F0F1F1955C4}"/>
              </a:ext>
            </a:extLst>
          </p:cNvPr>
          <p:cNvSpPr txBox="1"/>
          <p:nvPr/>
        </p:nvSpPr>
        <p:spPr>
          <a:xfrm>
            <a:off x="432054" y="889844"/>
            <a:ext cx="11162538" cy="5693866"/>
          </a:xfrm>
          <a:prstGeom prst="rect">
            <a:avLst/>
          </a:prstGeom>
          <a:noFill/>
        </p:spPr>
        <p:txBody>
          <a:bodyPr wrap="square">
            <a:spAutoFit/>
          </a:bodyPr>
          <a:lstStyle/>
          <a:p>
            <a:pPr algn="just"/>
            <a:r>
              <a:rPr lang="id-ID" sz="1600">
                <a:latin typeface="Aptos" panose="020B0004020202020204" pitchFamily="34" charset="0"/>
              </a:rPr>
              <a:t>Contoh 1:</a:t>
            </a:r>
            <a:endParaRPr lang="en-US" sz="1600">
              <a:latin typeface="Aptos" panose="020B0004020202020204" pitchFamily="34" charset="0"/>
            </a:endParaRPr>
          </a:p>
          <a:p>
            <a:pPr algn="just"/>
            <a:endParaRPr lang="id-ID" sz="1600">
              <a:latin typeface="Aptos" panose="020B0004020202020204" pitchFamily="34" charset="0"/>
            </a:endParaRPr>
          </a:p>
          <a:p>
            <a:pPr algn="just"/>
            <a:r>
              <a:rPr lang="id-ID" sz="1600">
                <a:latin typeface="Aptos" panose="020B0004020202020204" pitchFamily="34" charset="0"/>
              </a:rPr>
              <a:t>Nasabah A pada awal pertanggungan memilih 5 pay dan membayar secara tahunan dengan premi Rp 50 juta/tahun</a:t>
            </a:r>
          </a:p>
          <a:p>
            <a:pPr algn="just"/>
            <a:r>
              <a:rPr lang="id-ID" sz="1600" b="1">
                <a:latin typeface="Aptos" panose="020B0004020202020204" pitchFamily="34" charset="0"/>
              </a:rPr>
              <a:t>Tahun pertama</a:t>
            </a:r>
            <a:r>
              <a:rPr lang="id-ID" sz="1600">
                <a:latin typeface="Aptos" panose="020B0004020202020204" pitchFamily="34" charset="0"/>
              </a:rPr>
              <a:t>: Nasabah membayar Rp 50 juta</a:t>
            </a:r>
          </a:p>
          <a:p>
            <a:pPr lvl="0" algn="just"/>
            <a:r>
              <a:rPr lang="id-ID" sz="1600">
                <a:latin typeface="Aptos" panose="020B0004020202020204" pitchFamily="34" charset="0"/>
              </a:rPr>
              <a:t>Nasabah meminta perubahan frekuensi pembayaran premi dari tahunan ke bulanan</a:t>
            </a:r>
          </a:p>
          <a:p>
            <a:pPr lvl="0" algn="just"/>
            <a:r>
              <a:rPr lang="id-ID" sz="1600">
                <a:latin typeface="Aptos" panose="020B0004020202020204" pitchFamily="34" charset="0"/>
              </a:rPr>
              <a:t>Dengan menggunakan rumus maka premi bulanan nasabah menjadi : Rp 50 juta/12 = Rp. 4.166.667,6667 (</a:t>
            </a:r>
            <a:r>
              <a:rPr lang="id-ID" sz="1600" b="1">
                <a:latin typeface="Aptos" panose="020B0004020202020204" pitchFamily="34" charset="0"/>
              </a:rPr>
              <a:t>premi ini tidak memenuhi minimal premi bulanan 5 pay yaitu Rp 4,5 juta</a:t>
            </a:r>
            <a:r>
              <a:rPr lang="id-ID" sz="1600">
                <a:latin typeface="Aptos" panose="020B0004020202020204" pitchFamily="34" charset="0"/>
              </a:rPr>
              <a:t>)</a:t>
            </a:r>
          </a:p>
          <a:p>
            <a:pPr lvl="0" algn="just"/>
            <a:r>
              <a:rPr lang="id-ID" sz="1600" b="1">
                <a:latin typeface="Aptos" panose="020B0004020202020204" pitchFamily="34" charset="0"/>
              </a:rPr>
              <a:t>Kesimpulan</a:t>
            </a:r>
            <a:r>
              <a:rPr lang="id-ID" sz="1600">
                <a:latin typeface="Aptos" panose="020B0004020202020204" pitchFamily="34" charset="0"/>
              </a:rPr>
              <a:t> : nasabah </a:t>
            </a:r>
            <a:r>
              <a:rPr lang="id-ID" sz="1600" b="1">
                <a:latin typeface="Aptos" panose="020B0004020202020204" pitchFamily="34" charset="0"/>
              </a:rPr>
              <a:t>tidak bisa mengubah</a:t>
            </a:r>
            <a:r>
              <a:rPr lang="id-ID" sz="1600">
                <a:latin typeface="Aptos" panose="020B0004020202020204" pitchFamily="34" charset="0"/>
              </a:rPr>
              <a:t> perubahan frekuensi bayar dari tahunan ke bulanan</a:t>
            </a:r>
          </a:p>
          <a:p>
            <a:pPr lvl="0" algn="just"/>
            <a:r>
              <a:rPr lang="id-ID" sz="1600" b="1">
                <a:latin typeface="Aptos" panose="020B0004020202020204" pitchFamily="34" charset="0"/>
              </a:rPr>
              <a:t>Solusi</a:t>
            </a:r>
            <a:r>
              <a:rPr lang="id-ID" sz="1600">
                <a:latin typeface="Aptos" panose="020B0004020202020204" pitchFamily="34" charset="0"/>
              </a:rPr>
              <a:t> : Nasabah dapat melakukan perubahan frekuensi bayar premi dari tahunan ke semesteran (Rp 50 juta/2 = Rp 25 juta) atau kuartalan (Rp 50 juta/4 = Rp 12,5 juta)</a:t>
            </a:r>
          </a:p>
          <a:p>
            <a:pPr algn="just"/>
            <a:r>
              <a:rPr lang="id-ID" sz="1600" b="1">
                <a:latin typeface="Aptos" panose="020B0004020202020204" pitchFamily="34" charset="0"/>
              </a:rPr>
              <a:t>Tahun kedua</a:t>
            </a:r>
            <a:r>
              <a:rPr lang="id-ID" sz="1600">
                <a:latin typeface="Aptos" panose="020B0004020202020204" pitchFamily="34" charset="0"/>
              </a:rPr>
              <a:t>: Nasabah dapat melakukan perubahan frekuensi bayar premi dari tahunan ke semesteran atau kuartalan</a:t>
            </a:r>
            <a:endParaRPr lang="en-US" sz="1600">
              <a:latin typeface="Aptos" panose="020B0004020202020204" pitchFamily="34" charset="0"/>
            </a:endParaRPr>
          </a:p>
          <a:p>
            <a:pPr algn="just"/>
            <a:endParaRPr lang="en-US" sz="1600">
              <a:latin typeface="Aptos" panose="020B0004020202020204" pitchFamily="34" charset="0"/>
            </a:endParaRPr>
          </a:p>
          <a:p>
            <a:pPr algn="just"/>
            <a:r>
              <a:rPr lang="id-ID" sz="1600">
                <a:latin typeface="Aptos" panose="020B0004020202020204" pitchFamily="34" charset="0"/>
              </a:rPr>
              <a:t>Contoh 2:</a:t>
            </a:r>
          </a:p>
          <a:p>
            <a:pPr algn="just"/>
            <a:r>
              <a:rPr lang="id-ID" sz="1600">
                <a:latin typeface="Aptos" panose="020B0004020202020204" pitchFamily="34" charset="0"/>
              </a:rPr>
              <a:t>Nasabah A pada awal pertanggungan memilih 5 pay dan membayar secara tahunan dengan premi Rp 60 juta/tahun</a:t>
            </a:r>
          </a:p>
          <a:p>
            <a:pPr algn="just"/>
            <a:r>
              <a:rPr lang="id-ID" sz="1600" b="1">
                <a:latin typeface="Aptos" panose="020B0004020202020204" pitchFamily="34" charset="0"/>
              </a:rPr>
              <a:t>Tahun pertama</a:t>
            </a:r>
            <a:r>
              <a:rPr lang="id-ID" sz="1600">
                <a:latin typeface="Aptos" panose="020B0004020202020204" pitchFamily="34" charset="0"/>
              </a:rPr>
              <a:t>: nasabah membayar Rp 60 juta</a:t>
            </a:r>
          </a:p>
          <a:p>
            <a:pPr lvl="0" algn="just"/>
            <a:r>
              <a:rPr lang="id-ID" sz="1600">
                <a:latin typeface="Aptos" panose="020B0004020202020204" pitchFamily="34" charset="0"/>
              </a:rPr>
              <a:t>Nasabah meminta perubahan frekuensi pembayaran premi dari tahunan ke bulanan</a:t>
            </a:r>
          </a:p>
          <a:p>
            <a:pPr lvl="0" algn="just"/>
            <a:r>
              <a:rPr lang="id-ID" sz="1600">
                <a:latin typeface="Aptos" panose="020B0004020202020204" pitchFamily="34" charset="0"/>
              </a:rPr>
              <a:t>Dengan menggunakan rumus maka premi bulanan nasabah menjadi : Rp 60 juta/12 = Rp. 5.000.000 (</a:t>
            </a:r>
            <a:r>
              <a:rPr lang="id-ID" sz="1600" b="1">
                <a:latin typeface="Aptos" panose="020B0004020202020204" pitchFamily="34" charset="0"/>
              </a:rPr>
              <a:t>premi ini diatas minimal premi bulanan 5 pay yaitu Rp 4,5 juta</a:t>
            </a:r>
            <a:r>
              <a:rPr lang="id-ID" sz="1600">
                <a:latin typeface="Aptos" panose="020B0004020202020204" pitchFamily="34" charset="0"/>
              </a:rPr>
              <a:t>)</a:t>
            </a:r>
          </a:p>
          <a:p>
            <a:pPr lvl="0" algn="just"/>
            <a:r>
              <a:rPr lang="id-ID" sz="1600" b="1">
                <a:latin typeface="Aptos" panose="020B0004020202020204" pitchFamily="34" charset="0"/>
              </a:rPr>
              <a:t>Kesimpulan</a:t>
            </a:r>
            <a:r>
              <a:rPr lang="id-ID" sz="1600">
                <a:latin typeface="Aptos" panose="020B0004020202020204" pitchFamily="34" charset="0"/>
              </a:rPr>
              <a:t> : nasabah </a:t>
            </a:r>
            <a:r>
              <a:rPr lang="id-ID" sz="1600" b="1">
                <a:latin typeface="Aptos" panose="020B0004020202020204" pitchFamily="34" charset="0"/>
              </a:rPr>
              <a:t>dapat mengubah</a:t>
            </a:r>
            <a:r>
              <a:rPr lang="id-ID" sz="1600">
                <a:latin typeface="Aptos" panose="020B0004020202020204" pitchFamily="34" charset="0"/>
              </a:rPr>
              <a:t> perubahan frekuensi bayar dari tahunan ke bulanan</a:t>
            </a:r>
          </a:p>
          <a:p>
            <a:pPr algn="just"/>
            <a:r>
              <a:rPr lang="id-ID" sz="1600" b="1">
                <a:latin typeface="Aptos" panose="020B0004020202020204" pitchFamily="34" charset="0"/>
              </a:rPr>
              <a:t>Tahun kedua</a:t>
            </a:r>
            <a:r>
              <a:rPr lang="id-ID" sz="1600">
                <a:latin typeface="Aptos" panose="020B0004020202020204" pitchFamily="34" charset="0"/>
              </a:rPr>
              <a:t>: Nasabah dapat melakukan perubahan frekuensi bayar premi dari tahunan ke bulanan</a:t>
            </a:r>
          </a:p>
          <a:p>
            <a:pPr algn="just"/>
            <a:r>
              <a:rPr lang="id-ID" sz="1600">
                <a:latin typeface="Aptos" panose="020B0004020202020204" pitchFamily="34" charset="0"/>
              </a:rPr>
              <a:t> </a:t>
            </a:r>
          </a:p>
          <a:p>
            <a:pPr algn="just"/>
            <a:r>
              <a:rPr lang="en-US" sz="1600" b="1" i="1" err="1">
                <a:latin typeface="Aptos" panose="020B0004020202020204" pitchFamily="34" charset="0"/>
              </a:rPr>
              <a:t>Catatan</a:t>
            </a:r>
            <a:r>
              <a:rPr lang="en-US" sz="1600" b="1" i="1">
                <a:latin typeface="Aptos" panose="020B0004020202020204" pitchFamily="34" charset="0"/>
              </a:rPr>
              <a:t>: </a:t>
            </a:r>
            <a:r>
              <a:rPr lang="en-US" sz="1600" b="1" i="1" err="1">
                <a:latin typeface="Aptos" panose="020B0004020202020204" pitchFamily="34" charset="0"/>
              </a:rPr>
              <a:t>untuk</a:t>
            </a:r>
            <a:r>
              <a:rPr lang="en-US" sz="1600" b="1" i="1">
                <a:latin typeface="Aptos" panose="020B0004020202020204" pitchFamily="34" charset="0"/>
              </a:rPr>
              <a:t> rounding </a:t>
            </a:r>
            <a:r>
              <a:rPr lang="en-US" sz="1600" b="1" i="1" err="1">
                <a:latin typeface="Aptos" panose="020B0004020202020204" pitchFamily="34" charset="0"/>
              </a:rPr>
              <a:t>dibelakang</a:t>
            </a:r>
            <a:r>
              <a:rPr lang="en-US" sz="1600" b="1" i="1">
                <a:latin typeface="Aptos" panose="020B0004020202020204" pitchFamily="34" charset="0"/>
              </a:rPr>
              <a:t> </a:t>
            </a:r>
            <a:r>
              <a:rPr lang="en-US" sz="1600" b="1" i="1" err="1">
                <a:latin typeface="Aptos" panose="020B0004020202020204" pitchFamily="34" charset="0"/>
              </a:rPr>
              <a:t>koma</a:t>
            </a:r>
            <a:r>
              <a:rPr lang="en-US" sz="1600" b="1" i="1">
                <a:latin typeface="Aptos" panose="020B0004020202020204" pitchFamily="34" charset="0"/>
              </a:rPr>
              <a:t> </a:t>
            </a:r>
            <a:r>
              <a:rPr lang="en-US" sz="1600" b="1" i="1" err="1">
                <a:latin typeface="Aptos" panose="020B0004020202020204" pitchFamily="34" charset="0"/>
              </a:rPr>
              <a:t>akan</a:t>
            </a:r>
            <a:r>
              <a:rPr lang="en-US" sz="1600" b="1" i="1">
                <a:latin typeface="Aptos" panose="020B0004020202020204" pitchFamily="34" charset="0"/>
              </a:rPr>
              <a:t> </a:t>
            </a:r>
            <a:r>
              <a:rPr lang="en-US" sz="1600" b="1" i="1" err="1">
                <a:latin typeface="Aptos" panose="020B0004020202020204" pitchFamily="34" charset="0"/>
              </a:rPr>
              <a:t>mengikuti</a:t>
            </a:r>
            <a:r>
              <a:rPr lang="en-US" sz="1600" b="1" i="1">
                <a:latin typeface="Aptos" panose="020B0004020202020204" pitchFamily="34" charset="0"/>
              </a:rPr>
              <a:t> memo ops</a:t>
            </a:r>
            <a:endParaRPr lang="id-ID" sz="1600">
              <a:latin typeface="Aptos" panose="020B0004020202020204" pitchFamily="34" charset="0"/>
            </a:endParaRPr>
          </a:p>
        </p:txBody>
      </p:sp>
    </p:spTree>
    <p:extLst>
      <p:ext uri="{BB962C8B-B14F-4D97-AF65-F5344CB8AC3E}">
        <p14:creationId xmlns:p14="http://schemas.microsoft.com/office/powerpoint/2010/main" val="2519763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F4FC9-21C4-B68D-373D-7DF70358451C}"/>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7721641-6B38-87B3-06DC-306BB6B09230}"/>
              </a:ext>
            </a:extLst>
          </p:cNvPr>
          <p:cNvCxnSpPr/>
          <p:nvPr/>
        </p:nvCxnSpPr>
        <p:spPr>
          <a:xfrm>
            <a:off x="0" y="24485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7F51CA8-E3E4-AB24-D1EF-D4FE7622BC9A}"/>
              </a:ext>
            </a:extLst>
          </p:cNvPr>
          <p:cNvCxnSpPr/>
          <p:nvPr/>
        </p:nvCxnSpPr>
        <p:spPr>
          <a:xfrm>
            <a:off x="0" y="1483360"/>
            <a:ext cx="121615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ED4AE78A-D168-67C7-E37D-CC67885E3DB3}"/>
              </a:ext>
            </a:extLst>
          </p:cNvPr>
          <p:cNvPicPr>
            <a:picLocks noChangeAspect="1"/>
          </p:cNvPicPr>
          <p:nvPr/>
        </p:nvPicPr>
        <p:blipFill>
          <a:blip r:embed="rId2">
            <a:extLst>
              <a:ext uri="{28A0092B-C50C-407E-A947-70E740481C1C}">
                <a14:useLocalDpi xmlns:a14="http://schemas.microsoft.com/office/drawing/2010/main" val="0"/>
              </a:ext>
            </a:extLst>
          </a:blip>
          <a:srcRect l="5550" r="5550"/>
          <a:stretch/>
        </p:blipFill>
        <p:spPr>
          <a:xfrm>
            <a:off x="551946" y="2930841"/>
            <a:ext cx="3367981" cy="2305807"/>
          </a:xfrm>
          <a:prstGeom prst="rect">
            <a:avLst/>
          </a:prstGeom>
          <a:ln>
            <a:noFill/>
          </a:ln>
          <a:effectLst>
            <a:softEdge rad="112500"/>
          </a:effectLst>
        </p:spPr>
      </p:pic>
      <p:pic>
        <p:nvPicPr>
          <p:cNvPr id="4" name="Picture 3">
            <a:extLst>
              <a:ext uri="{FF2B5EF4-FFF2-40B4-BE49-F238E27FC236}">
                <a16:creationId xmlns:a16="http://schemas.microsoft.com/office/drawing/2014/main" id="{CFB318D6-3918-AE29-EDA5-C5CA51DE659A}"/>
              </a:ext>
            </a:extLst>
          </p:cNvPr>
          <p:cNvPicPr>
            <a:picLocks noChangeAspect="1"/>
          </p:cNvPicPr>
          <p:nvPr/>
        </p:nvPicPr>
        <p:blipFill>
          <a:blip r:embed="rId3"/>
          <a:stretch>
            <a:fillRect/>
          </a:stretch>
        </p:blipFill>
        <p:spPr>
          <a:xfrm>
            <a:off x="4191388" y="2930840"/>
            <a:ext cx="3809224" cy="2305805"/>
          </a:xfrm>
          <a:prstGeom prst="rect">
            <a:avLst/>
          </a:prstGeom>
          <a:ln>
            <a:noFill/>
          </a:ln>
          <a:effectLst>
            <a:softEdge rad="112500"/>
          </a:effectLst>
        </p:spPr>
      </p:pic>
      <p:pic>
        <p:nvPicPr>
          <p:cNvPr id="8" name="Picture 7">
            <a:extLst>
              <a:ext uri="{FF2B5EF4-FFF2-40B4-BE49-F238E27FC236}">
                <a16:creationId xmlns:a16="http://schemas.microsoft.com/office/drawing/2014/main" id="{DC211D19-EE4F-E892-0654-5B57611CBB1E}"/>
              </a:ext>
            </a:extLst>
          </p:cNvPr>
          <p:cNvPicPr>
            <a:picLocks noChangeAspect="1"/>
          </p:cNvPicPr>
          <p:nvPr/>
        </p:nvPicPr>
        <p:blipFill>
          <a:blip r:embed="rId4"/>
          <a:stretch>
            <a:fillRect/>
          </a:stretch>
        </p:blipFill>
        <p:spPr>
          <a:xfrm>
            <a:off x="8173015" y="2930840"/>
            <a:ext cx="3312244" cy="2305803"/>
          </a:xfrm>
          <a:prstGeom prst="rect">
            <a:avLst/>
          </a:prstGeom>
          <a:ln>
            <a:noFill/>
          </a:ln>
          <a:effectLst>
            <a:softEdge rad="112500"/>
          </a:effectLst>
        </p:spPr>
      </p:pic>
      <p:sp>
        <p:nvSpPr>
          <p:cNvPr id="3" name="Content Placeholder 4">
            <a:extLst>
              <a:ext uri="{FF2B5EF4-FFF2-40B4-BE49-F238E27FC236}">
                <a16:creationId xmlns:a16="http://schemas.microsoft.com/office/drawing/2014/main" id="{BA97594B-32C6-C90B-CC4F-98200FC42EF6}"/>
              </a:ext>
            </a:extLst>
          </p:cNvPr>
          <p:cNvSpPr txBox="1">
            <a:spLocks/>
          </p:cNvSpPr>
          <p:nvPr/>
        </p:nvSpPr>
        <p:spPr>
          <a:xfrm>
            <a:off x="250031" y="1678848"/>
            <a:ext cx="10515600" cy="638175"/>
          </a:xfrm>
          <a:prstGeom prst="rect">
            <a:avLst/>
          </a:prstGeom>
          <a:solidFill>
            <a:srgbClr val="00A6B6"/>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a:solidFill>
                  <a:schemeClr val="bg1"/>
                </a:solidFill>
                <a:latin typeface="Aptos" panose="020B0004020202020204" pitchFamily="34" charset="0"/>
                <a:ea typeface="Calibri" panose="020F0502020204030204" pitchFamily="34" charset="0"/>
                <a:cs typeface="Calibri" panose="020F0502020204030204" pitchFamily="34" charset="0"/>
              </a:rPr>
              <a:t>COMPARISON VALUE INCOME ASSURANCE (VALUE+)</a:t>
            </a:r>
          </a:p>
        </p:txBody>
      </p:sp>
    </p:spTree>
    <p:extLst>
      <p:ext uri="{BB962C8B-B14F-4D97-AF65-F5344CB8AC3E}">
        <p14:creationId xmlns:p14="http://schemas.microsoft.com/office/powerpoint/2010/main" val="2847421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EA96CBE-2164-6906-4224-D526AD02D9C3}"/>
              </a:ext>
            </a:extLst>
          </p:cNvPr>
          <p:cNvGraphicFramePr>
            <a:graphicFrameLocks noGrp="1"/>
          </p:cNvGraphicFramePr>
          <p:nvPr>
            <p:extLst>
              <p:ext uri="{D42A27DB-BD31-4B8C-83A1-F6EECF244321}">
                <p14:modId xmlns:p14="http://schemas.microsoft.com/office/powerpoint/2010/main" val="2255477126"/>
              </p:ext>
            </p:extLst>
          </p:nvPr>
        </p:nvGraphicFramePr>
        <p:xfrm>
          <a:off x="38100" y="933026"/>
          <a:ext cx="12092940" cy="5608320"/>
        </p:xfrm>
        <a:graphic>
          <a:graphicData uri="http://schemas.openxmlformats.org/drawingml/2006/table">
            <a:tbl>
              <a:tblPr firstRow="1" bandRow="1">
                <a:tableStyleId>{5940675A-B579-460E-94D1-54222C63F5DA}</a:tableStyleId>
              </a:tblPr>
              <a:tblGrid>
                <a:gridCol w="1485900">
                  <a:extLst>
                    <a:ext uri="{9D8B030D-6E8A-4147-A177-3AD203B41FA5}">
                      <a16:colId xmlns:a16="http://schemas.microsoft.com/office/drawing/2014/main" val="3245709510"/>
                    </a:ext>
                  </a:extLst>
                </a:gridCol>
                <a:gridCol w="3587646">
                  <a:extLst>
                    <a:ext uri="{9D8B030D-6E8A-4147-A177-3AD203B41FA5}">
                      <a16:colId xmlns:a16="http://schemas.microsoft.com/office/drawing/2014/main" val="2288997959"/>
                    </a:ext>
                  </a:extLst>
                </a:gridCol>
                <a:gridCol w="3483714">
                  <a:extLst>
                    <a:ext uri="{9D8B030D-6E8A-4147-A177-3AD203B41FA5}">
                      <a16:colId xmlns:a16="http://schemas.microsoft.com/office/drawing/2014/main" val="2498370110"/>
                    </a:ext>
                  </a:extLst>
                </a:gridCol>
                <a:gridCol w="3535680">
                  <a:extLst>
                    <a:ext uri="{9D8B030D-6E8A-4147-A177-3AD203B41FA5}">
                      <a16:colId xmlns:a16="http://schemas.microsoft.com/office/drawing/2014/main" val="2890660639"/>
                    </a:ext>
                  </a:extLst>
                </a:gridCol>
              </a:tblGrid>
              <a:tr h="365760">
                <a:tc>
                  <a:txBody>
                    <a:bodyPr/>
                    <a:lstStyle/>
                    <a:p>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b="1">
                          <a:solidFill>
                            <a:schemeClr val="bg1"/>
                          </a:solidFill>
                        </a:rPr>
                        <a:t>Value Income Assurance</a:t>
                      </a:r>
                    </a:p>
                    <a:p>
                      <a:pPr algn="ctr"/>
                      <a:r>
                        <a:rPr lang="en-US" sz="1600" b="1">
                          <a:solidFill>
                            <a:schemeClr val="bg1"/>
                          </a:solidFill>
                        </a:rPr>
                        <a:t>(VALUE+) – BCA Life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B6"/>
                    </a:solidFill>
                  </a:tcPr>
                </a:tc>
                <a:tc>
                  <a:txBody>
                    <a:bodyPr/>
                    <a:lstStyle/>
                    <a:p>
                      <a:pPr algn="ctr"/>
                      <a:r>
                        <a:rPr lang="en-US" sz="1600" b="1" err="1">
                          <a:solidFill>
                            <a:schemeClr val="bg1"/>
                          </a:solidFill>
                        </a:rPr>
                        <a:t>Proteksi</a:t>
                      </a:r>
                      <a:r>
                        <a:rPr lang="en-US" sz="1600" b="1">
                          <a:solidFill>
                            <a:schemeClr val="bg1"/>
                          </a:solidFill>
                        </a:rPr>
                        <a:t> Retirement </a:t>
                      </a:r>
                      <a:r>
                        <a:rPr lang="en-US" sz="1600" b="1" err="1">
                          <a:solidFill>
                            <a:schemeClr val="bg1"/>
                          </a:solidFill>
                        </a:rPr>
                        <a:t>Maksima</a:t>
                      </a:r>
                      <a:r>
                        <a:rPr lang="en-US" sz="1600" b="1">
                          <a:solidFill>
                            <a:schemeClr val="bg1"/>
                          </a:solidFill>
                        </a:rPr>
                        <a:t> (</a:t>
                      </a:r>
                      <a:r>
                        <a:rPr lang="en-US" sz="1600" b="1" err="1">
                          <a:solidFill>
                            <a:schemeClr val="bg1"/>
                          </a:solidFill>
                        </a:rPr>
                        <a:t>RetirePlan</a:t>
                      </a:r>
                      <a:r>
                        <a:rPr lang="en-US" sz="1600" b="1">
                          <a:solidFill>
                            <a:schemeClr val="bg1"/>
                          </a:solidFill>
                        </a:rPr>
                        <a:t>) – AIA</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en-US" sz="1600" b="1" err="1">
                          <a:solidFill>
                            <a:schemeClr val="bg1"/>
                          </a:solidFill>
                        </a:rPr>
                        <a:t>PRUSmart</a:t>
                      </a:r>
                      <a:r>
                        <a:rPr lang="en-US" sz="1600" b="1">
                          <a:solidFill>
                            <a:schemeClr val="bg1"/>
                          </a:solidFill>
                        </a:rPr>
                        <a:t> Plan - Prudential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808448995"/>
                  </a:ext>
                </a:extLst>
              </a:tr>
              <a:tr h="365760">
                <a:tc>
                  <a:txBody>
                    <a:bodyPr/>
                    <a:lstStyle/>
                    <a:p>
                      <a:r>
                        <a:rPr lang="en-US" sz="1600" b="1">
                          <a:solidFill>
                            <a:schemeClr val="bg1"/>
                          </a:solidFill>
                        </a:rPr>
                        <a:t>Channel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Bancassurance BCA</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Bancassurance BCA</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Agency</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9409271"/>
                  </a:ext>
                </a:extLst>
              </a:tr>
              <a:tr h="365760">
                <a:tc>
                  <a:txBody>
                    <a:bodyPr/>
                    <a:lstStyle/>
                    <a:p>
                      <a:r>
                        <a:rPr lang="en-US" sz="1600" b="1">
                          <a:solidFill>
                            <a:schemeClr val="bg1"/>
                          </a:solidFill>
                        </a:rPr>
                        <a:t>Mata Uang</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IDR &amp; USD</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IDR &amp; USD</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IDR</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7206072"/>
                  </a:ext>
                </a:extLst>
              </a:tr>
              <a:tr h="365760">
                <a:tc>
                  <a:txBody>
                    <a:bodyPr/>
                    <a:lstStyle/>
                    <a:p>
                      <a:r>
                        <a:rPr lang="en-US" sz="1600" b="1" err="1">
                          <a:solidFill>
                            <a:schemeClr val="bg1"/>
                          </a:solidFill>
                        </a:rPr>
                        <a:t>Usia</a:t>
                      </a:r>
                      <a:r>
                        <a:rPr lang="en-US" sz="1600" b="1">
                          <a:solidFill>
                            <a:schemeClr val="bg1"/>
                          </a:solidFill>
                        </a:rPr>
                        <a:t> Masuk</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18 – 65 </a:t>
                      </a:r>
                      <a:r>
                        <a:rPr lang="en-US" sz="1600" err="1"/>
                        <a:t>tahun</a:t>
                      </a:r>
                      <a:r>
                        <a:rPr lang="en-US" sz="1600"/>
                        <a:t> (</a:t>
                      </a:r>
                      <a:r>
                        <a:rPr lang="en-US" sz="1600" i="1"/>
                        <a:t>last birthday</a:t>
                      </a:r>
                      <a:r>
                        <a:rPr lang="en-US" sz="1600"/>
                        <a:t>)</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18 – 70 </a:t>
                      </a:r>
                      <a:r>
                        <a:rPr lang="en-US" sz="1600" err="1"/>
                        <a:t>tahun</a:t>
                      </a:r>
                      <a:r>
                        <a:rPr lang="en-US" sz="1600"/>
                        <a:t> (</a:t>
                      </a:r>
                      <a:r>
                        <a:rPr lang="en-US" sz="1600" err="1"/>
                        <a:t>ulang</a:t>
                      </a:r>
                      <a:r>
                        <a:rPr lang="en-US" sz="1600"/>
                        <a:t> </a:t>
                      </a:r>
                      <a:r>
                        <a:rPr lang="en-US" sz="1600" err="1"/>
                        <a:t>tahun</a:t>
                      </a:r>
                      <a:r>
                        <a:rPr lang="en-US" sz="1600"/>
                        <a:t> </a:t>
                      </a:r>
                      <a:r>
                        <a:rPr lang="en-US" sz="1600" err="1"/>
                        <a:t>terdekat</a:t>
                      </a:r>
                      <a:r>
                        <a:rPr lang="en-US" sz="1600"/>
                        <a:t>)</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1 – 70 </a:t>
                      </a:r>
                      <a:r>
                        <a:rPr lang="en-US" sz="1600" err="1"/>
                        <a:t>tahun</a:t>
                      </a:r>
                      <a:r>
                        <a:rPr lang="en-US" sz="1600"/>
                        <a:t> (</a:t>
                      </a:r>
                      <a:r>
                        <a:rPr lang="en-US" sz="1600" i="1"/>
                        <a:t>next birthday</a:t>
                      </a:r>
                      <a:r>
                        <a:rPr lang="en-US" sz="1600"/>
                        <a:t>)</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2027130"/>
                  </a:ext>
                </a:extLst>
              </a:tr>
              <a:tr h="365760">
                <a:tc>
                  <a:txBody>
                    <a:bodyPr/>
                    <a:lstStyle/>
                    <a:p>
                      <a:r>
                        <a:rPr lang="en-US" sz="1600" b="1">
                          <a:solidFill>
                            <a:schemeClr val="bg1"/>
                          </a:solidFill>
                        </a:rPr>
                        <a:t>Masa </a:t>
                      </a:r>
                      <a:r>
                        <a:rPr lang="en-US" sz="1600" b="1" err="1">
                          <a:solidFill>
                            <a:schemeClr val="bg1"/>
                          </a:solidFill>
                        </a:rPr>
                        <a:t>Pertanggungan</a:t>
                      </a:r>
                      <a:endParaRPr lang="en-US" sz="1600" b="1">
                        <a:solidFill>
                          <a:schemeClr val="bg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20 </a:t>
                      </a:r>
                      <a:r>
                        <a:rPr lang="en-US" sz="1600" err="1"/>
                        <a:t>tahun</a:t>
                      </a: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20/30/40/50 </a:t>
                      </a:r>
                      <a:r>
                        <a:rPr lang="en-US" sz="1600" err="1"/>
                        <a:t>tahun</a:t>
                      </a:r>
                      <a:endParaRPr lang="en-US" sz="1600"/>
                    </a:p>
                    <a:p>
                      <a:pPr algn="ctr"/>
                      <a:r>
                        <a:rPr lang="en-US" sz="1600" err="1"/>
                        <a:t>bergantung</a:t>
                      </a:r>
                      <a:r>
                        <a:rPr lang="en-US" sz="1600"/>
                        <a:t> pada MPP yang </a:t>
                      </a:r>
                      <a:r>
                        <a:rPr lang="en-US" sz="1600" err="1"/>
                        <a:t>dipilih</a:t>
                      </a:r>
                      <a:r>
                        <a:rPr lang="en-US" sz="1600"/>
                        <a:t>:</a:t>
                      </a:r>
                    </a:p>
                    <a:p>
                      <a:pPr algn="ctr"/>
                      <a:endParaRPr lang="en-US" sz="1600"/>
                    </a:p>
                    <a:p>
                      <a:pPr algn="ctr"/>
                      <a:endParaRPr lang="en-US" sz="1600"/>
                    </a:p>
                    <a:p>
                      <a:pPr algn="ctr"/>
                      <a:endParaRPr lang="en-US" sz="1600"/>
                    </a:p>
                    <a:p>
                      <a:pPr algn="ctr"/>
                      <a:endParaRPr lang="en-US" sz="1600"/>
                    </a:p>
                    <a:p>
                      <a:pPr algn="ct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20 </a:t>
                      </a:r>
                      <a:r>
                        <a:rPr lang="en-US" sz="1600" err="1"/>
                        <a:t>tahun</a:t>
                      </a: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19226"/>
                  </a:ext>
                </a:extLst>
              </a:tr>
              <a:tr h="365760">
                <a:tc>
                  <a:txBody>
                    <a:bodyPr/>
                    <a:lstStyle/>
                    <a:p>
                      <a:r>
                        <a:rPr lang="en-US" sz="1600" b="1">
                          <a:solidFill>
                            <a:schemeClr val="bg1"/>
                          </a:solidFill>
                        </a:rPr>
                        <a:t>Masa Pembayaran Premi (MPP)</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5/10 </a:t>
                      </a:r>
                      <a:r>
                        <a:rPr lang="en-US" sz="1600" err="1"/>
                        <a:t>tahun</a:t>
                      </a: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600"/>
                    </a:p>
                    <a:p>
                      <a:pPr algn="ctr"/>
                      <a:endParaRPr lang="en-US" sz="1600"/>
                    </a:p>
                    <a:p>
                      <a:pPr algn="ctr"/>
                      <a:endParaRPr lang="en-US" sz="1600"/>
                    </a:p>
                    <a:p>
                      <a:pPr algn="ctr"/>
                      <a:endParaRPr lang="en-US" sz="1600"/>
                    </a:p>
                    <a:p>
                      <a:pPr algn="ct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6/8 </a:t>
                      </a:r>
                      <a:r>
                        <a:rPr lang="en-US" sz="1600" err="1"/>
                        <a:t>tahun</a:t>
                      </a: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8145412"/>
                  </a:ext>
                </a:extLst>
              </a:tr>
              <a:tr h="365760">
                <a:tc>
                  <a:txBody>
                    <a:bodyPr/>
                    <a:lstStyle/>
                    <a:p>
                      <a:r>
                        <a:rPr lang="en-US" sz="1600" b="1">
                          <a:solidFill>
                            <a:schemeClr val="bg1"/>
                          </a:solidFill>
                        </a:rPr>
                        <a:t>Frekuensi Pembayaran Premi</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err="1"/>
                        <a:t>Tahunan</a:t>
                      </a:r>
                      <a:r>
                        <a:rPr lang="en-US" sz="1600"/>
                        <a:t>/</a:t>
                      </a:r>
                      <a:r>
                        <a:rPr lang="en-US" sz="1600" err="1"/>
                        <a:t>Semesteran</a:t>
                      </a:r>
                      <a:r>
                        <a:rPr lang="en-US" sz="1600"/>
                        <a:t>/</a:t>
                      </a:r>
                      <a:r>
                        <a:rPr lang="en-US" sz="1600" err="1"/>
                        <a:t>Kuartalan</a:t>
                      </a:r>
                      <a:r>
                        <a:rPr lang="en-US" sz="1600"/>
                        <a:t>/</a:t>
                      </a:r>
                      <a:r>
                        <a:rPr lang="en-US" sz="1600" err="1"/>
                        <a:t>Bulanan</a:t>
                      </a: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err="1"/>
                        <a:t>Tahunan</a:t>
                      </a:r>
                      <a:r>
                        <a:rPr lang="en-US" sz="1600"/>
                        <a:t>/</a:t>
                      </a:r>
                      <a:r>
                        <a:rPr lang="en-US" sz="1600" err="1"/>
                        <a:t>Bulanan</a:t>
                      </a: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err="1"/>
                        <a:t>Tahunan</a:t>
                      </a:r>
                      <a:r>
                        <a:rPr lang="en-US" sz="1600"/>
                        <a:t>/</a:t>
                      </a:r>
                      <a:r>
                        <a:rPr lang="en-US" sz="1600" err="1"/>
                        <a:t>Bulanan</a:t>
                      </a: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67402484"/>
                  </a:ext>
                </a:extLst>
              </a:tr>
            </a:tbl>
          </a:graphicData>
        </a:graphic>
      </p:graphicFrame>
      <p:pic>
        <p:nvPicPr>
          <p:cNvPr id="3" name="Picture 2">
            <a:extLst>
              <a:ext uri="{FF2B5EF4-FFF2-40B4-BE49-F238E27FC236}">
                <a16:creationId xmlns:a16="http://schemas.microsoft.com/office/drawing/2014/main" id="{E58E5FFC-2C00-5CD6-4471-5D64B20EE595}"/>
              </a:ext>
            </a:extLst>
          </p:cNvPr>
          <p:cNvPicPr>
            <a:picLocks noChangeAspect="1"/>
          </p:cNvPicPr>
          <p:nvPr/>
        </p:nvPicPr>
        <p:blipFill>
          <a:blip r:embed="rId3"/>
          <a:stretch>
            <a:fillRect/>
          </a:stretch>
        </p:blipFill>
        <p:spPr>
          <a:xfrm>
            <a:off x="5181600" y="4471810"/>
            <a:ext cx="3347990" cy="1126235"/>
          </a:xfrm>
          <a:prstGeom prst="rect">
            <a:avLst/>
          </a:prstGeom>
        </p:spPr>
      </p:pic>
      <p:pic>
        <p:nvPicPr>
          <p:cNvPr id="4" name="Picture 3">
            <a:extLst>
              <a:ext uri="{FF2B5EF4-FFF2-40B4-BE49-F238E27FC236}">
                <a16:creationId xmlns:a16="http://schemas.microsoft.com/office/drawing/2014/main" id="{92581234-5568-057C-205F-E1A90D1B3F7F}"/>
              </a:ext>
            </a:extLst>
          </p:cNvPr>
          <p:cNvPicPr>
            <a:picLocks noChangeAspect="1"/>
          </p:cNvPicPr>
          <p:nvPr/>
        </p:nvPicPr>
        <p:blipFill rotWithShape="1">
          <a:blip r:embed="rId4"/>
          <a:srcRect t="832"/>
          <a:stretch/>
        </p:blipFill>
        <p:spPr>
          <a:xfrm>
            <a:off x="5181600" y="3225196"/>
            <a:ext cx="3347990" cy="1064864"/>
          </a:xfrm>
          <a:prstGeom prst="rect">
            <a:avLst/>
          </a:prstGeom>
        </p:spPr>
      </p:pic>
      <p:sp>
        <p:nvSpPr>
          <p:cNvPr id="5" name="Title 1">
            <a:extLst>
              <a:ext uri="{FF2B5EF4-FFF2-40B4-BE49-F238E27FC236}">
                <a16:creationId xmlns:a16="http://schemas.microsoft.com/office/drawing/2014/main" id="{50223554-F308-A3A4-384B-60376B4D3322}"/>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SPESIFIKASI PRODUK</a:t>
            </a:r>
            <a:endParaRPr lang="en-GB" sz="24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504236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8F46E-0C0B-2527-FD61-F6001D13CCB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FD73DFA-C906-33D8-AF18-BE35B637501A}"/>
              </a:ext>
            </a:extLst>
          </p:cNvPr>
          <p:cNvGraphicFramePr>
            <a:graphicFrameLocks noGrp="1"/>
          </p:cNvGraphicFramePr>
          <p:nvPr>
            <p:extLst>
              <p:ext uri="{D42A27DB-BD31-4B8C-83A1-F6EECF244321}">
                <p14:modId xmlns:p14="http://schemas.microsoft.com/office/powerpoint/2010/main" val="1465272811"/>
              </p:ext>
            </p:extLst>
          </p:nvPr>
        </p:nvGraphicFramePr>
        <p:xfrm>
          <a:off x="38100" y="971126"/>
          <a:ext cx="12092940" cy="5669280"/>
        </p:xfrm>
        <a:graphic>
          <a:graphicData uri="http://schemas.openxmlformats.org/drawingml/2006/table">
            <a:tbl>
              <a:tblPr firstRow="1" bandRow="1">
                <a:tableStyleId>{5940675A-B579-460E-94D1-54222C63F5DA}</a:tableStyleId>
              </a:tblPr>
              <a:tblGrid>
                <a:gridCol w="1409700">
                  <a:extLst>
                    <a:ext uri="{9D8B030D-6E8A-4147-A177-3AD203B41FA5}">
                      <a16:colId xmlns:a16="http://schemas.microsoft.com/office/drawing/2014/main" val="3245709510"/>
                    </a:ext>
                  </a:extLst>
                </a:gridCol>
                <a:gridCol w="3561080">
                  <a:extLst>
                    <a:ext uri="{9D8B030D-6E8A-4147-A177-3AD203B41FA5}">
                      <a16:colId xmlns:a16="http://schemas.microsoft.com/office/drawing/2014/main" val="2288997959"/>
                    </a:ext>
                  </a:extLst>
                </a:gridCol>
                <a:gridCol w="3561080">
                  <a:extLst>
                    <a:ext uri="{9D8B030D-6E8A-4147-A177-3AD203B41FA5}">
                      <a16:colId xmlns:a16="http://schemas.microsoft.com/office/drawing/2014/main" val="2498370110"/>
                    </a:ext>
                  </a:extLst>
                </a:gridCol>
                <a:gridCol w="3561080">
                  <a:extLst>
                    <a:ext uri="{9D8B030D-6E8A-4147-A177-3AD203B41FA5}">
                      <a16:colId xmlns:a16="http://schemas.microsoft.com/office/drawing/2014/main" val="2890660639"/>
                    </a:ext>
                  </a:extLst>
                </a:gridCol>
              </a:tblGrid>
              <a:tr h="365760">
                <a:tc>
                  <a:txBody>
                    <a:bodyPr/>
                    <a:lstStyle/>
                    <a:p>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b="1">
                          <a:solidFill>
                            <a:schemeClr val="bg1"/>
                          </a:solidFill>
                        </a:rPr>
                        <a:t>Value Income Assurance</a:t>
                      </a:r>
                    </a:p>
                    <a:p>
                      <a:pPr algn="ctr"/>
                      <a:r>
                        <a:rPr lang="en-US" sz="1600" b="1">
                          <a:solidFill>
                            <a:schemeClr val="bg1"/>
                          </a:solidFill>
                        </a:rPr>
                        <a:t>(VALUE+) – BCA Life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B6"/>
                    </a:solidFill>
                  </a:tcPr>
                </a:tc>
                <a:tc>
                  <a:txBody>
                    <a:bodyPr/>
                    <a:lstStyle/>
                    <a:p>
                      <a:pPr algn="ctr"/>
                      <a:r>
                        <a:rPr lang="en-US" sz="1600" b="1" err="1">
                          <a:solidFill>
                            <a:schemeClr val="bg1"/>
                          </a:solidFill>
                        </a:rPr>
                        <a:t>Proteksi</a:t>
                      </a:r>
                      <a:r>
                        <a:rPr lang="en-US" sz="1600" b="1">
                          <a:solidFill>
                            <a:schemeClr val="bg1"/>
                          </a:solidFill>
                        </a:rPr>
                        <a:t> Retirement </a:t>
                      </a:r>
                      <a:r>
                        <a:rPr lang="en-US" sz="1600" b="1" err="1">
                          <a:solidFill>
                            <a:schemeClr val="bg1"/>
                          </a:solidFill>
                        </a:rPr>
                        <a:t>Maksima</a:t>
                      </a:r>
                      <a:r>
                        <a:rPr lang="en-US" sz="1600" b="1">
                          <a:solidFill>
                            <a:schemeClr val="bg1"/>
                          </a:solidFill>
                        </a:rPr>
                        <a:t> (</a:t>
                      </a:r>
                      <a:r>
                        <a:rPr lang="en-US" sz="1600" b="1" err="1">
                          <a:solidFill>
                            <a:schemeClr val="bg1"/>
                          </a:solidFill>
                        </a:rPr>
                        <a:t>RetirePlan</a:t>
                      </a:r>
                      <a:r>
                        <a:rPr lang="en-US" sz="1600" b="1">
                          <a:solidFill>
                            <a:schemeClr val="bg1"/>
                          </a:solidFill>
                        </a:rPr>
                        <a:t>) – AIA</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en-US" sz="1600" b="1" err="1">
                          <a:solidFill>
                            <a:schemeClr val="bg1"/>
                          </a:solidFill>
                        </a:rPr>
                        <a:t>PRUSmart</a:t>
                      </a:r>
                      <a:r>
                        <a:rPr lang="en-US" sz="1600" b="1">
                          <a:solidFill>
                            <a:schemeClr val="bg1"/>
                          </a:solidFill>
                        </a:rPr>
                        <a:t> Plan - Prudential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808448995"/>
                  </a:ext>
                </a:extLst>
              </a:tr>
              <a:tr h="365760">
                <a:tc>
                  <a:txBody>
                    <a:bodyPr/>
                    <a:lstStyle/>
                    <a:p>
                      <a:r>
                        <a:rPr lang="en-US" sz="1600" b="1">
                          <a:solidFill>
                            <a:schemeClr val="bg1"/>
                          </a:solidFill>
                        </a:rPr>
                        <a:t>Metode </a:t>
                      </a:r>
                      <a:r>
                        <a:rPr lang="en-US" sz="1600" b="1" i="1">
                          <a:solidFill>
                            <a:schemeClr val="bg1"/>
                          </a:solidFill>
                        </a:rPr>
                        <a:t>Underwriting</a:t>
                      </a:r>
                      <a:endParaRPr lang="en-US" sz="1600" b="1">
                        <a:solidFill>
                          <a:schemeClr val="bg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i="1"/>
                        <a:t>Guaranteed Acceptance</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i="1"/>
                        <a:t>Guaranteed Acceptance</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i="1"/>
                        <a:t>Guaranteed Acceptance</a:t>
                      </a:r>
                      <a:r>
                        <a:rPr lang="en-US" sz="1600" i="0"/>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i="0"/>
                        <a:t>max Premi </a:t>
                      </a:r>
                      <a:r>
                        <a:rPr lang="en-US" sz="1600" i="0" err="1"/>
                        <a:t>tahunan</a:t>
                      </a:r>
                      <a:r>
                        <a:rPr lang="en-US" sz="1600" i="0"/>
                        <a:t> Rp250 </a:t>
                      </a:r>
                      <a:r>
                        <a:rPr lang="en-US" sz="1600" i="0" err="1"/>
                        <a:t>jt</a:t>
                      </a:r>
                      <a:endParaRPr lang="en-US" sz="1600" i="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i="0"/>
                        <a:t>SIO: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i="0"/>
                        <a:t>Premi </a:t>
                      </a:r>
                      <a:r>
                        <a:rPr lang="en-US" sz="1600" i="0" err="1"/>
                        <a:t>tahunan</a:t>
                      </a:r>
                      <a:r>
                        <a:rPr lang="en-US" sz="1600" i="0"/>
                        <a:t> &gt;Rp250 </a:t>
                      </a:r>
                      <a:r>
                        <a:rPr lang="en-US" sz="1600" i="0" err="1"/>
                        <a:t>jt</a:t>
                      </a:r>
                      <a:r>
                        <a:rPr lang="en-US" sz="1600" i="0"/>
                        <a:t> – Rp500 </a:t>
                      </a:r>
                      <a:r>
                        <a:rPr lang="en-US" sz="1600" i="0" err="1"/>
                        <a:t>jt</a:t>
                      </a:r>
                      <a:endParaRPr lang="en-US" sz="1600" i="1"/>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86246198"/>
                  </a:ext>
                </a:extLst>
              </a:tr>
              <a:tr h="365760">
                <a:tc>
                  <a:txBody>
                    <a:bodyPr/>
                    <a:lstStyle/>
                    <a:p>
                      <a:r>
                        <a:rPr lang="en-US" sz="1600" b="1">
                          <a:solidFill>
                            <a:schemeClr val="bg1"/>
                          </a:solidFill>
                        </a:rPr>
                        <a:t>Minimum Premi</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endParaRPr lang="en-US" sz="1600"/>
                    </a:p>
                    <a:p>
                      <a:pPr algn="ctr"/>
                      <a:endParaRPr lang="en-US" sz="1600"/>
                    </a:p>
                    <a:p>
                      <a:pPr algn="ctr"/>
                      <a:endParaRPr lang="en-US" sz="1600"/>
                    </a:p>
                    <a:p>
                      <a:pPr algn="ct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IDR: Rp24.000.000/</a:t>
                      </a:r>
                      <a:r>
                        <a:rPr lang="en-US" sz="1600" err="1"/>
                        <a:t>tahun</a:t>
                      </a:r>
                      <a:endParaRPr lang="en-US" sz="1600"/>
                    </a:p>
                    <a:p>
                      <a:pPr algn="ctr"/>
                      <a:r>
                        <a:rPr lang="en-US" sz="1600"/>
                        <a:t>USD: US$3,600/</a:t>
                      </a:r>
                      <a:r>
                        <a:rPr lang="en-US" sz="1600" err="1"/>
                        <a:t>tahun</a:t>
                      </a: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err="1"/>
                        <a:t>Tahunan</a:t>
                      </a:r>
                      <a:r>
                        <a:rPr lang="en-US" sz="1600"/>
                        <a:t>: Rp22.000.000</a:t>
                      </a:r>
                    </a:p>
                    <a:p>
                      <a:pPr algn="ctr"/>
                      <a:r>
                        <a:rPr lang="en-US" sz="1600" err="1"/>
                        <a:t>Bulanan</a:t>
                      </a:r>
                      <a:r>
                        <a:rPr lang="en-US" sz="1600"/>
                        <a:t>: Rp2.000.000 </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9409271"/>
                  </a:ext>
                </a:extLst>
              </a:tr>
              <a:tr h="365760">
                <a:tc>
                  <a:txBody>
                    <a:bodyPr/>
                    <a:lstStyle/>
                    <a:p>
                      <a:r>
                        <a:rPr lang="en-US" sz="1600" b="1">
                          <a:solidFill>
                            <a:schemeClr val="bg1"/>
                          </a:solidFill>
                        </a:rPr>
                        <a:t>Manfaat Asuransi</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342900" indent="-342900" algn="just">
                        <a:buAutoNum type="arabicPeriod"/>
                      </a:pPr>
                      <a:r>
                        <a:rPr lang="en-US" sz="1600"/>
                        <a:t>Manfaat </a:t>
                      </a:r>
                      <a:r>
                        <a:rPr lang="en-US" sz="1600" err="1"/>
                        <a:t>Meninggal</a:t>
                      </a:r>
                      <a:r>
                        <a:rPr lang="en-US" sz="1600"/>
                        <a:t> Dunia</a:t>
                      </a:r>
                    </a:p>
                    <a:p>
                      <a:pPr marL="342900" indent="-342900" algn="just">
                        <a:buAutoNum type="arabicPeriod"/>
                      </a:pPr>
                      <a:r>
                        <a:rPr lang="en-US" sz="1600"/>
                        <a:t>Manfaat Akhir Masa </a:t>
                      </a:r>
                      <a:r>
                        <a:rPr lang="en-US" sz="1600" err="1"/>
                        <a:t>Pertanggungan</a:t>
                      </a:r>
                      <a:endParaRPr lang="en-US" sz="1600"/>
                    </a:p>
                    <a:p>
                      <a:pPr marL="342900" indent="-342900" algn="just">
                        <a:buAutoNum type="arabicPeriod"/>
                      </a:pPr>
                      <a:r>
                        <a:rPr lang="en-US" sz="1600"/>
                        <a:t>Manfaat </a:t>
                      </a:r>
                      <a:r>
                        <a:rPr lang="en-US" sz="1600" err="1"/>
                        <a:t>Tunai</a:t>
                      </a:r>
                      <a:r>
                        <a:rPr lang="en-US" sz="1600"/>
                        <a:t> </a:t>
                      </a:r>
                      <a:r>
                        <a:rPr lang="en-US" sz="1600" err="1"/>
                        <a:t>Tahunan</a:t>
                      </a:r>
                      <a:r>
                        <a:rPr lang="en-US" sz="1600"/>
                        <a:t> (</a:t>
                      </a:r>
                      <a:r>
                        <a:rPr lang="en-US" sz="1600" err="1"/>
                        <a:t>khusus</a:t>
                      </a:r>
                      <a:r>
                        <a:rPr lang="en-US" sz="1600"/>
                        <a:t> Plan Boost)</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indent="-342900" algn="just">
                        <a:buAutoNum type="arabicPeriod"/>
                      </a:pPr>
                      <a:r>
                        <a:rPr lang="en-US" sz="1600"/>
                        <a:t>Manfaat Meninggal Dunia</a:t>
                      </a:r>
                    </a:p>
                    <a:p>
                      <a:pPr marL="342900" indent="-342900" algn="just">
                        <a:buAutoNum type="arabicPeriod"/>
                      </a:pPr>
                      <a:r>
                        <a:rPr lang="en-US" sz="1600"/>
                        <a:t>Manfaat Akhir Masa Pertanggungan</a:t>
                      </a:r>
                    </a:p>
                    <a:p>
                      <a:pPr marL="342900" indent="-342900" algn="just">
                        <a:buAutoNum type="arabicPeriod"/>
                      </a:pPr>
                      <a:r>
                        <a:rPr lang="en-US" sz="1600"/>
                        <a:t>Manfaat Tunai Tahunan </a:t>
                      </a:r>
                    </a:p>
                    <a:p>
                      <a:pPr marL="342900" indent="-342900" algn="just">
                        <a:buAutoNum type="arabicPeriod"/>
                      </a:pPr>
                      <a:r>
                        <a:rPr lang="en-US" sz="1600"/>
                        <a:t>Manfaat Pembebasan Premi apabila Tertanggung mengalami Cacat Tetap Total</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indent="-342900" algn="just">
                        <a:buAutoNum type="arabicPeriod"/>
                      </a:pPr>
                      <a:r>
                        <a:rPr lang="en-US" sz="1600"/>
                        <a:t>Manfaat </a:t>
                      </a:r>
                      <a:r>
                        <a:rPr lang="en-US" sz="1600" err="1"/>
                        <a:t>Meninggal</a:t>
                      </a:r>
                      <a:r>
                        <a:rPr lang="en-US" sz="1600"/>
                        <a:t> Dunia</a:t>
                      </a:r>
                    </a:p>
                    <a:p>
                      <a:pPr marL="342900" indent="-342900" algn="just">
                        <a:buAutoNum type="arabicPeriod"/>
                      </a:pPr>
                      <a:r>
                        <a:rPr lang="en-US" sz="1600"/>
                        <a:t>Manfaat Akhir Masa </a:t>
                      </a:r>
                      <a:r>
                        <a:rPr lang="en-US" sz="1600" err="1"/>
                        <a:t>Pertanggungan</a:t>
                      </a:r>
                      <a:endParaRPr lang="en-US" sz="1600"/>
                    </a:p>
                    <a:p>
                      <a:pPr marL="342900" indent="-342900" algn="just">
                        <a:buAutoNum type="arabicPeriod"/>
                      </a:pPr>
                      <a:r>
                        <a:rPr lang="en-US" sz="1600"/>
                        <a:t>Manfaat </a:t>
                      </a:r>
                      <a:r>
                        <a:rPr lang="en-US" sz="1600" err="1"/>
                        <a:t>Tunai</a:t>
                      </a:r>
                      <a:r>
                        <a:rPr lang="en-US" sz="1600"/>
                        <a:t> </a:t>
                      </a:r>
                      <a:r>
                        <a:rPr lang="en-US" sz="1600" err="1"/>
                        <a:t>Tahunan</a:t>
                      </a: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7206072"/>
                  </a:ext>
                </a:extLst>
              </a:tr>
              <a:tr h="365760">
                <a:tc>
                  <a:txBody>
                    <a:bodyPr/>
                    <a:lstStyle/>
                    <a:p>
                      <a:r>
                        <a:rPr lang="en-US" sz="1600" b="1">
                          <a:solidFill>
                            <a:schemeClr val="bg1"/>
                          </a:solidFill>
                        </a:rPr>
                        <a:t>Asuransi Tambahan (</a:t>
                      </a:r>
                      <a:r>
                        <a:rPr lang="en-US" sz="1600" b="1" i="1">
                          <a:solidFill>
                            <a:schemeClr val="bg1"/>
                          </a:solidFill>
                        </a:rPr>
                        <a:t>Rider</a:t>
                      </a:r>
                      <a:r>
                        <a:rPr lang="en-US" sz="1600" b="1" i="0">
                          <a:solidFill>
                            <a:schemeClr val="bg1"/>
                          </a:solidFill>
                        </a:rPr>
                        <a:t>)</a:t>
                      </a:r>
                      <a:endParaRPr lang="en-US" sz="1600" b="1">
                        <a:solidFill>
                          <a:schemeClr val="bg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342900" indent="-342900" algn="just">
                        <a:buAutoNum type="arabicPeriod"/>
                      </a:pPr>
                      <a:r>
                        <a:rPr lang="en-US" sz="1600"/>
                        <a:t>Payor Benefit Plus</a:t>
                      </a:r>
                    </a:p>
                    <a:p>
                      <a:pPr marL="342900" indent="-342900" algn="just">
                        <a:buAutoNum type="arabicPeriod"/>
                      </a:pPr>
                      <a:r>
                        <a:rPr lang="en-US" sz="1600"/>
                        <a:t>Waiver of Premium Plus</a:t>
                      </a:r>
                    </a:p>
                    <a:p>
                      <a:pPr marL="342900" indent="-342900" algn="just">
                        <a:buAutoNum type="arabicPeriod"/>
                      </a:pPr>
                      <a:r>
                        <a:rPr lang="en-US" sz="1600"/>
                        <a:t>Term Life</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None/>
                      </a:pPr>
                      <a:r>
                        <a:rPr lang="en-US" sz="1600"/>
                        <a:t>Payor Benefit</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None/>
                      </a:pPr>
                      <a:r>
                        <a:rPr lang="en-US" sz="1600"/>
                        <a:t>Tidak </a:t>
                      </a:r>
                      <a:r>
                        <a:rPr lang="en-US" sz="1600" err="1"/>
                        <a:t>ada</a:t>
                      </a:r>
                      <a:endParaRPr lang="en-US" sz="1600"/>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0362979"/>
                  </a:ext>
                </a:extLst>
              </a:tr>
              <a:tr h="365760">
                <a:tc>
                  <a:txBody>
                    <a:bodyPr/>
                    <a:lstStyle/>
                    <a:p>
                      <a:r>
                        <a:rPr lang="en-US" sz="1600" b="1" err="1">
                          <a:solidFill>
                            <a:schemeClr val="bg1"/>
                          </a:solidFill>
                        </a:rPr>
                        <a:t>Fasilitas</a:t>
                      </a:r>
                      <a:r>
                        <a:rPr lang="en-US" sz="1600" b="1">
                          <a:solidFill>
                            <a:schemeClr val="bg1"/>
                          </a:solidFill>
                        </a:rPr>
                        <a:t> Polis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indent="0" algn="ctr">
                        <a:buNone/>
                      </a:pPr>
                      <a:r>
                        <a:rPr lang="en-US" sz="1600" err="1"/>
                        <a:t>Penebusan</a:t>
                      </a:r>
                      <a:r>
                        <a:rPr lang="en-US" sz="1600"/>
                        <a:t> Polis (Nilai Tebus)</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just">
                        <a:buFontTx/>
                        <a:buChar char="-"/>
                      </a:pPr>
                      <a:r>
                        <a:rPr lang="en-US" sz="1600"/>
                        <a:t>Pinjaman Premi </a:t>
                      </a:r>
                      <a:r>
                        <a:rPr lang="en-US" sz="1600" err="1"/>
                        <a:t>otomatis</a:t>
                      </a:r>
                      <a:endParaRPr lang="en-US" sz="1600"/>
                    </a:p>
                    <a:p>
                      <a:pPr marL="285750" indent="-285750" algn="just">
                        <a:buFontTx/>
                        <a:buChar char="-"/>
                      </a:pPr>
                      <a:r>
                        <a:rPr lang="en-US" sz="1600" err="1"/>
                        <a:t>Pinjaman</a:t>
                      </a:r>
                      <a:r>
                        <a:rPr lang="en-US" sz="1600"/>
                        <a:t> Polis</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None/>
                      </a:pPr>
                      <a:r>
                        <a:rPr lang="en-US" sz="1600" err="1"/>
                        <a:t>Penebusan</a:t>
                      </a:r>
                      <a:r>
                        <a:rPr lang="en-US" sz="1600"/>
                        <a:t> Polis (Nilai </a:t>
                      </a:r>
                      <a:r>
                        <a:rPr lang="en-US" sz="1600" err="1"/>
                        <a:t>Penebusan</a:t>
                      </a:r>
                      <a:r>
                        <a:rPr lang="en-US" sz="1600"/>
                        <a:t>)</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8769829"/>
                  </a:ext>
                </a:extLst>
              </a:tr>
            </a:tbl>
          </a:graphicData>
        </a:graphic>
      </p:graphicFrame>
      <p:pic>
        <p:nvPicPr>
          <p:cNvPr id="4" name="Picture 3">
            <a:extLst>
              <a:ext uri="{FF2B5EF4-FFF2-40B4-BE49-F238E27FC236}">
                <a16:creationId xmlns:a16="http://schemas.microsoft.com/office/drawing/2014/main" id="{2FDDE7FD-0848-D02D-B7DF-DD923456EA86}"/>
              </a:ext>
            </a:extLst>
          </p:cNvPr>
          <p:cNvPicPr>
            <a:picLocks noChangeAspect="1"/>
          </p:cNvPicPr>
          <p:nvPr/>
        </p:nvPicPr>
        <p:blipFill>
          <a:blip r:embed="rId3"/>
          <a:stretch>
            <a:fillRect/>
          </a:stretch>
        </p:blipFill>
        <p:spPr>
          <a:xfrm>
            <a:off x="1447349" y="2666327"/>
            <a:ext cx="3528511" cy="975530"/>
          </a:xfrm>
          <a:prstGeom prst="rect">
            <a:avLst/>
          </a:prstGeom>
        </p:spPr>
      </p:pic>
      <p:sp>
        <p:nvSpPr>
          <p:cNvPr id="5" name="Title 1">
            <a:extLst>
              <a:ext uri="{FF2B5EF4-FFF2-40B4-BE49-F238E27FC236}">
                <a16:creationId xmlns:a16="http://schemas.microsoft.com/office/drawing/2014/main" id="{2A6F77A0-0BF0-A549-55B5-51741FD19286}"/>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SPESIFIKASI PRODUK</a:t>
            </a:r>
            <a:endParaRPr lang="en-GB" sz="24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6938201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30F25-F093-3EAE-FAF2-7D3940CE019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688CFC5-2670-82E3-695F-EDB025846510}"/>
              </a:ext>
            </a:extLst>
          </p:cNvPr>
          <p:cNvSpPr/>
          <p:nvPr/>
        </p:nvSpPr>
        <p:spPr>
          <a:xfrm>
            <a:off x="315380" y="157163"/>
            <a:ext cx="2320664" cy="620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C820DA93-DD31-8A20-A928-9D23A8766885}"/>
              </a:ext>
            </a:extLst>
          </p:cNvPr>
          <p:cNvGraphicFramePr>
            <a:graphicFrameLocks noGrp="1"/>
          </p:cNvGraphicFramePr>
          <p:nvPr>
            <p:extLst>
              <p:ext uri="{D42A27DB-BD31-4B8C-83A1-F6EECF244321}">
                <p14:modId xmlns:p14="http://schemas.microsoft.com/office/powerpoint/2010/main" val="3631710555"/>
              </p:ext>
            </p:extLst>
          </p:nvPr>
        </p:nvGraphicFramePr>
        <p:xfrm>
          <a:off x="345285" y="418678"/>
          <a:ext cx="11434765" cy="6400800"/>
        </p:xfrm>
        <a:graphic>
          <a:graphicData uri="http://schemas.openxmlformats.org/drawingml/2006/table">
            <a:tbl>
              <a:tblPr firstRow="1" bandRow="1">
                <a:tableStyleId>{5940675A-B579-460E-94D1-54222C63F5DA}</a:tableStyleId>
              </a:tblPr>
              <a:tblGrid>
                <a:gridCol w="2140745">
                  <a:extLst>
                    <a:ext uri="{9D8B030D-6E8A-4147-A177-3AD203B41FA5}">
                      <a16:colId xmlns:a16="http://schemas.microsoft.com/office/drawing/2014/main" val="3245709510"/>
                    </a:ext>
                  </a:extLst>
                </a:gridCol>
                <a:gridCol w="4647010">
                  <a:extLst>
                    <a:ext uri="{9D8B030D-6E8A-4147-A177-3AD203B41FA5}">
                      <a16:colId xmlns:a16="http://schemas.microsoft.com/office/drawing/2014/main" val="2288997959"/>
                    </a:ext>
                  </a:extLst>
                </a:gridCol>
                <a:gridCol w="4647010">
                  <a:extLst>
                    <a:ext uri="{9D8B030D-6E8A-4147-A177-3AD203B41FA5}">
                      <a16:colId xmlns:a16="http://schemas.microsoft.com/office/drawing/2014/main" val="2498370110"/>
                    </a:ext>
                  </a:extLst>
                </a:gridCol>
              </a:tblGrid>
              <a:tr h="365760">
                <a:tc>
                  <a:txBody>
                    <a:bodyPr/>
                    <a:lstStyle/>
                    <a:p>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b="1">
                          <a:solidFill>
                            <a:schemeClr val="bg1"/>
                          </a:solidFill>
                        </a:rPr>
                        <a:t>Value Income Assurance</a:t>
                      </a:r>
                    </a:p>
                    <a:p>
                      <a:pPr algn="ctr"/>
                      <a:r>
                        <a:rPr lang="en-US" sz="1600" b="1">
                          <a:solidFill>
                            <a:schemeClr val="bg1"/>
                          </a:solidFill>
                        </a:rPr>
                        <a:t>(VALUE+) – BCA Life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B6"/>
                    </a:solidFill>
                  </a:tcPr>
                </a:tc>
                <a:tc>
                  <a:txBody>
                    <a:bodyPr/>
                    <a:lstStyle/>
                    <a:p>
                      <a:pPr algn="ctr"/>
                      <a:r>
                        <a:rPr lang="en-US" sz="1600" b="1">
                          <a:solidFill>
                            <a:schemeClr val="bg1"/>
                          </a:solidFill>
                        </a:rPr>
                        <a:t>Asuransi Jiwa Smart Wealth Assurance – MSIG Life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808448995"/>
                  </a:ext>
                </a:extLst>
              </a:tr>
              <a:tr h="365760">
                <a:tc>
                  <a:txBody>
                    <a:bodyPr/>
                    <a:lstStyle/>
                    <a:p>
                      <a:r>
                        <a:rPr lang="en-US" sz="1600" b="1">
                          <a:solidFill>
                            <a:schemeClr val="bg1"/>
                          </a:solidFill>
                        </a:rPr>
                        <a:t>Channel</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Bancassurance BCA</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Bancassurance KB Bukopin</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9409271"/>
                  </a:ext>
                </a:extLst>
              </a:tr>
              <a:tr h="365760">
                <a:tc>
                  <a:txBody>
                    <a:bodyPr/>
                    <a:lstStyle/>
                    <a:p>
                      <a:r>
                        <a:rPr lang="en-US" sz="1600" b="1">
                          <a:solidFill>
                            <a:schemeClr val="bg1"/>
                          </a:solidFill>
                        </a:rPr>
                        <a:t>Mata Uang</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IDR &amp; USD</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IDR</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7206072"/>
                  </a:ext>
                </a:extLst>
              </a:tr>
              <a:tr h="365760">
                <a:tc>
                  <a:txBody>
                    <a:bodyPr/>
                    <a:lstStyle/>
                    <a:p>
                      <a:r>
                        <a:rPr lang="en-US" sz="1600" b="1" err="1">
                          <a:solidFill>
                            <a:schemeClr val="bg1"/>
                          </a:solidFill>
                        </a:rPr>
                        <a:t>Usia</a:t>
                      </a:r>
                      <a:r>
                        <a:rPr lang="en-US" sz="1600" b="1">
                          <a:solidFill>
                            <a:schemeClr val="bg1"/>
                          </a:solidFill>
                        </a:rPr>
                        <a:t> Masuk</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18 – 65 </a:t>
                      </a:r>
                      <a:r>
                        <a:rPr lang="en-US" sz="1600" err="1"/>
                        <a:t>tahun</a:t>
                      </a:r>
                      <a:r>
                        <a:rPr lang="en-US" sz="1600"/>
                        <a:t> (</a:t>
                      </a:r>
                      <a:r>
                        <a:rPr lang="en-US" sz="1600" i="1"/>
                        <a:t>last birthday</a:t>
                      </a:r>
                      <a:r>
                        <a:rPr lang="en-US" sz="1600"/>
                        <a:t>)</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1 bulan – 55 tahun</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2027130"/>
                  </a:ext>
                </a:extLst>
              </a:tr>
              <a:tr h="365760">
                <a:tc>
                  <a:txBody>
                    <a:bodyPr/>
                    <a:lstStyle/>
                    <a:p>
                      <a:r>
                        <a:rPr lang="en-US" sz="1600" b="1">
                          <a:solidFill>
                            <a:schemeClr val="bg1"/>
                          </a:solidFill>
                        </a:rPr>
                        <a:t>Masa </a:t>
                      </a:r>
                      <a:r>
                        <a:rPr lang="en-US" sz="1600" b="1" err="1">
                          <a:solidFill>
                            <a:schemeClr val="bg1"/>
                          </a:solidFill>
                        </a:rPr>
                        <a:t>Pertanggungan</a:t>
                      </a:r>
                      <a:endParaRPr lang="en-US" sz="1600" b="1">
                        <a:solidFill>
                          <a:schemeClr val="bg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20 </a:t>
                      </a:r>
                      <a:r>
                        <a:rPr lang="en-US" sz="1600" err="1"/>
                        <a:t>tahun</a:t>
                      </a: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Plan A: 15 tahun  |  Plan B &amp; C: 20 tahun</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19226"/>
                  </a:ext>
                </a:extLst>
              </a:tr>
              <a:tr h="365760">
                <a:tc>
                  <a:txBody>
                    <a:bodyPr/>
                    <a:lstStyle/>
                    <a:p>
                      <a:r>
                        <a:rPr lang="en-US" sz="1600" b="1">
                          <a:solidFill>
                            <a:schemeClr val="bg1"/>
                          </a:solidFill>
                        </a:rPr>
                        <a:t>Masa Pembayaran Premi (MPP)</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a:t>5/10 </a:t>
                      </a:r>
                      <a:r>
                        <a:rPr lang="en-US" sz="1600" err="1"/>
                        <a:t>tahun</a:t>
                      </a: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3/5/8 tahun</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8145412"/>
                  </a:ext>
                </a:extLst>
              </a:tr>
              <a:tr h="365760">
                <a:tc>
                  <a:txBody>
                    <a:bodyPr/>
                    <a:lstStyle/>
                    <a:p>
                      <a:r>
                        <a:rPr lang="en-US" sz="1600" b="1">
                          <a:solidFill>
                            <a:schemeClr val="bg1"/>
                          </a:solidFill>
                        </a:rPr>
                        <a:t>Frekuensi Pembayaran Premi</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err="1"/>
                        <a:t>Tahunan</a:t>
                      </a:r>
                      <a:r>
                        <a:rPr lang="en-US" sz="1600"/>
                        <a:t>/</a:t>
                      </a:r>
                      <a:r>
                        <a:rPr lang="en-US" sz="1600" err="1"/>
                        <a:t>Semesteran</a:t>
                      </a:r>
                      <a:r>
                        <a:rPr lang="en-US" sz="1600"/>
                        <a:t>/</a:t>
                      </a:r>
                      <a:r>
                        <a:rPr lang="en-US" sz="1600" err="1"/>
                        <a:t>Kuartalan</a:t>
                      </a:r>
                      <a:r>
                        <a:rPr lang="en-US" sz="1600"/>
                        <a:t>/</a:t>
                      </a:r>
                      <a:r>
                        <a:rPr lang="en-US" sz="1600" err="1"/>
                        <a:t>Bulanan</a:t>
                      </a: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Tahunan/Semesteran/Kuartalan/Bulanan</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67402484"/>
                  </a:ext>
                </a:extLst>
              </a:tr>
              <a:tr h="365760">
                <a:tc>
                  <a:txBody>
                    <a:bodyPr/>
                    <a:lstStyle/>
                    <a:p>
                      <a:r>
                        <a:rPr lang="en-US" sz="1600" b="1">
                          <a:solidFill>
                            <a:schemeClr val="bg1"/>
                          </a:solidFill>
                        </a:rPr>
                        <a:t>Metode </a:t>
                      </a:r>
                      <a:r>
                        <a:rPr lang="en-US" sz="1600" b="1" i="1">
                          <a:solidFill>
                            <a:schemeClr val="bg1"/>
                          </a:solidFill>
                        </a:rPr>
                        <a:t>Underwriting</a:t>
                      </a:r>
                      <a:endParaRPr lang="en-US" sz="1600" b="1">
                        <a:solidFill>
                          <a:schemeClr val="bg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600" i="1"/>
                        <a:t>Guaranteed Acceptance</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Full Underwriting</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4835606"/>
                  </a:ext>
                </a:extLst>
              </a:tr>
              <a:tr h="365760">
                <a:tc>
                  <a:txBody>
                    <a:bodyPr/>
                    <a:lstStyle/>
                    <a:p>
                      <a:r>
                        <a:rPr lang="en-US" sz="1600" b="1">
                          <a:solidFill>
                            <a:schemeClr val="bg1"/>
                          </a:solidFill>
                        </a:rPr>
                        <a:t>Minimum Premi</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endParaRPr lang="en-US" sz="1600"/>
                    </a:p>
                    <a:p>
                      <a:pPr algn="ctr"/>
                      <a:endParaRPr lang="en-US" sz="1600"/>
                    </a:p>
                    <a:p>
                      <a:pPr algn="ctr"/>
                      <a:endParaRPr lang="en-US" sz="1600"/>
                    </a:p>
                    <a:p>
                      <a:pPr algn="ctr"/>
                      <a:endParaRPr lang="en-US" sz="1600"/>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a:t>Rp12 juta/tahun</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3596887"/>
                  </a:ext>
                </a:extLst>
              </a:tr>
              <a:tr h="365760">
                <a:tc>
                  <a:txBody>
                    <a:bodyPr/>
                    <a:lstStyle/>
                    <a:p>
                      <a:r>
                        <a:rPr lang="en-US" sz="1600" b="1">
                          <a:solidFill>
                            <a:schemeClr val="bg1"/>
                          </a:solidFill>
                        </a:rPr>
                        <a:t>Manfaat Asuransi</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342900" indent="-342900" algn="just">
                        <a:buAutoNum type="arabicPeriod"/>
                      </a:pPr>
                      <a:r>
                        <a:rPr lang="en-US" sz="1600"/>
                        <a:t>Manfaat Meninggal Dunia</a:t>
                      </a:r>
                    </a:p>
                    <a:p>
                      <a:pPr marL="342900" indent="-342900" algn="just">
                        <a:buAutoNum type="arabicPeriod"/>
                      </a:pPr>
                      <a:r>
                        <a:rPr lang="en-US" sz="1600"/>
                        <a:t>Manfaat Akhir Masa Pertanggungan</a:t>
                      </a:r>
                    </a:p>
                    <a:p>
                      <a:pPr marL="342900" indent="-342900" algn="just">
                        <a:buAutoNum type="arabicPeriod"/>
                      </a:pPr>
                      <a:r>
                        <a:rPr lang="en-US" sz="1600"/>
                        <a:t>Manfaat Tunai Tahunan (khusus Plan Boost)</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indent="-342900" algn="l">
                        <a:buAutoNum type="arabicPeriod"/>
                      </a:pPr>
                      <a:r>
                        <a:rPr lang="en-US" sz="1600"/>
                        <a:t>Manfaat Meninggal Dunia</a:t>
                      </a:r>
                    </a:p>
                    <a:p>
                      <a:pPr marL="342900" indent="-342900" algn="l">
                        <a:buAutoNum type="arabicPeriod"/>
                      </a:pPr>
                      <a:r>
                        <a:rPr lang="en-US" sz="1600"/>
                        <a:t>Manfaat Meninggal Dunia Akibat Kecelakaan</a:t>
                      </a:r>
                    </a:p>
                    <a:p>
                      <a:pPr marL="342900" indent="-342900" algn="l">
                        <a:buAutoNum type="arabicPeriod"/>
                      </a:pPr>
                      <a:r>
                        <a:rPr lang="en-US" sz="1600"/>
                        <a:t>Manfaat Tahapan</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4085778"/>
                  </a:ext>
                </a:extLst>
              </a:tr>
              <a:tr h="365760">
                <a:tc>
                  <a:txBody>
                    <a:bodyPr/>
                    <a:lstStyle/>
                    <a:p>
                      <a:r>
                        <a:rPr lang="en-US" sz="1600" b="1">
                          <a:solidFill>
                            <a:schemeClr val="bg1"/>
                          </a:solidFill>
                        </a:rPr>
                        <a:t>Asuransi Tambahan (</a:t>
                      </a:r>
                      <a:r>
                        <a:rPr lang="en-US" sz="1600" b="1" i="1">
                          <a:solidFill>
                            <a:schemeClr val="bg1"/>
                          </a:solidFill>
                        </a:rPr>
                        <a:t>Rider</a:t>
                      </a:r>
                      <a:r>
                        <a:rPr lang="en-US" sz="1600" b="1" i="0">
                          <a:solidFill>
                            <a:schemeClr val="bg1"/>
                          </a:solidFill>
                        </a:rPr>
                        <a:t>)</a:t>
                      </a:r>
                      <a:endParaRPr lang="en-US" sz="1600" b="1">
                        <a:solidFill>
                          <a:schemeClr val="bg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indent="0" algn="ctr">
                        <a:buNone/>
                      </a:pPr>
                      <a:r>
                        <a:rPr lang="en-US" sz="1600"/>
                        <a:t>Payor Benefit Plus, Waiver of Premium Plus, Term Life</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None/>
                      </a:pPr>
                      <a:r>
                        <a:rPr lang="en-US" sz="1600"/>
                        <a:t>Tidak ada</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7012984"/>
                  </a:ext>
                </a:extLst>
              </a:tr>
              <a:tr h="365760">
                <a:tc>
                  <a:txBody>
                    <a:bodyPr/>
                    <a:lstStyle/>
                    <a:p>
                      <a:r>
                        <a:rPr lang="en-US" sz="1600" b="1">
                          <a:solidFill>
                            <a:schemeClr val="bg1"/>
                          </a:solidFill>
                        </a:rPr>
                        <a:t>Fasilitas Polis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indent="0" algn="ctr">
                        <a:buNone/>
                      </a:pPr>
                      <a:r>
                        <a:rPr lang="en-US" sz="1600"/>
                        <a:t>Penebusan Polis (Nilai Tebus)</a:t>
                      </a:r>
                    </a:p>
                  </a:txBody>
                  <a:tcPr anchor="ctr">
                    <a:lnL w="38100" cap="flat" cmpd="sng" algn="ctr">
                      <a:solidFill>
                        <a:schemeClr val="bg1"/>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None/>
                      </a:pPr>
                      <a:r>
                        <a:rPr lang="en-US" sz="1600"/>
                        <a:t>Penebusan Polis</a:t>
                      </a:r>
                    </a:p>
                  </a:txBody>
                  <a:tcPr anchor="ctr">
                    <a:lnL w="3810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7199992"/>
                  </a:ext>
                </a:extLst>
              </a:tr>
            </a:tbl>
          </a:graphicData>
        </a:graphic>
      </p:graphicFrame>
      <p:sp>
        <p:nvSpPr>
          <p:cNvPr id="5" name="Title 1">
            <a:extLst>
              <a:ext uri="{FF2B5EF4-FFF2-40B4-BE49-F238E27FC236}">
                <a16:creationId xmlns:a16="http://schemas.microsoft.com/office/drawing/2014/main" id="{7CCD5DBD-92B1-BFC0-B079-B9E702E5A9A9}"/>
              </a:ext>
            </a:extLst>
          </p:cNvPr>
          <p:cNvSpPr txBox="1">
            <a:spLocks/>
          </p:cNvSpPr>
          <p:nvPr/>
        </p:nvSpPr>
        <p:spPr>
          <a:xfrm>
            <a:off x="2974975" y="-5920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SPESIFIKASI PRODUK</a:t>
            </a:r>
            <a:endParaRPr lang="en-GB" sz="2400" b="1">
              <a:solidFill>
                <a:srgbClr val="002060"/>
              </a:solidFill>
              <a:highlight>
                <a:srgbClr val="FFFF00"/>
              </a:highlight>
              <a:latin typeface="Aptos" panose="020B0004020202020204" pitchFamily="34" charset="0"/>
            </a:endParaRPr>
          </a:p>
        </p:txBody>
      </p:sp>
      <p:pic>
        <p:nvPicPr>
          <p:cNvPr id="6" name="Picture 5">
            <a:extLst>
              <a:ext uri="{FF2B5EF4-FFF2-40B4-BE49-F238E27FC236}">
                <a16:creationId xmlns:a16="http://schemas.microsoft.com/office/drawing/2014/main" id="{718E62F4-9E1D-019A-C2EE-92DC6D3B95AE}"/>
              </a:ext>
            </a:extLst>
          </p:cNvPr>
          <p:cNvPicPr>
            <a:picLocks noChangeAspect="1"/>
          </p:cNvPicPr>
          <p:nvPr/>
        </p:nvPicPr>
        <p:blipFill>
          <a:blip r:embed="rId3"/>
          <a:stretch>
            <a:fillRect/>
          </a:stretch>
        </p:blipFill>
        <p:spPr>
          <a:xfrm>
            <a:off x="3011835" y="4037927"/>
            <a:ext cx="3528511" cy="975530"/>
          </a:xfrm>
          <a:prstGeom prst="rect">
            <a:avLst/>
          </a:prstGeom>
        </p:spPr>
      </p:pic>
    </p:spTree>
    <p:extLst>
      <p:ext uri="{BB962C8B-B14F-4D97-AF65-F5344CB8AC3E}">
        <p14:creationId xmlns:p14="http://schemas.microsoft.com/office/powerpoint/2010/main" val="152002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F113-6C39-B9CB-197F-4394AF5A26B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C37289E-247E-BFDA-3F66-FC6A36DCC2A7}"/>
              </a:ext>
            </a:extLst>
          </p:cNvPr>
          <p:cNvSpPr txBox="1">
            <a:spLocks/>
          </p:cNvSpPr>
          <p:nvPr/>
        </p:nvSpPr>
        <p:spPr>
          <a:xfrm>
            <a:off x="2974975" y="97946"/>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MANFAAT MENINGGAL DUNIA</a:t>
            </a:r>
            <a:endParaRPr lang="en-GB" sz="2400" b="1">
              <a:solidFill>
                <a:srgbClr val="002060"/>
              </a:solidFill>
              <a:highlight>
                <a:srgbClr val="FFFF00"/>
              </a:highlight>
              <a:latin typeface="Aptos" panose="020B0004020202020204" pitchFamily="34" charset="0"/>
            </a:endParaRPr>
          </a:p>
        </p:txBody>
      </p:sp>
      <p:sp>
        <p:nvSpPr>
          <p:cNvPr id="6" name="Rectangle: Rounded Corners 5">
            <a:extLst>
              <a:ext uri="{FF2B5EF4-FFF2-40B4-BE49-F238E27FC236}">
                <a16:creationId xmlns:a16="http://schemas.microsoft.com/office/drawing/2014/main" id="{ECA23F85-E904-917F-C392-D25DEEAEB053}"/>
              </a:ext>
            </a:extLst>
          </p:cNvPr>
          <p:cNvSpPr/>
          <p:nvPr/>
        </p:nvSpPr>
        <p:spPr>
          <a:xfrm>
            <a:off x="156148" y="663018"/>
            <a:ext cx="3874832" cy="524656"/>
          </a:xfrm>
          <a:prstGeom prst="roundRect">
            <a:avLst/>
          </a:prstGeom>
          <a:solidFill>
            <a:srgbClr val="00A6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rPr>
              <a:t>Value Income Assurance (VALUE+)</a:t>
            </a:r>
          </a:p>
        </p:txBody>
      </p:sp>
      <p:sp>
        <p:nvSpPr>
          <p:cNvPr id="7" name="Rectangle: Rounded Corners 6">
            <a:extLst>
              <a:ext uri="{FF2B5EF4-FFF2-40B4-BE49-F238E27FC236}">
                <a16:creationId xmlns:a16="http://schemas.microsoft.com/office/drawing/2014/main" id="{15B486C6-2700-81EF-B049-2900C249C942}"/>
              </a:ext>
            </a:extLst>
          </p:cNvPr>
          <p:cNvSpPr/>
          <p:nvPr/>
        </p:nvSpPr>
        <p:spPr>
          <a:xfrm>
            <a:off x="4158584" y="663018"/>
            <a:ext cx="3874832" cy="52465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t>Proteksi</a:t>
            </a:r>
            <a:r>
              <a:rPr lang="en-US" sz="1600" b="1"/>
              <a:t> Retirement </a:t>
            </a:r>
            <a:r>
              <a:rPr lang="en-US" sz="1600" b="1" err="1"/>
              <a:t>Maksima</a:t>
            </a:r>
            <a:r>
              <a:rPr lang="en-US" sz="1600" b="1"/>
              <a:t> (</a:t>
            </a:r>
            <a:r>
              <a:rPr lang="en-US" sz="1600" b="1" err="1"/>
              <a:t>RetirePlan</a:t>
            </a:r>
            <a:r>
              <a:rPr lang="en-US" sz="1600" b="1"/>
              <a:t>)</a:t>
            </a:r>
          </a:p>
        </p:txBody>
      </p:sp>
      <p:sp>
        <p:nvSpPr>
          <p:cNvPr id="8" name="Rectangle: Rounded Corners 7">
            <a:extLst>
              <a:ext uri="{FF2B5EF4-FFF2-40B4-BE49-F238E27FC236}">
                <a16:creationId xmlns:a16="http://schemas.microsoft.com/office/drawing/2014/main" id="{07FCFEBB-1BD2-A1B2-1ACE-1C713E1BFBDB}"/>
              </a:ext>
            </a:extLst>
          </p:cNvPr>
          <p:cNvSpPr/>
          <p:nvPr/>
        </p:nvSpPr>
        <p:spPr>
          <a:xfrm>
            <a:off x="8161020" y="663018"/>
            <a:ext cx="3874832" cy="52465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t>PRUSmart</a:t>
            </a:r>
            <a:r>
              <a:rPr lang="en-US" sz="1600" b="1"/>
              <a:t> Plan</a:t>
            </a:r>
          </a:p>
        </p:txBody>
      </p:sp>
      <p:sp>
        <p:nvSpPr>
          <p:cNvPr id="10" name="TextBox 9">
            <a:extLst>
              <a:ext uri="{FF2B5EF4-FFF2-40B4-BE49-F238E27FC236}">
                <a16:creationId xmlns:a16="http://schemas.microsoft.com/office/drawing/2014/main" id="{0B3A8938-7B21-C270-45A9-F8740CD8BF75}"/>
              </a:ext>
            </a:extLst>
          </p:cNvPr>
          <p:cNvSpPr txBox="1"/>
          <p:nvPr/>
        </p:nvSpPr>
        <p:spPr>
          <a:xfrm>
            <a:off x="247588" y="1195856"/>
            <a:ext cx="3691952" cy="3970318"/>
          </a:xfrm>
          <a:prstGeom prst="rect">
            <a:avLst/>
          </a:prstGeom>
          <a:noFill/>
        </p:spPr>
        <p:txBody>
          <a:bodyPr wrap="square">
            <a:spAutoFit/>
          </a:bodyPr>
          <a:lstStyle/>
          <a:p>
            <a:pPr algn="just"/>
            <a:r>
              <a:rPr lang="sv-SE" sz="1400" i="0" u="none" strike="noStrike" baseline="0">
                <a:latin typeface="Aptos" panose="020B0004020202020204" pitchFamily="34" charset="0"/>
              </a:rPr>
              <a:t>% dari total Premi Asuransi Dasar yang telah dibayarkan (tidak termasuk Premi Asuransi Tambahan (jika ada)) </a:t>
            </a:r>
            <a:r>
              <a:rPr lang="sv-SE" sz="1400" b="1" i="0" u="none" strike="noStrike" baseline="0">
                <a:latin typeface="Aptos" panose="020B0004020202020204" pitchFamily="34" charset="0"/>
              </a:rPr>
              <a:t>dikurangi</a:t>
            </a:r>
            <a:r>
              <a:rPr lang="sv-SE" sz="1400" i="0" u="none" strike="noStrike" baseline="0">
                <a:latin typeface="Aptos" panose="020B0004020202020204" pitchFamily="34" charset="0"/>
              </a:rPr>
              <a:t> dengan Manfaat Tunai Tahunan </a:t>
            </a:r>
            <a:r>
              <a:rPr lang="sv-SE" sz="1400">
                <a:latin typeface="Aptos" panose="020B0004020202020204" pitchFamily="34" charset="0"/>
              </a:rPr>
              <a:t>(jika ada).</a:t>
            </a:r>
          </a:p>
          <a:p>
            <a:pPr algn="just"/>
            <a:r>
              <a:rPr lang="sv-SE" sz="1400">
                <a:latin typeface="Aptos" panose="020B0004020202020204" pitchFamily="34" charset="0"/>
              </a:rPr>
              <a:t>Mata Uang Rupiah</a:t>
            </a: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r>
              <a:rPr lang="sv-SE" sz="1400">
                <a:latin typeface="Aptos" panose="020B0004020202020204" pitchFamily="34" charset="0"/>
              </a:rPr>
              <a:t>Mata Uang US Dollar</a:t>
            </a:r>
            <a:endParaRPr lang="en-US" sz="1400"/>
          </a:p>
        </p:txBody>
      </p:sp>
      <p:graphicFrame>
        <p:nvGraphicFramePr>
          <p:cNvPr id="11" name="Table 10">
            <a:extLst>
              <a:ext uri="{FF2B5EF4-FFF2-40B4-BE49-F238E27FC236}">
                <a16:creationId xmlns:a16="http://schemas.microsoft.com/office/drawing/2014/main" id="{6703FC04-25D7-C17C-0D94-280F8452A352}"/>
              </a:ext>
            </a:extLst>
          </p:cNvPr>
          <p:cNvGraphicFramePr>
            <a:graphicFrameLocks noGrp="1"/>
          </p:cNvGraphicFramePr>
          <p:nvPr>
            <p:extLst>
              <p:ext uri="{D42A27DB-BD31-4B8C-83A1-F6EECF244321}">
                <p14:modId xmlns:p14="http://schemas.microsoft.com/office/powerpoint/2010/main" val="4099743578"/>
              </p:ext>
            </p:extLst>
          </p:nvPr>
        </p:nvGraphicFramePr>
        <p:xfrm>
          <a:off x="306612" y="2325785"/>
          <a:ext cx="3497704" cy="2346960"/>
        </p:xfrm>
        <a:graphic>
          <a:graphicData uri="http://schemas.openxmlformats.org/drawingml/2006/table">
            <a:tbl>
              <a:tblPr firstRow="1" bandRow="1">
                <a:tableStyleId>{5940675A-B579-460E-94D1-54222C63F5DA}</a:tableStyleId>
              </a:tblPr>
              <a:tblGrid>
                <a:gridCol w="998344">
                  <a:extLst>
                    <a:ext uri="{9D8B030D-6E8A-4147-A177-3AD203B41FA5}">
                      <a16:colId xmlns:a16="http://schemas.microsoft.com/office/drawing/2014/main" val="2401790065"/>
                    </a:ext>
                  </a:extLst>
                </a:gridCol>
                <a:gridCol w="2499360">
                  <a:extLst>
                    <a:ext uri="{9D8B030D-6E8A-4147-A177-3AD203B41FA5}">
                      <a16:colId xmlns:a16="http://schemas.microsoft.com/office/drawing/2014/main" val="943987760"/>
                    </a:ext>
                  </a:extLst>
                </a:gridCol>
              </a:tblGrid>
              <a:tr h="359546">
                <a:tc>
                  <a:txBody>
                    <a:bodyPr/>
                    <a:lstStyle/>
                    <a:p>
                      <a:pPr algn="ctr"/>
                      <a:r>
                        <a:rPr lang="en-US" sz="1200" b="1" err="1">
                          <a:latin typeface="Aptos" panose="020B0004020202020204" pitchFamily="34" charset="0"/>
                        </a:rPr>
                        <a:t>Tahun</a:t>
                      </a:r>
                      <a:r>
                        <a:rPr lang="en-US" sz="1200" b="1">
                          <a:latin typeface="Aptos" panose="020B0004020202020204" pitchFamily="34" charset="0"/>
                        </a:rPr>
                        <a:t> Polis </a:t>
                      </a:r>
                      <a:r>
                        <a:rPr lang="en-US" sz="1200" b="1" err="1">
                          <a:latin typeface="Aptos" panose="020B0004020202020204" pitchFamily="34" charset="0"/>
                        </a:rPr>
                        <a:t>ke</a:t>
                      </a:r>
                      <a:r>
                        <a:rPr lang="en-US" sz="1200" b="1">
                          <a:latin typeface="Aptos" panose="020B0004020202020204" pitchFamily="34" charset="0"/>
                        </a:rPr>
                        <a:t>-</a:t>
                      </a:r>
                    </a:p>
                  </a:txBody>
                  <a:tcPr anchor="ctr">
                    <a:solidFill>
                      <a:schemeClr val="bg2"/>
                    </a:solidFill>
                  </a:tcPr>
                </a:tc>
                <a:tc>
                  <a:txBody>
                    <a:bodyPr/>
                    <a:lstStyle/>
                    <a:p>
                      <a:pPr marL="0" marR="0" algn="ctr">
                        <a:buNone/>
                      </a:pP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Persentase</a:t>
                      </a:r>
                      <a:r>
                        <a:rPr lang="en-ID" sz="1200" b="1">
                          <a:solidFill>
                            <a:srgbClr val="000000"/>
                          </a:solidFill>
                          <a:effectLst/>
                          <a:latin typeface="Aptos" panose="020B0004020202020204" pitchFamily="34" charset="0"/>
                          <a:ea typeface="MS Mincho" panose="02020609040205080304" pitchFamily="49" charset="-128"/>
                          <a:cs typeface="Calibri" panose="020F0502020204030204" pitchFamily="34" charset="0"/>
                        </a:rPr>
                        <a:t> Total Premi Asuransi Dasar yang Telah </a:t>
                      </a: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Dibayarkan</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10410693"/>
                  </a:ext>
                </a:extLst>
              </a:tr>
              <a:tr h="0">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886961144"/>
                  </a:ext>
                </a:extLst>
              </a:tr>
              <a:tr h="160743">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2 – 3 </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110%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9960616"/>
                  </a:ext>
                </a:extLst>
              </a:tr>
              <a:tr h="7727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4 – 5 </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115%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946373328"/>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6 – 7</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2972212"/>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8 – 9 </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125%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768706553"/>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10 – 11</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130%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770780923"/>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12 – 13</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135%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910017942"/>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14 – 15</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140%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73305260"/>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16 – 17</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145%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377151378"/>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18 – 20</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150%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574778960"/>
                  </a:ext>
                </a:extLst>
              </a:tr>
            </a:tbl>
          </a:graphicData>
        </a:graphic>
      </p:graphicFrame>
      <p:graphicFrame>
        <p:nvGraphicFramePr>
          <p:cNvPr id="12" name="Table 11">
            <a:extLst>
              <a:ext uri="{FF2B5EF4-FFF2-40B4-BE49-F238E27FC236}">
                <a16:creationId xmlns:a16="http://schemas.microsoft.com/office/drawing/2014/main" id="{C1957134-97A1-6D98-9665-05BC0FD132EB}"/>
              </a:ext>
            </a:extLst>
          </p:cNvPr>
          <p:cNvGraphicFramePr>
            <a:graphicFrameLocks noGrp="1"/>
          </p:cNvGraphicFramePr>
          <p:nvPr>
            <p:extLst>
              <p:ext uri="{D42A27DB-BD31-4B8C-83A1-F6EECF244321}">
                <p14:modId xmlns:p14="http://schemas.microsoft.com/office/powerpoint/2010/main" val="213772022"/>
              </p:ext>
            </p:extLst>
          </p:nvPr>
        </p:nvGraphicFramePr>
        <p:xfrm>
          <a:off x="306612" y="5096734"/>
          <a:ext cx="3533868" cy="1402080"/>
        </p:xfrm>
        <a:graphic>
          <a:graphicData uri="http://schemas.openxmlformats.org/drawingml/2006/table">
            <a:tbl>
              <a:tblPr firstRow="1" bandRow="1">
                <a:tableStyleId>{5940675A-B579-460E-94D1-54222C63F5DA}</a:tableStyleId>
              </a:tblPr>
              <a:tblGrid>
                <a:gridCol w="996408">
                  <a:extLst>
                    <a:ext uri="{9D8B030D-6E8A-4147-A177-3AD203B41FA5}">
                      <a16:colId xmlns:a16="http://schemas.microsoft.com/office/drawing/2014/main" val="2401790065"/>
                    </a:ext>
                  </a:extLst>
                </a:gridCol>
                <a:gridCol w="2537460">
                  <a:extLst>
                    <a:ext uri="{9D8B030D-6E8A-4147-A177-3AD203B41FA5}">
                      <a16:colId xmlns:a16="http://schemas.microsoft.com/office/drawing/2014/main" val="943987760"/>
                    </a:ext>
                  </a:extLst>
                </a:gridCol>
              </a:tblGrid>
              <a:tr h="359546">
                <a:tc>
                  <a:txBody>
                    <a:bodyPr/>
                    <a:lstStyle/>
                    <a:p>
                      <a:pPr algn="ctr"/>
                      <a:r>
                        <a:rPr lang="en-US" sz="1200" b="1" err="1">
                          <a:latin typeface="Aptos" panose="020B0004020202020204" pitchFamily="34" charset="0"/>
                        </a:rPr>
                        <a:t>Tahun</a:t>
                      </a:r>
                      <a:r>
                        <a:rPr lang="en-US" sz="1200" b="1">
                          <a:latin typeface="Aptos" panose="020B0004020202020204" pitchFamily="34" charset="0"/>
                        </a:rPr>
                        <a:t> Polis </a:t>
                      </a:r>
                      <a:r>
                        <a:rPr lang="en-US" sz="1200" b="1" err="1">
                          <a:latin typeface="Aptos" panose="020B0004020202020204" pitchFamily="34" charset="0"/>
                        </a:rPr>
                        <a:t>ke</a:t>
                      </a:r>
                      <a:r>
                        <a:rPr lang="en-US" sz="1200" b="1">
                          <a:latin typeface="Aptos" panose="020B0004020202020204" pitchFamily="34" charset="0"/>
                        </a:rPr>
                        <a:t>-</a:t>
                      </a:r>
                    </a:p>
                  </a:txBody>
                  <a:tcPr anchor="ctr">
                    <a:solidFill>
                      <a:schemeClr val="bg2"/>
                    </a:solidFill>
                  </a:tcPr>
                </a:tc>
                <a:tc>
                  <a:txBody>
                    <a:bodyPr/>
                    <a:lstStyle/>
                    <a:p>
                      <a:pPr marL="0" marR="0" algn="ctr">
                        <a:buNone/>
                      </a:pP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Persentase</a:t>
                      </a:r>
                      <a:r>
                        <a:rPr lang="en-ID" sz="1200" b="1">
                          <a:solidFill>
                            <a:srgbClr val="000000"/>
                          </a:solidFill>
                          <a:effectLst/>
                          <a:latin typeface="Aptos" panose="020B0004020202020204" pitchFamily="34" charset="0"/>
                          <a:ea typeface="MS Mincho" panose="02020609040205080304" pitchFamily="49" charset="-128"/>
                          <a:cs typeface="Calibri" panose="020F0502020204030204" pitchFamily="34" charset="0"/>
                        </a:rPr>
                        <a:t> Total Premi Asuransi Dasar yang Telah </a:t>
                      </a:r>
                      <a:r>
                        <a:rPr lang="en-ID" sz="1200" b="1" err="1">
                          <a:solidFill>
                            <a:srgbClr val="000000"/>
                          </a:solidFill>
                          <a:effectLst/>
                          <a:latin typeface="Aptos" panose="020B0004020202020204" pitchFamily="34" charset="0"/>
                          <a:ea typeface="MS Mincho" panose="02020609040205080304" pitchFamily="49" charset="-128"/>
                          <a:cs typeface="Calibri" panose="020F0502020204030204" pitchFamily="34" charset="0"/>
                        </a:rPr>
                        <a:t>Dibayarkan</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10410693"/>
                  </a:ext>
                </a:extLst>
              </a:tr>
              <a:tr h="0">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100%</a:t>
                      </a:r>
                    </a:p>
                  </a:txBody>
                  <a:tcPr marL="68580" marR="68580" marT="0" marB="0" anchor="ctr"/>
                </a:tc>
                <a:extLst>
                  <a:ext uri="{0D108BD9-81ED-4DB2-BD59-A6C34878D82A}">
                    <a16:rowId xmlns:a16="http://schemas.microsoft.com/office/drawing/2014/main" val="2886961144"/>
                  </a:ext>
                </a:extLst>
              </a:tr>
              <a:tr h="42134">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2 – 5</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105%</a:t>
                      </a:r>
                    </a:p>
                  </a:txBody>
                  <a:tcPr marL="68580" marR="68580" marT="0" marB="0" anchor="ctr"/>
                </a:tc>
                <a:extLst>
                  <a:ext uri="{0D108BD9-81ED-4DB2-BD59-A6C34878D82A}">
                    <a16:rowId xmlns:a16="http://schemas.microsoft.com/office/drawing/2014/main" val="319960616"/>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6 – 10</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110%</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2972212"/>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11 – 15</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115%</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768706553"/>
                  </a:ext>
                </a:extLst>
              </a:tr>
              <a:tr h="185765">
                <a:tc>
                  <a:txBody>
                    <a:bodyPr/>
                    <a:lstStyle/>
                    <a:p>
                      <a:pPr marL="0" marR="0" algn="ctr">
                        <a:lnSpc>
                          <a:spcPct val="107000"/>
                        </a:lnSpc>
                        <a:spcAft>
                          <a:spcPts val="800"/>
                        </a:spcAft>
                        <a:buNone/>
                      </a:pPr>
                      <a:r>
                        <a:rPr lang="en-US" sz="1200">
                          <a:effectLst/>
                          <a:latin typeface="Aptos" panose="020B0004020202020204" pitchFamily="34" charset="0"/>
                          <a:ea typeface="Calibri" panose="020F0502020204030204" pitchFamily="34" charset="0"/>
                          <a:cs typeface="Calibri" panose="020F0502020204030204" pitchFamily="34" charset="0"/>
                        </a:rPr>
                        <a:t>16 – 20</a:t>
                      </a:r>
                      <a:endParaRPr lang="en-US" sz="1200">
                        <a:effectLst/>
                        <a:latin typeface="Aptos" panose="020B00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buNone/>
                      </a:pPr>
                      <a:r>
                        <a:rPr lang="en-US" sz="1200">
                          <a:solidFill>
                            <a:srgbClr val="000000"/>
                          </a:solidFill>
                          <a:effectLst/>
                          <a:latin typeface="Aptos" panose="020B0004020202020204" pitchFamily="34" charset="0"/>
                          <a:ea typeface="Calibri" panose="020F0502020204030204" pitchFamily="34" charset="0"/>
                          <a:cs typeface="Calibri" panose="020F0502020204030204" pitchFamily="34" charset="0"/>
                        </a:rPr>
                        <a:t>120%</a:t>
                      </a:r>
                      <a:endParaRPr lang="en-US" sz="24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770780923"/>
                  </a:ext>
                </a:extLst>
              </a:tr>
            </a:tbl>
          </a:graphicData>
        </a:graphic>
      </p:graphicFrame>
      <p:sp>
        <p:nvSpPr>
          <p:cNvPr id="13" name="TextBox 12">
            <a:extLst>
              <a:ext uri="{FF2B5EF4-FFF2-40B4-BE49-F238E27FC236}">
                <a16:creationId xmlns:a16="http://schemas.microsoft.com/office/drawing/2014/main" id="{A31B3C85-5762-FEB1-96E7-6954A57E32DD}"/>
              </a:ext>
            </a:extLst>
          </p:cNvPr>
          <p:cNvSpPr txBox="1"/>
          <p:nvPr/>
        </p:nvSpPr>
        <p:spPr>
          <a:xfrm>
            <a:off x="4250024" y="1195856"/>
            <a:ext cx="3691952" cy="2893100"/>
          </a:xfrm>
          <a:prstGeom prst="rect">
            <a:avLst/>
          </a:prstGeom>
          <a:noFill/>
        </p:spPr>
        <p:txBody>
          <a:bodyPr wrap="square">
            <a:spAutoFit/>
          </a:bodyPr>
          <a:lstStyle/>
          <a:p>
            <a:pPr algn="just"/>
            <a:r>
              <a:rPr lang="sv-SE" sz="1400" b="1">
                <a:latin typeface="Aptos" panose="020B0004020202020204" pitchFamily="34" charset="0"/>
              </a:rPr>
              <a:t>Mana yang lebih besar </a:t>
            </a:r>
            <a:r>
              <a:rPr lang="sv-SE" sz="1400">
                <a:latin typeface="Aptos" panose="020B0004020202020204" pitchFamily="34" charset="0"/>
              </a:rPr>
              <a:t>dari:</a:t>
            </a:r>
          </a:p>
          <a:p>
            <a:pPr marL="342900" indent="-342900" algn="just">
              <a:buAutoNum type="arabicPeriod"/>
            </a:pPr>
            <a:r>
              <a:rPr lang="sv-SE" sz="1400">
                <a:latin typeface="Aptos" panose="020B0004020202020204" pitchFamily="34" charset="0"/>
              </a:rPr>
              <a:t>Persentase Premi yang sudah dibayarkan </a:t>
            </a:r>
            <a:r>
              <a:rPr lang="sv-SE" sz="1400" b="1">
                <a:latin typeface="Aptos" panose="020B0004020202020204" pitchFamily="34" charset="0"/>
              </a:rPr>
              <a:t>dikurangi</a:t>
            </a:r>
            <a:r>
              <a:rPr lang="sv-SE" sz="1400">
                <a:latin typeface="Aptos" panose="020B0004020202020204" pitchFamily="34" charset="0"/>
              </a:rPr>
              <a:t> manfaat tahunan dijamin yang sudah dibayarkan:</a:t>
            </a:r>
          </a:p>
          <a:p>
            <a:pPr marL="685800" indent="-342900" algn="just">
              <a:buAutoNum type="alphaLcPeriod"/>
            </a:pPr>
            <a:r>
              <a:rPr lang="sv-SE" sz="1400">
                <a:latin typeface="Aptos" panose="020B0004020202020204" pitchFamily="34" charset="0"/>
              </a:rPr>
              <a:t>Tahun Polis ke-1: 100% Premi</a:t>
            </a:r>
          </a:p>
          <a:p>
            <a:pPr marL="685800" indent="-342900" algn="just">
              <a:buAutoNum type="alphaLcPeriod"/>
            </a:pPr>
            <a:r>
              <a:rPr lang="sv-SE" sz="1400">
                <a:latin typeface="Aptos" panose="020B0004020202020204" pitchFamily="34" charset="0"/>
              </a:rPr>
              <a:t>Tahun Polis ke-2, dst: 110% Premi</a:t>
            </a:r>
          </a:p>
          <a:p>
            <a:pPr marL="342900" algn="just"/>
            <a:r>
              <a:rPr lang="sv-SE" sz="1400" b="1">
                <a:latin typeface="Aptos" panose="020B0004020202020204" pitchFamily="34" charset="0"/>
              </a:rPr>
              <a:t>ATAU</a:t>
            </a:r>
          </a:p>
          <a:p>
            <a:pPr marL="342900" indent="-342900" algn="just">
              <a:buFont typeface="+mj-lt"/>
              <a:buAutoNum type="arabicPeriod" startAt="2"/>
            </a:pPr>
            <a:r>
              <a:rPr lang="sv-SE" sz="1400">
                <a:latin typeface="Aptos" panose="020B0004020202020204" pitchFamily="34" charset="0"/>
              </a:rPr>
              <a:t>Nilai Tunai</a:t>
            </a:r>
          </a:p>
          <a:p>
            <a:pPr algn="just"/>
            <a:r>
              <a:rPr lang="sv-SE" sz="1400" b="1">
                <a:latin typeface="Aptos" panose="020B0004020202020204" pitchFamily="34" charset="0"/>
              </a:rPr>
              <a:t>Ditambah</a:t>
            </a:r>
            <a:r>
              <a:rPr lang="sv-SE" sz="1400">
                <a:latin typeface="Aptos" panose="020B0004020202020204" pitchFamily="34" charset="0"/>
              </a:rPr>
              <a:t> akumulasi manfaat tahunan dijamin dan akumulasi manfaat tahunan tidak dijamin (jika ada) berikut bunga (apabila manfaat ini tidak diambil); dan bonus akhir Polis (jika ada)</a:t>
            </a:r>
            <a:endParaRPr lang="en-US" sz="1400"/>
          </a:p>
        </p:txBody>
      </p:sp>
      <p:sp>
        <p:nvSpPr>
          <p:cNvPr id="14" name="TextBox 13">
            <a:extLst>
              <a:ext uri="{FF2B5EF4-FFF2-40B4-BE49-F238E27FC236}">
                <a16:creationId xmlns:a16="http://schemas.microsoft.com/office/drawing/2014/main" id="{E1BA515A-4BD5-2822-2A87-51069B360C06}"/>
              </a:ext>
            </a:extLst>
          </p:cNvPr>
          <p:cNvSpPr txBox="1"/>
          <p:nvPr/>
        </p:nvSpPr>
        <p:spPr>
          <a:xfrm>
            <a:off x="8279068" y="1195856"/>
            <a:ext cx="3691952" cy="5909310"/>
          </a:xfrm>
          <a:prstGeom prst="rect">
            <a:avLst/>
          </a:prstGeom>
          <a:noFill/>
        </p:spPr>
        <p:txBody>
          <a:bodyPr wrap="square">
            <a:spAutoFit/>
          </a:bodyPr>
          <a:lstStyle/>
          <a:p>
            <a:pPr marL="342900" indent="-342900" algn="just">
              <a:buAutoNum type="arabicPeriod"/>
            </a:pPr>
            <a:r>
              <a:rPr lang="sv-SE" sz="1400">
                <a:latin typeface="Aptos" panose="020B0004020202020204" pitchFamily="34" charset="0"/>
              </a:rPr>
              <a:t>Meninggal</a:t>
            </a:r>
            <a:r>
              <a:rPr lang="sv-SE" sz="1400" b="1">
                <a:latin typeface="Aptos" panose="020B0004020202020204" pitchFamily="34" charset="0"/>
              </a:rPr>
              <a:t> sebelum seluruh Premi dibayar lunas</a:t>
            </a:r>
          </a:p>
          <a:p>
            <a:pPr marL="285750" indent="-285750" algn="just">
              <a:buFontTx/>
              <a:buChar char="-"/>
            </a:pPr>
            <a:r>
              <a:rPr lang="sv-SE" sz="1400">
                <a:latin typeface="Aptos" panose="020B0004020202020204" pitchFamily="34" charset="0"/>
              </a:rPr>
              <a:t>5% dari Total Premi yang telah dibayarkan</a:t>
            </a:r>
          </a:p>
          <a:p>
            <a:pPr marL="285750" indent="-285750" algn="just">
              <a:buFontTx/>
              <a:buChar char="-"/>
            </a:pPr>
            <a:r>
              <a:rPr lang="sv-SE" sz="1400">
                <a:latin typeface="Aptos" panose="020B0004020202020204" pitchFamily="34" charset="0"/>
              </a:rPr>
              <a:t>Manfaat Tunai Tahunan dihitung secara prorata </a:t>
            </a:r>
          </a:p>
          <a:p>
            <a:pPr marL="285750" indent="-285750" algn="just">
              <a:buFontTx/>
              <a:buChar char="-"/>
            </a:pPr>
            <a:r>
              <a:rPr lang="sv-SE" sz="1400">
                <a:latin typeface="Aptos" panose="020B0004020202020204" pitchFamily="34" charset="0"/>
              </a:rPr>
              <a:t>Manfaat Akhir Pertanggungan secara prorata</a:t>
            </a:r>
          </a:p>
          <a:p>
            <a:pPr algn="just"/>
            <a:endParaRPr lang="sv-SE" sz="1400" b="1">
              <a:latin typeface="Aptos" panose="020B0004020202020204" pitchFamily="34" charset="0"/>
            </a:endParaRPr>
          </a:p>
          <a:p>
            <a:pPr marL="342900" indent="-342900" algn="just">
              <a:buFont typeface="+mj-lt"/>
              <a:buAutoNum type="arabicPeriod" startAt="2"/>
            </a:pPr>
            <a:r>
              <a:rPr lang="sv-SE" sz="1400">
                <a:latin typeface="Aptos" panose="020B0004020202020204" pitchFamily="34" charset="0"/>
              </a:rPr>
              <a:t>Meninggal</a:t>
            </a:r>
            <a:r>
              <a:rPr lang="sv-SE" sz="1400" b="1">
                <a:latin typeface="Aptos" panose="020B0004020202020204" pitchFamily="34" charset="0"/>
              </a:rPr>
              <a:t> setelah seluruh Premi dibayar lunas </a:t>
            </a:r>
            <a:r>
              <a:rPr lang="sv-SE" sz="1400">
                <a:latin typeface="Aptos" panose="020B0004020202020204" pitchFamily="34" charset="0"/>
              </a:rPr>
              <a:t>dan</a:t>
            </a:r>
            <a:r>
              <a:rPr lang="sv-SE" sz="1400" b="1">
                <a:latin typeface="Aptos" panose="020B0004020202020204" pitchFamily="34" charset="0"/>
              </a:rPr>
              <a:t> belum ada Manfaat Tunai Tahunan yang dibayarkan</a:t>
            </a:r>
          </a:p>
          <a:p>
            <a:pPr marL="285750" indent="-285750" algn="just">
              <a:buFontTx/>
              <a:buChar char="-"/>
            </a:pPr>
            <a:r>
              <a:rPr lang="sv-SE" sz="1400">
                <a:latin typeface="Aptos" panose="020B0004020202020204" pitchFamily="34" charset="0"/>
              </a:rPr>
              <a:t>Santunan Meninggal Dunia</a:t>
            </a:r>
          </a:p>
          <a:p>
            <a:pPr marL="284163" algn="just"/>
            <a:r>
              <a:rPr lang="sv-SE" sz="1400">
                <a:latin typeface="Aptos" panose="020B0004020202020204" pitchFamily="34" charset="0"/>
              </a:rPr>
              <a:t>MPP 6 tahun: 100% dari Premi Tahunan</a:t>
            </a:r>
          </a:p>
          <a:p>
            <a:pPr marL="284163" algn="just"/>
            <a:r>
              <a:rPr lang="sv-SE" sz="1400">
                <a:latin typeface="Aptos" panose="020B0004020202020204" pitchFamily="34" charset="0"/>
              </a:rPr>
              <a:t>MPP 8 tahun: 150% dari Premi Tahunan</a:t>
            </a:r>
          </a:p>
          <a:p>
            <a:pPr marL="285750" indent="-285750" algn="just">
              <a:buFontTx/>
              <a:buChar char="-"/>
            </a:pPr>
            <a:r>
              <a:rPr lang="sv-SE" sz="1400">
                <a:latin typeface="Aptos" panose="020B0004020202020204" pitchFamily="34" charset="0"/>
              </a:rPr>
              <a:t>Manfaat Tunai Tahunan</a:t>
            </a:r>
          </a:p>
          <a:p>
            <a:pPr marL="285750" indent="-285750" algn="just">
              <a:buFontTx/>
              <a:buChar char="-"/>
            </a:pPr>
            <a:r>
              <a:rPr lang="sv-SE" sz="1400">
                <a:latin typeface="Aptos" panose="020B0004020202020204" pitchFamily="34" charset="0"/>
              </a:rPr>
              <a:t>Manfaat Akhir Pertanggungan</a:t>
            </a:r>
          </a:p>
          <a:p>
            <a:pPr algn="just"/>
            <a:endParaRPr lang="sv-SE" sz="1400" b="1">
              <a:latin typeface="Aptos" panose="020B0004020202020204" pitchFamily="34" charset="0"/>
            </a:endParaRPr>
          </a:p>
          <a:p>
            <a:pPr marL="342900" indent="-342900" algn="just">
              <a:buFont typeface="+mj-lt"/>
              <a:buAutoNum type="arabicPeriod" startAt="3"/>
            </a:pPr>
            <a:r>
              <a:rPr lang="sv-SE" sz="1400">
                <a:latin typeface="Aptos" panose="020B0004020202020204" pitchFamily="34" charset="0"/>
              </a:rPr>
              <a:t>Meninggal</a:t>
            </a:r>
            <a:r>
              <a:rPr lang="sv-SE" sz="1400" b="1">
                <a:latin typeface="Aptos" panose="020B0004020202020204" pitchFamily="34" charset="0"/>
              </a:rPr>
              <a:t> setelah seluruh Premi dibayar lunas </a:t>
            </a:r>
            <a:r>
              <a:rPr lang="sv-SE" sz="1400">
                <a:latin typeface="Aptos" panose="020B0004020202020204" pitchFamily="34" charset="0"/>
              </a:rPr>
              <a:t>dan</a:t>
            </a:r>
            <a:r>
              <a:rPr lang="sv-SE" sz="1400" b="1">
                <a:latin typeface="Aptos" panose="020B0004020202020204" pitchFamily="34" charset="0"/>
              </a:rPr>
              <a:t> sudah ada Manfaat Tunai Tahunan yang dibayarkan</a:t>
            </a:r>
          </a:p>
          <a:p>
            <a:pPr marL="285750" indent="-285750" algn="just">
              <a:buFontTx/>
              <a:buChar char="-"/>
            </a:pPr>
            <a:r>
              <a:rPr lang="sv-SE" sz="1400">
                <a:latin typeface="Aptos" panose="020B0004020202020204" pitchFamily="34" charset="0"/>
              </a:rPr>
              <a:t>Santunan Meninggal Dunia mengikuti tabel</a:t>
            </a:r>
          </a:p>
          <a:p>
            <a:pPr marL="284163" algn="just"/>
            <a:r>
              <a:rPr lang="sv-SE" sz="1400">
                <a:latin typeface="Aptos" panose="020B0004020202020204" pitchFamily="34" charset="0"/>
              </a:rPr>
              <a:t>MPP 6 tahun: 100% dari Premi Tahunan</a:t>
            </a:r>
          </a:p>
          <a:p>
            <a:pPr marL="284163" algn="just"/>
            <a:r>
              <a:rPr lang="sv-SE" sz="1400">
                <a:latin typeface="Aptos" panose="020B0004020202020204" pitchFamily="34" charset="0"/>
              </a:rPr>
              <a:t>MPP 8 tahun: 150% dari Premi Tahunan</a:t>
            </a:r>
          </a:p>
          <a:p>
            <a:pPr marL="285750" indent="-285750" algn="just">
              <a:buFontTx/>
              <a:buChar char="-"/>
            </a:pPr>
            <a:r>
              <a:rPr lang="sv-SE" sz="1400">
                <a:latin typeface="Aptos" panose="020B0004020202020204" pitchFamily="34" charset="0"/>
              </a:rPr>
              <a:t>Manfaat Tunai Tahunan </a:t>
            </a:r>
          </a:p>
          <a:p>
            <a:pPr marL="285750" indent="-285750" algn="just">
              <a:buFontTx/>
              <a:buChar char="-"/>
            </a:pPr>
            <a:r>
              <a:rPr lang="sv-SE" sz="1400">
                <a:latin typeface="Aptos" panose="020B0004020202020204" pitchFamily="34" charset="0"/>
              </a:rPr>
              <a:t>Manfaat Akhir Pertanggungan</a:t>
            </a:r>
          </a:p>
        </p:txBody>
      </p:sp>
      <p:sp>
        <p:nvSpPr>
          <p:cNvPr id="2" name="Rectangle: Rounded Corners 1">
            <a:extLst>
              <a:ext uri="{FF2B5EF4-FFF2-40B4-BE49-F238E27FC236}">
                <a16:creationId xmlns:a16="http://schemas.microsoft.com/office/drawing/2014/main" id="{A15AABC1-CE13-70E8-4F91-48F2DFC0C148}"/>
              </a:ext>
            </a:extLst>
          </p:cNvPr>
          <p:cNvSpPr/>
          <p:nvPr/>
        </p:nvSpPr>
        <p:spPr>
          <a:xfrm>
            <a:off x="4158584" y="4088956"/>
            <a:ext cx="3874832" cy="524656"/>
          </a:xfrm>
          <a:prstGeom prst="roundRect">
            <a:avLst/>
          </a:prstGeom>
          <a:solidFill>
            <a:schemeClr val="tx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Asuransi Jiwa Smart Wealth Assurance</a:t>
            </a:r>
          </a:p>
        </p:txBody>
      </p:sp>
      <p:sp>
        <p:nvSpPr>
          <p:cNvPr id="3" name="TextBox 2">
            <a:extLst>
              <a:ext uri="{FF2B5EF4-FFF2-40B4-BE49-F238E27FC236}">
                <a16:creationId xmlns:a16="http://schemas.microsoft.com/office/drawing/2014/main" id="{C75C2EA7-7238-F5C6-4FFD-C026CD1503DE}"/>
              </a:ext>
            </a:extLst>
          </p:cNvPr>
          <p:cNvSpPr txBox="1"/>
          <p:nvPr/>
        </p:nvSpPr>
        <p:spPr>
          <a:xfrm>
            <a:off x="4248150" y="4621794"/>
            <a:ext cx="3691952" cy="2246769"/>
          </a:xfrm>
          <a:prstGeom prst="rect">
            <a:avLst/>
          </a:prstGeom>
          <a:noFill/>
        </p:spPr>
        <p:txBody>
          <a:bodyPr wrap="square">
            <a:spAutoFit/>
          </a:bodyPr>
          <a:lstStyle/>
          <a:p>
            <a:pPr marL="342900" indent="-342900" algn="just">
              <a:buAutoNum type="arabicPeriod"/>
            </a:pPr>
            <a:r>
              <a:rPr lang="sv-SE" sz="1400" b="1">
                <a:latin typeface="Aptos" panose="020B0004020202020204" pitchFamily="34" charset="0"/>
              </a:rPr>
              <a:t>Manfaat Meninggal Dunia</a:t>
            </a:r>
          </a:p>
          <a:p>
            <a:pPr marL="342900" algn="just"/>
            <a:r>
              <a:rPr lang="sv-SE" sz="1400">
                <a:latin typeface="Aptos" panose="020B0004020202020204" pitchFamily="34" charset="0"/>
              </a:rPr>
              <a:t>110% dari Total Premi Pokok yang telah dibayarkan.</a:t>
            </a:r>
          </a:p>
          <a:p>
            <a:pPr marL="342900" algn="just"/>
            <a:r>
              <a:rPr lang="sv-SE" sz="1400">
                <a:latin typeface="Aptos" panose="020B0004020202020204" pitchFamily="34" charset="0"/>
              </a:rPr>
              <a:t>Jika Tertanggung meninggal selama MPP, maka Premi akan dibebaskan hingga akhir MPP.</a:t>
            </a:r>
          </a:p>
          <a:p>
            <a:pPr marL="342900" indent="-342900" algn="just">
              <a:buFont typeface="+mj-lt"/>
              <a:buAutoNum type="arabicPeriod" startAt="2"/>
            </a:pPr>
            <a:r>
              <a:rPr lang="sv-SE" sz="1400" b="1">
                <a:latin typeface="Aptos" panose="020B0004020202020204" pitchFamily="34" charset="0"/>
              </a:rPr>
              <a:t>Manfaat Meninggal Dunia Akibat Kecelakaan</a:t>
            </a:r>
          </a:p>
          <a:p>
            <a:pPr marL="342900" algn="just"/>
            <a:r>
              <a:rPr lang="sv-SE" sz="1400">
                <a:latin typeface="Aptos" panose="020B0004020202020204" pitchFamily="34" charset="0"/>
              </a:rPr>
              <a:t>Tambahan 110% dari Total Premi Pokok yang telah dibayarkan, maks Rp2 miliar.</a:t>
            </a:r>
            <a:endParaRPr lang="en-US" sz="1400"/>
          </a:p>
        </p:txBody>
      </p:sp>
    </p:spTree>
    <p:extLst>
      <p:ext uri="{BB962C8B-B14F-4D97-AF65-F5344CB8AC3E}">
        <p14:creationId xmlns:p14="http://schemas.microsoft.com/office/powerpoint/2010/main" val="3340694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B67AC-1A62-4EF7-67E1-062C9217804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AF18332-C821-623D-B989-C5877C4618E9}"/>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MANFAAT AKHIR MASA PERTANGGUNGAN</a:t>
            </a:r>
            <a:endParaRPr lang="en-GB" sz="2400" b="1">
              <a:solidFill>
                <a:srgbClr val="002060"/>
              </a:solidFill>
              <a:highlight>
                <a:srgbClr val="FFFF00"/>
              </a:highlight>
              <a:latin typeface="Aptos" panose="020B0004020202020204" pitchFamily="34" charset="0"/>
            </a:endParaRPr>
          </a:p>
        </p:txBody>
      </p:sp>
      <p:sp>
        <p:nvSpPr>
          <p:cNvPr id="6" name="Rectangle: Rounded Corners 5">
            <a:extLst>
              <a:ext uri="{FF2B5EF4-FFF2-40B4-BE49-F238E27FC236}">
                <a16:creationId xmlns:a16="http://schemas.microsoft.com/office/drawing/2014/main" id="{56D39D46-2374-B232-5655-C62EC14BA183}"/>
              </a:ext>
            </a:extLst>
          </p:cNvPr>
          <p:cNvSpPr/>
          <p:nvPr/>
        </p:nvSpPr>
        <p:spPr>
          <a:xfrm>
            <a:off x="156148" y="827332"/>
            <a:ext cx="3874832" cy="524656"/>
          </a:xfrm>
          <a:prstGeom prst="roundRect">
            <a:avLst/>
          </a:prstGeom>
          <a:solidFill>
            <a:srgbClr val="00A6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rPr>
              <a:t>Value Income Assurance (VALUE+)</a:t>
            </a:r>
          </a:p>
        </p:txBody>
      </p:sp>
      <p:sp>
        <p:nvSpPr>
          <p:cNvPr id="7" name="Rectangle: Rounded Corners 6">
            <a:extLst>
              <a:ext uri="{FF2B5EF4-FFF2-40B4-BE49-F238E27FC236}">
                <a16:creationId xmlns:a16="http://schemas.microsoft.com/office/drawing/2014/main" id="{359912AD-AE92-DB29-2DFB-4780A48F7ED4}"/>
              </a:ext>
            </a:extLst>
          </p:cNvPr>
          <p:cNvSpPr/>
          <p:nvPr/>
        </p:nvSpPr>
        <p:spPr>
          <a:xfrm>
            <a:off x="4158584" y="827332"/>
            <a:ext cx="3874832" cy="52465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t>Proteksi</a:t>
            </a:r>
            <a:r>
              <a:rPr lang="en-US" sz="1600" b="1"/>
              <a:t> Retirement </a:t>
            </a:r>
            <a:r>
              <a:rPr lang="en-US" sz="1600" b="1" err="1"/>
              <a:t>Maksima</a:t>
            </a:r>
            <a:r>
              <a:rPr lang="en-US" sz="1600" b="1"/>
              <a:t> (</a:t>
            </a:r>
            <a:r>
              <a:rPr lang="en-US" sz="1600" b="1" err="1"/>
              <a:t>RetirePlan</a:t>
            </a:r>
            <a:r>
              <a:rPr lang="en-US" sz="1600" b="1"/>
              <a:t>)</a:t>
            </a:r>
          </a:p>
        </p:txBody>
      </p:sp>
      <p:sp>
        <p:nvSpPr>
          <p:cNvPr id="8" name="Rectangle: Rounded Corners 7">
            <a:extLst>
              <a:ext uri="{FF2B5EF4-FFF2-40B4-BE49-F238E27FC236}">
                <a16:creationId xmlns:a16="http://schemas.microsoft.com/office/drawing/2014/main" id="{3C31A47C-BC83-8B12-ED0C-1EB712E2F433}"/>
              </a:ext>
            </a:extLst>
          </p:cNvPr>
          <p:cNvSpPr/>
          <p:nvPr/>
        </p:nvSpPr>
        <p:spPr>
          <a:xfrm>
            <a:off x="8161020" y="827332"/>
            <a:ext cx="3874832" cy="52465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t>PRUSmart</a:t>
            </a:r>
            <a:r>
              <a:rPr lang="en-US" sz="1600" b="1"/>
              <a:t> Plan</a:t>
            </a:r>
          </a:p>
        </p:txBody>
      </p:sp>
      <p:sp>
        <p:nvSpPr>
          <p:cNvPr id="10" name="TextBox 9">
            <a:extLst>
              <a:ext uri="{FF2B5EF4-FFF2-40B4-BE49-F238E27FC236}">
                <a16:creationId xmlns:a16="http://schemas.microsoft.com/office/drawing/2014/main" id="{C125DE56-175C-FE84-493B-1AED23F2CBEF}"/>
              </a:ext>
            </a:extLst>
          </p:cNvPr>
          <p:cNvSpPr txBox="1"/>
          <p:nvPr/>
        </p:nvSpPr>
        <p:spPr>
          <a:xfrm>
            <a:off x="247588" y="1360170"/>
            <a:ext cx="3691952" cy="738664"/>
          </a:xfrm>
          <a:prstGeom prst="rect">
            <a:avLst/>
          </a:prstGeom>
          <a:noFill/>
        </p:spPr>
        <p:txBody>
          <a:bodyPr wrap="square">
            <a:spAutoFit/>
          </a:bodyPr>
          <a:lstStyle/>
          <a:p>
            <a:pPr algn="just"/>
            <a:r>
              <a:rPr lang="sv-SE" sz="1400" i="0" u="none" strike="noStrike" baseline="0">
                <a:latin typeface="Aptos" panose="020B0004020202020204" pitchFamily="34" charset="0"/>
              </a:rPr>
              <a:t>% dari total Premi Asuransi Dasar yang disetahunkan (tidak termasuk Premi Asuransi Tambahan (jika ada))</a:t>
            </a:r>
            <a:endParaRPr lang="en-US" sz="1400"/>
          </a:p>
        </p:txBody>
      </p:sp>
      <p:sp>
        <p:nvSpPr>
          <p:cNvPr id="13" name="TextBox 12">
            <a:extLst>
              <a:ext uri="{FF2B5EF4-FFF2-40B4-BE49-F238E27FC236}">
                <a16:creationId xmlns:a16="http://schemas.microsoft.com/office/drawing/2014/main" id="{8B9CA65C-BAAE-C1AA-F46C-0C6EA36C5AB9}"/>
              </a:ext>
            </a:extLst>
          </p:cNvPr>
          <p:cNvSpPr txBox="1"/>
          <p:nvPr/>
        </p:nvSpPr>
        <p:spPr>
          <a:xfrm>
            <a:off x="4250024" y="1360170"/>
            <a:ext cx="3691952" cy="2462213"/>
          </a:xfrm>
          <a:prstGeom prst="rect">
            <a:avLst/>
          </a:prstGeom>
          <a:noFill/>
        </p:spPr>
        <p:txBody>
          <a:bodyPr wrap="square">
            <a:spAutoFit/>
          </a:bodyPr>
          <a:lstStyle/>
          <a:p>
            <a:pPr marL="342900" indent="-342900" algn="just">
              <a:buAutoNum type="arabicPeriod"/>
            </a:pPr>
            <a:r>
              <a:rPr lang="en-US" sz="1400">
                <a:latin typeface="Aptos" panose="020B0004020202020204" pitchFamily="34" charset="0"/>
              </a:rPr>
              <a:t>Manfaat </a:t>
            </a:r>
            <a:r>
              <a:rPr lang="en-US" sz="1400" err="1">
                <a:latin typeface="Aptos" panose="020B0004020202020204" pitchFamily="34" charset="0"/>
              </a:rPr>
              <a:t>akhir</a:t>
            </a:r>
            <a:r>
              <a:rPr lang="en-US" sz="1400">
                <a:latin typeface="Aptos" panose="020B0004020202020204" pitchFamily="34" charset="0"/>
              </a:rPr>
              <a:t> Polis </a:t>
            </a:r>
            <a:r>
              <a:rPr lang="en-US" sz="1400" err="1">
                <a:latin typeface="Aptos" panose="020B0004020202020204" pitchFamily="34" charset="0"/>
              </a:rPr>
              <a:t>dijamin</a:t>
            </a: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r>
              <a:rPr lang="en-US" sz="1400">
                <a:latin typeface="Aptos" panose="020B0004020202020204" pitchFamily="34" charset="0"/>
              </a:rPr>
              <a:t>Bonus </a:t>
            </a:r>
            <a:r>
              <a:rPr lang="en-US" sz="1400" err="1">
                <a:latin typeface="Aptos" panose="020B0004020202020204" pitchFamily="34" charset="0"/>
              </a:rPr>
              <a:t>akhir</a:t>
            </a:r>
            <a:r>
              <a:rPr lang="en-US" sz="1400">
                <a:latin typeface="Aptos" panose="020B0004020202020204" pitchFamily="34" charset="0"/>
              </a:rPr>
              <a:t> Polis (</a:t>
            </a:r>
            <a:r>
              <a:rPr lang="en-US" sz="1400" err="1">
                <a:latin typeface="Aptos" panose="020B0004020202020204" pitchFamily="34" charset="0"/>
              </a:rPr>
              <a:t>jika</a:t>
            </a:r>
            <a:r>
              <a:rPr lang="en-US" sz="1400">
                <a:latin typeface="Aptos" panose="020B0004020202020204" pitchFamily="34" charset="0"/>
              </a:rPr>
              <a:t> </a:t>
            </a:r>
            <a:r>
              <a:rPr lang="en-US" sz="1400" err="1">
                <a:latin typeface="Aptos" panose="020B0004020202020204" pitchFamily="34" charset="0"/>
              </a:rPr>
              <a:t>ada</a:t>
            </a:r>
            <a:r>
              <a:rPr lang="en-US" sz="1400">
                <a:latin typeface="Aptos" panose="020B0004020202020204" pitchFamily="34" charset="0"/>
              </a:rPr>
              <a:t>)</a:t>
            </a:r>
          </a:p>
        </p:txBody>
      </p:sp>
      <p:sp>
        <p:nvSpPr>
          <p:cNvPr id="14" name="TextBox 13">
            <a:extLst>
              <a:ext uri="{FF2B5EF4-FFF2-40B4-BE49-F238E27FC236}">
                <a16:creationId xmlns:a16="http://schemas.microsoft.com/office/drawing/2014/main" id="{E1633E5B-FFD1-F5C0-1332-2578784B40FC}"/>
              </a:ext>
            </a:extLst>
          </p:cNvPr>
          <p:cNvSpPr txBox="1"/>
          <p:nvPr/>
        </p:nvSpPr>
        <p:spPr>
          <a:xfrm>
            <a:off x="8279068" y="1360170"/>
            <a:ext cx="3691952" cy="523220"/>
          </a:xfrm>
          <a:prstGeom prst="rect">
            <a:avLst/>
          </a:prstGeom>
          <a:noFill/>
        </p:spPr>
        <p:txBody>
          <a:bodyPr wrap="square">
            <a:spAutoFit/>
          </a:bodyPr>
          <a:lstStyle/>
          <a:p>
            <a:pPr algn="just"/>
            <a:r>
              <a:rPr lang="sv-SE" sz="1400" b="1">
                <a:latin typeface="Aptos" panose="020B0004020202020204" pitchFamily="34" charset="0"/>
              </a:rPr>
              <a:t>MPP 6 tahun</a:t>
            </a:r>
            <a:r>
              <a:rPr lang="sv-SE" sz="1400">
                <a:latin typeface="Aptos" panose="020B0004020202020204" pitchFamily="34" charset="0"/>
              </a:rPr>
              <a:t>: 600% dari Premi Tahunan</a:t>
            </a:r>
          </a:p>
          <a:p>
            <a:pPr algn="just"/>
            <a:r>
              <a:rPr lang="sv-SE" sz="1400" b="1">
                <a:latin typeface="Aptos" panose="020B0004020202020204" pitchFamily="34" charset="0"/>
              </a:rPr>
              <a:t>MPP 8 tahun</a:t>
            </a:r>
            <a:r>
              <a:rPr lang="sv-SE" sz="1400">
                <a:latin typeface="Aptos" panose="020B0004020202020204" pitchFamily="34" charset="0"/>
              </a:rPr>
              <a:t>: 920% dari Premi Tahunan</a:t>
            </a:r>
            <a:endParaRPr lang="en-US" sz="1400" b="1"/>
          </a:p>
        </p:txBody>
      </p:sp>
      <p:graphicFrame>
        <p:nvGraphicFramePr>
          <p:cNvPr id="4" name="Table 3">
            <a:extLst>
              <a:ext uri="{FF2B5EF4-FFF2-40B4-BE49-F238E27FC236}">
                <a16:creationId xmlns:a16="http://schemas.microsoft.com/office/drawing/2014/main" id="{F1D98F69-0B4A-4185-02CB-09CDBE5E4800}"/>
              </a:ext>
            </a:extLst>
          </p:cNvPr>
          <p:cNvGraphicFramePr>
            <a:graphicFrameLocks noGrp="1"/>
          </p:cNvGraphicFramePr>
          <p:nvPr>
            <p:extLst>
              <p:ext uri="{D42A27DB-BD31-4B8C-83A1-F6EECF244321}">
                <p14:modId xmlns:p14="http://schemas.microsoft.com/office/powerpoint/2010/main" val="2024076959"/>
              </p:ext>
            </p:extLst>
          </p:nvPr>
        </p:nvGraphicFramePr>
        <p:xfrm>
          <a:off x="220980" y="2107016"/>
          <a:ext cx="3562412" cy="1951789"/>
        </p:xfrm>
        <a:graphic>
          <a:graphicData uri="http://schemas.openxmlformats.org/drawingml/2006/table">
            <a:tbl>
              <a:tblPr firstRow="1" bandRow="1">
                <a:tableStyleId>{5940675A-B579-460E-94D1-54222C63F5DA}</a:tableStyleId>
              </a:tblPr>
              <a:tblGrid>
                <a:gridCol w="605852">
                  <a:extLst>
                    <a:ext uri="{9D8B030D-6E8A-4147-A177-3AD203B41FA5}">
                      <a16:colId xmlns:a16="http://schemas.microsoft.com/office/drawing/2014/main" val="1923200391"/>
                    </a:ext>
                  </a:extLst>
                </a:gridCol>
                <a:gridCol w="1013460">
                  <a:extLst>
                    <a:ext uri="{9D8B030D-6E8A-4147-A177-3AD203B41FA5}">
                      <a16:colId xmlns:a16="http://schemas.microsoft.com/office/drawing/2014/main" val="1473917447"/>
                    </a:ext>
                  </a:extLst>
                </a:gridCol>
                <a:gridCol w="971550">
                  <a:extLst>
                    <a:ext uri="{9D8B030D-6E8A-4147-A177-3AD203B41FA5}">
                      <a16:colId xmlns:a16="http://schemas.microsoft.com/office/drawing/2014/main" val="2774066979"/>
                    </a:ext>
                  </a:extLst>
                </a:gridCol>
                <a:gridCol w="971550">
                  <a:extLst>
                    <a:ext uri="{9D8B030D-6E8A-4147-A177-3AD203B41FA5}">
                      <a16:colId xmlns:a16="http://schemas.microsoft.com/office/drawing/2014/main" val="148790262"/>
                    </a:ext>
                  </a:extLst>
                </a:gridCol>
              </a:tblGrid>
              <a:tr h="304680">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Plan</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gridSpan="2">
                  <a:txBody>
                    <a:bodyPr/>
                    <a:lstStyle/>
                    <a:p>
                      <a:pPr marL="0" marR="0" algn="ctr">
                        <a:buNone/>
                      </a:pPr>
                      <a:r>
                        <a:rPr lang="id-ID" sz="1200" b="1">
                          <a:solidFill>
                            <a:srgbClr val="000000"/>
                          </a:solidFill>
                          <a:effectLst/>
                          <a:latin typeface="Aptos" panose="020B0004020202020204" pitchFamily="34" charset="0"/>
                        </a:rPr>
                        <a:t>Persentase Premi Asuransi Dasar yang Disetahunkan</a:t>
                      </a:r>
                      <a:endParaRPr lang="id-ID" sz="1200">
                        <a:effectLst/>
                        <a:latin typeface="Aptos" panose="020B0004020202020204" pitchFamily="34" charset="0"/>
                      </a:endParaRPr>
                    </a:p>
                  </a:txBody>
                  <a:tcPr marL="68580" marR="68580" marT="0" marB="0" anchor="ctr">
                    <a:solidFill>
                      <a:schemeClr val="bg2"/>
                    </a:solidFill>
                  </a:tcPr>
                </a:tc>
                <a:tc hMerge="1">
                  <a:txBody>
                    <a:bodyPr/>
                    <a:lstStyle/>
                    <a:p>
                      <a:endParaRPr/>
                    </a:p>
                  </a:txBody>
                  <a:tcPr marL="68580" marR="68580" marT="0" marB="0" anchor="ctr">
                    <a:solidFill>
                      <a:schemeClr val="bg2"/>
                    </a:solidFill>
                  </a:tcPr>
                </a:tc>
                <a:extLst>
                  <a:ext uri="{0D108BD9-81ED-4DB2-BD59-A6C34878D82A}">
                    <a16:rowId xmlns:a16="http://schemas.microsoft.com/office/drawing/2014/main" val="3301353083"/>
                  </a:ext>
                </a:extLst>
              </a:tr>
              <a:tr h="304680">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Rupiah</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US Dollar</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6990028"/>
                  </a:ext>
                </a:extLst>
              </a:tr>
              <a:tr h="282991">
                <a:tc rowSpan="2">
                  <a:txBody>
                    <a:bodyPr/>
                    <a:lstStyle/>
                    <a:p>
                      <a:pPr marL="0" marR="0" algn="ctr">
                        <a:buNone/>
                      </a:pPr>
                      <a:r>
                        <a:rPr lang="en-US" sz="1200">
                          <a:effectLst/>
                          <a:latin typeface="Aptos" panose="020B0004020202020204" pitchFamily="34" charset="0"/>
                          <a:ea typeface="Times New Roman" panose="02020603050405020304" pitchFamily="18" charset="0"/>
                        </a:rPr>
                        <a:t>Boost</a:t>
                      </a:r>
                      <a:endParaRPr lang="id-ID" sz="18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520%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405%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630407440"/>
                  </a:ext>
                </a:extLst>
              </a:tr>
              <a:tr h="196171">
                <a:tc vMerge="1">
                  <a:txBody>
                    <a:bodyPr/>
                    <a:lstStyle/>
                    <a:p>
                      <a:endParaRPr lang="id-ID"/>
                    </a:p>
                  </a:txBody>
                  <a:tcPr/>
                </a:tc>
                <a:tc>
                  <a:txBody>
                    <a:bodyPr/>
                    <a:lstStyle/>
                    <a:p>
                      <a:pPr algn="ctr"/>
                      <a:r>
                        <a:rPr lang="id-ID" sz="1200">
                          <a:latin typeface="Aptos" panose="020B0004020202020204" pitchFamily="34" charset="0"/>
                        </a:rPr>
                        <a:t>10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1.450%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1.100%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02680002"/>
                  </a:ext>
                </a:extLst>
              </a:tr>
              <a:tr h="266838">
                <a:tc rowSpan="2">
                  <a:txBody>
                    <a:bodyPr/>
                    <a:lstStyle/>
                    <a:p>
                      <a:pPr marL="0" marR="0" indent="0" algn="ctr">
                        <a:buNone/>
                      </a:pPr>
                      <a:r>
                        <a:rPr lang="en-US" sz="1200">
                          <a:effectLst/>
                          <a:latin typeface="Aptos" panose="020B0004020202020204" pitchFamily="34" charset="0"/>
                          <a:ea typeface="Times New Roman" panose="02020603050405020304" pitchFamily="18" charset="0"/>
                        </a:rPr>
                        <a:t>Core</a:t>
                      </a:r>
                      <a:endParaRPr lang="id-ID" sz="18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940%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675%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26052877"/>
                  </a:ext>
                </a:extLst>
              </a:tr>
              <a:tr h="196171">
                <a:tc vMerge="1">
                  <a:txBody>
                    <a:bodyPr/>
                    <a:lstStyle/>
                    <a:p>
                      <a:endParaRPr lang="id-ID"/>
                    </a:p>
                  </a:txBody>
                  <a:tcPr/>
                </a:tc>
                <a:tc>
                  <a:txBody>
                    <a:bodyPr/>
                    <a:lstStyle/>
                    <a:p>
                      <a:pPr algn="ctr"/>
                      <a:r>
                        <a:rPr lang="id-ID" sz="1200">
                          <a:latin typeface="Aptos" panose="020B0004020202020204" pitchFamily="34" charset="0"/>
                        </a:rPr>
                        <a:t>10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1.790%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1.320%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675628533"/>
                  </a:ext>
                </a:extLst>
              </a:tr>
            </a:tbl>
          </a:graphicData>
        </a:graphic>
      </p:graphicFrame>
      <p:graphicFrame>
        <p:nvGraphicFramePr>
          <p:cNvPr id="16" name="Table 15">
            <a:extLst>
              <a:ext uri="{FF2B5EF4-FFF2-40B4-BE49-F238E27FC236}">
                <a16:creationId xmlns:a16="http://schemas.microsoft.com/office/drawing/2014/main" id="{7A012654-3C82-EC1E-1D5F-8F872EFD8009}"/>
              </a:ext>
            </a:extLst>
          </p:cNvPr>
          <p:cNvGraphicFramePr>
            <a:graphicFrameLocks noGrp="1"/>
          </p:cNvGraphicFramePr>
          <p:nvPr>
            <p:extLst>
              <p:ext uri="{D42A27DB-BD31-4B8C-83A1-F6EECF244321}">
                <p14:modId xmlns:p14="http://schemas.microsoft.com/office/powerpoint/2010/main" val="2913720252"/>
              </p:ext>
            </p:extLst>
          </p:nvPr>
        </p:nvGraphicFramePr>
        <p:xfrm>
          <a:off x="4617720" y="1665056"/>
          <a:ext cx="2956560" cy="1768909"/>
        </p:xfrm>
        <a:graphic>
          <a:graphicData uri="http://schemas.openxmlformats.org/drawingml/2006/table">
            <a:tbl>
              <a:tblPr firstRow="1" bandRow="1">
                <a:tableStyleId>{5940675A-B579-460E-94D1-54222C63F5DA}</a:tableStyleId>
              </a:tblPr>
              <a:tblGrid>
                <a:gridCol w="1013460">
                  <a:extLst>
                    <a:ext uri="{9D8B030D-6E8A-4147-A177-3AD203B41FA5}">
                      <a16:colId xmlns:a16="http://schemas.microsoft.com/office/drawing/2014/main" val="1473917447"/>
                    </a:ext>
                  </a:extLst>
                </a:gridCol>
                <a:gridCol w="971550">
                  <a:extLst>
                    <a:ext uri="{9D8B030D-6E8A-4147-A177-3AD203B41FA5}">
                      <a16:colId xmlns:a16="http://schemas.microsoft.com/office/drawing/2014/main" val="2774066979"/>
                    </a:ext>
                  </a:extLst>
                </a:gridCol>
                <a:gridCol w="971550">
                  <a:extLst>
                    <a:ext uri="{9D8B030D-6E8A-4147-A177-3AD203B41FA5}">
                      <a16:colId xmlns:a16="http://schemas.microsoft.com/office/drawing/2014/main" val="148790262"/>
                    </a:ext>
                  </a:extLst>
                </a:gridCol>
              </a:tblGrid>
              <a:tr h="304680">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gridSpan="2">
                  <a:txBody>
                    <a:bodyPr/>
                    <a:lstStyle/>
                    <a:p>
                      <a:pPr marL="0" marR="0" algn="ctr">
                        <a:buNone/>
                      </a:pPr>
                      <a:r>
                        <a:rPr lang="en-US" sz="1200" b="1">
                          <a:solidFill>
                            <a:srgbClr val="000000"/>
                          </a:solidFill>
                          <a:effectLst/>
                          <a:latin typeface="Aptos" panose="020B0004020202020204" pitchFamily="34" charset="0"/>
                        </a:rPr>
                        <a:t>% Uang </a:t>
                      </a:r>
                      <a:r>
                        <a:rPr lang="en-US" sz="1200" b="1" err="1">
                          <a:solidFill>
                            <a:srgbClr val="000000"/>
                          </a:solidFill>
                          <a:effectLst/>
                          <a:latin typeface="Aptos" panose="020B0004020202020204" pitchFamily="34" charset="0"/>
                        </a:rPr>
                        <a:t>Pertanggungan</a:t>
                      </a:r>
                      <a:endParaRPr lang="en-US" sz="1200" b="1">
                        <a:solidFill>
                          <a:srgbClr val="000000"/>
                        </a:solidFill>
                        <a:effectLst/>
                        <a:latin typeface="Aptos" panose="020B0004020202020204" pitchFamily="34" charset="0"/>
                      </a:endParaRPr>
                    </a:p>
                    <a:p>
                      <a:pPr marL="0" marR="0" algn="ctr">
                        <a:buNone/>
                      </a:pPr>
                      <a:r>
                        <a:rPr lang="en-US" sz="1200" b="1">
                          <a:solidFill>
                            <a:srgbClr val="000000"/>
                          </a:solidFill>
                          <a:effectLst/>
                          <a:latin typeface="Aptos" panose="020B0004020202020204" pitchFamily="34" charset="0"/>
                        </a:rPr>
                        <a:t>(% Premi </a:t>
                      </a:r>
                      <a:r>
                        <a:rPr lang="en-US" sz="1200" b="1" err="1">
                          <a:solidFill>
                            <a:srgbClr val="000000"/>
                          </a:solidFill>
                          <a:effectLst/>
                          <a:latin typeface="Aptos" panose="020B0004020202020204" pitchFamily="34" charset="0"/>
                        </a:rPr>
                        <a:t>Tahunan</a:t>
                      </a:r>
                      <a:r>
                        <a:rPr lang="en-US" sz="1200" b="1">
                          <a:solidFill>
                            <a:srgbClr val="000000"/>
                          </a:solidFill>
                          <a:effectLst/>
                          <a:latin typeface="Aptos" panose="020B0004020202020204" pitchFamily="34" charset="0"/>
                        </a:rPr>
                        <a:t>)</a:t>
                      </a:r>
                      <a:endParaRPr lang="id-ID" sz="1200">
                        <a:effectLst/>
                        <a:latin typeface="Aptos" panose="020B0004020202020204" pitchFamily="34" charset="0"/>
                      </a:endParaRPr>
                    </a:p>
                  </a:txBody>
                  <a:tcPr marL="68580" marR="68580" marT="0" marB="0" anchor="ctr">
                    <a:solidFill>
                      <a:schemeClr val="bg2"/>
                    </a:solidFill>
                  </a:tcPr>
                </a:tc>
                <a:tc hMerge="1">
                  <a:txBody>
                    <a:bodyPr/>
                    <a:lstStyle/>
                    <a:p>
                      <a:endParaRPr/>
                    </a:p>
                  </a:txBody>
                  <a:tcPr marL="68580" marR="68580" marT="0" marB="0" anchor="ctr">
                    <a:solidFill>
                      <a:schemeClr val="bg2"/>
                    </a:solidFill>
                  </a:tcPr>
                </a:tc>
                <a:extLst>
                  <a:ext uri="{0D108BD9-81ED-4DB2-BD59-A6C34878D82A}">
                    <a16:rowId xmlns:a16="http://schemas.microsoft.com/office/drawing/2014/main" val="3301353083"/>
                  </a:ext>
                </a:extLst>
              </a:tr>
              <a:tr h="304680">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Rupiah</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US Dollar</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6990028"/>
                  </a:ext>
                </a:extLst>
              </a:tr>
              <a:tr h="282991">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150%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630407440"/>
                  </a:ext>
                </a:extLst>
              </a:tr>
              <a:tr h="196171">
                <a:tc>
                  <a:txBody>
                    <a:bodyPr/>
                    <a:lstStyle/>
                    <a:p>
                      <a:pPr algn="ctr"/>
                      <a:r>
                        <a:rPr lang="id-ID" sz="1200">
                          <a:latin typeface="Aptos" panose="020B0004020202020204" pitchFamily="34" charset="0"/>
                        </a:rPr>
                        <a:t>10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250%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02680002"/>
                  </a:ext>
                </a:extLst>
              </a:tr>
              <a:tr h="266838">
                <a:tc>
                  <a:txBody>
                    <a:bodyPr/>
                    <a:lstStyle/>
                    <a:p>
                      <a:pPr marL="0" marR="0" algn="ctr">
                        <a:buNone/>
                      </a:pPr>
                      <a:r>
                        <a:rPr lang="en-US" sz="1200">
                          <a:effectLst/>
                          <a:latin typeface="Aptos" panose="020B0004020202020204" pitchFamily="34" charset="0"/>
                          <a:ea typeface="Times New Roman" panose="02020603050405020304" pitchFamily="18" charset="0"/>
                        </a:rPr>
                        <a:t>1</a:t>
                      </a: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400%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300%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26052877"/>
                  </a:ext>
                </a:extLst>
              </a:tr>
              <a:tr h="196171">
                <a:tc>
                  <a:txBody>
                    <a:bodyPr/>
                    <a:lstStyle/>
                    <a:p>
                      <a:pPr algn="ctr"/>
                      <a:r>
                        <a:rPr lang="en-US" sz="1200">
                          <a:latin typeface="Aptos" panose="020B0004020202020204" pitchFamily="34" charset="0"/>
                        </a:rPr>
                        <a:t>2</a:t>
                      </a:r>
                      <a:r>
                        <a:rPr lang="id-ID" sz="1200">
                          <a:latin typeface="Aptos" panose="020B0004020202020204" pitchFamily="34" charset="0"/>
                        </a:rPr>
                        <a:t>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500%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400%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675628533"/>
                  </a:ext>
                </a:extLst>
              </a:tr>
            </a:tbl>
          </a:graphicData>
        </a:graphic>
      </p:graphicFrame>
    </p:spTree>
    <p:extLst>
      <p:ext uri="{BB962C8B-B14F-4D97-AF65-F5344CB8AC3E}">
        <p14:creationId xmlns:p14="http://schemas.microsoft.com/office/powerpoint/2010/main" val="40859737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FFBF9-DDEF-194C-334B-4F08EF3CDDC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A402573-7156-5D5E-2D19-218652680490}"/>
              </a:ext>
            </a:extLst>
          </p:cNvPr>
          <p:cNvSpPr txBox="1">
            <a:spLocks/>
          </p:cNvSpPr>
          <p:nvPr/>
        </p:nvSpPr>
        <p:spPr>
          <a:xfrm>
            <a:off x="2974975" y="197959"/>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MANFAAT TUNAI TAHUNAN</a:t>
            </a:r>
            <a:endParaRPr lang="en-GB" sz="2400" b="1">
              <a:solidFill>
                <a:srgbClr val="002060"/>
              </a:solidFill>
              <a:highlight>
                <a:srgbClr val="FFFF00"/>
              </a:highlight>
              <a:latin typeface="Aptos" panose="020B0004020202020204" pitchFamily="34" charset="0"/>
            </a:endParaRPr>
          </a:p>
        </p:txBody>
      </p:sp>
      <p:sp>
        <p:nvSpPr>
          <p:cNvPr id="6" name="Rectangle: Rounded Corners 5">
            <a:extLst>
              <a:ext uri="{FF2B5EF4-FFF2-40B4-BE49-F238E27FC236}">
                <a16:creationId xmlns:a16="http://schemas.microsoft.com/office/drawing/2014/main" id="{DE1349CA-E9BC-F97E-FA77-373956E35954}"/>
              </a:ext>
            </a:extLst>
          </p:cNvPr>
          <p:cNvSpPr/>
          <p:nvPr/>
        </p:nvSpPr>
        <p:spPr>
          <a:xfrm>
            <a:off x="156148" y="916666"/>
            <a:ext cx="3874832" cy="524656"/>
          </a:xfrm>
          <a:prstGeom prst="roundRect">
            <a:avLst/>
          </a:prstGeom>
          <a:solidFill>
            <a:srgbClr val="00A6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rPr>
              <a:t>Value Income Assurance (VALUE+)</a:t>
            </a:r>
          </a:p>
        </p:txBody>
      </p:sp>
      <p:sp>
        <p:nvSpPr>
          <p:cNvPr id="7" name="Rectangle: Rounded Corners 6">
            <a:extLst>
              <a:ext uri="{FF2B5EF4-FFF2-40B4-BE49-F238E27FC236}">
                <a16:creationId xmlns:a16="http://schemas.microsoft.com/office/drawing/2014/main" id="{595244B1-40F8-1C7A-B0B3-77BCF19D007E}"/>
              </a:ext>
            </a:extLst>
          </p:cNvPr>
          <p:cNvSpPr/>
          <p:nvPr/>
        </p:nvSpPr>
        <p:spPr>
          <a:xfrm>
            <a:off x="4158584" y="916666"/>
            <a:ext cx="3874832" cy="52465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t>Proteksi</a:t>
            </a:r>
            <a:r>
              <a:rPr lang="en-US" sz="1600" b="1"/>
              <a:t> Retirement </a:t>
            </a:r>
            <a:r>
              <a:rPr lang="en-US" sz="1600" b="1" err="1"/>
              <a:t>Maksima</a:t>
            </a:r>
            <a:r>
              <a:rPr lang="en-US" sz="1600" b="1"/>
              <a:t> (</a:t>
            </a:r>
            <a:r>
              <a:rPr lang="en-US" sz="1600" b="1" err="1"/>
              <a:t>RetirePlan</a:t>
            </a:r>
            <a:r>
              <a:rPr lang="en-US" sz="1600" b="1"/>
              <a:t>)</a:t>
            </a:r>
          </a:p>
        </p:txBody>
      </p:sp>
      <p:sp>
        <p:nvSpPr>
          <p:cNvPr id="8" name="Rectangle: Rounded Corners 7">
            <a:extLst>
              <a:ext uri="{FF2B5EF4-FFF2-40B4-BE49-F238E27FC236}">
                <a16:creationId xmlns:a16="http://schemas.microsoft.com/office/drawing/2014/main" id="{CDB5BE4D-C36B-E893-2B53-646A3713F74B}"/>
              </a:ext>
            </a:extLst>
          </p:cNvPr>
          <p:cNvSpPr/>
          <p:nvPr/>
        </p:nvSpPr>
        <p:spPr>
          <a:xfrm>
            <a:off x="8161020" y="916666"/>
            <a:ext cx="3874832" cy="52465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err="1"/>
              <a:t>PRUSmart</a:t>
            </a:r>
            <a:r>
              <a:rPr lang="en-US" sz="1600" b="1"/>
              <a:t> Plan</a:t>
            </a:r>
          </a:p>
        </p:txBody>
      </p:sp>
      <p:sp>
        <p:nvSpPr>
          <p:cNvPr id="10" name="TextBox 9">
            <a:extLst>
              <a:ext uri="{FF2B5EF4-FFF2-40B4-BE49-F238E27FC236}">
                <a16:creationId xmlns:a16="http://schemas.microsoft.com/office/drawing/2014/main" id="{DC0F7D02-3E65-A226-8CAE-5243BE06E822}"/>
              </a:ext>
            </a:extLst>
          </p:cNvPr>
          <p:cNvSpPr txBox="1"/>
          <p:nvPr/>
        </p:nvSpPr>
        <p:spPr>
          <a:xfrm>
            <a:off x="247588" y="1449504"/>
            <a:ext cx="3691952" cy="954107"/>
          </a:xfrm>
          <a:prstGeom prst="rect">
            <a:avLst/>
          </a:prstGeom>
          <a:noFill/>
        </p:spPr>
        <p:txBody>
          <a:bodyPr wrap="square">
            <a:spAutoFit/>
          </a:bodyPr>
          <a:lstStyle/>
          <a:p>
            <a:pPr algn="just"/>
            <a:r>
              <a:rPr lang="sv-SE" sz="1400" i="0" u="none" strike="noStrike" baseline="0">
                <a:latin typeface="Aptos" panose="020B0004020202020204" pitchFamily="34" charset="0"/>
              </a:rPr>
              <a:t>Dibayarkan secara berkala sebesar % dari total Premi Asuransi Dasar yang disetahunkan (tidak termasuk Premi Asuransi Tambahan (jika ada))</a:t>
            </a:r>
            <a:endParaRPr lang="en-US" sz="1400"/>
          </a:p>
        </p:txBody>
      </p:sp>
      <p:sp>
        <p:nvSpPr>
          <p:cNvPr id="13" name="TextBox 12">
            <a:extLst>
              <a:ext uri="{FF2B5EF4-FFF2-40B4-BE49-F238E27FC236}">
                <a16:creationId xmlns:a16="http://schemas.microsoft.com/office/drawing/2014/main" id="{1AE96248-A56D-9F69-A82A-26A894C17843}"/>
              </a:ext>
            </a:extLst>
          </p:cNvPr>
          <p:cNvSpPr txBox="1"/>
          <p:nvPr/>
        </p:nvSpPr>
        <p:spPr>
          <a:xfrm>
            <a:off x="4250024" y="1449504"/>
            <a:ext cx="3691952" cy="3754874"/>
          </a:xfrm>
          <a:prstGeom prst="rect">
            <a:avLst/>
          </a:prstGeom>
          <a:noFill/>
        </p:spPr>
        <p:txBody>
          <a:bodyPr wrap="square">
            <a:spAutoFit/>
          </a:bodyPr>
          <a:lstStyle/>
          <a:p>
            <a:pPr marL="342900" indent="-342900" algn="just">
              <a:buAutoNum type="arabicPeriod"/>
            </a:pPr>
            <a:r>
              <a:rPr lang="en-US" sz="1400">
                <a:latin typeface="Aptos" panose="020B0004020202020204" pitchFamily="34" charset="0"/>
              </a:rPr>
              <a:t>Manfaat </a:t>
            </a:r>
            <a:r>
              <a:rPr lang="en-US" sz="1400" err="1">
                <a:latin typeface="Aptos" panose="020B0004020202020204" pitchFamily="34" charset="0"/>
              </a:rPr>
              <a:t>tahunan</a:t>
            </a:r>
            <a:r>
              <a:rPr lang="en-US" sz="1400">
                <a:latin typeface="Aptos" panose="020B0004020202020204" pitchFamily="34" charset="0"/>
              </a:rPr>
              <a:t> </a:t>
            </a:r>
            <a:r>
              <a:rPr lang="en-US" sz="1400" err="1">
                <a:latin typeface="Aptos" panose="020B0004020202020204" pitchFamily="34" charset="0"/>
              </a:rPr>
              <a:t>dijamin</a:t>
            </a:r>
            <a:r>
              <a:rPr lang="en-US" sz="1400">
                <a:latin typeface="Aptos" panose="020B0004020202020204" pitchFamily="34" charset="0"/>
              </a:rPr>
              <a:t>  </a:t>
            </a:r>
            <a:r>
              <a:rPr lang="en-US" sz="1400" err="1">
                <a:latin typeface="Aptos" panose="020B0004020202020204" pitchFamily="34" charset="0"/>
              </a:rPr>
              <a:t>dibayarkan</a:t>
            </a:r>
            <a:r>
              <a:rPr lang="en-US" sz="1400">
                <a:latin typeface="Aptos" panose="020B0004020202020204" pitchFamily="34" charset="0"/>
              </a:rPr>
              <a:t> </a:t>
            </a:r>
            <a:r>
              <a:rPr lang="en-US" sz="1400" err="1">
                <a:latin typeface="Aptos" panose="020B0004020202020204" pitchFamily="34" charset="0"/>
              </a:rPr>
              <a:t>setiap</a:t>
            </a:r>
            <a:r>
              <a:rPr lang="en-US" sz="1400">
                <a:latin typeface="Aptos" panose="020B0004020202020204" pitchFamily="34" charset="0"/>
              </a:rPr>
              <a:t> </a:t>
            </a:r>
            <a:r>
              <a:rPr lang="en-US" sz="1400" err="1">
                <a:latin typeface="Aptos" panose="020B0004020202020204" pitchFamily="34" charset="0"/>
              </a:rPr>
              <a:t>tahun</a:t>
            </a:r>
            <a:r>
              <a:rPr lang="en-US" sz="1400">
                <a:latin typeface="Aptos" panose="020B0004020202020204" pitchFamily="34" charset="0"/>
              </a:rPr>
              <a:t> </a:t>
            </a:r>
            <a:r>
              <a:rPr lang="en-US" sz="1400" err="1">
                <a:latin typeface="Aptos" panose="020B0004020202020204" pitchFamily="34" charset="0"/>
              </a:rPr>
              <a:t>setelah</a:t>
            </a:r>
            <a:r>
              <a:rPr lang="en-US" sz="1400">
                <a:latin typeface="Aptos" panose="020B0004020202020204" pitchFamily="34" charset="0"/>
              </a:rPr>
              <a:t> </a:t>
            </a:r>
            <a:r>
              <a:rPr lang="en-US" sz="1400" err="1">
                <a:latin typeface="Aptos" panose="020B0004020202020204" pitchFamily="34" charset="0"/>
              </a:rPr>
              <a:t>periode</a:t>
            </a:r>
            <a:r>
              <a:rPr lang="en-US" sz="1400">
                <a:latin typeface="Aptos" panose="020B0004020202020204" pitchFamily="34" charset="0"/>
              </a:rPr>
              <a:t> Masa </a:t>
            </a:r>
            <a:r>
              <a:rPr lang="en-US" sz="1400" err="1">
                <a:latin typeface="Aptos" panose="020B0004020202020204" pitchFamily="34" charset="0"/>
              </a:rPr>
              <a:t>Pembayaran</a:t>
            </a:r>
            <a:r>
              <a:rPr lang="en-US" sz="1400">
                <a:latin typeface="Aptos" panose="020B0004020202020204" pitchFamily="34" charset="0"/>
              </a:rPr>
              <a:t> Premi </a:t>
            </a:r>
            <a:r>
              <a:rPr lang="en-US" sz="1400" err="1">
                <a:latin typeface="Aptos" panose="020B0004020202020204" pitchFamily="34" charset="0"/>
              </a:rPr>
              <a:t>berakhir</a:t>
            </a:r>
            <a:r>
              <a:rPr lang="en-US" sz="1400">
                <a:latin typeface="Aptos" panose="020B0004020202020204" pitchFamily="34" charset="0"/>
              </a:rPr>
              <a:t>, </a:t>
            </a:r>
            <a:r>
              <a:rPr lang="en-US" sz="1400" err="1">
                <a:latin typeface="Aptos" panose="020B0004020202020204" pitchFamily="34" charset="0"/>
              </a:rPr>
              <a:t>mulai</a:t>
            </a:r>
            <a:r>
              <a:rPr lang="en-US" sz="1400">
                <a:latin typeface="Aptos" panose="020B0004020202020204" pitchFamily="34" charset="0"/>
              </a:rPr>
              <a:t> </a:t>
            </a:r>
            <a:r>
              <a:rPr lang="en-US" sz="1400" err="1">
                <a:latin typeface="Aptos" panose="020B0004020202020204" pitchFamily="34" charset="0"/>
              </a:rPr>
              <a:t>akhir</a:t>
            </a:r>
            <a:r>
              <a:rPr lang="en-US" sz="1400">
                <a:latin typeface="Aptos" panose="020B0004020202020204" pitchFamily="34" charset="0"/>
              </a:rPr>
              <a:t> </a:t>
            </a:r>
            <a:r>
              <a:rPr lang="en-US" sz="1400" err="1">
                <a:latin typeface="Aptos" panose="020B0004020202020204" pitchFamily="34" charset="0"/>
              </a:rPr>
              <a:t>Tahun</a:t>
            </a:r>
            <a:r>
              <a:rPr lang="en-US" sz="1400">
                <a:latin typeface="Aptos" panose="020B0004020202020204" pitchFamily="34" charset="0"/>
              </a:rPr>
              <a:t> Polis </a:t>
            </a:r>
            <a:r>
              <a:rPr lang="en-US" sz="1400" err="1">
                <a:latin typeface="Aptos" panose="020B0004020202020204" pitchFamily="34" charset="0"/>
              </a:rPr>
              <a:t>berikutnya</a:t>
            </a:r>
            <a:r>
              <a:rPr lang="en-US" sz="1400">
                <a:latin typeface="Aptos" panose="020B0004020202020204" pitchFamily="34" charset="0"/>
              </a:rPr>
              <a:t> </a:t>
            </a:r>
            <a:r>
              <a:rPr lang="en-US" sz="1400" err="1">
                <a:latin typeface="Aptos" panose="020B0004020202020204" pitchFamily="34" charset="0"/>
              </a:rPr>
              <a:t>sampai</a:t>
            </a:r>
            <a:r>
              <a:rPr lang="en-US" sz="1400">
                <a:latin typeface="Aptos" panose="020B0004020202020204" pitchFamily="34" charset="0"/>
              </a:rPr>
              <a:t> </a:t>
            </a:r>
            <a:r>
              <a:rPr lang="en-US" sz="1400" err="1">
                <a:latin typeface="Aptos" panose="020B0004020202020204" pitchFamily="34" charset="0"/>
              </a:rPr>
              <a:t>dengan</a:t>
            </a:r>
            <a:r>
              <a:rPr lang="en-US" sz="1400">
                <a:latin typeface="Aptos" panose="020B0004020202020204" pitchFamily="34" charset="0"/>
              </a:rPr>
              <a:t> Masa </a:t>
            </a:r>
            <a:r>
              <a:rPr lang="en-US" sz="1400" err="1">
                <a:latin typeface="Aptos" panose="020B0004020202020204" pitchFamily="34" charset="0"/>
              </a:rPr>
              <a:t>Pembayaran</a:t>
            </a:r>
            <a:r>
              <a:rPr lang="en-US" sz="1400">
                <a:latin typeface="Aptos" panose="020B0004020202020204" pitchFamily="34" charset="0"/>
              </a:rPr>
              <a:t> Manfaat Tahunan Dijamin </a:t>
            </a:r>
            <a:r>
              <a:rPr lang="en-US" sz="1400" err="1">
                <a:latin typeface="Aptos" panose="020B0004020202020204" pitchFamily="34" charset="0"/>
              </a:rPr>
              <a:t>berakhir</a:t>
            </a:r>
            <a:r>
              <a:rPr lang="en-US" sz="1400">
                <a:latin typeface="Aptos" panose="020B0004020202020204" pitchFamily="34" charset="0"/>
              </a:rPr>
              <a:t>.</a:t>
            </a: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endParaRPr lang="en-US" sz="1400">
              <a:latin typeface="Aptos" panose="020B0004020202020204" pitchFamily="34" charset="0"/>
            </a:endParaRPr>
          </a:p>
          <a:p>
            <a:pPr marL="342900" indent="-342900" algn="just">
              <a:buAutoNum type="arabicPeriod"/>
            </a:pPr>
            <a:r>
              <a:rPr lang="en-US" sz="1400">
                <a:latin typeface="Aptos" panose="020B0004020202020204" pitchFamily="34" charset="0"/>
              </a:rPr>
              <a:t>Manfaat </a:t>
            </a:r>
            <a:r>
              <a:rPr lang="en-US" sz="1400" err="1">
                <a:latin typeface="Aptos" panose="020B0004020202020204" pitchFamily="34" charset="0"/>
              </a:rPr>
              <a:t>tahunan</a:t>
            </a:r>
            <a:r>
              <a:rPr lang="en-US" sz="1400">
                <a:latin typeface="Aptos" panose="020B0004020202020204" pitchFamily="34" charset="0"/>
              </a:rPr>
              <a:t> </a:t>
            </a:r>
            <a:r>
              <a:rPr lang="en-US" sz="1400" err="1">
                <a:latin typeface="Aptos" panose="020B0004020202020204" pitchFamily="34" charset="0"/>
              </a:rPr>
              <a:t>tidak</a:t>
            </a:r>
            <a:r>
              <a:rPr lang="en-US" sz="1400">
                <a:latin typeface="Aptos" panose="020B0004020202020204" pitchFamily="34" charset="0"/>
              </a:rPr>
              <a:t> </a:t>
            </a:r>
            <a:r>
              <a:rPr lang="en-US" sz="1400" err="1">
                <a:latin typeface="Aptos" panose="020B0004020202020204" pitchFamily="34" charset="0"/>
              </a:rPr>
              <a:t>dijamin</a:t>
            </a:r>
            <a:r>
              <a:rPr lang="en-US" sz="1400">
                <a:latin typeface="Aptos" panose="020B0004020202020204" pitchFamily="34" charset="0"/>
              </a:rPr>
              <a:t> (</a:t>
            </a:r>
            <a:r>
              <a:rPr lang="en-US" sz="1400" err="1">
                <a:latin typeface="Aptos" panose="020B0004020202020204" pitchFamily="34" charset="0"/>
              </a:rPr>
              <a:t>jika</a:t>
            </a:r>
            <a:r>
              <a:rPr lang="en-US" sz="1400">
                <a:latin typeface="Aptos" panose="020B0004020202020204" pitchFamily="34" charset="0"/>
              </a:rPr>
              <a:t> </a:t>
            </a:r>
            <a:r>
              <a:rPr lang="en-US" sz="1400" err="1">
                <a:latin typeface="Aptos" panose="020B0004020202020204" pitchFamily="34" charset="0"/>
              </a:rPr>
              <a:t>ada</a:t>
            </a:r>
            <a:r>
              <a:rPr lang="en-US" sz="1400">
                <a:latin typeface="Aptos" panose="020B0004020202020204" pitchFamily="34" charset="0"/>
              </a:rPr>
              <a:t>)</a:t>
            </a:r>
          </a:p>
        </p:txBody>
      </p:sp>
      <p:sp>
        <p:nvSpPr>
          <p:cNvPr id="14" name="TextBox 13">
            <a:extLst>
              <a:ext uri="{FF2B5EF4-FFF2-40B4-BE49-F238E27FC236}">
                <a16:creationId xmlns:a16="http://schemas.microsoft.com/office/drawing/2014/main" id="{DAF9A1F5-E286-999F-A8BA-D2D61012F06C}"/>
              </a:ext>
            </a:extLst>
          </p:cNvPr>
          <p:cNvSpPr txBox="1"/>
          <p:nvPr/>
        </p:nvSpPr>
        <p:spPr>
          <a:xfrm>
            <a:off x="8252460" y="1449504"/>
            <a:ext cx="3691952" cy="2677656"/>
          </a:xfrm>
          <a:prstGeom prst="rect">
            <a:avLst/>
          </a:prstGeom>
          <a:noFill/>
        </p:spPr>
        <p:txBody>
          <a:bodyPr wrap="square">
            <a:spAutoFit/>
          </a:bodyPr>
          <a:lstStyle/>
          <a:p>
            <a:pPr algn="just"/>
            <a:r>
              <a:rPr lang="sv-SE" sz="1400">
                <a:latin typeface="Aptos" panose="020B0004020202020204" pitchFamily="34" charset="0"/>
              </a:rPr>
              <a:t>Dibayarkan berkala sebesar % dari Premi Tahunan</a:t>
            </a: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endParaRPr lang="sv-SE" sz="1400">
              <a:latin typeface="Aptos" panose="020B0004020202020204" pitchFamily="34" charset="0"/>
            </a:endParaRPr>
          </a:p>
          <a:p>
            <a:pPr algn="just"/>
            <a:r>
              <a:rPr lang="sv-SE" sz="1400">
                <a:latin typeface="Aptos" panose="020B0004020202020204" pitchFamily="34" charset="0"/>
              </a:rPr>
              <a:t>Ada peningkatan pembayaran Manfaat Tunai Tahunan yang bertambah setiap tahunnya sebesar:</a:t>
            </a:r>
            <a:endParaRPr lang="en-US" sz="1400"/>
          </a:p>
        </p:txBody>
      </p:sp>
      <p:graphicFrame>
        <p:nvGraphicFramePr>
          <p:cNvPr id="4" name="Table 3">
            <a:extLst>
              <a:ext uri="{FF2B5EF4-FFF2-40B4-BE49-F238E27FC236}">
                <a16:creationId xmlns:a16="http://schemas.microsoft.com/office/drawing/2014/main" id="{DFCA9472-7180-6AAF-63A7-DDE7AD59BFA0}"/>
              </a:ext>
            </a:extLst>
          </p:cNvPr>
          <p:cNvGraphicFramePr>
            <a:graphicFrameLocks noGrp="1"/>
          </p:cNvGraphicFramePr>
          <p:nvPr>
            <p:extLst>
              <p:ext uri="{D42A27DB-BD31-4B8C-83A1-F6EECF244321}">
                <p14:modId xmlns:p14="http://schemas.microsoft.com/office/powerpoint/2010/main" val="1104975070"/>
              </p:ext>
            </p:extLst>
          </p:nvPr>
        </p:nvGraphicFramePr>
        <p:xfrm>
          <a:off x="211953" y="2411793"/>
          <a:ext cx="3753101" cy="1410631"/>
        </p:xfrm>
        <a:graphic>
          <a:graphicData uri="http://schemas.openxmlformats.org/drawingml/2006/table">
            <a:tbl>
              <a:tblPr firstRow="1" bandRow="1">
                <a:tableStyleId>{5940675A-B579-460E-94D1-54222C63F5DA}</a:tableStyleId>
              </a:tblPr>
              <a:tblGrid>
                <a:gridCol w="1024891">
                  <a:extLst>
                    <a:ext uri="{9D8B030D-6E8A-4147-A177-3AD203B41FA5}">
                      <a16:colId xmlns:a16="http://schemas.microsoft.com/office/drawing/2014/main" val="1473917447"/>
                    </a:ext>
                  </a:extLst>
                </a:gridCol>
                <a:gridCol w="886974">
                  <a:extLst>
                    <a:ext uri="{9D8B030D-6E8A-4147-A177-3AD203B41FA5}">
                      <a16:colId xmlns:a16="http://schemas.microsoft.com/office/drawing/2014/main" val="2774066979"/>
                    </a:ext>
                  </a:extLst>
                </a:gridCol>
                <a:gridCol w="886974">
                  <a:extLst>
                    <a:ext uri="{9D8B030D-6E8A-4147-A177-3AD203B41FA5}">
                      <a16:colId xmlns:a16="http://schemas.microsoft.com/office/drawing/2014/main" val="148790262"/>
                    </a:ext>
                  </a:extLst>
                </a:gridCol>
                <a:gridCol w="954262">
                  <a:extLst>
                    <a:ext uri="{9D8B030D-6E8A-4147-A177-3AD203B41FA5}">
                      <a16:colId xmlns:a16="http://schemas.microsoft.com/office/drawing/2014/main" val="1456141463"/>
                    </a:ext>
                  </a:extLst>
                </a:gridCol>
              </a:tblGrid>
              <a:tr h="304680">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gridSpan="2">
                  <a:txBody>
                    <a:bodyPr/>
                    <a:lstStyle/>
                    <a:p>
                      <a:pPr marL="0" marR="0" algn="ctr">
                        <a:buNone/>
                      </a:pPr>
                      <a:r>
                        <a:rPr lang="id-ID" sz="1200" b="1">
                          <a:solidFill>
                            <a:srgbClr val="000000"/>
                          </a:solidFill>
                          <a:effectLst/>
                          <a:latin typeface="Aptos" panose="020B0004020202020204" pitchFamily="34" charset="0"/>
                        </a:rPr>
                        <a:t>Persentase Premi Asuransi Dasar yang Disetahunkan</a:t>
                      </a:r>
                      <a:endParaRPr lang="id-ID" sz="1200">
                        <a:effectLst/>
                        <a:latin typeface="Aptos" panose="020B0004020202020204" pitchFamily="34" charset="0"/>
                      </a:endParaRPr>
                    </a:p>
                  </a:txBody>
                  <a:tcPr marL="68580" marR="68580" marT="0" marB="0" anchor="ctr">
                    <a:solidFill>
                      <a:schemeClr val="bg2"/>
                    </a:solidFill>
                  </a:tcPr>
                </a:tc>
                <a:tc hMerge="1">
                  <a:txBody>
                    <a:bodyPr/>
                    <a:lstStyle/>
                    <a:p>
                      <a:endParaRPr/>
                    </a:p>
                  </a:txBody>
                  <a:tcPr marL="68580" marR="68580" marT="0" marB="0" anchor="ctr">
                    <a:solidFill>
                      <a:schemeClr val="bg2"/>
                    </a:solidFill>
                  </a:tcPr>
                </a:tc>
                <a:tc rowSpan="2">
                  <a:txBody>
                    <a:bodyPr/>
                    <a:lstStyle/>
                    <a:p>
                      <a:pPr marL="0" marR="0" algn="ctr">
                        <a:buNone/>
                      </a:pPr>
                      <a:r>
                        <a:rPr lang="en-US" sz="1200" b="1" err="1">
                          <a:effectLst/>
                          <a:latin typeface="Aptos" panose="020B0004020202020204" pitchFamily="34" charset="0"/>
                        </a:rPr>
                        <a:t>Dibayarkan</a:t>
                      </a:r>
                      <a:r>
                        <a:rPr lang="en-US" sz="1200" b="1">
                          <a:effectLst/>
                          <a:latin typeface="Aptos" panose="020B0004020202020204" pitchFamily="34" charset="0"/>
                        </a:rPr>
                        <a:t> Mulai Akhir </a:t>
                      </a:r>
                      <a:r>
                        <a:rPr lang="en-US" sz="1200" b="1" err="1">
                          <a:effectLst/>
                          <a:latin typeface="Aptos" panose="020B0004020202020204" pitchFamily="34" charset="0"/>
                        </a:rPr>
                        <a:t>Tahun</a:t>
                      </a:r>
                      <a:r>
                        <a:rPr lang="en-US" sz="1200" b="1">
                          <a:effectLst/>
                          <a:latin typeface="Aptos" panose="020B0004020202020204" pitchFamily="34" charset="0"/>
                        </a:rPr>
                        <a:t> Polis </a:t>
                      </a:r>
                      <a:r>
                        <a:rPr lang="en-US" sz="1200" b="1" err="1">
                          <a:effectLst/>
                          <a:latin typeface="Aptos" panose="020B0004020202020204" pitchFamily="34" charset="0"/>
                        </a:rPr>
                        <a:t>ke</a:t>
                      </a:r>
                      <a:r>
                        <a:rPr lang="en-US" sz="1200" b="1">
                          <a:effectLst/>
                          <a:latin typeface="Aptos" panose="020B0004020202020204" pitchFamily="34" charset="0"/>
                        </a:rPr>
                        <a:t>-</a:t>
                      </a:r>
                      <a:endParaRPr lang="id-ID" sz="1200" b="1">
                        <a:effectLst/>
                        <a:latin typeface="Aptos" panose="020B0004020202020204" pitchFamily="34" charset="0"/>
                      </a:endParaRPr>
                    </a:p>
                  </a:txBody>
                  <a:tcPr marL="68580" marR="68580" marT="0" marB="0" anchor="ctr">
                    <a:solidFill>
                      <a:schemeClr val="bg2"/>
                    </a:solidFill>
                  </a:tcPr>
                </a:tc>
                <a:extLst>
                  <a:ext uri="{0D108BD9-81ED-4DB2-BD59-A6C34878D82A}">
                    <a16:rowId xmlns:a16="http://schemas.microsoft.com/office/drawing/2014/main" val="3301353083"/>
                  </a:ext>
                </a:extLst>
              </a:tr>
              <a:tr h="304680">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Rupiah</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US Dollar</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vMerge="1">
                  <a:txBody>
                    <a:bodyPr/>
                    <a:lstStyle/>
                    <a:p>
                      <a:pPr marL="0" marR="0" algn="ctr">
                        <a:buNone/>
                      </a:pP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6990028"/>
                  </a:ext>
                </a:extLst>
              </a:tr>
              <a:tr h="282991">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6</a:t>
                      </a:r>
                    </a:p>
                  </a:txBody>
                  <a:tcPr marL="68580" marR="68580" marT="0" marB="0" anchor="ctr"/>
                </a:tc>
                <a:extLst>
                  <a:ext uri="{0D108BD9-81ED-4DB2-BD59-A6C34878D82A}">
                    <a16:rowId xmlns:a16="http://schemas.microsoft.com/office/drawing/2014/main" val="2630407440"/>
                  </a:ext>
                </a:extLst>
              </a:tr>
              <a:tr h="196171">
                <a:tc>
                  <a:txBody>
                    <a:bodyPr/>
                    <a:lstStyle/>
                    <a:p>
                      <a:pPr algn="ctr"/>
                      <a:r>
                        <a:rPr lang="id-ID" sz="1200">
                          <a:latin typeface="Aptos" panose="020B0004020202020204" pitchFamily="34" charset="0"/>
                        </a:rPr>
                        <a:t>10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11</a:t>
                      </a:r>
                    </a:p>
                  </a:txBody>
                  <a:tcPr marL="68580" marR="68580" marT="0" marB="0" anchor="ctr"/>
                </a:tc>
                <a:extLst>
                  <a:ext uri="{0D108BD9-81ED-4DB2-BD59-A6C34878D82A}">
                    <a16:rowId xmlns:a16="http://schemas.microsoft.com/office/drawing/2014/main" val="402680002"/>
                  </a:ext>
                </a:extLst>
              </a:tr>
            </a:tbl>
          </a:graphicData>
        </a:graphic>
      </p:graphicFrame>
      <p:graphicFrame>
        <p:nvGraphicFramePr>
          <p:cNvPr id="16" name="Table 15">
            <a:extLst>
              <a:ext uri="{FF2B5EF4-FFF2-40B4-BE49-F238E27FC236}">
                <a16:creationId xmlns:a16="http://schemas.microsoft.com/office/drawing/2014/main" id="{BDA44084-5DD5-DA9C-49AA-BDB793F27CA6}"/>
              </a:ext>
            </a:extLst>
          </p:cNvPr>
          <p:cNvGraphicFramePr>
            <a:graphicFrameLocks noGrp="1"/>
          </p:cNvGraphicFramePr>
          <p:nvPr>
            <p:extLst>
              <p:ext uri="{D42A27DB-BD31-4B8C-83A1-F6EECF244321}">
                <p14:modId xmlns:p14="http://schemas.microsoft.com/office/powerpoint/2010/main" val="2651951610"/>
              </p:ext>
            </p:extLst>
          </p:nvPr>
        </p:nvGraphicFramePr>
        <p:xfrm>
          <a:off x="4136598" y="2815989"/>
          <a:ext cx="3918804" cy="2012869"/>
        </p:xfrm>
        <a:graphic>
          <a:graphicData uri="http://schemas.openxmlformats.org/drawingml/2006/table">
            <a:tbl>
              <a:tblPr firstRow="1" bandRow="1">
                <a:tableStyleId>{5940675A-B579-460E-94D1-54222C63F5DA}</a:tableStyleId>
              </a:tblPr>
              <a:tblGrid>
                <a:gridCol w="1061645">
                  <a:extLst>
                    <a:ext uri="{9D8B030D-6E8A-4147-A177-3AD203B41FA5}">
                      <a16:colId xmlns:a16="http://schemas.microsoft.com/office/drawing/2014/main" val="1473917447"/>
                    </a:ext>
                  </a:extLst>
                </a:gridCol>
                <a:gridCol w="1061645">
                  <a:extLst>
                    <a:ext uri="{9D8B030D-6E8A-4147-A177-3AD203B41FA5}">
                      <a16:colId xmlns:a16="http://schemas.microsoft.com/office/drawing/2014/main" val="3817986135"/>
                    </a:ext>
                  </a:extLst>
                </a:gridCol>
                <a:gridCol w="897757">
                  <a:extLst>
                    <a:ext uri="{9D8B030D-6E8A-4147-A177-3AD203B41FA5}">
                      <a16:colId xmlns:a16="http://schemas.microsoft.com/office/drawing/2014/main" val="2774066979"/>
                    </a:ext>
                  </a:extLst>
                </a:gridCol>
                <a:gridCol w="897757">
                  <a:extLst>
                    <a:ext uri="{9D8B030D-6E8A-4147-A177-3AD203B41FA5}">
                      <a16:colId xmlns:a16="http://schemas.microsoft.com/office/drawing/2014/main" val="148790262"/>
                    </a:ext>
                  </a:extLst>
                </a:gridCol>
              </a:tblGrid>
              <a:tr h="304680">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rowSpan="2">
                  <a:txBody>
                    <a:bodyPr/>
                    <a:lstStyle/>
                    <a:p>
                      <a:pPr marL="0" marR="0" algn="ctr">
                        <a:buNone/>
                      </a:pPr>
                      <a:r>
                        <a:rPr lang="en-US" sz="1200" b="1">
                          <a:effectLst/>
                          <a:latin typeface="Aptos" panose="020B0004020202020204" pitchFamily="34" charset="0"/>
                          <a:ea typeface="Times New Roman" panose="02020603050405020304" pitchFamily="18" charset="0"/>
                        </a:rPr>
                        <a:t>Masa Pembayaran Manfaat Tahunan Dijamin</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gridSpan="2">
                  <a:txBody>
                    <a:bodyPr/>
                    <a:lstStyle/>
                    <a:p>
                      <a:pPr marL="0" marR="0" algn="ctr">
                        <a:buNone/>
                      </a:pPr>
                      <a:r>
                        <a:rPr lang="en-US" sz="1200" b="1">
                          <a:solidFill>
                            <a:srgbClr val="000000"/>
                          </a:solidFill>
                          <a:effectLst/>
                          <a:latin typeface="Aptos" panose="020B0004020202020204" pitchFamily="34" charset="0"/>
                        </a:rPr>
                        <a:t>% Uang </a:t>
                      </a:r>
                      <a:r>
                        <a:rPr lang="en-US" sz="1200" b="1" err="1">
                          <a:solidFill>
                            <a:srgbClr val="000000"/>
                          </a:solidFill>
                          <a:effectLst/>
                          <a:latin typeface="Aptos" panose="020B0004020202020204" pitchFamily="34" charset="0"/>
                        </a:rPr>
                        <a:t>Pertanggungan</a:t>
                      </a:r>
                      <a:endParaRPr lang="en-US" sz="1200" b="1">
                        <a:solidFill>
                          <a:srgbClr val="000000"/>
                        </a:solidFill>
                        <a:effectLst/>
                        <a:latin typeface="Aptos" panose="020B0004020202020204" pitchFamily="34" charset="0"/>
                      </a:endParaRPr>
                    </a:p>
                    <a:p>
                      <a:pPr marL="0" marR="0" algn="ctr">
                        <a:buNone/>
                      </a:pPr>
                      <a:r>
                        <a:rPr lang="en-US" sz="1200" b="1">
                          <a:solidFill>
                            <a:srgbClr val="000000"/>
                          </a:solidFill>
                          <a:effectLst/>
                          <a:latin typeface="Aptos" panose="020B0004020202020204" pitchFamily="34" charset="0"/>
                        </a:rPr>
                        <a:t>(% Premi </a:t>
                      </a:r>
                      <a:r>
                        <a:rPr lang="en-US" sz="1200" b="1" err="1">
                          <a:solidFill>
                            <a:srgbClr val="000000"/>
                          </a:solidFill>
                          <a:effectLst/>
                          <a:latin typeface="Aptos" panose="020B0004020202020204" pitchFamily="34" charset="0"/>
                        </a:rPr>
                        <a:t>Tahunan</a:t>
                      </a:r>
                      <a:r>
                        <a:rPr lang="en-US" sz="1200" b="1">
                          <a:solidFill>
                            <a:srgbClr val="000000"/>
                          </a:solidFill>
                          <a:effectLst/>
                          <a:latin typeface="Aptos" panose="020B0004020202020204" pitchFamily="34" charset="0"/>
                        </a:rPr>
                        <a:t>)</a:t>
                      </a:r>
                      <a:endParaRPr lang="id-ID" sz="1200">
                        <a:effectLst/>
                        <a:latin typeface="Aptos" panose="020B0004020202020204" pitchFamily="34" charset="0"/>
                      </a:endParaRPr>
                    </a:p>
                  </a:txBody>
                  <a:tcPr marL="68580" marR="68580" marT="0" marB="0" anchor="ctr">
                    <a:solidFill>
                      <a:schemeClr val="bg2"/>
                    </a:solidFill>
                  </a:tcPr>
                </a:tc>
                <a:tc hMerge="1">
                  <a:txBody>
                    <a:bodyPr/>
                    <a:lstStyle/>
                    <a:p>
                      <a:endParaRPr/>
                    </a:p>
                  </a:txBody>
                  <a:tcPr marL="68580" marR="68580" marT="0" marB="0" anchor="ctr">
                    <a:solidFill>
                      <a:schemeClr val="bg2"/>
                    </a:solidFill>
                  </a:tcPr>
                </a:tc>
                <a:extLst>
                  <a:ext uri="{0D108BD9-81ED-4DB2-BD59-A6C34878D82A}">
                    <a16:rowId xmlns:a16="http://schemas.microsoft.com/office/drawing/2014/main" val="3301353083"/>
                  </a:ext>
                </a:extLst>
              </a:tr>
              <a:tr h="304680">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vMerge="1">
                  <a:txBody>
                    <a:bodyPr/>
                    <a:lstStyle/>
                    <a:p>
                      <a:endParaRPr lang="en-US"/>
                    </a:p>
                  </a:txBody>
                  <a:tcPr/>
                </a:tc>
                <a:tc>
                  <a:txBody>
                    <a:bodyPr/>
                    <a:lstStyle/>
                    <a:p>
                      <a:pPr marL="0" marR="0" algn="ctr">
                        <a:buNone/>
                      </a:pPr>
                      <a:r>
                        <a:rPr lang="en-US" sz="1200" b="1">
                          <a:effectLst/>
                          <a:latin typeface="Aptos" panose="020B0004020202020204" pitchFamily="34" charset="0"/>
                          <a:ea typeface="Times New Roman" panose="02020603050405020304" pitchFamily="18" charset="0"/>
                        </a:rPr>
                        <a:t>Rupiah</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US Dollar</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6990028"/>
                  </a:ext>
                </a:extLst>
              </a:tr>
              <a:tr h="282991">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US" sz="1200">
                          <a:effectLst/>
                          <a:latin typeface="Aptos" panose="020B0004020202020204" pitchFamily="34" charset="0"/>
                          <a:ea typeface="Times New Roman" panose="02020603050405020304" pitchFamily="18" charset="0"/>
                        </a:rPr>
                        <a:t>15 </a:t>
                      </a:r>
                      <a:r>
                        <a:rPr lang="en-US" sz="1200" err="1">
                          <a:effectLst/>
                          <a:latin typeface="Aptos" panose="020B0004020202020204" pitchFamily="34" charset="0"/>
                          <a:ea typeface="Times New Roman" panose="02020603050405020304" pitchFamily="18" charset="0"/>
                        </a:rPr>
                        <a:t>tahun</a:t>
                      </a:r>
                      <a:endParaRPr lang="id-ID" sz="12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35%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30%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630407440"/>
                  </a:ext>
                </a:extLst>
              </a:tr>
              <a:tr h="196171">
                <a:tc>
                  <a:txBody>
                    <a:bodyPr/>
                    <a:lstStyle/>
                    <a:p>
                      <a:pPr algn="ctr"/>
                      <a:r>
                        <a:rPr lang="id-ID" sz="1200">
                          <a:latin typeface="Aptos" panose="020B0004020202020204" pitchFamily="34" charset="0"/>
                        </a:rPr>
                        <a:t>10 tahun</a:t>
                      </a:r>
                    </a:p>
                  </a:txBody>
                  <a:tcPr/>
                </a:tc>
                <a:tc>
                  <a:txBody>
                    <a:bodyPr/>
                    <a:lstStyle/>
                    <a:p>
                      <a:pPr algn="ctr"/>
                      <a:r>
                        <a:rPr lang="en-US" sz="1200">
                          <a:latin typeface="Aptos" panose="020B0004020202020204" pitchFamily="34" charset="0"/>
                        </a:rPr>
                        <a:t>20 </a:t>
                      </a:r>
                      <a:r>
                        <a:rPr lang="en-US" sz="1200" err="1">
                          <a:latin typeface="Aptos" panose="020B0004020202020204" pitchFamily="34" charset="0"/>
                        </a:rPr>
                        <a:t>tahun</a:t>
                      </a:r>
                      <a:endParaRPr lang="id-ID" sz="1200">
                        <a:latin typeface="Aptos" panose="020B0004020202020204" pitchFamily="34" charset="0"/>
                      </a:endParaRP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70%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55%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02680002"/>
                  </a:ext>
                </a:extLst>
              </a:tr>
              <a:tr h="266838">
                <a:tc>
                  <a:txBody>
                    <a:bodyPr/>
                    <a:lstStyle/>
                    <a:p>
                      <a:pPr marL="0" marR="0" algn="ctr">
                        <a:buNone/>
                      </a:pPr>
                      <a:r>
                        <a:rPr lang="en-US" sz="1200">
                          <a:effectLst/>
                          <a:latin typeface="Aptos" panose="020B0004020202020204" pitchFamily="34" charset="0"/>
                          <a:ea typeface="Times New Roman" panose="02020603050405020304" pitchFamily="18" charset="0"/>
                        </a:rPr>
                        <a:t>1</a:t>
                      </a: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US" sz="1200">
                          <a:effectLst/>
                          <a:latin typeface="Aptos" panose="020B0004020202020204" pitchFamily="34" charset="0"/>
                          <a:ea typeface="Times New Roman" panose="02020603050405020304" pitchFamily="18" charset="0"/>
                        </a:rPr>
                        <a:t>25 </a:t>
                      </a:r>
                      <a:r>
                        <a:rPr lang="en-US" sz="1200" err="1">
                          <a:effectLst/>
                          <a:latin typeface="Aptos" panose="020B0004020202020204" pitchFamily="34" charset="0"/>
                          <a:ea typeface="Times New Roman" panose="02020603050405020304" pitchFamily="18" charset="0"/>
                        </a:rPr>
                        <a:t>tahun</a:t>
                      </a:r>
                      <a:endParaRPr lang="id-ID" sz="12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110%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75%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26052877"/>
                  </a:ext>
                </a:extLst>
              </a:tr>
              <a:tr h="196171">
                <a:tc>
                  <a:txBody>
                    <a:bodyPr/>
                    <a:lstStyle/>
                    <a:p>
                      <a:pPr algn="ctr"/>
                      <a:r>
                        <a:rPr lang="en-US" sz="1200">
                          <a:latin typeface="Aptos" panose="020B0004020202020204" pitchFamily="34" charset="0"/>
                        </a:rPr>
                        <a:t>2</a:t>
                      </a:r>
                      <a:r>
                        <a:rPr lang="id-ID" sz="1200">
                          <a:latin typeface="Aptos" panose="020B0004020202020204" pitchFamily="34" charset="0"/>
                        </a:rPr>
                        <a:t>0 tahun</a:t>
                      </a:r>
                    </a:p>
                  </a:txBody>
                  <a:tcPr/>
                </a:tc>
                <a:tc>
                  <a:txBody>
                    <a:bodyPr/>
                    <a:lstStyle/>
                    <a:p>
                      <a:pPr algn="ctr"/>
                      <a:r>
                        <a:rPr lang="en-US" sz="1200">
                          <a:latin typeface="Aptos" panose="020B0004020202020204" pitchFamily="34" charset="0"/>
                        </a:rPr>
                        <a:t>30 </a:t>
                      </a:r>
                      <a:r>
                        <a:rPr lang="en-US" sz="1200" err="1">
                          <a:latin typeface="Aptos" panose="020B0004020202020204" pitchFamily="34" charset="0"/>
                        </a:rPr>
                        <a:t>tahun</a:t>
                      </a:r>
                      <a:endParaRPr lang="id-ID" sz="1200">
                        <a:latin typeface="Aptos" panose="020B0004020202020204" pitchFamily="34" charset="0"/>
                      </a:endParaRP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130%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100%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675628533"/>
                  </a:ext>
                </a:extLst>
              </a:tr>
            </a:tbl>
          </a:graphicData>
        </a:graphic>
      </p:graphicFrame>
      <p:graphicFrame>
        <p:nvGraphicFramePr>
          <p:cNvPr id="2" name="Table 1">
            <a:extLst>
              <a:ext uri="{FF2B5EF4-FFF2-40B4-BE49-F238E27FC236}">
                <a16:creationId xmlns:a16="http://schemas.microsoft.com/office/drawing/2014/main" id="{4B6CE5C6-3825-3C32-3373-9171AC8DF901}"/>
              </a:ext>
            </a:extLst>
          </p:cNvPr>
          <p:cNvGraphicFramePr>
            <a:graphicFrameLocks noGrp="1"/>
          </p:cNvGraphicFramePr>
          <p:nvPr>
            <p:extLst>
              <p:ext uri="{D42A27DB-BD31-4B8C-83A1-F6EECF244321}">
                <p14:modId xmlns:p14="http://schemas.microsoft.com/office/powerpoint/2010/main" val="1631018184"/>
              </p:ext>
            </p:extLst>
          </p:nvPr>
        </p:nvGraphicFramePr>
        <p:xfrm>
          <a:off x="8343385" y="1972724"/>
          <a:ext cx="3510102" cy="1166671"/>
        </p:xfrm>
        <a:graphic>
          <a:graphicData uri="http://schemas.openxmlformats.org/drawingml/2006/table">
            <a:tbl>
              <a:tblPr firstRow="1" bandRow="1">
                <a:tableStyleId>{5940675A-B579-460E-94D1-54222C63F5DA}</a:tableStyleId>
              </a:tblPr>
              <a:tblGrid>
                <a:gridCol w="1070438">
                  <a:extLst>
                    <a:ext uri="{9D8B030D-6E8A-4147-A177-3AD203B41FA5}">
                      <a16:colId xmlns:a16="http://schemas.microsoft.com/office/drawing/2014/main" val="1473917447"/>
                    </a:ext>
                  </a:extLst>
                </a:gridCol>
                <a:gridCol w="757003">
                  <a:extLst>
                    <a:ext uri="{9D8B030D-6E8A-4147-A177-3AD203B41FA5}">
                      <a16:colId xmlns:a16="http://schemas.microsoft.com/office/drawing/2014/main" val="2774066979"/>
                    </a:ext>
                  </a:extLst>
                </a:gridCol>
                <a:gridCol w="1682661">
                  <a:extLst>
                    <a:ext uri="{9D8B030D-6E8A-4147-A177-3AD203B41FA5}">
                      <a16:colId xmlns:a16="http://schemas.microsoft.com/office/drawing/2014/main" val="1456141463"/>
                    </a:ext>
                  </a:extLst>
                </a:gridCol>
              </a:tblGrid>
              <a:tr h="609360">
                <a:tc>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solidFill>
                            <a:srgbClr val="000000"/>
                          </a:solidFill>
                          <a:effectLst/>
                          <a:latin typeface="Aptos" panose="020B0004020202020204" pitchFamily="34" charset="0"/>
                        </a:rPr>
                        <a:t>% Premi </a:t>
                      </a:r>
                      <a:r>
                        <a:rPr lang="en-US" sz="1200" b="1" err="1">
                          <a:solidFill>
                            <a:srgbClr val="000000"/>
                          </a:solidFill>
                          <a:effectLst/>
                          <a:latin typeface="Aptos" panose="020B0004020202020204" pitchFamily="34" charset="0"/>
                        </a:rPr>
                        <a:t>Tahunan</a:t>
                      </a:r>
                      <a:endParaRPr lang="en-US" sz="1200" b="1">
                        <a:solidFill>
                          <a:srgbClr val="000000"/>
                        </a:solidFill>
                        <a:effectLst/>
                        <a:latin typeface="Aptos" panose="020B0004020202020204" pitchFamily="34" charset="0"/>
                      </a:endParaRPr>
                    </a:p>
                  </a:txBody>
                  <a:tcPr marL="68580" marR="68580" marT="0" marB="0" anchor="ctr">
                    <a:solidFill>
                      <a:schemeClr val="bg2"/>
                    </a:solidFill>
                  </a:tcPr>
                </a:tc>
                <a:tc>
                  <a:txBody>
                    <a:bodyPr/>
                    <a:lstStyle/>
                    <a:p>
                      <a:pPr marL="0" marR="0" algn="ctr">
                        <a:buNone/>
                      </a:pPr>
                      <a:r>
                        <a:rPr lang="en-US" sz="1200" b="1" err="1">
                          <a:effectLst/>
                          <a:latin typeface="Aptos" panose="020B0004020202020204" pitchFamily="34" charset="0"/>
                        </a:rPr>
                        <a:t>Dibayarkan</a:t>
                      </a:r>
                      <a:r>
                        <a:rPr lang="en-US" sz="1200" b="1">
                          <a:effectLst/>
                          <a:latin typeface="Aptos" panose="020B0004020202020204" pitchFamily="34" charset="0"/>
                        </a:rPr>
                        <a:t> Mulai Akhir </a:t>
                      </a:r>
                      <a:r>
                        <a:rPr lang="en-US" sz="1200" b="1" err="1">
                          <a:effectLst/>
                          <a:latin typeface="Aptos" panose="020B0004020202020204" pitchFamily="34" charset="0"/>
                        </a:rPr>
                        <a:t>Tahun</a:t>
                      </a:r>
                      <a:r>
                        <a:rPr lang="en-US" sz="1200" b="1">
                          <a:effectLst/>
                          <a:latin typeface="Aptos" panose="020B0004020202020204" pitchFamily="34" charset="0"/>
                        </a:rPr>
                        <a:t> Polis </a:t>
                      </a:r>
                      <a:r>
                        <a:rPr lang="en-US" sz="1200" b="1" err="1">
                          <a:effectLst/>
                          <a:latin typeface="Aptos" panose="020B0004020202020204" pitchFamily="34" charset="0"/>
                        </a:rPr>
                        <a:t>ke</a:t>
                      </a:r>
                      <a:r>
                        <a:rPr lang="en-US" sz="1200" b="1">
                          <a:effectLst/>
                          <a:latin typeface="Aptos" panose="020B0004020202020204" pitchFamily="34" charset="0"/>
                        </a:rPr>
                        <a:t>-</a:t>
                      </a:r>
                      <a:endParaRPr lang="id-ID" sz="1200" b="1">
                        <a:effectLst/>
                        <a:latin typeface="Aptos" panose="020B0004020202020204" pitchFamily="34" charset="0"/>
                      </a:endParaRPr>
                    </a:p>
                  </a:txBody>
                  <a:tcPr marL="68580" marR="68580" marT="0" marB="0" anchor="ctr">
                    <a:solidFill>
                      <a:schemeClr val="bg2"/>
                    </a:solidFill>
                  </a:tcPr>
                </a:tc>
                <a:extLst>
                  <a:ext uri="{0D108BD9-81ED-4DB2-BD59-A6C34878D82A}">
                    <a16:rowId xmlns:a16="http://schemas.microsoft.com/office/drawing/2014/main" val="3301353083"/>
                  </a:ext>
                </a:extLst>
              </a:tr>
              <a:tr h="282991">
                <a:tc>
                  <a:txBody>
                    <a:bodyPr/>
                    <a:lstStyle/>
                    <a:p>
                      <a:pPr marL="0" marR="0" algn="ctr">
                        <a:buNone/>
                      </a:pPr>
                      <a:r>
                        <a:rPr lang="en-US" sz="1200">
                          <a:effectLst/>
                          <a:latin typeface="Aptos" panose="020B0004020202020204" pitchFamily="34" charset="0"/>
                          <a:ea typeface="Times New Roman" panose="02020603050405020304" pitchFamily="18" charset="0"/>
                        </a:rPr>
                        <a:t>6</a:t>
                      </a:r>
                      <a:r>
                        <a:rPr lang="id-ID" sz="1200">
                          <a:effectLst/>
                          <a:latin typeface="Aptos" panose="020B0004020202020204" pitchFamily="34" charset="0"/>
                          <a:ea typeface="Times New Roman" panose="02020603050405020304" pitchFamily="18" charset="0"/>
                        </a:rPr>
                        <a:t>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6</a:t>
                      </a:r>
                    </a:p>
                  </a:txBody>
                  <a:tcPr marL="68580" marR="68580" marT="0" marB="0" anchor="ctr"/>
                </a:tc>
                <a:extLst>
                  <a:ext uri="{0D108BD9-81ED-4DB2-BD59-A6C34878D82A}">
                    <a16:rowId xmlns:a16="http://schemas.microsoft.com/office/drawing/2014/main" val="2630407440"/>
                  </a:ext>
                </a:extLst>
              </a:tr>
              <a:tr h="196171">
                <a:tc>
                  <a:txBody>
                    <a:bodyPr/>
                    <a:lstStyle/>
                    <a:p>
                      <a:pPr algn="ctr"/>
                      <a:r>
                        <a:rPr lang="en-US" sz="1200">
                          <a:latin typeface="Aptos" panose="020B0004020202020204" pitchFamily="34" charset="0"/>
                        </a:rPr>
                        <a:t>8</a:t>
                      </a:r>
                      <a:r>
                        <a:rPr lang="id-ID" sz="1200">
                          <a:latin typeface="Aptos" panose="020B0004020202020204" pitchFamily="34" charset="0"/>
                        </a:rPr>
                        <a:t>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8</a:t>
                      </a:r>
                    </a:p>
                  </a:txBody>
                  <a:tcPr marL="68580" marR="68580" marT="0" marB="0" anchor="ctr"/>
                </a:tc>
                <a:extLst>
                  <a:ext uri="{0D108BD9-81ED-4DB2-BD59-A6C34878D82A}">
                    <a16:rowId xmlns:a16="http://schemas.microsoft.com/office/drawing/2014/main" val="402680002"/>
                  </a:ext>
                </a:extLst>
              </a:tr>
            </a:tbl>
          </a:graphicData>
        </a:graphic>
      </p:graphicFrame>
      <p:graphicFrame>
        <p:nvGraphicFramePr>
          <p:cNvPr id="3" name="Table 2">
            <a:extLst>
              <a:ext uri="{FF2B5EF4-FFF2-40B4-BE49-F238E27FC236}">
                <a16:creationId xmlns:a16="http://schemas.microsoft.com/office/drawing/2014/main" id="{1C7E1429-348B-65FA-F799-9F048F09EA57}"/>
              </a:ext>
            </a:extLst>
          </p:cNvPr>
          <p:cNvGraphicFramePr>
            <a:graphicFrameLocks noGrp="1"/>
          </p:cNvGraphicFramePr>
          <p:nvPr>
            <p:extLst>
              <p:ext uri="{D42A27DB-BD31-4B8C-83A1-F6EECF244321}">
                <p14:modId xmlns:p14="http://schemas.microsoft.com/office/powerpoint/2010/main" val="1459297426"/>
              </p:ext>
            </p:extLst>
          </p:nvPr>
        </p:nvGraphicFramePr>
        <p:xfrm>
          <a:off x="8340372" y="4135342"/>
          <a:ext cx="3510102" cy="1166671"/>
        </p:xfrm>
        <a:graphic>
          <a:graphicData uri="http://schemas.openxmlformats.org/drawingml/2006/table">
            <a:tbl>
              <a:tblPr firstRow="1" bandRow="1">
                <a:tableStyleId>{5940675A-B579-460E-94D1-54222C63F5DA}</a:tableStyleId>
              </a:tblPr>
              <a:tblGrid>
                <a:gridCol w="1070438">
                  <a:extLst>
                    <a:ext uri="{9D8B030D-6E8A-4147-A177-3AD203B41FA5}">
                      <a16:colId xmlns:a16="http://schemas.microsoft.com/office/drawing/2014/main" val="1473917447"/>
                    </a:ext>
                  </a:extLst>
                </a:gridCol>
                <a:gridCol w="757003">
                  <a:extLst>
                    <a:ext uri="{9D8B030D-6E8A-4147-A177-3AD203B41FA5}">
                      <a16:colId xmlns:a16="http://schemas.microsoft.com/office/drawing/2014/main" val="2774066979"/>
                    </a:ext>
                  </a:extLst>
                </a:gridCol>
                <a:gridCol w="1682661">
                  <a:extLst>
                    <a:ext uri="{9D8B030D-6E8A-4147-A177-3AD203B41FA5}">
                      <a16:colId xmlns:a16="http://schemas.microsoft.com/office/drawing/2014/main" val="1456141463"/>
                    </a:ext>
                  </a:extLst>
                </a:gridCol>
              </a:tblGrid>
              <a:tr h="609360">
                <a:tc>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solidFill>
                            <a:srgbClr val="000000"/>
                          </a:solidFill>
                          <a:effectLst/>
                          <a:latin typeface="Aptos" panose="020B0004020202020204" pitchFamily="34" charset="0"/>
                        </a:rPr>
                        <a:t>% Premi </a:t>
                      </a:r>
                      <a:r>
                        <a:rPr lang="en-US" sz="1200" b="1" err="1">
                          <a:solidFill>
                            <a:srgbClr val="000000"/>
                          </a:solidFill>
                          <a:effectLst/>
                          <a:latin typeface="Aptos" panose="020B0004020202020204" pitchFamily="34" charset="0"/>
                        </a:rPr>
                        <a:t>Tahunan</a:t>
                      </a:r>
                      <a:endParaRPr lang="en-US" sz="1200" b="1">
                        <a:solidFill>
                          <a:srgbClr val="000000"/>
                        </a:solidFill>
                        <a:effectLst/>
                        <a:latin typeface="Aptos" panose="020B0004020202020204" pitchFamily="34" charset="0"/>
                      </a:endParaRPr>
                    </a:p>
                  </a:txBody>
                  <a:tcPr marL="68580" marR="68580" marT="0" marB="0" anchor="ctr">
                    <a:solidFill>
                      <a:schemeClr val="bg2"/>
                    </a:solidFill>
                  </a:tcPr>
                </a:tc>
                <a:tc>
                  <a:txBody>
                    <a:bodyPr/>
                    <a:lstStyle/>
                    <a:p>
                      <a:pPr marL="0" marR="0" algn="ctr">
                        <a:buNone/>
                      </a:pPr>
                      <a:r>
                        <a:rPr lang="en-US" sz="1200" b="1" err="1">
                          <a:effectLst/>
                          <a:latin typeface="Aptos" panose="020B0004020202020204" pitchFamily="34" charset="0"/>
                        </a:rPr>
                        <a:t>Meningkat</a:t>
                      </a:r>
                      <a:r>
                        <a:rPr lang="en-US" sz="1200" b="1">
                          <a:effectLst/>
                          <a:latin typeface="Aptos" panose="020B0004020202020204" pitchFamily="34" charset="0"/>
                        </a:rPr>
                        <a:t> Mulai Akhir </a:t>
                      </a:r>
                      <a:r>
                        <a:rPr lang="en-US" sz="1200" b="1" err="1">
                          <a:effectLst/>
                          <a:latin typeface="Aptos" panose="020B0004020202020204" pitchFamily="34" charset="0"/>
                        </a:rPr>
                        <a:t>Tahun</a:t>
                      </a:r>
                      <a:r>
                        <a:rPr lang="en-US" sz="1200" b="1">
                          <a:effectLst/>
                          <a:latin typeface="Aptos" panose="020B0004020202020204" pitchFamily="34" charset="0"/>
                        </a:rPr>
                        <a:t> Polis </a:t>
                      </a:r>
                      <a:r>
                        <a:rPr lang="en-US" sz="1200" b="1" err="1">
                          <a:effectLst/>
                          <a:latin typeface="Aptos" panose="020B0004020202020204" pitchFamily="34" charset="0"/>
                        </a:rPr>
                        <a:t>ke</a:t>
                      </a:r>
                      <a:r>
                        <a:rPr lang="en-US" sz="1200" b="1">
                          <a:effectLst/>
                          <a:latin typeface="Aptos" panose="020B0004020202020204" pitchFamily="34" charset="0"/>
                        </a:rPr>
                        <a:t>-</a:t>
                      </a:r>
                      <a:endParaRPr lang="id-ID" sz="1200" b="1">
                        <a:effectLst/>
                        <a:latin typeface="Aptos" panose="020B0004020202020204" pitchFamily="34" charset="0"/>
                      </a:endParaRPr>
                    </a:p>
                  </a:txBody>
                  <a:tcPr marL="68580" marR="68580" marT="0" marB="0" anchor="ctr">
                    <a:solidFill>
                      <a:schemeClr val="bg2"/>
                    </a:solidFill>
                  </a:tcPr>
                </a:tc>
                <a:extLst>
                  <a:ext uri="{0D108BD9-81ED-4DB2-BD59-A6C34878D82A}">
                    <a16:rowId xmlns:a16="http://schemas.microsoft.com/office/drawing/2014/main" val="3301353083"/>
                  </a:ext>
                </a:extLst>
              </a:tr>
              <a:tr h="282991">
                <a:tc>
                  <a:txBody>
                    <a:bodyPr/>
                    <a:lstStyle/>
                    <a:p>
                      <a:pPr marL="0" marR="0" algn="ctr">
                        <a:buNone/>
                      </a:pPr>
                      <a:r>
                        <a:rPr lang="en-US" sz="1200">
                          <a:effectLst/>
                          <a:latin typeface="Aptos" panose="020B0004020202020204" pitchFamily="34" charset="0"/>
                          <a:ea typeface="Times New Roman" panose="02020603050405020304" pitchFamily="18" charset="0"/>
                        </a:rPr>
                        <a:t>6</a:t>
                      </a:r>
                      <a:r>
                        <a:rPr lang="id-ID" sz="1200">
                          <a:effectLst/>
                          <a:latin typeface="Aptos" panose="020B0004020202020204" pitchFamily="34" charset="0"/>
                          <a:ea typeface="Times New Roman" panose="02020603050405020304" pitchFamily="18" charset="0"/>
                        </a:rPr>
                        <a:t>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0,8%</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7</a:t>
                      </a:r>
                    </a:p>
                  </a:txBody>
                  <a:tcPr marL="68580" marR="68580" marT="0" marB="0" anchor="ctr"/>
                </a:tc>
                <a:extLst>
                  <a:ext uri="{0D108BD9-81ED-4DB2-BD59-A6C34878D82A}">
                    <a16:rowId xmlns:a16="http://schemas.microsoft.com/office/drawing/2014/main" val="2630407440"/>
                  </a:ext>
                </a:extLst>
              </a:tr>
              <a:tr h="196171">
                <a:tc>
                  <a:txBody>
                    <a:bodyPr/>
                    <a:lstStyle/>
                    <a:p>
                      <a:pPr algn="ctr"/>
                      <a:r>
                        <a:rPr lang="en-US" sz="1200">
                          <a:latin typeface="Aptos" panose="020B0004020202020204" pitchFamily="34" charset="0"/>
                        </a:rPr>
                        <a:t>8</a:t>
                      </a:r>
                      <a:r>
                        <a:rPr lang="id-ID" sz="1200">
                          <a:latin typeface="Aptos" panose="020B0004020202020204" pitchFamily="34" charset="0"/>
                        </a:rPr>
                        <a:t>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9</a:t>
                      </a:r>
                    </a:p>
                  </a:txBody>
                  <a:tcPr marL="68580" marR="68580" marT="0" marB="0" anchor="ctr"/>
                </a:tc>
                <a:extLst>
                  <a:ext uri="{0D108BD9-81ED-4DB2-BD59-A6C34878D82A}">
                    <a16:rowId xmlns:a16="http://schemas.microsoft.com/office/drawing/2014/main" val="402680002"/>
                  </a:ext>
                </a:extLst>
              </a:tr>
            </a:tbl>
          </a:graphicData>
        </a:graphic>
      </p:graphicFrame>
    </p:spTree>
    <p:extLst>
      <p:ext uri="{BB962C8B-B14F-4D97-AF65-F5344CB8AC3E}">
        <p14:creationId xmlns:p14="http://schemas.microsoft.com/office/powerpoint/2010/main" val="11817124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3DA40-50BD-10D6-F49B-A02192A572A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0968A92-388D-6F93-1A24-FA8EFB6A3E21}"/>
              </a:ext>
            </a:extLst>
          </p:cNvPr>
          <p:cNvSpPr/>
          <p:nvPr/>
        </p:nvSpPr>
        <p:spPr>
          <a:xfrm>
            <a:off x="320456" y="1052399"/>
            <a:ext cx="3874832" cy="524656"/>
          </a:xfrm>
          <a:prstGeom prst="roundRect">
            <a:avLst/>
          </a:prstGeom>
          <a:solidFill>
            <a:srgbClr val="00A6B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rPr>
              <a:t>Value Income Assurance (VALUE+)</a:t>
            </a:r>
          </a:p>
        </p:txBody>
      </p:sp>
      <p:sp>
        <p:nvSpPr>
          <p:cNvPr id="10" name="TextBox 9">
            <a:extLst>
              <a:ext uri="{FF2B5EF4-FFF2-40B4-BE49-F238E27FC236}">
                <a16:creationId xmlns:a16="http://schemas.microsoft.com/office/drawing/2014/main" id="{56AE83BF-0EBF-228D-17C3-0A8EF62B7EB1}"/>
              </a:ext>
            </a:extLst>
          </p:cNvPr>
          <p:cNvSpPr txBox="1"/>
          <p:nvPr/>
        </p:nvSpPr>
        <p:spPr>
          <a:xfrm>
            <a:off x="411896" y="1585237"/>
            <a:ext cx="3691952" cy="954107"/>
          </a:xfrm>
          <a:prstGeom prst="rect">
            <a:avLst/>
          </a:prstGeom>
          <a:noFill/>
        </p:spPr>
        <p:txBody>
          <a:bodyPr wrap="square">
            <a:spAutoFit/>
          </a:bodyPr>
          <a:lstStyle/>
          <a:p>
            <a:pPr algn="just"/>
            <a:r>
              <a:rPr lang="sv-SE" sz="1400" i="0" u="none" strike="noStrike" baseline="0">
                <a:latin typeface="Aptos" panose="020B0004020202020204" pitchFamily="34" charset="0"/>
              </a:rPr>
              <a:t>Dibayarkan secara berkala sebesar % dari total Premi Asuransi Dasar yang disetahunkan (tidak termasuk Premi Asuransi Tambahan (jika ada))</a:t>
            </a:r>
            <a:endParaRPr lang="en-US" sz="1400"/>
          </a:p>
        </p:txBody>
      </p:sp>
      <p:graphicFrame>
        <p:nvGraphicFramePr>
          <p:cNvPr id="4" name="Table 3">
            <a:extLst>
              <a:ext uri="{FF2B5EF4-FFF2-40B4-BE49-F238E27FC236}">
                <a16:creationId xmlns:a16="http://schemas.microsoft.com/office/drawing/2014/main" id="{E4C71AC4-EC76-A1CE-BD5B-24E42D986006}"/>
              </a:ext>
            </a:extLst>
          </p:cNvPr>
          <p:cNvGraphicFramePr>
            <a:graphicFrameLocks noGrp="1"/>
          </p:cNvGraphicFramePr>
          <p:nvPr>
            <p:extLst>
              <p:ext uri="{D42A27DB-BD31-4B8C-83A1-F6EECF244321}">
                <p14:modId xmlns:p14="http://schemas.microsoft.com/office/powerpoint/2010/main" val="1465011833"/>
              </p:ext>
            </p:extLst>
          </p:nvPr>
        </p:nvGraphicFramePr>
        <p:xfrm>
          <a:off x="376261" y="2547526"/>
          <a:ext cx="3753101" cy="1410631"/>
        </p:xfrm>
        <a:graphic>
          <a:graphicData uri="http://schemas.openxmlformats.org/drawingml/2006/table">
            <a:tbl>
              <a:tblPr firstRow="1" bandRow="1">
                <a:tableStyleId>{5940675A-B579-460E-94D1-54222C63F5DA}</a:tableStyleId>
              </a:tblPr>
              <a:tblGrid>
                <a:gridCol w="1024891">
                  <a:extLst>
                    <a:ext uri="{9D8B030D-6E8A-4147-A177-3AD203B41FA5}">
                      <a16:colId xmlns:a16="http://schemas.microsoft.com/office/drawing/2014/main" val="1473917447"/>
                    </a:ext>
                  </a:extLst>
                </a:gridCol>
                <a:gridCol w="886974">
                  <a:extLst>
                    <a:ext uri="{9D8B030D-6E8A-4147-A177-3AD203B41FA5}">
                      <a16:colId xmlns:a16="http://schemas.microsoft.com/office/drawing/2014/main" val="2774066979"/>
                    </a:ext>
                  </a:extLst>
                </a:gridCol>
                <a:gridCol w="886974">
                  <a:extLst>
                    <a:ext uri="{9D8B030D-6E8A-4147-A177-3AD203B41FA5}">
                      <a16:colId xmlns:a16="http://schemas.microsoft.com/office/drawing/2014/main" val="148790262"/>
                    </a:ext>
                  </a:extLst>
                </a:gridCol>
                <a:gridCol w="954262">
                  <a:extLst>
                    <a:ext uri="{9D8B030D-6E8A-4147-A177-3AD203B41FA5}">
                      <a16:colId xmlns:a16="http://schemas.microsoft.com/office/drawing/2014/main" val="1456141463"/>
                    </a:ext>
                  </a:extLst>
                </a:gridCol>
              </a:tblGrid>
              <a:tr h="304680">
                <a:tc rowSpan="2">
                  <a:txBody>
                    <a:bodyPr/>
                    <a:lstStyle/>
                    <a:p>
                      <a:pPr marL="0" marR="0" algn="ctr">
                        <a:buNone/>
                      </a:pPr>
                      <a:r>
                        <a:rPr lang="en-US" sz="1200" b="1">
                          <a:solidFill>
                            <a:srgbClr val="000000"/>
                          </a:solidFill>
                          <a:effectLst/>
                          <a:latin typeface="Aptos" panose="020B0004020202020204" pitchFamily="34" charset="0"/>
                          <a:ea typeface="Times New Roman" panose="02020603050405020304" pitchFamily="18" charset="0"/>
                        </a:rPr>
                        <a:t>Masa </a:t>
                      </a:r>
                      <a:r>
                        <a:rPr lang="en-US" sz="1200" b="1" err="1">
                          <a:solidFill>
                            <a:srgbClr val="000000"/>
                          </a:solidFill>
                          <a:effectLst/>
                          <a:latin typeface="Aptos" panose="020B0004020202020204" pitchFamily="34" charset="0"/>
                          <a:ea typeface="Times New Roman" panose="02020603050405020304" pitchFamily="18" charset="0"/>
                        </a:rPr>
                        <a:t>Pembayaran</a:t>
                      </a:r>
                      <a:r>
                        <a:rPr lang="en-US" sz="1200" b="1">
                          <a:solidFill>
                            <a:srgbClr val="000000"/>
                          </a:solidFill>
                          <a:effectLst/>
                          <a:latin typeface="Aptos" panose="020B0004020202020204" pitchFamily="34" charset="0"/>
                          <a:ea typeface="Times New Roman" panose="02020603050405020304" pitchFamily="18" charset="0"/>
                        </a:rPr>
                        <a:t> Premi</a:t>
                      </a: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gridSpan="2">
                  <a:txBody>
                    <a:bodyPr/>
                    <a:lstStyle/>
                    <a:p>
                      <a:pPr marL="0" marR="0" algn="ctr">
                        <a:buNone/>
                      </a:pPr>
                      <a:r>
                        <a:rPr lang="id-ID" sz="1200" b="1">
                          <a:solidFill>
                            <a:srgbClr val="000000"/>
                          </a:solidFill>
                          <a:effectLst/>
                          <a:latin typeface="Aptos" panose="020B0004020202020204" pitchFamily="34" charset="0"/>
                        </a:rPr>
                        <a:t>Persentase Premi Asuransi Dasar yang Disetahunkan</a:t>
                      </a:r>
                      <a:endParaRPr lang="id-ID" sz="1200">
                        <a:effectLst/>
                        <a:latin typeface="Aptos" panose="020B0004020202020204" pitchFamily="34" charset="0"/>
                      </a:endParaRPr>
                    </a:p>
                  </a:txBody>
                  <a:tcPr marL="68580" marR="68580" marT="0" marB="0" anchor="ctr">
                    <a:solidFill>
                      <a:schemeClr val="bg2"/>
                    </a:solidFill>
                  </a:tcPr>
                </a:tc>
                <a:tc hMerge="1">
                  <a:txBody>
                    <a:bodyPr/>
                    <a:lstStyle/>
                    <a:p>
                      <a:endParaRPr/>
                    </a:p>
                  </a:txBody>
                  <a:tcPr marL="68580" marR="68580" marT="0" marB="0" anchor="ctr">
                    <a:solidFill>
                      <a:schemeClr val="bg2"/>
                    </a:solidFill>
                  </a:tcPr>
                </a:tc>
                <a:tc rowSpan="2">
                  <a:txBody>
                    <a:bodyPr/>
                    <a:lstStyle/>
                    <a:p>
                      <a:pPr marL="0" marR="0" algn="ctr">
                        <a:buNone/>
                      </a:pPr>
                      <a:r>
                        <a:rPr lang="en-US" sz="1200" b="1" err="1">
                          <a:effectLst/>
                          <a:latin typeface="Aptos" panose="020B0004020202020204" pitchFamily="34" charset="0"/>
                        </a:rPr>
                        <a:t>Dibayarkan</a:t>
                      </a:r>
                      <a:r>
                        <a:rPr lang="en-US" sz="1200" b="1">
                          <a:effectLst/>
                          <a:latin typeface="Aptos" panose="020B0004020202020204" pitchFamily="34" charset="0"/>
                        </a:rPr>
                        <a:t> Mulai Akhir </a:t>
                      </a:r>
                      <a:r>
                        <a:rPr lang="en-US" sz="1200" b="1" err="1">
                          <a:effectLst/>
                          <a:latin typeface="Aptos" panose="020B0004020202020204" pitchFamily="34" charset="0"/>
                        </a:rPr>
                        <a:t>Tahun</a:t>
                      </a:r>
                      <a:r>
                        <a:rPr lang="en-US" sz="1200" b="1">
                          <a:effectLst/>
                          <a:latin typeface="Aptos" panose="020B0004020202020204" pitchFamily="34" charset="0"/>
                        </a:rPr>
                        <a:t> Polis </a:t>
                      </a:r>
                      <a:r>
                        <a:rPr lang="en-US" sz="1200" b="1" err="1">
                          <a:effectLst/>
                          <a:latin typeface="Aptos" panose="020B0004020202020204" pitchFamily="34" charset="0"/>
                        </a:rPr>
                        <a:t>ke</a:t>
                      </a:r>
                      <a:r>
                        <a:rPr lang="en-US" sz="1200" b="1">
                          <a:effectLst/>
                          <a:latin typeface="Aptos" panose="020B0004020202020204" pitchFamily="34" charset="0"/>
                        </a:rPr>
                        <a:t>-</a:t>
                      </a:r>
                      <a:endParaRPr lang="id-ID" sz="1200" b="1">
                        <a:effectLst/>
                        <a:latin typeface="Aptos" panose="020B0004020202020204" pitchFamily="34" charset="0"/>
                      </a:endParaRPr>
                    </a:p>
                  </a:txBody>
                  <a:tcPr marL="68580" marR="68580" marT="0" marB="0" anchor="ctr">
                    <a:solidFill>
                      <a:schemeClr val="bg2"/>
                    </a:solidFill>
                  </a:tcPr>
                </a:tc>
                <a:extLst>
                  <a:ext uri="{0D108BD9-81ED-4DB2-BD59-A6C34878D82A}">
                    <a16:rowId xmlns:a16="http://schemas.microsoft.com/office/drawing/2014/main" val="3301353083"/>
                  </a:ext>
                </a:extLst>
              </a:tr>
              <a:tr h="304680">
                <a:tc vMerge="1">
                  <a:txBody>
                    <a:bodyPr/>
                    <a:lstStyle/>
                    <a:p>
                      <a:pPr marL="0" marR="0" algn="ctr">
                        <a:buNone/>
                      </a:pPr>
                      <a:endParaRPr lang="id-ID" sz="1200">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Rupiah</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a:txBody>
                    <a:bodyPr/>
                    <a:lstStyle/>
                    <a:p>
                      <a:pPr marL="0" marR="0" algn="ctr">
                        <a:buNone/>
                      </a:pPr>
                      <a:r>
                        <a:rPr lang="en-US" sz="1200" b="1">
                          <a:effectLst/>
                          <a:latin typeface="Aptos" panose="020B0004020202020204" pitchFamily="34" charset="0"/>
                          <a:ea typeface="Times New Roman" panose="02020603050405020304" pitchFamily="18" charset="0"/>
                        </a:rPr>
                        <a:t>US Dollar</a:t>
                      </a: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tc vMerge="1">
                  <a:txBody>
                    <a:bodyPr/>
                    <a:lstStyle/>
                    <a:p>
                      <a:pPr marL="0" marR="0" algn="ctr">
                        <a:buNone/>
                      </a:pPr>
                      <a:endParaRPr lang="id-ID" sz="1200" b="1">
                        <a:effectLst/>
                        <a:latin typeface="Aptos" panose="020B0004020202020204" pitchFamily="34" charset="0"/>
                        <a:ea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46990028"/>
                  </a:ext>
                </a:extLst>
              </a:tr>
              <a:tr h="282991">
                <a:tc>
                  <a:txBody>
                    <a:bodyPr/>
                    <a:lstStyle/>
                    <a:p>
                      <a:pPr marL="0" marR="0" algn="ctr">
                        <a:buNone/>
                      </a:pPr>
                      <a:r>
                        <a:rPr lang="id-ID" sz="1200">
                          <a:effectLst/>
                          <a:latin typeface="Aptos" panose="020B0004020202020204" pitchFamily="34" charset="0"/>
                          <a:ea typeface="Times New Roman" panose="02020603050405020304" pitchFamily="18" charset="0"/>
                        </a:rPr>
                        <a:t>5 tahun</a:t>
                      </a: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15%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6</a:t>
                      </a:r>
                    </a:p>
                  </a:txBody>
                  <a:tcPr marL="68580" marR="68580" marT="0" marB="0" anchor="ctr"/>
                </a:tc>
                <a:extLst>
                  <a:ext uri="{0D108BD9-81ED-4DB2-BD59-A6C34878D82A}">
                    <a16:rowId xmlns:a16="http://schemas.microsoft.com/office/drawing/2014/main" val="2630407440"/>
                  </a:ext>
                </a:extLst>
              </a:tr>
              <a:tr h="196171">
                <a:tc>
                  <a:txBody>
                    <a:bodyPr/>
                    <a:lstStyle/>
                    <a:p>
                      <a:pPr algn="ctr"/>
                      <a:r>
                        <a:rPr lang="id-ID" sz="1200">
                          <a:latin typeface="Aptos" panose="020B0004020202020204" pitchFamily="34" charset="0"/>
                        </a:rPr>
                        <a:t>10 tahun</a:t>
                      </a:r>
                    </a:p>
                  </a:txBody>
                  <a:tcP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25%</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ID" sz="1200">
                          <a:effectLst/>
                          <a:latin typeface="Aptos" panose="020B0004020202020204" pitchFamily="34" charset="0"/>
                          <a:ea typeface="MS Mincho" panose="02020609040205080304" pitchFamily="49" charset="-128"/>
                          <a:cs typeface="Calibri" panose="020F0502020204030204" pitchFamily="34" charset="0"/>
                        </a:rPr>
                        <a:t>20%</a:t>
                      </a:r>
                      <a:endParaRPr lang="en-US" sz="120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gn="ctr">
                        <a:buNone/>
                      </a:pPr>
                      <a:r>
                        <a:rPr lang="en-US" sz="1200">
                          <a:effectLst/>
                          <a:latin typeface="Aptos" panose="020B0004020202020204" pitchFamily="34" charset="0"/>
                          <a:ea typeface="MS Mincho" panose="02020609040205080304" pitchFamily="49" charset="-128"/>
                          <a:cs typeface="Times New Roman" panose="02020603050405020304" pitchFamily="18" charset="0"/>
                        </a:rPr>
                        <a:t>11</a:t>
                      </a:r>
                    </a:p>
                  </a:txBody>
                  <a:tcPr marL="68580" marR="68580" marT="0" marB="0" anchor="ctr"/>
                </a:tc>
                <a:extLst>
                  <a:ext uri="{0D108BD9-81ED-4DB2-BD59-A6C34878D82A}">
                    <a16:rowId xmlns:a16="http://schemas.microsoft.com/office/drawing/2014/main" val="402680002"/>
                  </a:ext>
                </a:extLst>
              </a:tr>
            </a:tbl>
          </a:graphicData>
        </a:graphic>
      </p:graphicFrame>
      <p:sp>
        <p:nvSpPr>
          <p:cNvPr id="9" name="Rectangle: Rounded Corners 8">
            <a:extLst>
              <a:ext uri="{FF2B5EF4-FFF2-40B4-BE49-F238E27FC236}">
                <a16:creationId xmlns:a16="http://schemas.microsoft.com/office/drawing/2014/main" id="{482E551A-C6E0-FB9C-8B5C-060C9A5B3ECD}"/>
              </a:ext>
            </a:extLst>
          </p:cNvPr>
          <p:cNvSpPr/>
          <p:nvPr/>
        </p:nvSpPr>
        <p:spPr>
          <a:xfrm>
            <a:off x="4571081" y="1048919"/>
            <a:ext cx="3874832" cy="524656"/>
          </a:xfrm>
          <a:prstGeom prst="roundRect">
            <a:avLst/>
          </a:prstGeom>
          <a:solidFill>
            <a:schemeClr val="tx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Asuransi Jiwa Smart Wealth Assurance</a:t>
            </a:r>
          </a:p>
        </p:txBody>
      </p:sp>
      <p:pic>
        <p:nvPicPr>
          <p:cNvPr id="15" name="Picture 14">
            <a:extLst>
              <a:ext uri="{FF2B5EF4-FFF2-40B4-BE49-F238E27FC236}">
                <a16:creationId xmlns:a16="http://schemas.microsoft.com/office/drawing/2014/main" id="{9BBF7AC3-9740-8051-4878-26A9E49AA70F}"/>
              </a:ext>
            </a:extLst>
          </p:cNvPr>
          <p:cNvPicPr>
            <a:picLocks noChangeAspect="1"/>
          </p:cNvPicPr>
          <p:nvPr/>
        </p:nvPicPr>
        <p:blipFill>
          <a:blip r:embed="rId3"/>
          <a:stretch>
            <a:fillRect/>
          </a:stretch>
        </p:blipFill>
        <p:spPr>
          <a:xfrm>
            <a:off x="4596595" y="2062290"/>
            <a:ext cx="6837956" cy="2659544"/>
          </a:xfrm>
          <a:prstGeom prst="rect">
            <a:avLst/>
          </a:prstGeom>
        </p:spPr>
      </p:pic>
      <p:sp>
        <p:nvSpPr>
          <p:cNvPr id="11" name="TextBox 10">
            <a:extLst>
              <a:ext uri="{FF2B5EF4-FFF2-40B4-BE49-F238E27FC236}">
                <a16:creationId xmlns:a16="http://schemas.microsoft.com/office/drawing/2014/main" id="{9207EC3B-9880-6A49-AD2D-868EEEC12AF8}"/>
              </a:ext>
            </a:extLst>
          </p:cNvPr>
          <p:cNvSpPr txBox="1"/>
          <p:nvPr/>
        </p:nvSpPr>
        <p:spPr>
          <a:xfrm>
            <a:off x="4571081" y="1638909"/>
            <a:ext cx="6096215" cy="523220"/>
          </a:xfrm>
          <a:prstGeom prst="rect">
            <a:avLst/>
          </a:prstGeom>
          <a:noFill/>
        </p:spPr>
        <p:txBody>
          <a:bodyPr wrap="square">
            <a:spAutoFit/>
          </a:bodyPr>
          <a:lstStyle/>
          <a:p>
            <a:pPr algn="just"/>
            <a:r>
              <a:rPr lang="en-US" sz="1400" err="1">
                <a:latin typeface="Aptos" panose="020B0004020202020204" pitchFamily="34" charset="0"/>
              </a:rPr>
              <a:t>Dibayarkan</a:t>
            </a:r>
            <a:r>
              <a:rPr lang="en-US" sz="1400">
                <a:latin typeface="Aptos" panose="020B0004020202020204" pitchFamily="34" charset="0"/>
              </a:rPr>
              <a:t> </a:t>
            </a:r>
            <a:r>
              <a:rPr lang="en-US" sz="1400" err="1">
                <a:latin typeface="Aptos" panose="020B0004020202020204" pitchFamily="34" charset="0"/>
              </a:rPr>
              <a:t>baik</a:t>
            </a:r>
            <a:r>
              <a:rPr lang="en-US" sz="1400">
                <a:latin typeface="Aptos" panose="020B0004020202020204" pitchFamily="34" charset="0"/>
              </a:rPr>
              <a:t> </a:t>
            </a:r>
            <a:r>
              <a:rPr lang="en-US" sz="1400" err="1">
                <a:latin typeface="Aptos" panose="020B0004020202020204" pitchFamily="34" charset="0"/>
              </a:rPr>
              <a:t>saat</a:t>
            </a:r>
            <a:r>
              <a:rPr lang="en-US" sz="1400">
                <a:latin typeface="Aptos" panose="020B0004020202020204" pitchFamily="34" charset="0"/>
              </a:rPr>
              <a:t> </a:t>
            </a:r>
            <a:r>
              <a:rPr lang="en-US" sz="1400" err="1">
                <a:latin typeface="Aptos" panose="020B0004020202020204" pitchFamily="34" charset="0"/>
              </a:rPr>
              <a:t>Tertanggung</a:t>
            </a:r>
            <a:r>
              <a:rPr lang="en-US" sz="1400">
                <a:latin typeface="Aptos" panose="020B0004020202020204" pitchFamily="34" charset="0"/>
              </a:rPr>
              <a:t> </a:t>
            </a:r>
            <a:r>
              <a:rPr lang="en-US" sz="1400" err="1">
                <a:latin typeface="Aptos" panose="020B0004020202020204" pitchFamily="34" charset="0"/>
              </a:rPr>
              <a:t>masih</a:t>
            </a:r>
            <a:r>
              <a:rPr lang="en-US" sz="1400">
                <a:latin typeface="Aptos" panose="020B0004020202020204" pitchFamily="34" charset="0"/>
              </a:rPr>
              <a:t> </a:t>
            </a:r>
            <a:r>
              <a:rPr lang="en-US" sz="1400" err="1">
                <a:latin typeface="Aptos" panose="020B0004020202020204" pitchFamily="34" charset="0"/>
              </a:rPr>
              <a:t>hidup</a:t>
            </a:r>
            <a:r>
              <a:rPr lang="en-US" sz="1400">
                <a:latin typeface="Aptos" panose="020B0004020202020204" pitchFamily="34" charset="0"/>
              </a:rPr>
              <a:t> </a:t>
            </a:r>
            <a:r>
              <a:rPr lang="en-US" sz="1400" err="1">
                <a:latin typeface="Aptos" panose="020B0004020202020204" pitchFamily="34" charset="0"/>
              </a:rPr>
              <a:t>atau</a:t>
            </a:r>
            <a:r>
              <a:rPr lang="en-US" sz="1400">
                <a:latin typeface="Aptos" panose="020B0004020202020204" pitchFamily="34" charset="0"/>
              </a:rPr>
              <a:t> </a:t>
            </a:r>
            <a:r>
              <a:rPr lang="en-US" sz="1400" err="1">
                <a:latin typeface="Aptos" panose="020B0004020202020204" pitchFamily="34" charset="0"/>
              </a:rPr>
              <a:t>meninggal</a:t>
            </a:r>
            <a:r>
              <a:rPr lang="en-US" sz="1400">
                <a:latin typeface="Aptos" panose="020B0004020202020204" pitchFamily="34" charset="0"/>
              </a:rPr>
              <a:t> dunia dan Polis </a:t>
            </a:r>
            <a:r>
              <a:rPr lang="en-US" sz="1400" err="1">
                <a:latin typeface="Aptos" panose="020B0004020202020204" pitchFamily="34" charset="0"/>
              </a:rPr>
              <a:t>masih</a:t>
            </a:r>
            <a:r>
              <a:rPr lang="en-US" sz="1400">
                <a:latin typeface="Aptos" panose="020B0004020202020204" pitchFamily="34" charset="0"/>
              </a:rPr>
              <a:t> </a:t>
            </a:r>
            <a:r>
              <a:rPr lang="en-US" sz="1400" err="1">
                <a:latin typeface="Aptos" panose="020B0004020202020204" pitchFamily="34" charset="0"/>
              </a:rPr>
              <a:t>aktif</a:t>
            </a:r>
            <a:r>
              <a:rPr lang="en-US" sz="1400">
                <a:latin typeface="Aptos" panose="020B0004020202020204" pitchFamily="34" charset="0"/>
              </a:rPr>
              <a:t>.</a:t>
            </a:r>
          </a:p>
        </p:txBody>
      </p:sp>
      <p:sp>
        <p:nvSpPr>
          <p:cNvPr id="17" name="TextBox 16">
            <a:extLst>
              <a:ext uri="{FF2B5EF4-FFF2-40B4-BE49-F238E27FC236}">
                <a16:creationId xmlns:a16="http://schemas.microsoft.com/office/drawing/2014/main" id="{7E930856-51BA-95C6-AB58-90CF43330B40}"/>
              </a:ext>
            </a:extLst>
          </p:cNvPr>
          <p:cNvSpPr txBox="1"/>
          <p:nvPr/>
        </p:nvSpPr>
        <p:spPr>
          <a:xfrm>
            <a:off x="4571081" y="4849759"/>
            <a:ext cx="6096000" cy="738664"/>
          </a:xfrm>
          <a:prstGeom prst="rect">
            <a:avLst/>
          </a:prstGeom>
          <a:noFill/>
        </p:spPr>
        <p:txBody>
          <a:bodyPr wrap="square">
            <a:spAutoFit/>
          </a:bodyPr>
          <a:lstStyle/>
          <a:p>
            <a:r>
              <a:rPr lang="it-IT" sz="1400">
                <a:latin typeface="Aptos" panose="020B0004020202020204" pitchFamily="34" charset="0"/>
              </a:rPr>
              <a:t>Minimum Dana Pasti untuk Masa Pembayaran Premi: </a:t>
            </a:r>
          </a:p>
          <a:p>
            <a:r>
              <a:rPr lang="fi-FI" sz="1400">
                <a:latin typeface="Aptos" panose="020B0004020202020204" pitchFamily="34" charset="0"/>
              </a:rPr>
              <a:t>3 tahun: Rp150.000.000</a:t>
            </a:r>
          </a:p>
          <a:p>
            <a:r>
              <a:rPr lang="fi-FI" sz="1400">
                <a:latin typeface="Aptos" panose="020B0004020202020204" pitchFamily="34" charset="0"/>
              </a:rPr>
              <a:t>5/8 tahun: Rp80.000.000 	</a:t>
            </a:r>
          </a:p>
        </p:txBody>
      </p:sp>
      <p:sp>
        <p:nvSpPr>
          <p:cNvPr id="2" name="Title 1">
            <a:extLst>
              <a:ext uri="{FF2B5EF4-FFF2-40B4-BE49-F238E27FC236}">
                <a16:creationId xmlns:a16="http://schemas.microsoft.com/office/drawing/2014/main" id="{80822AFD-EBFE-8535-F4EA-C7F1EB919377}"/>
              </a:ext>
            </a:extLst>
          </p:cNvPr>
          <p:cNvSpPr txBox="1">
            <a:spLocks/>
          </p:cNvSpPr>
          <p:nvPr/>
        </p:nvSpPr>
        <p:spPr>
          <a:xfrm>
            <a:off x="2974975" y="197959"/>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MANFAAT TUNAI TAHUNAN</a:t>
            </a:r>
            <a:endParaRPr lang="en-GB" sz="24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10728104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804E-6024-06C4-5D35-136AEC5A38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E31B77A-1D97-4D45-400C-3E5BEECB7BFE}"/>
              </a:ext>
            </a:extLst>
          </p:cNvPr>
          <p:cNvSpPr txBox="1">
            <a:spLocks/>
          </p:cNvSpPr>
          <p:nvPr/>
        </p:nvSpPr>
        <p:spPr>
          <a:xfrm>
            <a:off x="3064135" y="0"/>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5 TAHUN - IDR</a:t>
            </a:r>
            <a:endParaRPr lang="en-GB" sz="2400" b="1">
              <a:solidFill>
                <a:srgbClr val="002060"/>
              </a:solidFill>
              <a:highlight>
                <a:srgbClr val="FFFF00"/>
              </a:highlight>
              <a:latin typeface="Aptos" panose="020B0004020202020204" pitchFamily="34" charset="0"/>
            </a:endParaRPr>
          </a:p>
        </p:txBody>
      </p:sp>
      <p:sp>
        <p:nvSpPr>
          <p:cNvPr id="2" name="TextBox 1">
            <a:extLst>
              <a:ext uri="{FF2B5EF4-FFF2-40B4-BE49-F238E27FC236}">
                <a16:creationId xmlns:a16="http://schemas.microsoft.com/office/drawing/2014/main" id="{E09F02D1-0B25-B2B5-B31D-64B4E2AC7CB3}"/>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Boost</a:t>
            </a:r>
            <a:endParaRPr lang="en-US" sz="1400" b="1"/>
          </a:p>
        </p:txBody>
      </p:sp>
      <p:sp>
        <p:nvSpPr>
          <p:cNvPr id="8" name="TextBox 7">
            <a:extLst>
              <a:ext uri="{FF2B5EF4-FFF2-40B4-BE49-F238E27FC236}">
                <a16:creationId xmlns:a16="http://schemas.microsoft.com/office/drawing/2014/main" id="{1FE0723F-C495-15B6-10E9-0D6A74B74D72}"/>
              </a:ext>
            </a:extLst>
          </p:cNvPr>
          <p:cNvSpPr txBox="1"/>
          <p:nvPr/>
        </p:nvSpPr>
        <p:spPr>
          <a:xfrm>
            <a:off x="228061" y="5230657"/>
            <a:ext cx="11737719" cy="1384995"/>
          </a:xfrm>
          <a:prstGeom prst="rect">
            <a:avLst/>
          </a:prstGeom>
          <a:noFill/>
        </p:spPr>
        <p:txBody>
          <a:bodyPr wrap="square">
            <a:spAutoFit/>
          </a:bodyPr>
          <a:lstStyle/>
          <a:p>
            <a:pPr algn="just"/>
            <a:r>
              <a:rPr lang="sv-SE" sz="1400" b="1">
                <a:latin typeface="Aptos" panose="020B0004020202020204" pitchFamily="34" charset="0"/>
                <a:cs typeface="Aparajita" panose="02020603050405020304" pitchFamily="18" charset="0"/>
              </a:rPr>
              <a:t>Kesimpulan:</a:t>
            </a:r>
          </a:p>
          <a:p>
            <a:pPr marL="342900" indent="-342900" algn="just">
              <a:buAutoNum type="arabicPeriod"/>
            </a:pPr>
            <a:r>
              <a:rPr lang="sv-SE" sz="1400">
                <a:latin typeface="Aptos" panose="020B0004020202020204" pitchFamily="34" charset="0"/>
                <a:cs typeface="Aparajita" panose="02020603050405020304" pitchFamily="18" charset="0"/>
              </a:rPr>
              <a:t>VALUE+ lebih unggul dibandingkan produk AIA RetirePlan.</a:t>
            </a:r>
          </a:p>
          <a:p>
            <a:pPr marL="342900" indent="-342900" algn="just">
              <a:buAutoNum type="arabicPeriod"/>
            </a:pPr>
            <a:r>
              <a:rPr lang="en-US" sz="1400" err="1">
                <a:latin typeface="Aptos" panose="020B0004020202020204" pitchFamily="34" charset="0"/>
                <a:cs typeface="Aparajita" panose="02020603050405020304" pitchFamily="18" charset="0"/>
              </a:rPr>
              <a:t>Walaupun</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PRUSmart</a:t>
            </a:r>
            <a:r>
              <a:rPr lang="en-US" sz="1400">
                <a:latin typeface="Aptos" panose="020B0004020202020204" pitchFamily="34" charset="0"/>
                <a:cs typeface="Aparajita" panose="02020603050405020304" pitchFamily="18" charset="0"/>
              </a:rPr>
              <a:t> Plan </a:t>
            </a:r>
            <a:r>
              <a:rPr lang="en-US" sz="1400" err="1">
                <a:latin typeface="Aptos" panose="020B0004020202020204" pitchFamily="34" charset="0"/>
                <a:cs typeface="Aparajita" panose="02020603050405020304" pitchFamily="18" charset="0"/>
              </a:rPr>
              <a:t>lebih</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unggul</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dari</a:t>
            </a:r>
            <a:r>
              <a:rPr lang="en-US" sz="1400">
                <a:latin typeface="Aptos" panose="020B0004020202020204" pitchFamily="34" charset="0"/>
                <a:cs typeface="Aparajita" panose="02020603050405020304" pitchFamily="18" charset="0"/>
              </a:rPr>
              <a:t> VALUE+, </a:t>
            </a:r>
            <a:r>
              <a:rPr lang="en-US" sz="1400" err="1">
                <a:latin typeface="Aptos" panose="020B0004020202020204" pitchFamily="34" charset="0"/>
                <a:cs typeface="Aparajita" panose="02020603050405020304" pitchFamily="18" charset="0"/>
              </a:rPr>
              <a:t>produk</a:t>
            </a:r>
            <a:r>
              <a:rPr lang="en-US" sz="1400">
                <a:latin typeface="Aptos" panose="020B0004020202020204" pitchFamily="34" charset="0"/>
                <a:cs typeface="Aparajita" panose="02020603050405020304" pitchFamily="18" charset="0"/>
              </a:rPr>
              <a:t> VALUE+ </a:t>
            </a:r>
            <a:r>
              <a:rPr lang="en-US" sz="1400" err="1">
                <a:latin typeface="Aptos" panose="020B0004020202020204" pitchFamily="34" charset="0"/>
                <a:cs typeface="Aparajita" panose="02020603050405020304" pitchFamily="18" charset="0"/>
              </a:rPr>
              <a:t>menawarkan</a:t>
            </a:r>
            <a:r>
              <a:rPr lang="en-US" sz="1400">
                <a:latin typeface="Aptos" panose="020B0004020202020204" pitchFamily="34" charset="0"/>
                <a:cs typeface="Aparajita" panose="02020603050405020304" pitchFamily="18" charset="0"/>
              </a:rPr>
              <a:t> Manfaat Meninggal yang </a:t>
            </a:r>
            <a:r>
              <a:rPr lang="en-US" sz="1400" err="1">
                <a:latin typeface="Aptos" panose="020B0004020202020204" pitchFamily="34" charset="0"/>
                <a:cs typeface="Aparajita" panose="02020603050405020304" pitchFamily="18" charset="0"/>
              </a:rPr>
              <a:t>lebih</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besar</a:t>
            </a:r>
            <a:r>
              <a:rPr lang="en-US" sz="1400">
                <a:latin typeface="Aptos" panose="020B0004020202020204" pitchFamily="34" charset="0"/>
                <a:cs typeface="Aparajita" panose="02020603050405020304" pitchFamily="18" charset="0"/>
              </a:rPr>
              <a:t> dan </a:t>
            </a:r>
            <a:r>
              <a:rPr lang="en-US" sz="1400" err="1">
                <a:latin typeface="Aptos" panose="020B0004020202020204" pitchFamily="34" charset="0"/>
                <a:cs typeface="Aparajita" panose="02020603050405020304" pitchFamily="18" charset="0"/>
              </a:rPr>
              <a:t>dibayarkan</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secara</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langsung</a:t>
            </a:r>
            <a:r>
              <a:rPr lang="en-US" sz="1400">
                <a:latin typeface="Aptos" panose="020B0004020202020204" pitchFamily="34" charset="0"/>
                <a:cs typeface="Aparajita" panose="02020603050405020304" pitchFamily="18" charset="0"/>
              </a:rPr>
              <a:t> </a:t>
            </a:r>
            <a:r>
              <a:rPr lang="en-US" sz="1400" i="1">
                <a:latin typeface="Aptos" panose="020B0004020202020204" pitchFamily="34" charset="0"/>
                <a:cs typeface="Aparajita" panose="02020603050405020304" pitchFamily="18" charset="0"/>
              </a:rPr>
              <a:t>(lump sum),</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dibandingkan</a:t>
            </a:r>
            <a:r>
              <a:rPr lang="en-US" sz="1400">
                <a:latin typeface="Aptos" panose="020B0004020202020204" pitchFamily="34" charset="0"/>
                <a:cs typeface="Aparajita" panose="02020603050405020304" pitchFamily="18" charset="0"/>
              </a:rPr>
              <a:t> Manfaat </a:t>
            </a:r>
            <a:r>
              <a:rPr lang="en-US" sz="1400" err="1">
                <a:latin typeface="Aptos" panose="020B0004020202020204" pitchFamily="34" charset="0"/>
                <a:cs typeface="Aparajita" panose="02020603050405020304" pitchFamily="18" charset="0"/>
              </a:rPr>
              <a:t>Meninggal</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PRUSmart</a:t>
            </a:r>
            <a:r>
              <a:rPr lang="en-US" sz="1400">
                <a:latin typeface="Aptos" panose="020B0004020202020204" pitchFamily="34" charset="0"/>
                <a:cs typeface="Aparajita" panose="02020603050405020304" pitchFamily="18" charset="0"/>
              </a:rPr>
              <a:t> Plan yang </a:t>
            </a:r>
            <a:r>
              <a:rPr lang="en-US" sz="1400" err="1">
                <a:latin typeface="Aptos" panose="020B0004020202020204" pitchFamily="34" charset="0"/>
                <a:cs typeface="Aparajita" panose="02020603050405020304" pitchFamily="18" charset="0"/>
              </a:rPr>
              <a:t>lebih</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kecil</a:t>
            </a:r>
            <a:r>
              <a:rPr lang="en-US" sz="1400">
                <a:latin typeface="Aptos" panose="020B0004020202020204" pitchFamily="34" charset="0"/>
                <a:cs typeface="Aparajita" panose="02020603050405020304" pitchFamily="18" charset="0"/>
              </a:rPr>
              <a:t> dan Manfaat </a:t>
            </a:r>
            <a:r>
              <a:rPr lang="en-US" sz="1400" err="1">
                <a:latin typeface="Aptos" panose="020B0004020202020204" pitchFamily="34" charset="0"/>
                <a:cs typeface="Aparajita" panose="02020603050405020304" pitchFamily="18" charset="0"/>
              </a:rPr>
              <a:t>Tunai</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Tahunannya</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dicicil</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tidak</a:t>
            </a:r>
            <a:r>
              <a:rPr lang="en-US" sz="1400">
                <a:latin typeface="Aptos" panose="020B0004020202020204" pitchFamily="34" charset="0"/>
                <a:cs typeface="Aparajita" panose="02020603050405020304" pitchFamily="18" charset="0"/>
              </a:rPr>
              <a:t> </a:t>
            </a:r>
            <a:r>
              <a:rPr lang="en-US" sz="1400" i="1">
                <a:latin typeface="Aptos" panose="020B0004020202020204" pitchFamily="34" charset="0"/>
                <a:cs typeface="Aparajita" panose="02020603050405020304" pitchFamily="18" charset="0"/>
              </a:rPr>
              <a:t>lump sum</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hingga</a:t>
            </a:r>
            <a:r>
              <a:rPr lang="en-US" sz="1400">
                <a:latin typeface="Aptos" panose="020B0004020202020204" pitchFamily="34" charset="0"/>
                <a:cs typeface="Aparajita" panose="02020603050405020304" pitchFamily="18" charset="0"/>
              </a:rPr>
              <a:t> </a:t>
            </a:r>
            <a:r>
              <a:rPr lang="en-US" sz="1400" err="1">
                <a:latin typeface="Aptos" panose="020B0004020202020204" pitchFamily="34" charset="0"/>
                <a:cs typeface="Aparajita" panose="02020603050405020304" pitchFamily="18" charset="0"/>
              </a:rPr>
              <a:t>akhir</a:t>
            </a:r>
            <a:r>
              <a:rPr lang="en-US" sz="1400">
                <a:latin typeface="Aptos" panose="020B0004020202020204" pitchFamily="34" charset="0"/>
                <a:cs typeface="Aparajita" panose="02020603050405020304" pitchFamily="18" charset="0"/>
              </a:rPr>
              <a:t> Masa Pertanggungan.</a:t>
            </a:r>
          </a:p>
          <a:p>
            <a:pPr marL="342900" indent="-342900" algn="just">
              <a:buAutoNum type="arabicPeriod"/>
            </a:pPr>
            <a:endParaRPr lang="en-US" sz="1400">
              <a:latin typeface="Aptos" panose="020B0004020202020204" pitchFamily="34" charset="0"/>
              <a:cs typeface="Aparajita" panose="02020603050405020304" pitchFamily="18" charset="0"/>
            </a:endParaRPr>
          </a:p>
        </p:txBody>
      </p:sp>
      <p:sp>
        <p:nvSpPr>
          <p:cNvPr id="11" name="Rectangle 10">
            <a:extLst>
              <a:ext uri="{FF2B5EF4-FFF2-40B4-BE49-F238E27FC236}">
                <a16:creationId xmlns:a16="http://schemas.microsoft.com/office/drawing/2014/main" id="{F5345E09-6A4D-D1F8-17AC-B61E671FB5BC}"/>
              </a:ext>
            </a:extLst>
          </p:cNvPr>
          <p:cNvSpPr/>
          <p:nvPr/>
        </p:nvSpPr>
        <p:spPr>
          <a:xfrm>
            <a:off x="8965403" y="628971"/>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B2277C-6636-BE29-986E-F8668E7F665F}"/>
              </a:ext>
            </a:extLst>
          </p:cNvPr>
          <p:cNvSpPr/>
          <p:nvPr/>
        </p:nvSpPr>
        <p:spPr>
          <a:xfrm>
            <a:off x="8972548" y="851830"/>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D331852-8C19-8F99-DE35-6FFD388E1F82}"/>
              </a:ext>
            </a:extLst>
          </p:cNvPr>
          <p:cNvSpPr txBox="1"/>
          <p:nvPr/>
        </p:nvSpPr>
        <p:spPr>
          <a:xfrm>
            <a:off x="9772647" y="560951"/>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4" name="TextBox 13">
            <a:extLst>
              <a:ext uri="{FF2B5EF4-FFF2-40B4-BE49-F238E27FC236}">
                <a16:creationId xmlns:a16="http://schemas.microsoft.com/office/drawing/2014/main" id="{BBA4BCF0-2451-0FE4-20D3-0BCD397C6AE7}"/>
              </a:ext>
            </a:extLst>
          </p:cNvPr>
          <p:cNvSpPr txBox="1"/>
          <p:nvPr/>
        </p:nvSpPr>
        <p:spPr>
          <a:xfrm>
            <a:off x="9776220" y="792080"/>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pic>
        <p:nvPicPr>
          <p:cNvPr id="4" name="Picture 3">
            <a:extLst>
              <a:ext uri="{FF2B5EF4-FFF2-40B4-BE49-F238E27FC236}">
                <a16:creationId xmlns:a16="http://schemas.microsoft.com/office/drawing/2014/main" id="{52A327D3-058F-022E-0099-BA05B89AD8BA}"/>
              </a:ext>
            </a:extLst>
          </p:cNvPr>
          <p:cNvPicPr>
            <a:picLocks noChangeAspect="1"/>
          </p:cNvPicPr>
          <p:nvPr/>
        </p:nvPicPr>
        <p:blipFill>
          <a:blip r:embed="rId3"/>
          <a:stretch>
            <a:fillRect/>
          </a:stretch>
        </p:blipFill>
        <p:spPr>
          <a:xfrm>
            <a:off x="226220" y="1210749"/>
            <a:ext cx="10250745" cy="3824499"/>
          </a:xfrm>
          <a:prstGeom prst="rect">
            <a:avLst/>
          </a:prstGeom>
        </p:spPr>
      </p:pic>
    </p:spTree>
    <p:extLst>
      <p:ext uri="{BB962C8B-B14F-4D97-AF65-F5344CB8AC3E}">
        <p14:creationId xmlns:p14="http://schemas.microsoft.com/office/powerpoint/2010/main" val="2067245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E761D-752F-4D7A-F482-88A7255304C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EA7BBE8-A70A-F582-C2EC-F95127DC6CB3}"/>
              </a:ext>
            </a:extLst>
          </p:cNvPr>
          <p:cNvPicPr>
            <a:picLocks noChangeAspect="1"/>
          </p:cNvPicPr>
          <p:nvPr/>
        </p:nvPicPr>
        <p:blipFill>
          <a:blip r:embed="rId3"/>
          <a:stretch>
            <a:fillRect/>
          </a:stretch>
        </p:blipFill>
        <p:spPr>
          <a:xfrm>
            <a:off x="226220" y="1239325"/>
            <a:ext cx="7710486" cy="3697650"/>
          </a:xfrm>
          <a:prstGeom prst="rect">
            <a:avLst/>
          </a:prstGeom>
        </p:spPr>
      </p:pic>
      <p:sp>
        <p:nvSpPr>
          <p:cNvPr id="2" name="TextBox 1">
            <a:extLst>
              <a:ext uri="{FF2B5EF4-FFF2-40B4-BE49-F238E27FC236}">
                <a16:creationId xmlns:a16="http://schemas.microsoft.com/office/drawing/2014/main" id="{0F39C513-1E10-1EB8-E40A-461CE1EEB2AF}"/>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Core</a:t>
            </a:r>
            <a:endParaRPr lang="en-US" sz="1400" b="1"/>
          </a:p>
        </p:txBody>
      </p:sp>
      <p:sp>
        <p:nvSpPr>
          <p:cNvPr id="8" name="TextBox 7">
            <a:extLst>
              <a:ext uri="{FF2B5EF4-FFF2-40B4-BE49-F238E27FC236}">
                <a16:creationId xmlns:a16="http://schemas.microsoft.com/office/drawing/2014/main" id="{A8099E2D-88E2-4FA3-6578-CB1099AB8D7A}"/>
              </a:ext>
            </a:extLst>
          </p:cNvPr>
          <p:cNvSpPr txBox="1"/>
          <p:nvPr/>
        </p:nvSpPr>
        <p:spPr>
          <a:xfrm>
            <a:off x="228061" y="5230657"/>
            <a:ext cx="11737719" cy="954107"/>
          </a:xfrm>
          <a:prstGeom prst="rect">
            <a:avLst/>
          </a:prstGeom>
          <a:noFill/>
        </p:spPr>
        <p:txBody>
          <a:bodyPr wrap="square">
            <a:spAutoFit/>
          </a:bodyPr>
          <a:lstStyle/>
          <a:p>
            <a:pPr algn="just"/>
            <a:r>
              <a:rPr lang="sv-SE" sz="1400" b="1">
                <a:latin typeface="Aptos" panose="020B0004020202020204" pitchFamily="34" charset="0"/>
              </a:rPr>
              <a:t>Kesimpulan:</a:t>
            </a:r>
          </a:p>
          <a:p>
            <a:pPr marL="342900" indent="-342900" algn="just">
              <a:buAutoNum type="arabicPeriod"/>
            </a:pPr>
            <a:r>
              <a:rPr lang="sv-SE" sz="1400">
                <a:latin typeface="Aptos" panose="020B0004020202020204" pitchFamily="34" charset="0"/>
              </a:rPr>
              <a:t>VALUE+ lebih unggul dibandingkan produk AIA RetirePlan untuk skenario manfaat dijamin.</a:t>
            </a:r>
          </a:p>
          <a:p>
            <a:pPr marL="342900" indent="-342900" algn="just">
              <a:buAutoNum type="arabicPeriod"/>
            </a:pPr>
            <a:r>
              <a:rPr lang="sv-SE" sz="1400">
                <a:latin typeface="Aptos" panose="020B0004020202020204" pitchFamily="34" charset="0"/>
              </a:rPr>
              <a:t>Jika dibandingkan total manfaat dari AIA RetirePlan (Dijamin + Tidak Dijamin) pada kedua skenario di atas, total manfaat yang diberikan VALUE+ lebih rendah 4-5%.</a:t>
            </a:r>
          </a:p>
        </p:txBody>
      </p:sp>
      <p:sp>
        <p:nvSpPr>
          <p:cNvPr id="3" name="Title 1">
            <a:extLst>
              <a:ext uri="{FF2B5EF4-FFF2-40B4-BE49-F238E27FC236}">
                <a16:creationId xmlns:a16="http://schemas.microsoft.com/office/drawing/2014/main" id="{8C3175F4-F023-EC23-F610-04C0EADDC20F}"/>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5 TAHUN - IDR</a:t>
            </a:r>
            <a:endParaRPr lang="en-GB" sz="2400" b="1">
              <a:solidFill>
                <a:srgbClr val="002060"/>
              </a:solidFill>
              <a:highlight>
                <a:srgbClr val="FFFF00"/>
              </a:highlight>
              <a:latin typeface="Aptos" panose="020B0004020202020204" pitchFamily="34" charset="0"/>
            </a:endParaRPr>
          </a:p>
        </p:txBody>
      </p:sp>
      <p:sp>
        <p:nvSpPr>
          <p:cNvPr id="6" name="Rectangle 5">
            <a:extLst>
              <a:ext uri="{FF2B5EF4-FFF2-40B4-BE49-F238E27FC236}">
                <a16:creationId xmlns:a16="http://schemas.microsoft.com/office/drawing/2014/main" id="{DD5B016A-222C-A1C6-92B2-634C97636076}"/>
              </a:ext>
            </a:extLst>
          </p:cNvPr>
          <p:cNvSpPr/>
          <p:nvPr/>
        </p:nvSpPr>
        <p:spPr>
          <a:xfrm>
            <a:off x="9189892" y="2493122"/>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FED7A3-BA14-576A-EE2C-8EB40F787DD6}"/>
              </a:ext>
            </a:extLst>
          </p:cNvPr>
          <p:cNvSpPr/>
          <p:nvPr/>
        </p:nvSpPr>
        <p:spPr>
          <a:xfrm>
            <a:off x="9197037" y="2715981"/>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AF5B9B9-ABC3-5395-540D-22FC73805D21}"/>
              </a:ext>
            </a:extLst>
          </p:cNvPr>
          <p:cNvSpPr txBox="1"/>
          <p:nvPr/>
        </p:nvSpPr>
        <p:spPr>
          <a:xfrm>
            <a:off x="9997136" y="2425102"/>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0" name="TextBox 9">
            <a:extLst>
              <a:ext uri="{FF2B5EF4-FFF2-40B4-BE49-F238E27FC236}">
                <a16:creationId xmlns:a16="http://schemas.microsoft.com/office/drawing/2014/main" id="{6D0CB63E-8B10-244A-0C57-8679D87759C3}"/>
              </a:ext>
            </a:extLst>
          </p:cNvPr>
          <p:cNvSpPr txBox="1"/>
          <p:nvPr/>
        </p:nvSpPr>
        <p:spPr>
          <a:xfrm>
            <a:off x="10000709" y="2656231"/>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spTree>
    <p:extLst>
      <p:ext uri="{BB962C8B-B14F-4D97-AF65-F5344CB8AC3E}">
        <p14:creationId xmlns:p14="http://schemas.microsoft.com/office/powerpoint/2010/main" val="7438392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C59FB-F8BD-92B9-8989-D421E04E24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215076-CA8A-F456-6C4E-B3A314BA3B17}"/>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Boost</a:t>
            </a:r>
            <a:endParaRPr lang="en-US" sz="1400" b="1"/>
          </a:p>
        </p:txBody>
      </p:sp>
      <p:sp>
        <p:nvSpPr>
          <p:cNvPr id="8" name="TextBox 7">
            <a:extLst>
              <a:ext uri="{FF2B5EF4-FFF2-40B4-BE49-F238E27FC236}">
                <a16:creationId xmlns:a16="http://schemas.microsoft.com/office/drawing/2014/main" id="{4470AF1E-5301-1A64-A01F-4BB591BCFF8E}"/>
              </a:ext>
            </a:extLst>
          </p:cNvPr>
          <p:cNvSpPr txBox="1"/>
          <p:nvPr/>
        </p:nvSpPr>
        <p:spPr>
          <a:xfrm>
            <a:off x="228061" y="5230657"/>
            <a:ext cx="11737719" cy="1169551"/>
          </a:xfrm>
          <a:prstGeom prst="rect">
            <a:avLst/>
          </a:prstGeom>
          <a:noFill/>
        </p:spPr>
        <p:txBody>
          <a:bodyPr wrap="square">
            <a:spAutoFit/>
          </a:bodyPr>
          <a:lstStyle/>
          <a:p>
            <a:pPr algn="just"/>
            <a:r>
              <a:rPr lang="sv-SE" sz="1400" b="1">
                <a:latin typeface="Aptos" panose="020B0004020202020204" pitchFamily="34" charset="0"/>
              </a:rPr>
              <a:t>Kesimpulan:</a:t>
            </a:r>
          </a:p>
          <a:p>
            <a:pPr marL="342900" indent="-342900" algn="just">
              <a:buAutoNum type="arabicPeriod"/>
            </a:pPr>
            <a:r>
              <a:rPr lang="sv-SE" sz="1400">
                <a:latin typeface="Aptos" panose="020B0004020202020204" pitchFamily="34" charset="0"/>
              </a:rPr>
              <a:t>VALUE+ lebih unggul dibandingkan produk AIA RetirePlan.</a:t>
            </a:r>
          </a:p>
          <a:p>
            <a:pPr marL="342900" indent="-342900" algn="just">
              <a:buAutoNum type="arabicPeriod"/>
            </a:pPr>
            <a:r>
              <a:rPr lang="en-US" sz="1400">
                <a:latin typeface="Aptos" panose="020B0004020202020204" pitchFamily="34" charset="0"/>
              </a:rPr>
              <a:t>VALUE+ </a:t>
            </a:r>
            <a:r>
              <a:rPr lang="en-US" sz="1400" err="1">
                <a:latin typeface="Aptos" panose="020B0004020202020204" pitchFamily="34" charset="0"/>
              </a:rPr>
              <a:t>lebih</a:t>
            </a:r>
            <a:r>
              <a:rPr lang="en-US" sz="1400">
                <a:latin typeface="Aptos" panose="020B0004020202020204" pitchFamily="34" charset="0"/>
              </a:rPr>
              <a:t> </a:t>
            </a:r>
            <a:r>
              <a:rPr lang="en-US" sz="1400" err="1">
                <a:latin typeface="Aptos" panose="020B0004020202020204" pitchFamily="34" charset="0"/>
              </a:rPr>
              <a:t>unggul</a:t>
            </a:r>
            <a:r>
              <a:rPr lang="en-US" sz="1400">
                <a:latin typeface="Aptos" panose="020B0004020202020204" pitchFamily="34" charset="0"/>
              </a:rPr>
              <a:t> </a:t>
            </a:r>
            <a:r>
              <a:rPr lang="en-US" sz="1400" err="1">
                <a:latin typeface="Aptos" panose="020B0004020202020204" pitchFamily="34" charset="0"/>
              </a:rPr>
              <a:t>dibandingkan</a:t>
            </a:r>
            <a:r>
              <a:rPr lang="en-US" sz="1400">
                <a:latin typeface="Aptos" panose="020B0004020202020204" pitchFamily="34" charset="0"/>
              </a:rPr>
              <a:t> </a:t>
            </a:r>
            <a:r>
              <a:rPr lang="en-US" sz="1400" err="1">
                <a:latin typeface="Aptos" panose="020B0004020202020204" pitchFamily="34" charset="0"/>
              </a:rPr>
              <a:t>PRUSmart</a:t>
            </a:r>
            <a:r>
              <a:rPr lang="en-US" sz="1400">
                <a:latin typeface="Aptos" panose="020B0004020202020204" pitchFamily="34" charset="0"/>
              </a:rPr>
              <a:t> Plan </a:t>
            </a:r>
            <a:r>
              <a:rPr lang="en-US" sz="1400" err="1">
                <a:latin typeface="Aptos" panose="020B0004020202020204" pitchFamily="34" charset="0"/>
              </a:rPr>
              <a:t>jika</a:t>
            </a:r>
            <a:r>
              <a:rPr lang="en-US" sz="1400">
                <a:latin typeface="Aptos" panose="020B0004020202020204" pitchFamily="34" charset="0"/>
              </a:rPr>
              <a:t> </a:t>
            </a:r>
            <a:r>
              <a:rPr lang="en-US" sz="1400" err="1">
                <a:latin typeface="Aptos" panose="020B0004020202020204" pitchFamily="34" charset="0"/>
              </a:rPr>
              <a:t>Tertanggung</a:t>
            </a:r>
            <a:r>
              <a:rPr lang="en-US" sz="1400">
                <a:latin typeface="Aptos" panose="020B0004020202020204" pitchFamily="34" charset="0"/>
              </a:rPr>
              <a:t> </a:t>
            </a:r>
            <a:r>
              <a:rPr lang="en-US" sz="1400" err="1">
                <a:latin typeface="Aptos" panose="020B0004020202020204" pitchFamily="34" charset="0"/>
              </a:rPr>
              <a:t>hidup</a:t>
            </a:r>
            <a:r>
              <a:rPr lang="en-US" sz="1400">
                <a:latin typeface="Aptos" panose="020B0004020202020204" pitchFamily="34" charset="0"/>
              </a:rPr>
              <a:t> </a:t>
            </a:r>
            <a:r>
              <a:rPr lang="en-US" sz="1400" err="1">
                <a:latin typeface="Aptos" panose="020B0004020202020204" pitchFamily="34" charset="0"/>
              </a:rPr>
              <a:t>hingga</a:t>
            </a:r>
            <a:r>
              <a:rPr lang="en-US" sz="1400">
                <a:latin typeface="Aptos" panose="020B0004020202020204" pitchFamily="34" charset="0"/>
              </a:rPr>
              <a:t> </a:t>
            </a:r>
            <a:r>
              <a:rPr lang="en-US" sz="1400" err="1">
                <a:latin typeface="Aptos" panose="020B0004020202020204" pitchFamily="34" charset="0"/>
              </a:rPr>
              <a:t>akhir</a:t>
            </a:r>
            <a:r>
              <a:rPr lang="en-US" sz="1400">
                <a:latin typeface="Aptos" panose="020B0004020202020204" pitchFamily="34" charset="0"/>
              </a:rPr>
              <a:t> Masa Pertanggungan.</a:t>
            </a:r>
          </a:p>
          <a:p>
            <a:pPr marL="342900" indent="-342900" algn="just">
              <a:buAutoNum type="arabicPeriod"/>
            </a:pPr>
            <a:r>
              <a:rPr lang="en-US" sz="1400" err="1">
                <a:latin typeface="Aptos" panose="020B0004020202020204" pitchFamily="34" charset="0"/>
              </a:rPr>
              <a:t>Produk</a:t>
            </a:r>
            <a:r>
              <a:rPr lang="en-US" sz="1400">
                <a:latin typeface="Aptos" panose="020B0004020202020204" pitchFamily="34" charset="0"/>
              </a:rPr>
              <a:t> VALUE+ </a:t>
            </a:r>
            <a:r>
              <a:rPr lang="en-US" sz="1400" err="1">
                <a:latin typeface="Aptos" panose="020B0004020202020204" pitchFamily="34" charset="0"/>
              </a:rPr>
              <a:t>menawarkan</a:t>
            </a:r>
            <a:r>
              <a:rPr lang="en-US" sz="1400">
                <a:latin typeface="Aptos" panose="020B0004020202020204" pitchFamily="34" charset="0"/>
              </a:rPr>
              <a:t> Manfaat Meninggal yang </a:t>
            </a:r>
            <a:r>
              <a:rPr lang="en-US" sz="1400" err="1">
                <a:latin typeface="Aptos" panose="020B0004020202020204" pitchFamily="34" charset="0"/>
              </a:rPr>
              <a:t>lebih</a:t>
            </a:r>
            <a:r>
              <a:rPr lang="en-US" sz="1400">
                <a:latin typeface="Aptos" panose="020B0004020202020204" pitchFamily="34" charset="0"/>
              </a:rPr>
              <a:t> </a:t>
            </a:r>
            <a:r>
              <a:rPr lang="en-US" sz="1400" err="1">
                <a:latin typeface="Aptos" panose="020B0004020202020204" pitchFamily="34" charset="0"/>
              </a:rPr>
              <a:t>besar</a:t>
            </a:r>
            <a:r>
              <a:rPr lang="en-US" sz="1400">
                <a:latin typeface="Aptos" panose="020B0004020202020204" pitchFamily="34" charset="0"/>
              </a:rPr>
              <a:t> dan </a:t>
            </a:r>
            <a:r>
              <a:rPr lang="en-US" sz="1400" err="1">
                <a:latin typeface="Aptos" panose="020B0004020202020204" pitchFamily="34" charset="0"/>
              </a:rPr>
              <a:t>dibayarkan</a:t>
            </a:r>
            <a:r>
              <a:rPr lang="en-US" sz="1400">
                <a:latin typeface="Aptos" panose="020B0004020202020204" pitchFamily="34" charset="0"/>
              </a:rPr>
              <a:t> </a:t>
            </a:r>
            <a:r>
              <a:rPr lang="en-US" sz="1400" err="1">
                <a:latin typeface="Aptos" panose="020B0004020202020204" pitchFamily="34" charset="0"/>
              </a:rPr>
              <a:t>secara</a:t>
            </a:r>
            <a:r>
              <a:rPr lang="en-US" sz="1400">
                <a:latin typeface="Aptos" panose="020B0004020202020204" pitchFamily="34" charset="0"/>
              </a:rPr>
              <a:t> </a:t>
            </a:r>
            <a:r>
              <a:rPr lang="en-US" sz="1400" err="1">
                <a:latin typeface="Aptos" panose="020B0004020202020204" pitchFamily="34" charset="0"/>
              </a:rPr>
              <a:t>langsung</a:t>
            </a:r>
            <a:r>
              <a:rPr lang="en-US" sz="1400">
                <a:latin typeface="Aptos" panose="020B0004020202020204" pitchFamily="34" charset="0"/>
              </a:rPr>
              <a:t> </a:t>
            </a:r>
            <a:r>
              <a:rPr lang="en-US" sz="1400" i="1">
                <a:latin typeface="Aptos" panose="020B0004020202020204" pitchFamily="34" charset="0"/>
              </a:rPr>
              <a:t>(lump sum),</a:t>
            </a:r>
            <a:r>
              <a:rPr lang="en-US" sz="1400">
                <a:latin typeface="Aptos" panose="020B0004020202020204" pitchFamily="34" charset="0"/>
              </a:rPr>
              <a:t> </a:t>
            </a:r>
            <a:r>
              <a:rPr lang="en-US" sz="1400" err="1">
                <a:latin typeface="Aptos" panose="020B0004020202020204" pitchFamily="34" charset="0"/>
              </a:rPr>
              <a:t>dibandingkan</a:t>
            </a:r>
            <a:r>
              <a:rPr lang="en-US" sz="1400">
                <a:latin typeface="Aptos" panose="020B0004020202020204" pitchFamily="34" charset="0"/>
              </a:rPr>
              <a:t> Manfaat </a:t>
            </a:r>
            <a:r>
              <a:rPr lang="en-US" sz="1400" err="1">
                <a:latin typeface="Aptos" panose="020B0004020202020204" pitchFamily="34" charset="0"/>
              </a:rPr>
              <a:t>Meninggal</a:t>
            </a:r>
            <a:r>
              <a:rPr lang="en-US" sz="1400">
                <a:latin typeface="Aptos" panose="020B0004020202020204" pitchFamily="34" charset="0"/>
              </a:rPr>
              <a:t> </a:t>
            </a:r>
            <a:r>
              <a:rPr lang="en-US" sz="1400" err="1">
                <a:latin typeface="Aptos" panose="020B0004020202020204" pitchFamily="34" charset="0"/>
              </a:rPr>
              <a:t>PRUSmart</a:t>
            </a:r>
            <a:r>
              <a:rPr lang="en-US" sz="1400">
                <a:latin typeface="Aptos" panose="020B0004020202020204" pitchFamily="34" charset="0"/>
              </a:rPr>
              <a:t> Plan yang </a:t>
            </a:r>
            <a:r>
              <a:rPr lang="en-US" sz="1400" err="1">
                <a:latin typeface="Aptos" panose="020B0004020202020204" pitchFamily="34" charset="0"/>
              </a:rPr>
              <a:t>lebih</a:t>
            </a:r>
            <a:r>
              <a:rPr lang="en-US" sz="1400">
                <a:latin typeface="Aptos" panose="020B0004020202020204" pitchFamily="34" charset="0"/>
              </a:rPr>
              <a:t> </a:t>
            </a:r>
            <a:r>
              <a:rPr lang="en-US" sz="1400" err="1">
                <a:latin typeface="Aptos" panose="020B0004020202020204" pitchFamily="34" charset="0"/>
              </a:rPr>
              <a:t>kecil</a:t>
            </a:r>
            <a:r>
              <a:rPr lang="en-US" sz="1400">
                <a:latin typeface="Aptos" panose="020B0004020202020204" pitchFamily="34" charset="0"/>
              </a:rPr>
              <a:t> dan Manfaat </a:t>
            </a:r>
            <a:r>
              <a:rPr lang="en-US" sz="1400" err="1">
                <a:latin typeface="Aptos" panose="020B0004020202020204" pitchFamily="34" charset="0"/>
              </a:rPr>
              <a:t>Tunai</a:t>
            </a:r>
            <a:r>
              <a:rPr lang="en-US" sz="1400">
                <a:latin typeface="Aptos" panose="020B0004020202020204" pitchFamily="34" charset="0"/>
              </a:rPr>
              <a:t> </a:t>
            </a:r>
            <a:r>
              <a:rPr lang="en-US" sz="1400" err="1">
                <a:latin typeface="Aptos" panose="020B0004020202020204" pitchFamily="34" charset="0"/>
              </a:rPr>
              <a:t>Tahunannya</a:t>
            </a:r>
            <a:r>
              <a:rPr lang="en-US" sz="1400">
                <a:latin typeface="Aptos" panose="020B0004020202020204" pitchFamily="34" charset="0"/>
              </a:rPr>
              <a:t> </a:t>
            </a:r>
            <a:r>
              <a:rPr lang="en-US" sz="1400" err="1">
                <a:latin typeface="Aptos" panose="020B0004020202020204" pitchFamily="34" charset="0"/>
              </a:rPr>
              <a:t>dicicil</a:t>
            </a:r>
            <a:r>
              <a:rPr lang="en-US" sz="1400">
                <a:latin typeface="Aptos" panose="020B0004020202020204" pitchFamily="34" charset="0"/>
              </a:rPr>
              <a:t> (</a:t>
            </a:r>
            <a:r>
              <a:rPr lang="en-US" sz="1400" err="1">
                <a:latin typeface="Aptos" panose="020B0004020202020204" pitchFamily="34" charset="0"/>
              </a:rPr>
              <a:t>tidak</a:t>
            </a:r>
            <a:r>
              <a:rPr lang="en-US" sz="1400">
                <a:latin typeface="Aptos" panose="020B0004020202020204" pitchFamily="34" charset="0"/>
              </a:rPr>
              <a:t> </a:t>
            </a:r>
            <a:r>
              <a:rPr lang="en-US" sz="1400" i="1">
                <a:latin typeface="Aptos" panose="020B0004020202020204" pitchFamily="34" charset="0"/>
              </a:rPr>
              <a:t>lump sum</a:t>
            </a:r>
            <a:r>
              <a:rPr lang="en-US" sz="1400">
                <a:latin typeface="Aptos" panose="020B0004020202020204" pitchFamily="34" charset="0"/>
              </a:rPr>
              <a:t>) </a:t>
            </a:r>
            <a:r>
              <a:rPr lang="en-US" sz="1400" err="1">
                <a:latin typeface="Aptos" panose="020B0004020202020204" pitchFamily="34" charset="0"/>
              </a:rPr>
              <a:t>hingga</a:t>
            </a:r>
            <a:r>
              <a:rPr lang="en-US" sz="1400">
                <a:latin typeface="Aptos" panose="020B0004020202020204" pitchFamily="34" charset="0"/>
              </a:rPr>
              <a:t> </a:t>
            </a:r>
            <a:r>
              <a:rPr lang="en-US" sz="1400" err="1">
                <a:latin typeface="Aptos" panose="020B0004020202020204" pitchFamily="34" charset="0"/>
              </a:rPr>
              <a:t>akhir</a:t>
            </a:r>
            <a:r>
              <a:rPr lang="en-US" sz="1400">
                <a:latin typeface="Aptos" panose="020B0004020202020204" pitchFamily="34" charset="0"/>
              </a:rPr>
              <a:t> Masa Pertanggungan.</a:t>
            </a:r>
          </a:p>
        </p:txBody>
      </p:sp>
      <p:sp>
        <p:nvSpPr>
          <p:cNvPr id="11" name="Rectangle 10">
            <a:extLst>
              <a:ext uri="{FF2B5EF4-FFF2-40B4-BE49-F238E27FC236}">
                <a16:creationId xmlns:a16="http://schemas.microsoft.com/office/drawing/2014/main" id="{8F3FE86D-62AE-172F-4FC5-1D0A8045BFB8}"/>
              </a:ext>
            </a:extLst>
          </p:cNvPr>
          <p:cNvSpPr/>
          <p:nvPr/>
        </p:nvSpPr>
        <p:spPr>
          <a:xfrm>
            <a:off x="9189892" y="2493122"/>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6D7270-61AC-43ED-05FF-CA725C87262D}"/>
              </a:ext>
            </a:extLst>
          </p:cNvPr>
          <p:cNvSpPr/>
          <p:nvPr/>
        </p:nvSpPr>
        <p:spPr>
          <a:xfrm>
            <a:off x="9197037" y="2715981"/>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DFEC2C8-CF16-7B8C-A65F-1F0B8A6DBDAF}"/>
              </a:ext>
            </a:extLst>
          </p:cNvPr>
          <p:cNvSpPr txBox="1"/>
          <p:nvPr/>
        </p:nvSpPr>
        <p:spPr>
          <a:xfrm>
            <a:off x="9997136" y="2425102"/>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4" name="TextBox 13">
            <a:extLst>
              <a:ext uri="{FF2B5EF4-FFF2-40B4-BE49-F238E27FC236}">
                <a16:creationId xmlns:a16="http://schemas.microsoft.com/office/drawing/2014/main" id="{8FA4A9AB-7F2D-EEB4-F3F1-63AD9388E38A}"/>
              </a:ext>
            </a:extLst>
          </p:cNvPr>
          <p:cNvSpPr txBox="1"/>
          <p:nvPr/>
        </p:nvSpPr>
        <p:spPr>
          <a:xfrm>
            <a:off x="10000709" y="2656231"/>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sp>
        <p:nvSpPr>
          <p:cNvPr id="9" name="Title 1">
            <a:extLst>
              <a:ext uri="{FF2B5EF4-FFF2-40B4-BE49-F238E27FC236}">
                <a16:creationId xmlns:a16="http://schemas.microsoft.com/office/drawing/2014/main" id="{67A82D81-E940-E35B-9A81-27BED21613B6}"/>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10 TAHUN - IDR</a:t>
            </a:r>
            <a:endParaRPr lang="en-GB" sz="2400" b="1">
              <a:solidFill>
                <a:srgbClr val="002060"/>
              </a:solidFill>
              <a:highlight>
                <a:srgbClr val="FFFF00"/>
              </a:highlight>
              <a:latin typeface="Aptos" panose="020B0004020202020204" pitchFamily="34" charset="0"/>
            </a:endParaRPr>
          </a:p>
        </p:txBody>
      </p:sp>
      <p:pic>
        <p:nvPicPr>
          <p:cNvPr id="4" name="Picture 3">
            <a:extLst>
              <a:ext uri="{FF2B5EF4-FFF2-40B4-BE49-F238E27FC236}">
                <a16:creationId xmlns:a16="http://schemas.microsoft.com/office/drawing/2014/main" id="{FCC805E6-644C-FFD9-06FD-5A17300FD7B0}"/>
              </a:ext>
            </a:extLst>
          </p:cNvPr>
          <p:cNvPicPr>
            <a:picLocks noChangeAspect="1"/>
          </p:cNvPicPr>
          <p:nvPr/>
        </p:nvPicPr>
        <p:blipFill>
          <a:blip r:embed="rId3"/>
          <a:stretch>
            <a:fillRect/>
          </a:stretch>
        </p:blipFill>
        <p:spPr>
          <a:xfrm>
            <a:off x="226221" y="1196461"/>
            <a:ext cx="8646088" cy="3682721"/>
          </a:xfrm>
          <a:prstGeom prst="rect">
            <a:avLst/>
          </a:prstGeom>
        </p:spPr>
      </p:pic>
    </p:spTree>
    <p:extLst>
      <p:ext uri="{BB962C8B-B14F-4D97-AF65-F5344CB8AC3E}">
        <p14:creationId xmlns:p14="http://schemas.microsoft.com/office/powerpoint/2010/main" val="28900271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4B326-7BAC-EA29-25FF-853C47068B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1B2710-9D02-A023-644F-B88E07D784CA}"/>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Core</a:t>
            </a:r>
            <a:endParaRPr lang="en-US" sz="1400" b="1"/>
          </a:p>
        </p:txBody>
      </p:sp>
      <p:sp>
        <p:nvSpPr>
          <p:cNvPr id="8" name="TextBox 7">
            <a:extLst>
              <a:ext uri="{FF2B5EF4-FFF2-40B4-BE49-F238E27FC236}">
                <a16:creationId xmlns:a16="http://schemas.microsoft.com/office/drawing/2014/main" id="{18C2B918-7338-085F-1A52-BE3C4358899B}"/>
              </a:ext>
            </a:extLst>
          </p:cNvPr>
          <p:cNvSpPr txBox="1"/>
          <p:nvPr/>
        </p:nvSpPr>
        <p:spPr>
          <a:xfrm>
            <a:off x="228061" y="5230657"/>
            <a:ext cx="11737719" cy="523220"/>
          </a:xfrm>
          <a:prstGeom prst="rect">
            <a:avLst/>
          </a:prstGeom>
          <a:noFill/>
        </p:spPr>
        <p:txBody>
          <a:bodyPr wrap="square">
            <a:spAutoFit/>
          </a:bodyPr>
          <a:lstStyle/>
          <a:p>
            <a:pPr algn="just"/>
            <a:r>
              <a:rPr lang="sv-SE" sz="1400" b="1">
                <a:latin typeface="Aptos" panose="020B0004020202020204" pitchFamily="34" charset="0"/>
              </a:rPr>
              <a:t>Kesimpulan:</a:t>
            </a:r>
          </a:p>
          <a:p>
            <a:pPr algn="just"/>
            <a:r>
              <a:rPr lang="sv-SE" sz="1400">
                <a:latin typeface="Aptos" panose="020B0004020202020204" pitchFamily="34" charset="0"/>
              </a:rPr>
              <a:t>VALUE+ lebih unggul dibandingkan produk kompetitor.</a:t>
            </a:r>
          </a:p>
        </p:txBody>
      </p:sp>
      <p:sp>
        <p:nvSpPr>
          <p:cNvPr id="11" name="Rectangle 10">
            <a:extLst>
              <a:ext uri="{FF2B5EF4-FFF2-40B4-BE49-F238E27FC236}">
                <a16:creationId xmlns:a16="http://schemas.microsoft.com/office/drawing/2014/main" id="{8B2CBAD8-9EA6-D2D8-B011-AFFE956EB509}"/>
              </a:ext>
            </a:extLst>
          </p:cNvPr>
          <p:cNvSpPr/>
          <p:nvPr/>
        </p:nvSpPr>
        <p:spPr>
          <a:xfrm>
            <a:off x="9189892" y="2493122"/>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74BE-DA8B-BF3C-4603-73F98F2FB7B6}"/>
              </a:ext>
            </a:extLst>
          </p:cNvPr>
          <p:cNvSpPr/>
          <p:nvPr/>
        </p:nvSpPr>
        <p:spPr>
          <a:xfrm>
            <a:off x="9197037" y="2715981"/>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9029BAA-189E-D5E3-5A8A-AE38A62C3A3C}"/>
              </a:ext>
            </a:extLst>
          </p:cNvPr>
          <p:cNvSpPr txBox="1"/>
          <p:nvPr/>
        </p:nvSpPr>
        <p:spPr>
          <a:xfrm>
            <a:off x="9997136" y="2425102"/>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4" name="TextBox 13">
            <a:extLst>
              <a:ext uri="{FF2B5EF4-FFF2-40B4-BE49-F238E27FC236}">
                <a16:creationId xmlns:a16="http://schemas.microsoft.com/office/drawing/2014/main" id="{5FA68980-28DE-21CC-5036-562B198105D7}"/>
              </a:ext>
            </a:extLst>
          </p:cNvPr>
          <p:cNvSpPr txBox="1"/>
          <p:nvPr/>
        </p:nvSpPr>
        <p:spPr>
          <a:xfrm>
            <a:off x="10000709" y="2656231"/>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sp>
        <p:nvSpPr>
          <p:cNvPr id="9" name="Title 1">
            <a:extLst>
              <a:ext uri="{FF2B5EF4-FFF2-40B4-BE49-F238E27FC236}">
                <a16:creationId xmlns:a16="http://schemas.microsoft.com/office/drawing/2014/main" id="{2DF04F43-47DE-2E45-4690-8203BA3107C9}"/>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10 TAHUN - IDR</a:t>
            </a:r>
            <a:endParaRPr lang="en-GB" sz="2400" b="1">
              <a:solidFill>
                <a:srgbClr val="002060"/>
              </a:solidFill>
              <a:highlight>
                <a:srgbClr val="FFFF00"/>
              </a:highlight>
              <a:latin typeface="Aptos" panose="020B0004020202020204" pitchFamily="34" charset="0"/>
            </a:endParaRPr>
          </a:p>
        </p:txBody>
      </p:sp>
      <p:pic>
        <p:nvPicPr>
          <p:cNvPr id="18" name="Picture 17">
            <a:extLst>
              <a:ext uri="{FF2B5EF4-FFF2-40B4-BE49-F238E27FC236}">
                <a16:creationId xmlns:a16="http://schemas.microsoft.com/office/drawing/2014/main" id="{2B7028C9-2087-6772-0248-6E440D8228EB}"/>
              </a:ext>
            </a:extLst>
          </p:cNvPr>
          <p:cNvPicPr>
            <a:picLocks noChangeAspect="1"/>
          </p:cNvPicPr>
          <p:nvPr/>
        </p:nvPicPr>
        <p:blipFill>
          <a:blip r:embed="rId3"/>
          <a:stretch>
            <a:fillRect/>
          </a:stretch>
        </p:blipFill>
        <p:spPr>
          <a:xfrm>
            <a:off x="228061" y="1247556"/>
            <a:ext cx="7683245" cy="3661246"/>
          </a:xfrm>
          <a:prstGeom prst="rect">
            <a:avLst/>
          </a:prstGeom>
        </p:spPr>
      </p:pic>
    </p:spTree>
    <p:extLst>
      <p:ext uri="{BB962C8B-B14F-4D97-AF65-F5344CB8AC3E}">
        <p14:creationId xmlns:p14="http://schemas.microsoft.com/office/powerpoint/2010/main" val="4076475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63543-7A58-B58F-834F-33263B09C2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C80F77-0BA6-7F94-064B-761C6606B999}"/>
              </a:ext>
            </a:extLst>
          </p:cNvPr>
          <p:cNvPicPr>
            <a:picLocks noChangeAspect="1"/>
          </p:cNvPicPr>
          <p:nvPr/>
        </p:nvPicPr>
        <p:blipFill>
          <a:blip r:embed="rId3"/>
          <a:stretch>
            <a:fillRect/>
          </a:stretch>
        </p:blipFill>
        <p:spPr>
          <a:xfrm>
            <a:off x="281726" y="1187122"/>
            <a:ext cx="7276575" cy="3918156"/>
          </a:xfrm>
          <a:prstGeom prst="rect">
            <a:avLst/>
          </a:prstGeom>
        </p:spPr>
      </p:pic>
      <p:sp>
        <p:nvSpPr>
          <p:cNvPr id="2" name="TextBox 1">
            <a:extLst>
              <a:ext uri="{FF2B5EF4-FFF2-40B4-BE49-F238E27FC236}">
                <a16:creationId xmlns:a16="http://schemas.microsoft.com/office/drawing/2014/main" id="{4BE952F3-75C7-159E-FC8C-3ED772C72663}"/>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Boost</a:t>
            </a:r>
            <a:endParaRPr lang="en-US" sz="1400" b="1"/>
          </a:p>
        </p:txBody>
      </p:sp>
      <p:sp>
        <p:nvSpPr>
          <p:cNvPr id="8" name="TextBox 7">
            <a:extLst>
              <a:ext uri="{FF2B5EF4-FFF2-40B4-BE49-F238E27FC236}">
                <a16:creationId xmlns:a16="http://schemas.microsoft.com/office/drawing/2014/main" id="{32C95CE9-F5C3-73B9-A030-3A01BC1C7DCD}"/>
              </a:ext>
            </a:extLst>
          </p:cNvPr>
          <p:cNvSpPr txBox="1"/>
          <p:nvPr/>
        </p:nvSpPr>
        <p:spPr>
          <a:xfrm>
            <a:off x="228061" y="5230657"/>
            <a:ext cx="11737719" cy="523220"/>
          </a:xfrm>
          <a:prstGeom prst="rect">
            <a:avLst/>
          </a:prstGeom>
          <a:noFill/>
        </p:spPr>
        <p:txBody>
          <a:bodyPr wrap="square">
            <a:spAutoFit/>
          </a:bodyPr>
          <a:lstStyle/>
          <a:p>
            <a:pPr algn="just"/>
            <a:r>
              <a:rPr lang="sv-SE" sz="1400" b="1">
                <a:latin typeface="Aptos" panose="020B0004020202020204" pitchFamily="34" charset="0"/>
              </a:rPr>
              <a:t>Kesimpulan:</a:t>
            </a:r>
          </a:p>
          <a:p>
            <a:pPr algn="just"/>
            <a:r>
              <a:rPr lang="sv-SE" sz="1400">
                <a:latin typeface="Aptos" panose="020B0004020202020204" pitchFamily="34" charset="0"/>
              </a:rPr>
              <a:t>VALUE+ lebih unggul dibandingkan produk kompetitor.</a:t>
            </a:r>
          </a:p>
        </p:txBody>
      </p:sp>
      <p:sp>
        <p:nvSpPr>
          <p:cNvPr id="11" name="Rectangle 10">
            <a:extLst>
              <a:ext uri="{FF2B5EF4-FFF2-40B4-BE49-F238E27FC236}">
                <a16:creationId xmlns:a16="http://schemas.microsoft.com/office/drawing/2014/main" id="{09132D97-3759-74CF-51B2-63328A11D29B}"/>
              </a:ext>
            </a:extLst>
          </p:cNvPr>
          <p:cNvSpPr/>
          <p:nvPr/>
        </p:nvSpPr>
        <p:spPr>
          <a:xfrm>
            <a:off x="9189892" y="2493122"/>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3C85A6-2ECD-04CA-6CAF-F77A92218803}"/>
              </a:ext>
            </a:extLst>
          </p:cNvPr>
          <p:cNvSpPr/>
          <p:nvPr/>
        </p:nvSpPr>
        <p:spPr>
          <a:xfrm>
            <a:off x="9197037" y="2715981"/>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485A9DC-110E-94F8-0682-D96AD60B84DE}"/>
              </a:ext>
            </a:extLst>
          </p:cNvPr>
          <p:cNvSpPr txBox="1"/>
          <p:nvPr/>
        </p:nvSpPr>
        <p:spPr>
          <a:xfrm>
            <a:off x="9997136" y="2425102"/>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4" name="TextBox 13">
            <a:extLst>
              <a:ext uri="{FF2B5EF4-FFF2-40B4-BE49-F238E27FC236}">
                <a16:creationId xmlns:a16="http://schemas.microsoft.com/office/drawing/2014/main" id="{AA899350-1064-6D08-F39C-4BCB0B6695C2}"/>
              </a:ext>
            </a:extLst>
          </p:cNvPr>
          <p:cNvSpPr txBox="1"/>
          <p:nvPr/>
        </p:nvSpPr>
        <p:spPr>
          <a:xfrm>
            <a:off x="10000709" y="2656231"/>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sp>
        <p:nvSpPr>
          <p:cNvPr id="9" name="Title 1">
            <a:extLst>
              <a:ext uri="{FF2B5EF4-FFF2-40B4-BE49-F238E27FC236}">
                <a16:creationId xmlns:a16="http://schemas.microsoft.com/office/drawing/2014/main" id="{087B62AD-77BC-8055-8807-B78658233C13}"/>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5 TAHUN - USD</a:t>
            </a:r>
            <a:endParaRPr lang="en-GB" sz="24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21453981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63530-19BF-FD1F-6ED6-DBA284C1E44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20B0C7-9277-9082-80BB-730E4068DBD6}"/>
              </a:ext>
            </a:extLst>
          </p:cNvPr>
          <p:cNvPicPr>
            <a:picLocks noChangeAspect="1"/>
          </p:cNvPicPr>
          <p:nvPr/>
        </p:nvPicPr>
        <p:blipFill>
          <a:blip r:embed="rId3"/>
          <a:stretch>
            <a:fillRect/>
          </a:stretch>
        </p:blipFill>
        <p:spPr>
          <a:xfrm>
            <a:off x="228061" y="1230751"/>
            <a:ext cx="7725286" cy="3719868"/>
          </a:xfrm>
          <a:prstGeom prst="rect">
            <a:avLst/>
          </a:prstGeom>
        </p:spPr>
      </p:pic>
      <p:sp>
        <p:nvSpPr>
          <p:cNvPr id="2" name="TextBox 1">
            <a:extLst>
              <a:ext uri="{FF2B5EF4-FFF2-40B4-BE49-F238E27FC236}">
                <a16:creationId xmlns:a16="http://schemas.microsoft.com/office/drawing/2014/main" id="{93609AAE-11EA-932F-080F-695D6E259EE0}"/>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Core</a:t>
            </a:r>
            <a:endParaRPr lang="en-US" sz="1400" b="1"/>
          </a:p>
        </p:txBody>
      </p:sp>
      <p:sp>
        <p:nvSpPr>
          <p:cNvPr id="8" name="TextBox 7">
            <a:extLst>
              <a:ext uri="{FF2B5EF4-FFF2-40B4-BE49-F238E27FC236}">
                <a16:creationId xmlns:a16="http://schemas.microsoft.com/office/drawing/2014/main" id="{F43A4D5E-FAB5-1D17-7CC4-2AD0990C6953}"/>
              </a:ext>
            </a:extLst>
          </p:cNvPr>
          <p:cNvSpPr txBox="1"/>
          <p:nvPr/>
        </p:nvSpPr>
        <p:spPr>
          <a:xfrm>
            <a:off x="228061" y="5230657"/>
            <a:ext cx="11737719" cy="523220"/>
          </a:xfrm>
          <a:prstGeom prst="rect">
            <a:avLst/>
          </a:prstGeom>
          <a:noFill/>
        </p:spPr>
        <p:txBody>
          <a:bodyPr wrap="square">
            <a:spAutoFit/>
          </a:bodyPr>
          <a:lstStyle/>
          <a:p>
            <a:pPr algn="just"/>
            <a:r>
              <a:rPr lang="sv-SE" sz="1400" b="1">
                <a:latin typeface="Aptos" panose="020B0004020202020204" pitchFamily="34" charset="0"/>
              </a:rPr>
              <a:t>Kesimpulan:</a:t>
            </a:r>
          </a:p>
          <a:p>
            <a:pPr algn="just"/>
            <a:r>
              <a:rPr lang="sv-SE" sz="1400">
                <a:latin typeface="Aptos" panose="020B0004020202020204" pitchFamily="34" charset="0"/>
              </a:rPr>
              <a:t>VALUE+ lebih unggul dibandingkan produk kompetitor.</a:t>
            </a:r>
          </a:p>
        </p:txBody>
      </p:sp>
      <p:sp>
        <p:nvSpPr>
          <p:cNvPr id="11" name="Rectangle 10">
            <a:extLst>
              <a:ext uri="{FF2B5EF4-FFF2-40B4-BE49-F238E27FC236}">
                <a16:creationId xmlns:a16="http://schemas.microsoft.com/office/drawing/2014/main" id="{3DA3DB7F-6A38-5FC3-F64E-704327DFBD5B}"/>
              </a:ext>
            </a:extLst>
          </p:cNvPr>
          <p:cNvSpPr/>
          <p:nvPr/>
        </p:nvSpPr>
        <p:spPr>
          <a:xfrm>
            <a:off x="9189892" y="2493122"/>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81A8A2-F56E-EF63-0955-DE198CE0E37A}"/>
              </a:ext>
            </a:extLst>
          </p:cNvPr>
          <p:cNvSpPr/>
          <p:nvPr/>
        </p:nvSpPr>
        <p:spPr>
          <a:xfrm>
            <a:off x="9197037" y="2715981"/>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B361F38-CC44-7B64-7878-E4DE9E420847}"/>
              </a:ext>
            </a:extLst>
          </p:cNvPr>
          <p:cNvSpPr txBox="1"/>
          <p:nvPr/>
        </p:nvSpPr>
        <p:spPr>
          <a:xfrm>
            <a:off x="9997136" y="2425102"/>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4" name="TextBox 13">
            <a:extLst>
              <a:ext uri="{FF2B5EF4-FFF2-40B4-BE49-F238E27FC236}">
                <a16:creationId xmlns:a16="http://schemas.microsoft.com/office/drawing/2014/main" id="{B1E3F612-C7A1-CF9F-2B45-C784497B3686}"/>
              </a:ext>
            </a:extLst>
          </p:cNvPr>
          <p:cNvSpPr txBox="1"/>
          <p:nvPr/>
        </p:nvSpPr>
        <p:spPr>
          <a:xfrm>
            <a:off x="10000709" y="2656231"/>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sp>
        <p:nvSpPr>
          <p:cNvPr id="9" name="Title 1">
            <a:extLst>
              <a:ext uri="{FF2B5EF4-FFF2-40B4-BE49-F238E27FC236}">
                <a16:creationId xmlns:a16="http://schemas.microsoft.com/office/drawing/2014/main" id="{F67A8CF9-5A25-6D43-0613-3C3FB6221F43}"/>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5 TAHUN - USD</a:t>
            </a:r>
            <a:endParaRPr lang="en-GB" sz="2400" b="1">
              <a:solidFill>
                <a:srgbClr val="002060"/>
              </a:solidFill>
              <a:highlight>
                <a:srgbClr val="FFFF00"/>
              </a:highlight>
              <a:latin typeface="Aptos" panose="020B0004020202020204" pitchFamily="34" charset="0"/>
            </a:endParaRPr>
          </a:p>
        </p:txBody>
      </p:sp>
    </p:spTree>
    <p:extLst>
      <p:ext uri="{BB962C8B-B14F-4D97-AF65-F5344CB8AC3E}">
        <p14:creationId xmlns:p14="http://schemas.microsoft.com/office/powerpoint/2010/main" val="18460549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421AB-814F-4077-4D45-8D55C55FF6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402E0A-53FB-B0FA-0562-F092A8F23A32}"/>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Boost</a:t>
            </a:r>
            <a:endParaRPr lang="en-US" sz="1400" b="1"/>
          </a:p>
        </p:txBody>
      </p:sp>
      <p:sp>
        <p:nvSpPr>
          <p:cNvPr id="8" name="TextBox 7">
            <a:extLst>
              <a:ext uri="{FF2B5EF4-FFF2-40B4-BE49-F238E27FC236}">
                <a16:creationId xmlns:a16="http://schemas.microsoft.com/office/drawing/2014/main" id="{51B481BF-26C7-C031-BCA5-19DD80518CDA}"/>
              </a:ext>
            </a:extLst>
          </p:cNvPr>
          <p:cNvSpPr txBox="1"/>
          <p:nvPr/>
        </p:nvSpPr>
        <p:spPr>
          <a:xfrm>
            <a:off x="228061" y="5230657"/>
            <a:ext cx="11737719" cy="523220"/>
          </a:xfrm>
          <a:prstGeom prst="rect">
            <a:avLst/>
          </a:prstGeom>
          <a:noFill/>
        </p:spPr>
        <p:txBody>
          <a:bodyPr wrap="square">
            <a:spAutoFit/>
          </a:bodyPr>
          <a:lstStyle/>
          <a:p>
            <a:pPr algn="just"/>
            <a:r>
              <a:rPr lang="sv-SE" sz="1400" b="1">
                <a:latin typeface="Aptos" panose="020B0004020202020204" pitchFamily="34" charset="0"/>
              </a:rPr>
              <a:t>Kesimpulan:</a:t>
            </a:r>
          </a:p>
          <a:p>
            <a:pPr algn="just"/>
            <a:r>
              <a:rPr lang="sv-SE" sz="1400">
                <a:latin typeface="Aptos" panose="020B0004020202020204" pitchFamily="34" charset="0"/>
              </a:rPr>
              <a:t>VALUE+ lebih unggul dibandingkan produk kompetitor.</a:t>
            </a:r>
          </a:p>
        </p:txBody>
      </p:sp>
      <p:sp>
        <p:nvSpPr>
          <p:cNvPr id="11" name="Rectangle 10">
            <a:extLst>
              <a:ext uri="{FF2B5EF4-FFF2-40B4-BE49-F238E27FC236}">
                <a16:creationId xmlns:a16="http://schemas.microsoft.com/office/drawing/2014/main" id="{D80EBD9C-6664-B28C-709B-9915724AADA0}"/>
              </a:ext>
            </a:extLst>
          </p:cNvPr>
          <p:cNvSpPr/>
          <p:nvPr/>
        </p:nvSpPr>
        <p:spPr>
          <a:xfrm>
            <a:off x="9189892" y="2493122"/>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39B0BD-B1D5-64BD-0B22-44C749682F2D}"/>
              </a:ext>
            </a:extLst>
          </p:cNvPr>
          <p:cNvSpPr/>
          <p:nvPr/>
        </p:nvSpPr>
        <p:spPr>
          <a:xfrm>
            <a:off x="9197037" y="2715981"/>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5749CF3-26FD-C979-21C6-27D8DF8F9F3F}"/>
              </a:ext>
            </a:extLst>
          </p:cNvPr>
          <p:cNvSpPr txBox="1"/>
          <p:nvPr/>
        </p:nvSpPr>
        <p:spPr>
          <a:xfrm>
            <a:off x="9997136" y="2425102"/>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4" name="TextBox 13">
            <a:extLst>
              <a:ext uri="{FF2B5EF4-FFF2-40B4-BE49-F238E27FC236}">
                <a16:creationId xmlns:a16="http://schemas.microsoft.com/office/drawing/2014/main" id="{542F461F-5B5B-A03C-E73E-E0D8B1322B32}"/>
              </a:ext>
            </a:extLst>
          </p:cNvPr>
          <p:cNvSpPr txBox="1"/>
          <p:nvPr/>
        </p:nvSpPr>
        <p:spPr>
          <a:xfrm>
            <a:off x="10000709" y="2656231"/>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sp>
        <p:nvSpPr>
          <p:cNvPr id="9" name="Title 1">
            <a:extLst>
              <a:ext uri="{FF2B5EF4-FFF2-40B4-BE49-F238E27FC236}">
                <a16:creationId xmlns:a16="http://schemas.microsoft.com/office/drawing/2014/main" id="{D0A07D4E-D6CF-3CFC-DA9F-9F1F1E92FE9C}"/>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10 TAHUN - USD</a:t>
            </a:r>
            <a:endParaRPr lang="en-GB" sz="2400" b="1">
              <a:solidFill>
                <a:srgbClr val="002060"/>
              </a:solidFill>
              <a:highlight>
                <a:srgbClr val="FFFF00"/>
              </a:highlight>
              <a:latin typeface="Aptos" panose="020B0004020202020204" pitchFamily="34" charset="0"/>
            </a:endParaRPr>
          </a:p>
        </p:txBody>
      </p:sp>
      <p:pic>
        <p:nvPicPr>
          <p:cNvPr id="4" name="Picture 3">
            <a:extLst>
              <a:ext uri="{FF2B5EF4-FFF2-40B4-BE49-F238E27FC236}">
                <a16:creationId xmlns:a16="http://schemas.microsoft.com/office/drawing/2014/main" id="{77BBA2F9-981C-078B-D0F6-6B7ACB878CB8}"/>
              </a:ext>
            </a:extLst>
          </p:cNvPr>
          <p:cNvPicPr>
            <a:picLocks noChangeAspect="1"/>
          </p:cNvPicPr>
          <p:nvPr/>
        </p:nvPicPr>
        <p:blipFill>
          <a:blip r:embed="rId3"/>
          <a:stretch>
            <a:fillRect/>
          </a:stretch>
        </p:blipFill>
        <p:spPr>
          <a:xfrm>
            <a:off x="228061" y="1203604"/>
            <a:ext cx="7467828" cy="3819880"/>
          </a:xfrm>
          <a:prstGeom prst="rect">
            <a:avLst/>
          </a:prstGeom>
        </p:spPr>
      </p:pic>
    </p:spTree>
    <p:extLst>
      <p:ext uri="{BB962C8B-B14F-4D97-AF65-F5344CB8AC3E}">
        <p14:creationId xmlns:p14="http://schemas.microsoft.com/office/powerpoint/2010/main" val="1656107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8FD82-0AAC-9F44-A000-FC62B03BCA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978533-A7CB-0E49-C58A-03CEA51DF9F5}"/>
              </a:ext>
            </a:extLst>
          </p:cNvPr>
          <p:cNvSpPr txBox="1"/>
          <p:nvPr/>
        </p:nvSpPr>
        <p:spPr>
          <a:xfrm>
            <a:off x="228062" y="867252"/>
            <a:ext cx="3691952" cy="307777"/>
          </a:xfrm>
          <a:prstGeom prst="rect">
            <a:avLst/>
          </a:prstGeom>
          <a:noFill/>
        </p:spPr>
        <p:txBody>
          <a:bodyPr wrap="square">
            <a:spAutoFit/>
          </a:bodyPr>
          <a:lstStyle/>
          <a:p>
            <a:pPr algn="just"/>
            <a:r>
              <a:rPr lang="sv-SE" sz="1400" b="1">
                <a:latin typeface="Aptos" panose="020B0004020202020204" pitchFamily="34" charset="0"/>
              </a:rPr>
              <a:t>Plan Core</a:t>
            </a:r>
            <a:endParaRPr lang="en-US" sz="1400" b="1"/>
          </a:p>
        </p:txBody>
      </p:sp>
      <p:sp>
        <p:nvSpPr>
          <p:cNvPr id="8" name="TextBox 7">
            <a:extLst>
              <a:ext uri="{FF2B5EF4-FFF2-40B4-BE49-F238E27FC236}">
                <a16:creationId xmlns:a16="http://schemas.microsoft.com/office/drawing/2014/main" id="{16D73862-DF9A-0744-56AA-D028DA23C477}"/>
              </a:ext>
            </a:extLst>
          </p:cNvPr>
          <p:cNvSpPr txBox="1"/>
          <p:nvPr/>
        </p:nvSpPr>
        <p:spPr>
          <a:xfrm>
            <a:off x="228061" y="5230657"/>
            <a:ext cx="11737719" cy="523220"/>
          </a:xfrm>
          <a:prstGeom prst="rect">
            <a:avLst/>
          </a:prstGeom>
          <a:noFill/>
        </p:spPr>
        <p:txBody>
          <a:bodyPr wrap="square">
            <a:spAutoFit/>
          </a:bodyPr>
          <a:lstStyle/>
          <a:p>
            <a:pPr algn="just"/>
            <a:r>
              <a:rPr lang="sv-SE" sz="1400" b="1">
                <a:latin typeface="Aptos" panose="020B0004020202020204" pitchFamily="34" charset="0"/>
              </a:rPr>
              <a:t>Kesimpulan:</a:t>
            </a:r>
          </a:p>
          <a:p>
            <a:pPr algn="just"/>
            <a:r>
              <a:rPr lang="sv-SE" sz="1400">
                <a:latin typeface="Aptos" panose="020B0004020202020204" pitchFamily="34" charset="0"/>
              </a:rPr>
              <a:t>VALUE+ lebih unggul dibandingkan produk kompetitor.</a:t>
            </a:r>
          </a:p>
        </p:txBody>
      </p:sp>
      <p:sp>
        <p:nvSpPr>
          <p:cNvPr id="11" name="Rectangle 10">
            <a:extLst>
              <a:ext uri="{FF2B5EF4-FFF2-40B4-BE49-F238E27FC236}">
                <a16:creationId xmlns:a16="http://schemas.microsoft.com/office/drawing/2014/main" id="{E399F9A4-F52F-F282-EFCE-1D5B18E6E2AD}"/>
              </a:ext>
            </a:extLst>
          </p:cNvPr>
          <p:cNvSpPr/>
          <p:nvPr/>
        </p:nvSpPr>
        <p:spPr>
          <a:xfrm>
            <a:off x="9189892" y="2493122"/>
            <a:ext cx="807244" cy="180006"/>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48C159-6E70-2CD4-0B05-5524F734976A}"/>
              </a:ext>
            </a:extLst>
          </p:cNvPr>
          <p:cNvSpPr/>
          <p:nvPr/>
        </p:nvSpPr>
        <p:spPr>
          <a:xfrm>
            <a:off x="9197037" y="2715981"/>
            <a:ext cx="807244" cy="1800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3C359BE-637E-6C7C-114E-D2BCF1C0CFF0}"/>
              </a:ext>
            </a:extLst>
          </p:cNvPr>
          <p:cNvSpPr txBox="1"/>
          <p:nvPr/>
        </p:nvSpPr>
        <p:spPr>
          <a:xfrm>
            <a:off x="9997136" y="2425102"/>
            <a:ext cx="2191291" cy="307777"/>
          </a:xfrm>
          <a:prstGeom prst="rect">
            <a:avLst/>
          </a:prstGeom>
          <a:noFill/>
        </p:spPr>
        <p:txBody>
          <a:bodyPr wrap="square">
            <a:spAutoFit/>
          </a:bodyPr>
          <a:lstStyle/>
          <a:p>
            <a:pPr algn="just"/>
            <a:r>
              <a:rPr lang="sv-SE" sz="1400">
                <a:latin typeface="Aptos" panose="020B0004020202020204" pitchFamily="34" charset="0"/>
              </a:rPr>
              <a:t>VALUE+ lebih unggul</a:t>
            </a:r>
            <a:endParaRPr lang="en-US" sz="1400"/>
          </a:p>
        </p:txBody>
      </p:sp>
      <p:sp>
        <p:nvSpPr>
          <p:cNvPr id="14" name="TextBox 13">
            <a:extLst>
              <a:ext uri="{FF2B5EF4-FFF2-40B4-BE49-F238E27FC236}">
                <a16:creationId xmlns:a16="http://schemas.microsoft.com/office/drawing/2014/main" id="{2606B732-C932-B15E-1F5C-71D15DDFFF42}"/>
              </a:ext>
            </a:extLst>
          </p:cNvPr>
          <p:cNvSpPr txBox="1"/>
          <p:nvPr/>
        </p:nvSpPr>
        <p:spPr>
          <a:xfrm>
            <a:off x="10000709" y="2656231"/>
            <a:ext cx="2191291" cy="307777"/>
          </a:xfrm>
          <a:prstGeom prst="rect">
            <a:avLst/>
          </a:prstGeom>
          <a:noFill/>
        </p:spPr>
        <p:txBody>
          <a:bodyPr wrap="square">
            <a:spAutoFit/>
          </a:bodyPr>
          <a:lstStyle/>
          <a:p>
            <a:pPr algn="just"/>
            <a:r>
              <a:rPr lang="sv-SE" sz="1400">
                <a:latin typeface="Aptos" panose="020B0004020202020204" pitchFamily="34" charset="0"/>
              </a:rPr>
              <a:t>VALUE+ tidak lebih unggul</a:t>
            </a:r>
            <a:endParaRPr lang="en-US" sz="1400"/>
          </a:p>
        </p:txBody>
      </p:sp>
      <p:sp>
        <p:nvSpPr>
          <p:cNvPr id="9" name="Title 1">
            <a:extLst>
              <a:ext uri="{FF2B5EF4-FFF2-40B4-BE49-F238E27FC236}">
                <a16:creationId xmlns:a16="http://schemas.microsoft.com/office/drawing/2014/main" id="{545E9CD1-6319-A57B-0A67-9B40C512F02B}"/>
              </a:ext>
            </a:extLst>
          </p:cNvPr>
          <p:cNvSpPr txBox="1">
            <a:spLocks/>
          </p:cNvSpPr>
          <p:nvPr/>
        </p:nvSpPr>
        <p:spPr>
          <a:xfrm>
            <a:off x="2974975" y="190818"/>
            <a:ext cx="8901645" cy="6207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2400" b="1">
                <a:solidFill>
                  <a:srgbClr val="002060"/>
                </a:solidFill>
                <a:latin typeface="Aptos" panose="020B0004020202020204" pitchFamily="34" charset="0"/>
              </a:rPr>
              <a:t>COMPARISON ILUSTRASI MANFAAT MPP 10 TAHUN - USD</a:t>
            </a:r>
            <a:endParaRPr lang="en-GB" sz="2400" b="1">
              <a:solidFill>
                <a:srgbClr val="002060"/>
              </a:solidFill>
              <a:highlight>
                <a:srgbClr val="FFFF00"/>
              </a:highlight>
              <a:latin typeface="Aptos" panose="020B0004020202020204" pitchFamily="34" charset="0"/>
            </a:endParaRPr>
          </a:p>
        </p:txBody>
      </p:sp>
      <p:pic>
        <p:nvPicPr>
          <p:cNvPr id="4" name="Picture 3">
            <a:extLst>
              <a:ext uri="{FF2B5EF4-FFF2-40B4-BE49-F238E27FC236}">
                <a16:creationId xmlns:a16="http://schemas.microsoft.com/office/drawing/2014/main" id="{D4679C49-CA6B-2D25-B31A-CC228C9B4507}"/>
              </a:ext>
            </a:extLst>
          </p:cNvPr>
          <p:cNvPicPr>
            <a:picLocks noChangeAspect="1"/>
          </p:cNvPicPr>
          <p:nvPr/>
        </p:nvPicPr>
        <p:blipFill>
          <a:blip r:embed="rId3"/>
          <a:stretch>
            <a:fillRect/>
          </a:stretch>
        </p:blipFill>
        <p:spPr>
          <a:xfrm>
            <a:off x="228061" y="1192470"/>
            <a:ext cx="7791672" cy="3771418"/>
          </a:xfrm>
          <a:prstGeom prst="rect">
            <a:avLst/>
          </a:prstGeom>
        </p:spPr>
      </p:pic>
    </p:spTree>
    <p:extLst>
      <p:ext uri="{BB962C8B-B14F-4D97-AF65-F5344CB8AC3E}">
        <p14:creationId xmlns:p14="http://schemas.microsoft.com/office/powerpoint/2010/main" val="10852255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4317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itus xmlns="http://schemas.titus.com/TitusProperties/">
  <TitusGUID xmlns="">a155026a-45aa-4211-ab5e-54b0a22258d5</TitusGUID>
  <TitusMetadata xmlns="">eyJucyI6IkJDQSIsInByb3BzIjpbeyJuIjoiQkNBQ2xhc3NpZmljYXRpb24iLCJ2YWxzIjpbeyJ2YWx1ZSI6IkludGVybmFsIn1dfSx7Im4iOiJCQ0FPd25lciIsInZhbHMiOlt7InZhbHVlIjoiVTA2MzU0NiJ9XX1dfQ==</TitusMetadata>
</titus>
</file>

<file path=customXml/item2.xml><?xml version="1.0" encoding="utf-8"?>
<ct:contentTypeSchema xmlns:ct="http://schemas.microsoft.com/office/2006/metadata/contentType" xmlns:ma="http://schemas.microsoft.com/office/2006/metadata/properties/metaAttributes" ct:_="" ma:_="" ma:contentTypeName="Document" ma:contentTypeID="0x0101002A137E114C95534F9B11C8A6493801AF" ma:contentTypeVersion="10" ma:contentTypeDescription="Create a new document." ma:contentTypeScope="" ma:versionID="e2d4497219e3aea107170646f6640b63">
  <xsd:schema xmlns:xsd="http://www.w3.org/2001/XMLSchema" xmlns:xs="http://www.w3.org/2001/XMLSchema" xmlns:p="http://schemas.microsoft.com/office/2006/metadata/properties" xmlns:ns2="f20c046d-3a93-4347-8ab7-4d45bb942db5" targetNamespace="http://schemas.microsoft.com/office/2006/metadata/properties" ma:root="true" ma:fieldsID="e89d084049888083ce48c1cb7613a3a7" ns2:_="">
    <xsd:import namespace="f20c046d-3a93-4347-8ab7-4d45bb942d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0c046d-3a93-4347-8ab7-4d45bb942d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11791963-319a-45cb-9738-e80406cd5bf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f20c046d-3a93-4347-8ab7-4d45bb942db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D7D35D4-80BD-4F4E-8726-F253678AFB21}">
  <ds:schemaRefs>
    <ds:schemaRef ds:uri=""/>
    <ds:schemaRef ds:uri="http://schemas.titus.com/TitusProperties/"/>
  </ds:schemaRefs>
</ds:datastoreItem>
</file>

<file path=customXml/itemProps2.xml><?xml version="1.0" encoding="utf-8"?>
<ds:datastoreItem xmlns:ds="http://schemas.openxmlformats.org/officeDocument/2006/customXml" ds:itemID="{C8A3B2AF-EFEA-4EB9-8F4B-26E069A96352}">
  <ds:schemaRefs>
    <ds:schemaRef ds:uri="f20c046d-3a93-4347-8ab7-4d45bb942d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537CAC9-E04E-4602-AB40-7F5A2C25ADD6}">
  <ds:schemaRefs>
    <ds:schemaRef ds:uri="http://schemas.microsoft.com/sharepoint/v3/contenttype/forms"/>
  </ds:schemaRefs>
</ds:datastoreItem>
</file>

<file path=customXml/itemProps4.xml><?xml version="1.0" encoding="utf-8"?>
<ds:datastoreItem xmlns:ds="http://schemas.openxmlformats.org/officeDocument/2006/customXml" ds:itemID="{C1DC3165-8C8A-4CAC-B98B-71C75FDD6F03}">
  <ds:schemaRefs>
    <ds:schemaRef ds:uri="http://schemas.microsoft.com/office/infopath/2007/PartnerControls"/>
    <ds:schemaRef ds:uri="http://schemas.microsoft.com/office/2006/documentManagement/types"/>
    <ds:schemaRef ds:uri="http://schemas.openxmlformats.org/package/2006/metadata/core-properties"/>
    <ds:schemaRef ds:uri="http://purl.org/dc/elements/1.1/"/>
    <ds:schemaRef ds:uri="f20c046d-3a93-4347-8ab7-4d45bb942db5"/>
    <ds:schemaRef ds:uri="http://www.w3.org/XML/1998/namespace"/>
    <ds:schemaRef ds:uri="http://schemas.microsoft.com/office/2006/metadata/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237</TotalTime>
  <Words>6455</Words>
  <Application>Microsoft Office PowerPoint</Application>
  <PresentationFormat>Widescreen</PresentationFormat>
  <Paragraphs>1132</Paragraphs>
  <Slides>52</Slides>
  <Notes>37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52</vt:i4>
      </vt:variant>
    </vt:vector>
  </HeadingPairs>
  <TitlesOfParts>
    <vt:vector size="63" baseType="lpstr">
      <vt:lpstr>Aptos</vt:lpstr>
      <vt:lpstr>Aptos Display</vt:lpstr>
      <vt:lpstr>Arial</vt:lpstr>
      <vt:lpstr>BPreplay</vt:lpstr>
      <vt:lpstr>Calibri</vt:lpstr>
      <vt:lpstr>Calibri Light</vt:lpstr>
      <vt:lpstr>Cambria Math</vt:lpstr>
      <vt:lpstr>Wingdings</vt:lpstr>
      <vt:lpstr>Office Theme</vt:lpstr>
      <vt:lpstr>1_Custom Design</vt:lpstr>
      <vt:lpstr>Custom Design</vt:lpstr>
      <vt:lpstr>MATERI TRAINING PRODUK Value Income Assurance (VALUE+)</vt:lpstr>
      <vt:lpstr>AGENDA</vt:lpstr>
      <vt:lpstr>PowerPoint Presentation</vt:lpstr>
      <vt:lpstr>PowerPoint Presentation</vt:lpstr>
      <vt:lpstr>PowerPoint Presentation</vt:lpstr>
      <vt:lpstr>PowerPoint Presentation</vt:lpstr>
      <vt:lpstr>MANFAAT PRODUK Value Income Assurance (VALUE+)</vt:lpstr>
      <vt:lpstr>PowerPoint Presentation</vt:lpstr>
      <vt:lpstr>PowerPoint Presentation</vt:lpstr>
      <vt:lpstr>PowerPoint Presentation</vt:lpstr>
      <vt:lpstr>Ilustrasi Produk Value Income Assurance (VALUE+) Plan Boost (IDR)</vt:lpstr>
      <vt:lpstr>Ilustrasi Produk Value Income Assurance (VALUE+) Plan Boost (IDR)</vt:lpstr>
      <vt:lpstr>Ilustrasi Produk Value Income Assurance (VALUE+) Plan Boost (IDR)</vt:lpstr>
      <vt:lpstr>Ilustrasi Produk Value Income Assurance (VALUE+) Plan Core (IDR)</vt:lpstr>
      <vt:lpstr>Ilustrasi Produk Value Income Assurance (VALUE+) Plan Core (IDR)</vt:lpstr>
      <vt:lpstr>PowerPoint Presentation</vt:lpstr>
      <vt:lpstr>PowerPoint Presentation</vt:lpstr>
      <vt:lpstr>PowerPoint Presentation</vt:lpstr>
      <vt:lpstr>FITUR PRODUK Value Income Assurance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Asuransi Tambahan Term Life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lely pekih</dc:creator>
  <cp:lastModifiedBy>Lydia Priscilla Doky</cp:lastModifiedBy>
  <cp:revision>14</cp:revision>
  <dcterms:created xsi:type="dcterms:W3CDTF">2015-01-13T02:54:57Z</dcterms:created>
  <dcterms:modified xsi:type="dcterms:W3CDTF">2026-06-08T04:39:56Z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095407-d065-4278-bf6c-9e9ec1ab0c69_Enabled">
    <vt:lpwstr>true</vt:lpwstr>
  </property>
  <property fmtid="{D5CDD505-2E9C-101B-9397-08002B2CF9AE}" pid="3" name="MSIP_Label_15095407-d065-4278-bf6c-9e9ec1ab0c69_SetDate">
    <vt:lpwstr>2025-09-09T02:15:26Z</vt:lpwstr>
  </property>
  <property fmtid="{D5CDD505-2E9C-101B-9397-08002B2CF9AE}" pid="4" name="MSIP_Label_15095407-d065-4278-bf6c-9e9ec1ab0c69_Method">
    <vt:lpwstr>Privileged</vt:lpwstr>
  </property>
  <property fmtid="{D5CDD505-2E9C-101B-9397-08002B2CF9AE}" pid="5" name="MSIP_Label_15095407-d065-4278-bf6c-9e9ec1ab0c69_Name">
    <vt:lpwstr>Internal</vt:lpwstr>
  </property>
  <property fmtid="{D5CDD505-2E9C-101B-9397-08002B2CF9AE}" pid="6" name="MSIP_Label_15095407-d065-4278-bf6c-9e9ec1ab0c69_SiteId">
    <vt:lpwstr>6a3d12e7-c354-4e3f-8275-1ffefa20b9ed</vt:lpwstr>
  </property>
  <property fmtid="{D5CDD505-2E9C-101B-9397-08002B2CF9AE}" pid="7" name="MSIP_Label_15095407-d065-4278-bf6c-9e9ec1ab0c69_ActionId">
    <vt:lpwstr>2701e2cb-6f19-4e6e-add2-0e6ea9ef2bfa</vt:lpwstr>
  </property>
  <property fmtid="{D5CDD505-2E9C-101B-9397-08002B2CF9AE}" pid="8" name="MSIP_Label_15095407-d065-4278-bf6c-9e9ec1ab0c69_ContentBits">
    <vt:lpwstr>2</vt:lpwstr>
  </property>
  <property fmtid="{D5CDD505-2E9C-101B-9397-08002B2CF9AE}" pid="9" name="MSIP_Label_15095407-d065-4278-bf6c-9e9ec1ab0c69_Tag">
    <vt:lpwstr>50, 0, 1, 1</vt:lpwstr>
  </property>
  <property fmtid="{D5CDD505-2E9C-101B-9397-08002B2CF9AE}" pid="10" name="ClassificationContentMarkingFooterLocations">
    <vt:lpwstr>Office Theme:8\1_Office Theme:8\2_Office Theme:8</vt:lpwstr>
  </property>
  <property fmtid="{D5CDD505-2E9C-101B-9397-08002B2CF9AE}" pid="11" name="ClassificationContentMarkingFooterText">
    <vt:lpwstr>INTERNAL</vt:lpwstr>
  </property>
  <property fmtid="{D5CDD505-2E9C-101B-9397-08002B2CF9AE}" pid="12" name="TitusGUID">
    <vt:lpwstr>a155026a-45aa-4211-ab5e-54b0a22258d5</vt:lpwstr>
  </property>
  <property fmtid="{D5CDD505-2E9C-101B-9397-08002B2CF9AE}" pid="13" name="BCAClassification">
    <vt:lpwstr>Internal</vt:lpwstr>
  </property>
  <property fmtid="{D5CDD505-2E9C-101B-9397-08002B2CF9AE}" pid="14" name="BCAOwner">
    <vt:lpwstr>U063546</vt:lpwstr>
  </property>
  <property fmtid="{D5CDD505-2E9C-101B-9397-08002B2CF9AE}" pid="15" name="MediaServiceImageTags">
    <vt:lpwstr/>
  </property>
  <property fmtid="{D5CDD505-2E9C-101B-9397-08002B2CF9AE}" pid="16" name="ContentTypeId">
    <vt:lpwstr>0x0101002A137E114C95534F9B11C8A6493801AF</vt:lpwstr>
  </property>
</Properties>
</file>